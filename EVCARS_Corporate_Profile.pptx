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DARK-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evcars.me" TargetMode="External"/><Relationship Id="rId1" Type="http://schemas.openxmlformats.org/officeDocument/2006/relationships/image" Target="../media/image-1-1.png"/><Relationship Id="rId2" Type="http://schemas.openxmlformats.org/officeDocument/2006/relationships/image" Target="../media/image-1-2.png"/><Relationship Id="rId4" Type="http://schemas.openxmlformats.org/officeDocument/2006/relationships/slideLayout" Target="../slideLayouts/slideLayout3.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slide" Target="slide1.xml"/><Relationship Id="rId3" Type="http://schemas.openxmlformats.org/officeDocument/2006/relationships/hyperlink" Target="https://www.evcars.me" TargetMode="External"/><Relationship Id="rId4" Type="http://schemas.openxmlformats.org/officeDocument/2006/relationships/slide" Target="slide1.xml"/><Relationship Id="rId5" Type="http://schemas.openxmlformats.org/officeDocument/2006/relationships/slide" Target="slide2.xml"/><Relationship Id="rId6" Type="http://schemas.openxmlformats.org/officeDocument/2006/relationships/slide" Target="slide3.xml"/><Relationship Id="rId7" Type="http://schemas.openxmlformats.org/officeDocument/2006/relationships/slide" Target="slide4.xml"/><Relationship Id="rId8" Type="http://schemas.openxmlformats.org/officeDocument/2006/relationships/slide" Target="slide5.xml"/><Relationship Id="rId9" Type="http://schemas.openxmlformats.org/officeDocument/2006/relationships/slide" Target="slide6.xml"/><Relationship Id="rId10" Type="http://schemas.openxmlformats.org/officeDocument/2006/relationships/slide" Target="slide7.xml"/><Relationship Id="rId11" Type="http://schemas.openxmlformats.org/officeDocument/2006/relationships/slide" Target="slide8.xml"/><Relationship Id="rId12" Type="http://schemas.openxmlformats.org/officeDocument/2006/relationships/slide" Target="slide9.xml"/><Relationship Id="rId13" Type="http://schemas.openxmlformats.org/officeDocument/2006/relationships/slide" Target="slide10.xml"/><Relationship Id="rId14" Type="http://schemas.openxmlformats.org/officeDocument/2006/relationships/slide" Target="slide11.xml"/><Relationship Id="rId15" Type="http://schemas.openxmlformats.org/officeDocument/2006/relationships/slide" Target="slide12.xml"/><Relationship Id="rId1" Type="http://schemas.openxmlformats.org/officeDocument/2006/relationships/image" Target="../media/image-2-1.png"/><Relationship Id="rId16" Type="http://schemas.openxmlformats.org/officeDocument/2006/relationships/slideLayout" Target="../slideLayouts/slideLayout2.xml"/><Relationship Id="rId1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slide" Target="slide1.xml"/><Relationship Id="rId3" Type="http://schemas.openxmlformats.org/officeDocument/2006/relationships/hyperlink" Target="https://www.evcars.me" TargetMode="External"/><Relationship Id="rId4" Type="http://schemas.openxmlformats.org/officeDocument/2006/relationships/slide" Target="slide1.xml"/><Relationship Id="rId5" Type="http://schemas.openxmlformats.org/officeDocument/2006/relationships/slide" Target="slide2.xml"/><Relationship Id="rId6" Type="http://schemas.openxmlformats.org/officeDocument/2006/relationships/slide" Target="slide3.xml"/><Relationship Id="rId7" Type="http://schemas.openxmlformats.org/officeDocument/2006/relationships/slide" Target="slide4.xml"/><Relationship Id="rId8" Type="http://schemas.openxmlformats.org/officeDocument/2006/relationships/slide" Target="slide5.xml"/><Relationship Id="rId9" Type="http://schemas.openxmlformats.org/officeDocument/2006/relationships/slide" Target="slide6.xml"/><Relationship Id="rId10" Type="http://schemas.openxmlformats.org/officeDocument/2006/relationships/slide" Target="slide7.xml"/><Relationship Id="rId11" Type="http://schemas.openxmlformats.org/officeDocument/2006/relationships/slide" Target="slide8.xml"/><Relationship Id="rId12" Type="http://schemas.openxmlformats.org/officeDocument/2006/relationships/slide" Target="slide9.xml"/><Relationship Id="rId13" Type="http://schemas.openxmlformats.org/officeDocument/2006/relationships/slide" Target="slide10.xml"/><Relationship Id="rId14" Type="http://schemas.openxmlformats.org/officeDocument/2006/relationships/slide" Target="slide11.xml"/><Relationship Id="rId15" Type="http://schemas.openxmlformats.org/officeDocument/2006/relationships/slide" Target="slide12.xml"/><Relationship Id="rId1" Type="http://schemas.openxmlformats.org/officeDocument/2006/relationships/image" Target="../media/image-3-1.png"/><Relationship Id="rId16" Type="http://schemas.openxmlformats.org/officeDocument/2006/relationships/slideLayout" Target="../slideLayouts/slideLayout2.xml"/><Relationship Id="rId1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slide" Target="slide1.xml"/><Relationship Id="rId3" Type="http://schemas.openxmlformats.org/officeDocument/2006/relationships/hyperlink" Target="https://www.evcars.me" TargetMode="External"/><Relationship Id="rId4" Type="http://schemas.openxmlformats.org/officeDocument/2006/relationships/slide" Target="slide1.xml"/><Relationship Id="rId5" Type="http://schemas.openxmlformats.org/officeDocument/2006/relationships/slide" Target="slide2.xml"/><Relationship Id="rId6" Type="http://schemas.openxmlformats.org/officeDocument/2006/relationships/slide" Target="slide3.xml"/><Relationship Id="rId7" Type="http://schemas.openxmlformats.org/officeDocument/2006/relationships/slide" Target="slide4.xml"/><Relationship Id="rId8" Type="http://schemas.openxmlformats.org/officeDocument/2006/relationships/slide" Target="slide5.xml"/><Relationship Id="rId9" Type="http://schemas.openxmlformats.org/officeDocument/2006/relationships/slide" Target="slide6.xml"/><Relationship Id="rId10" Type="http://schemas.openxmlformats.org/officeDocument/2006/relationships/slide" Target="slide7.xml"/><Relationship Id="rId11" Type="http://schemas.openxmlformats.org/officeDocument/2006/relationships/slide" Target="slide8.xml"/><Relationship Id="rId12" Type="http://schemas.openxmlformats.org/officeDocument/2006/relationships/slide" Target="slide9.xml"/><Relationship Id="rId13" Type="http://schemas.openxmlformats.org/officeDocument/2006/relationships/slide" Target="slide10.xml"/><Relationship Id="rId14" Type="http://schemas.openxmlformats.org/officeDocument/2006/relationships/slide" Target="slide11.xml"/><Relationship Id="rId15" Type="http://schemas.openxmlformats.org/officeDocument/2006/relationships/slide" Target="slide12.xml"/><Relationship Id="rId1" Type="http://schemas.openxmlformats.org/officeDocument/2006/relationships/image" Target="../media/image-4-1.png"/><Relationship Id="rId16" Type="http://schemas.openxmlformats.org/officeDocument/2006/relationships/slideLayout" Target="../slideLayouts/slideLayout2.xml"/><Relationship Id="rId1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slide" Target="slide1.xml"/><Relationship Id="rId3" Type="http://schemas.openxmlformats.org/officeDocument/2006/relationships/hyperlink" Target="https://www.evcars.me" TargetMode="External"/><Relationship Id="rId4" Type="http://schemas.openxmlformats.org/officeDocument/2006/relationships/slide" Target="slide1.xml"/><Relationship Id="rId5" Type="http://schemas.openxmlformats.org/officeDocument/2006/relationships/slide" Target="slide2.xml"/><Relationship Id="rId6" Type="http://schemas.openxmlformats.org/officeDocument/2006/relationships/slide" Target="slide3.xml"/><Relationship Id="rId7" Type="http://schemas.openxmlformats.org/officeDocument/2006/relationships/slide" Target="slide4.xml"/><Relationship Id="rId8" Type="http://schemas.openxmlformats.org/officeDocument/2006/relationships/slide" Target="slide5.xml"/><Relationship Id="rId9" Type="http://schemas.openxmlformats.org/officeDocument/2006/relationships/slide" Target="slide6.xml"/><Relationship Id="rId10" Type="http://schemas.openxmlformats.org/officeDocument/2006/relationships/slide" Target="slide7.xml"/><Relationship Id="rId11" Type="http://schemas.openxmlformats.org/officeDocument/2006/relationships/slide" Target="slide8.xml"/><Relationship Id="rId12" Type="http://schemas.openxmlformats.org/officeDocument/2006/relationships/slide" Target="slide9.xml"/><Relationship Id="rId13" Type="http://schemas.openxmlformats.org/officeDocument/2006/relationships/slide" Target="slide10.xml"/><Relationship Id="rId14" Type="http://schemas.openxmlformats.org/officeDocument/2006/relationships/slide" Target="slide11.xml"/><Relationship Id="rId15" Type="http://schemas.openxmlformats.org/officeDocument/2006/relationships/slide" Target="slide12.xml"/><Relationship Id="rId1" Type="http://schemas.openxmlformats.org/officeDocument/2006/relationships/image" Target="../media/image-5-1.png"/><Relationship Id="rId16" Type="http://schemas.openxmlformats.org/officeDocument/2006/relationships/slideLayout" Target="../slideLayouts/slideLayout2.xml"/><Relationship Id="rId1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slide" Target="slide1.xml"/><Relationship Id="rId3" Type="http://schemas.openxmlformats.org/officeDocument/2006/relationships/hyperlink" Target="https://www.evcars.me" TargetMode="External"/><Relationship Id="rId4" Type="http://schemas.openxmlformats.org/officeDocument/2006/relationships/slide" Target="slide1.xml"/><Relationship Id="rId5" Type="http://schemas.openxmlformats.org/officeDocument/2006/relationships/slide" Target="slide2.xml"/><Relationship Id="rId6" Type="http://schemas.openxmlformats.org/officeDocument/2006/relationships/slide" Target="slide3.xml"/><Relationship Id="rId7" Type="http://schemas.openxmlformats.org/officeDocument/2006/relationships/slide" Target="slide4.xml"/><Relationship Id="rId8" Type="http://schemas.openxmlformats.org/officeDocument/2006/relationships/slide" Target="slide5.xml"/><Relationship Id="rId9" Type="http://schemas.openxmlformats.org/officeDocument/2006/relationships/slide" Target="slide6.xml"/><Relationship Id="rId10" Type="http://schemas.openxmlformats.org/officeDocument/2006/relationships/slide" Target="slide7.xml"/><Relationship Id="rId11" Type="http://schemas.openxmlformats.org/officeDocument/2006/relationships/slide" Target="slide8.xml"/><Relationship Id="rId12" Type="http://schemas.openxmlformats.org/officeDocument/2006/relationships/slide" Target="slide9.xml"/><Relationship Id="rId13" Type="http://schemas.openxmlformats.org/officeDocument/2006/relationships/slide" Target="slide10.xml"/><Relationship Id="rId14" Type="http://schemas.openxmlformats.org/officeDocument/2006/relationships/slide" Target="slide11.xml"/><Relationship Id="rId15" Type="http://schemas.openxmlformats.org/officeDocument/2006/relationships/slide" Target="slide12.xml"/><Relationship Id="rId1" Type="http://schemas.openxmlformats.org/officeDocument/2006/relationships/image" Target="../media/image-6-1.png"/><Relationship Id="rId16" Type="http://schemas.openxmlformats.org/officeDocument/2006/relationships/slideLayout" Target="../slideLayouts/slideLayout2.xml"/><Relationship Id="rId1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slide" Target="slide1.xml"/><Relationship Id="rId3" Type="http://schemas.openxmlformats.org/officeDocument/2006/relationships/hyperlink" Target="https://www.evcars.me" TargetMode="External"/><Relationship Id="rId4" Type="http://schemas.openxmlformats.org/officeDocument/2006/relationships/slide" Target="slide1.xml"/><Relationship Id="rId5" Type="http://schemas.openxmlformats.org/officeDocument/2006/relationships/slide" Target="slide2.xml"/><Relationship Id="rId6" Type="http://schemas.openxmlformats.org/officeDocument/2006/relationships/slide" Target="slide3.xml"/><Relationship Id="rId7" Type="http://schemas.openxmlformats.org/officeDocument/2006/relationships/slide" Target="slide4.xml"/><Relationship Id="rId8" Type="http://schemas.openxmlformats.org/officeDocument/2006/relationships/slide" Target="slide5.xml"/><Relationship Id="rId9" Type="http://schemas.openxmlformats.org/officeDocument/2006/relationships/slide" Target="slide6.xml"/><Relationship Id="rId10" Type="http://schemas.openxmlformats.org/officeDocument/2006/relationships/slide" Target="slide7.xml"/><Relationship Id="rId11" Type="http://schemas.openxmlformats.org/officeDocument/2006/relationships/slide" Target="slide8.xml"/><Relationship Id="rId12" Type="http://schemas.openxmlformats.org/officeDocument/2006/relationships/slide" Target="slide9.xml"/><Relationship Id="rId13" Type="http://schemas.openxmlformats.org/officeDocument/2006/relationships/slide" Target="slide10.xml"/><Relationship Id="rId14" Type="http://schemas.openxmlformats.org/officeDocument/2006/relationships/slide" Target="slide11.xml"/><Relationship Id="rId15" Type="http://schemas.openxmlformats.org/officeDocument/2006/relationships/slide" Target="slide12.xml"/><Relationship Id="rId1" Type="http://schemas.openxmlformats.org/officeDocument/2006/relationships/image" Target="../media/image-7-1.png"/><Relationship Id="rId16" Type="http://schemas.openxmlformats.org/officeDocument/2006/relationships/slideLayout" Target="../slideLayouts/slideLayout2.xml"/><Relationship Id="rId1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tel:+971507777134" TargetMode="External"/><Relationship Id="rId2" Type="http://schemas.openxmlformats.org/officeDocument/2006/relationships/hyperlink" Target="tel:+971507777134" TargetMode="External"/><Relationship Id="rId3" Type="http://schemas.openxmlformats.org/officeDocument/2006/relationships/hyperlink" Target="https://wa.me/971507777134" TargetMode="External"/><Relationship Id="rId4" Type="http://schemas.openxmlformats.org/officeDocument/2006/relationships/hyperlink" Target="https://wa.me/971507777134" TargetMode="External"/><Relationship Id="rId6" Type="http://schemas.openxmlformats.org/officeDocument/2006/relationships/slide" Target="slide1.xml"/><Relationship Id="rId7" Type="http://schemas.openxmlformats.org/officeDocument/2006/relationships/hyperlink" Target="https://www.evcars.me" TargetMode="External"/><Relationship Id="rId8" Type="http://schemas.openxmlformats.org/officeDocument/2006/relationships/slide" Target="slide1.xml"/><Relationship Id="rId9" Type="http://schemas.openxmlformats.org/officeDocument/2006/relationships/slide" Target="slide2.xml"/><Relationship Id="rId10" Type="http://schemas.openxmlformats.org/officeDocument/2006/relationships/slide" Target="slide3.xml"/><Relationship Id="rId11" Type="http://schemas.openxmlformats.org/officeDocument/2006/relationships/slide" Target="slide4.xml"/><Relationship Id="rId12" Type="http://schemas.openxmlformats.org/officeDocument/2006/relationships/slide" Target="slide5.xml"/><Relationship Id="rId13" Type="http://schemas.openxmlformats.org/officeDocument/2006/relationships/slide" Target="slide6.xml"/><Relationship Id="rId14" Type="http://schemas.openxmlformats.org/officeDocument/2006/relationships/slide" Target="slide7.xml"/><Relationship Id="rId15" Type="http://schemas.openxmlformats.org/officeDocument/2006/relationships/slide" Target="slide8.xml"/><Relationship Id="rId16" Type="http://schemas.openxmlformats.org/officeDocument/2006/relationships/slide" Target="slide9.xml"/><Relationship Id="rId17" Type="http://schemas.openxmlformats.org/officeDocument/2006/relationships/slide" Target="slide10.xml"/><Relationship Id="rId18" Type="http://schemas.openxmlformats.org/officeDocument/2006/relationships/slide" Target="slide11.xml"/><Relationship Id="rId19" Type="http://schemas.openxmlformats.org/officeDocument/2006/relationships/slide" Target="slide12.xml"/><Relationship Id="rId5" Type="http://schemas.openxmlformats.org/officeDocument/2006/relationships/image" Target="../media/image-8-1.png"/><Relationship Id="rId20" Type="http://schemas.openxmlformats.org/officeDocument/2006/relationships/slideLayout" Target="../slideLayouts/slideLayout2.xml"/><Relationship Id="rId2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slide" Target="slide1.xml"/><Relationship Id="rId3" Type="http://schemas.openxmlformats.org/officeDocument/2006/relationships/hyperlink" Target="https://www.evcars.me" TargetMode="External"/><Relationship Id="rId4" Type="http://schemas.openxmlformats.org/officeDocument/2006/relationships/slide" Target="slide1.xml"/><Relationship Id="rId5" Type="http://schemas.openxmlformats.org/officeDocument/2006/relationships/slide" Target="slide2.xml"/><Relationship Id="rId6" Type="http://schemas.openxmlformats.org/officeDocument/2006/relationships/slide" Target="slide3.xml"/><Relationship Id="rId7" Type="http://schemas.openxmlformats.org/officeDocument/2006/relationships/slide" Target="slide4.xml"/><Relationship Id="rId8" Type="http://schemas.openxmlformats.org/officeDocument/2006/relationships/slide" Target="slide5.xml"/><Relationship Id="rId9" Type="http://schemas.openxmlformats.org/officeDocument/2006/relationships/slide" Target="slide6.xml"/><Relationship Id="rId10" Type="http://schemas.openxmlformats.org/officeDocument/2006/relationships/slide" Target="slide7.xml"/><Relationship Id="rId11" Type="http://schemas.openxmlformats.org/officeDocument/2006/relationships/slide" Target="slide8.xml"/><Relationship Id="rId12" Type="http://schemas.openxmlformats.org/officeDocument/2006/relationships/slide" Target="slide9.xml"/><Relationship Id="rId13" Type="http://schemas.openxmlformats.org/officeDocument/2006/relationships/slide" Target="slide10.xml"/><Relationship Id="rId14" Type="http://schemas.openxmlformats.org/officeDocument/2006/relationships/slide" Target="slide11.xml"/><Relationship Id="rId15" Type="http://schemas.openxmlformats.org/officeDocument/2006/relationships/slide" Target="slide12.xml"/><Relationship Id="rId1" Type="http://schemas.openxmlformats.org/officeDocument/2006/relationships/image" Target="../media/image-9-1.png"/><Relationship Id="rId16" Type="http://schemas.openxmlformats.org/officeDocument/2006/relationships/slideLayout" Target="../slideLayouts/slideLayout2.xml"/><Relationship Id="rId1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www.evcars.me" TargetMode="External"/><Relationship Id="rId3" Type="http://schemas.openxmlformats.org/officeDocument/2006/relationships/slide" Target="slide1.xml"/><Relationship Id="rId4" Type="http://schemas.openxmlformats.org/officeDocument/2006/relationships/hyperlink" Target="https://www.evcars.me" TargetMode="External"/><Relationship Id="rId5" Type="http://schemas.openxmlformats.org/officeDocument/2006/relationships/slide" Target="slide1.xml"/><Relationship Id="rId6" Type="http://schemas.openxmlformats.org/officeDocument/2006/relationships/slide" Target="slide2.xml"/><Relationship Id="rId7" Type="http://schemas.openxmlformats.org/officeDocument/2006/relationships/slide" Target="slide3.xml"/><Relationship Id="rId8" Type="http://schemas.openxmlformats.org/officeDocument/2006/relationships/slide" Target="slide4.xml"/><Relationship Id="rId9" Type="http://schemas.openxmlformats.org/officeDocument/2006/relationships/slide" Target="slide5.xml"/><Relationship Id="rId10" Type="http://schemas.openxmlformats.org/officeDocument/2006/relationships/slide" Target="slide6.xml"/><Relationship Id="rId11" Type="http://schemas.openxmlformats.org/officeDocument/2006/relationships/slide" Target="slide7.xml"/><Relationship Id="rId12" Type="http://schemas.openxmlformats.org/officeDocument/2006/relationships/slide" Target="slide8.xml"/><Relationship Id="rId13" Type="http://schemas.openxmlformats.org/officeDocument/2006/relationships/slide" Target="slide9.xml"/><Relationship Id="rId14" Type="http://schemas.openxmlformats.org/officeDocument/2006/relationships/slide" Target="slide10.xml"/><Relationship Id="rId15" Type="http://schemas.openxmlformats.org/officeDocument/2006/relationships/slide" Target="slide11.xml"/><Relationship Id="rId16" Type="http://schemas.openxmlformats.org/officeDocument/2006/relationships/slide" Target="slide12.xml"/><Relationship Id="rId2" Type="http://schemas.openxmlformats.org/officeDocument/2006/relationships/image" Target="../media/image-10-1.png"/><Relationship Id="rId17" Type="http://schemas.openxmlformats.org/officeDocument/2006/relationships/slideLayout" Target="../slideLayouts/slideLayout2.xml"/><Relationship Id="rId1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slide" Target="slide1.xml"/><Relationship Id="rId3" Type="http://schemas.openxmlformats.org/officeDocument/2006/relationships/hyperlink" Target="https://www.evcars.me" TargetMode="External"/><Relationship Id="rId4" Type="http://schemas.openxmlformats.org/officeDocument/2006/relationships/slide" Target="slide1.xml"/><Relationship Id="rId5" Type="http://schemas.openxmlformats.org/officeDocument/2006/relationships/slide" Target="slide2.xml"/><Relationship Id="rId6" Type="http://schemas.openxmlformats.org/officeDocument/2006/relationships/slide" Target="slide3.xml"/><Relationship Id="rId7" Type="http://schemas.openxmlformats.org/officeDocument/2006/relationships/slide" Target="slide4.xml"/><Relationship Id="rId8" Type="http://schemas.openxmlformats.org/officeDocument/2006/relationships/slide" Target="slide5.xml"/><Relationship Id="rId9" Type="http://schemas.openxmlformats.org/officeDocument/2006/relationships/slide" Target="slide6.xml"/><Relationship Id="rId10" Type="http://schemas.openxmlformats.org/officeDocument/2006/relationships/slide" Target="slide7.xml"/><Relationship Id="rId11" Type="http://schemas.openxmlformats.org/officeDocument/2006/relationships/slide" Target="slide8.xml"/><Relationship Id="rId12" Type="http://schemas.openxmlformats.org/officeDocument/2006/relationships/slide" Target="slide9.xml"/><Relationship Id="rId13" Type="http://schemas.openxmlformats.org/officeDocument/2006/relationships/slide" Target="slide10.xml"/><Relationship Id="rId14" Type="http://schemas.openxmlformats.org/officeDocument/2006/relationships/slide" Target="slide11.xml"/><Relationship Id="rId15" Type="http://schemas.openxmlformats.org/officeDocument/2006/relationships/slide" Target="slide12.xml"/><Relationship Id="rId1" Type="http://schemas.openxmlformats.org/officeDocument/2006/relationships/image" Target="../media/image-11-1.png"/><Relationship Id="rId16" Type="http://schemas.openxmlformats.org/officeDocument/2006/relationships/slideLayout" Target="../slideLayouts/slideLayout2.xml"/><Relationship Id="rId1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slide" Target="slide1.xml"/><Relationship Id="rId3" Type="http://schemas.openxmlformats.org/officeDocument/2006/relationships/hyperlink" Target="https://www.evcars.me" TargetMode="External"/><Relationship Id="rId4" Type="http://schemas.openxmlformats.org/officeDocument/2006/relationships/hyperlink" Target="mailto:info@evcarsuae.com" TargetMode="External"/><Relationship Id="rId5" Type="http://schemas.openxmlformats.org/officeDocument/2006/relationships/hyperlink" Target="https://wa.me/971507777134" TargetMode="External"/><Relationship Id="rId6" Type="http://schemas.openxmlformats.org/officeDocument/2006/relationships/hyperlink" Target="https://www.instagram.com/evcarsuae/" TargetMode="External"/><Relationship Id="rId7" Type="http://schemas.openxmlformats.org/officeDocument/2006/relationships/hyperlink" Target="https://www.instagram.com/evcarsuae/" TargetMode="External"/><Relationship Id="rId8" Type="http://schemas.openxmlformats.org/officeDocument/2006/relationships/hyperlink" Target="http://www.tiktok.com/@evcarsuae" TargetMode="External"/><Relationship Id="rId9" Type="http://schemas.openxmlformats.org/officeDocument/2006/relationships/hyperlink" Target="https://www.snapchat.com/add/evcarsuae" TargetMode="External"/><Relationship Id="rId10" Type="http://schemas.openxmlformats.org/officeDocument/2006/relationships/hyperlink" Target="https://www.evcars.me" TargetMode="External"/><Relationship Id="rId11" Type="http://schemas.openxmlformats.org/officeDocument/2006/relationships/hyperlink" Target="mailto:info@evcarsuae.com" TargetMode="External"/><Relationship Id="rId12" Type="http://schemas.openxmlformats.org/officeDocument/2006/relationships/hyperlink" Target="https://wa.me/971507777134" TargetMode="External"/><Relationship Id="rId13" Type="http://schemas.openxmlformats.org/officeDocument/2006/relationships/hyperlink" Target="https://www.instagram.com/evcarsuae/" TargetMode="External"/><Relationship Id="rId15" Type="http://schemas.openxmlformats.org/officeDocument/2006/relationships/hyperlink" Target="https://wa.me/971507777134" TargetMode="External"/><Relationship Id="rId17" Type="http://schemas.openxmlformats.org/officeDocument/2006/relationships/hyperlink" Target="https://www.evcars.me" TargetMode="External"/><Relationship Id="rId1" Type="http://schemas.openxmlformats.org/officeDocument/2006/relationships/image" Target="../media/image-12-1.png"/><Relationship Id="rId14" Type="http://schemas.openxmlformats.org/officeDocument/2006/relationships/image" Target="../media/image-12-2.png"/><Relationship Id="rId16" Type="http://schemas.openxmlformats.org/officeDocument/2006/relationships/image" Target="../media/image-12-3.png"/><Relationship Id="rId18" Type="http://schemas.openxmlformats.org/officeDocument/2006/relationships/slideLayout" Target="../slideLayouts/slideLayout3.xml"/><Relationship Id="rId19"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ero photo placeholder: EV at night">    </p:cNvPr>
          <p:cNvPicPr>
            <a:picLocks noChangeAspect="1"/>
          </p:cNvPicPr>
          <p:nvPr/>
        </p:nvPicPr>
        <p:blipFill>
          <a:blip r:embed="rId1"/>
          <a:stretch>
            <a:fillRect/>
          </a:stretch>
        </p:blipFill>
        <p:spPr>
          <a:xfrm>
            <a:off x="6949440" y="0"/>
            <a:ext cx="5242255" cy="6858000"/>
          </a:xfrm>
          <a:prstGeom prst="rect">
            <a:avLst/>
          </a:prstGeom>
        </p:spPr>
      </p:pic>
      <p:sp>
        <p:nvSpPr>
          <p:cNvPr id="3" name="Text 0"/>
          <p:cNvSpPr txBox="1"/>
          <p:nvPr/>
        </p:nvSpPr>
        <p:spPr>
          <a:xfrm>
            <a:off x="6949440" y="6355080"/>
            <a:ext cx="5242255" cy="228600"/>
          </a:xfrm>
          <a:prstGeom prst="rect">
            <a:avLst/>
          </a:prstGeom>
          <a:noFill/>
          <a:ln/>
        </p:spPr>
        <p:txBody>
          <a:bodyPr wrap="square" lIns="0" tIns="0" rIns="0" bIns="0" rtlCol="0" anchor="t"/>
          <a:lstStyle/>
          <a:p>
            <a:pPr algn="ctr" indent="0" marL="0">
              <a:lnSpc>
                <a:spcPct val="110000"/>
              </a:lnSpc>
              <a:spcAft>
                <a:spcPts val="500"/>
              </a:spcAft>
              <a:buNone/>
            </a:pPr>
            <a:r>
              <a:rPr lang="en-US" altLang="en-US" sz="700" spc="100" kern="0" dirty="0">
                <a:solidFill>
                  <a:srgbClr val="7D93B2"/>
                </a:solidFill>
                <a:latin typeface="Inter" pitchFamily="34" charset="0"/>
                <a:ea typeface="Inter" pitchFamily="34" charset="-122"/>
                <a:cs typeface="Inter" pitchFamily="34" charset="-120"/>
              </a:rPr>
              <a:t>PHOTO  ·  TESLA / EV AT NIGHT (REPLACE WITH REAL PHOTO)</a:t>
            </a:r>
            <a:endParaRPr lang="en-US" sz="700" dirty="0"/>
          </a:p>
        </p:txBody>
      </p:sp>
      <p:pic>
        <p:nvPicPr>
          <p:cNvPr id="4" name="Image 1" descr="EVCARS">
            <a:hlinkClick r:id="rId3" tooltip=""/>
          </p:cNvPr>
          <p:cNvPicPr>
            <a:picLocks noChangeAspect="1"/>
          </p:cNvPicPr>
          <p:nvPr/>
        </p:nvPicPr>
        <p:blipFill>
          <a:blip r:embed="rId2"/>
          <a:stretch>
            <a:fillRect/>
          </a:stretch>
        </p:blipFill>
        <p:spPr>
          <a:xfrm>
            <a:off x="1600200" y="1143000"/>
            <a:ext cx="3931920" cy="733653"/>
          </a:xfrm>
          <a:prstGeom prst="rect">
            <a:avLst/>
          </a:prstGeom>
        </p:spPr>
      </p:pic>
      <p:sp>
        <p:nvSpPr>
          <p:cNvPr id="5" name="Text 1"/>
          <p:cNvSpPr txBox="1"/>
          <p:nvPr/>
        </p:nvSpPr>
        <p:spPr>
          <a:xfrm>
            <a:off x="640080" y="2514600"/>
            <a:ext cx="5852160" cy="274320"/>
          </a:xfrm>
          <a:prstGeom prst="rect">
            <a:avLst/>
          </a:prstGeom>
          <a:noFill/>
          <a:ln/>
        </p:spPr>
        <p:txBody>
          <a:bodyPr wrap="square" lIns="0" tIns="0" rIns="0" bIns="0" rtlCol="0" anchor="t"/>
          <a:lstStyle/>
          <a:p>
            <a:pPr algn="ctr" indent="0" marL="0">
              <a:lnSpc>
                <a:spcPct val="110000"/>
              </a:lnSpc>
              <a:spcAft>
                <a:spcPts val="500"/>
              </a:spcAft>
              <a:buNone/>
            </a:pPr>
            <a:r>
              <a:rPr lang="en-US" altLang="en-US" sz="1300" b="1" spc="600" kern="0" dirty="0">
                <a:solidFill>
                  <a:srgbClr val="FFFFFF"/>
                </a:solidFill>
                <a:latin typeface="Sora" pitchFamily="34" charset="0"/>
                <a:ea typeface="Sora" pitchFamily="34" charset="-122"/>
                <a:cs typeface="Sora" pitchFamily="34" charset="-120"/>
              </a:rPr>
              <a:t>ELECTRIC VEHICLE SOLUTIONS</a:t>
            </a:r>
            <a:endParaRPr lang="en-US" sz="1300" dirty="0"/>
          </a:p>
        </p:txBody>
      </p:sp>
      <p:sp>
        <p:nvSpPr>
          <p:cNvPr id="6" name="Shape 2"/>
          <p:cNvSpPr/>
          <p:nvPr/>
        </p:nvSpPr>
        <p:spPr>
          <a:xfrm>
            <a:off x="2834640" y="3017520"/>
            <a:ext cx="1463040" cy="0"/>
          </a:xfrm>
          <a:prstGeom prst="line">
            <a:avLst/>
          </a:prstGeom>
          <a:noFill/>
          <a:ln w="9525">
            <a:solidFill>
              <a:srgbClr val="3E9ACA"/>
            </a:solidFill>
            <a:prstDash val="solid"/>
          </a:ln>
        </p:spPr>
      </p:sp>
      <p:sp>
        <p:nvSpPr>
          <p:cNvPr id="7" name="Text 3"/>
          <p:cNvSpPr txBox="1"/>
          <p:nvPr/>
        </p:nvSpPr>
        <p:spPr>
          <a:xfrm>
            <a:off x="640080" y="3291840"/>
            <a:ext cx="5852160" cy="502920"/>
          </a:xfrm>
          <a:prstGeom prst="rect">
            <a:avLst/>
          </a:prstGeom>
          <a:noFill/>
          <a:ln/>
        </p:spPr>
        <p:txBody>
          <a:bodyPr wrap="square" lIns="0" tIns="0" rIns="0" bIns="0" rtlCol="0" anchor="t"/>
          <a:lstStyle/>
          <a:p>
            <a:pPr rtl="1" algn="ctr" indent="0" marL="0">
              <a:lnSpc>
                <a:spcPct val="110000"/>
              </a:lnSpc>
              <a:spcAft>
                <a:spcPts val="500"/>
              </a:spcAft>
              <a:buNone/>
            </a:pPr>
            <a:r>
              <a:rPr lang="ar-AE" altLang="en-US" sz="2800" b="1" dirty="0">
                <a:solidFill>
                  <a:srgbClr val="FFFFFF"/>
                </a:solidFill>
                <a:latin typeface="IBM Plex Sans Arabic" pitchFamily="34" charset="0"/>
                <a:ea typeface="IBM Plex Sans Arabic" pitchFamily="34" charset="-122"/>
                <a:cs typeface="IBM Plex Sans Arabic" pitchFamily="34" charset="-120"/>
              </a:rPr>
              <a:t>الملف التعريفي للشركة</a:t>
            </a:r>
            <a:endParaRPr lang="ar-AE" sz="2800" dirty="0"/>
          </a:p>
        </p:txBody>
      </p:sp>
      <p:sp>
        <p:nvSpPr>
          <p:cNvPr id="8" name="Text 4"/>
          <p:cNvSpPr txBox="1"/>
          <p:nvPr/>
        </p:nvSpPr>
        <p:spPr>
          <a:xfrm>
            <a:off x="640080" y="3840480"/>
            <a:ext cx="5852160" cy="457200"/>
          </a:xfrm>
          <a:prstGeom prst="rect">
            <a:avLst/>
          </a:prstGeom>
          <a:noFill/>
          <a:ln/>
        </p:spPr>
        <p:txBody>
          <a:bodyPr wrap="square" lIns="0" tIns="0" rIns="0" bIns="0" rtlCol="0" anchor="t"/>
          <a:lstStyle/>
          <a:p>
            <a:pPr algn="ctr" indent="0" marL="0">
              <a:lnSpc>
                <a:spcPct val="110000"/>
              </a:lnSpc>
              <a:spcAft>
                <a:spcPts val="500"/>
              </a:spcAft>
              <a:buNone/>
            </a:pPr>
            <a:r>
              <a:rPr lang="en-US" altLang="en-US" sz="2400" b="1" dirty="0">
                <a:solidFill>
                  <a:srgbClr val="FFFFFF"/>
                </a:solidFill>
                <a:latin typeface="Sora" pitchFamily="34" charset="0"/>
                <a:ea typeface="Sora" pitchFamily="34" charset="-122"/>
                <a:cs typeface="Sora" pitchFamily="34" charset="-120"/>
              </a:rPr>
              <a:t>Corporate Profile</a:t>
            </a:r>
            <a:endParaRPr lang="en-US" sz="2400" dirty="0"/>
          </a:p>
        </p:txBody>
      </p:sp>
      <p:sp>
        <p:nvSpPr>
          <p:cNvPr id="9" name="Text 5"/>
          <p:cNvSpPr txBox="1"/>
          <p:nvPr/>
        </p:nvSpPr>
        <p:spPr>
          <a:xfrm>
            <a:off x="640080" y="4617720"/>
            <a:ext cx="5852160" cy="320040"/>
          </a:xfrm>
          <a:prstGeom prst="rect">
            <a:avLst/>
          </a:prstGeom>
          <a:noFill/>
          <a:ln/>
        </p:spPr>
        <p:txBody>
          <a:bodyPr wrap="square" lIns="0" tIns="0" rIns="0" bIns="0" rtlCol="0" anchor="t"/>
          <a:lstStyle/>
          <a:p>
            <a:pPr rtl="1" algn="ctr" indent="0" marL="0">
              <a:lnSpc>
                <a:spcPct val="110000"/>
              </a:lnSpc>
              <a:spcAft>
                <a:spcPts val="500"/>
              </a:spcAft>
              <a:buNone/>
            </a:pPr>
            <a:r>
              <a:rPr lang="ar-AE" altLang="en-US" sz="1200" dirty="0">
                <a:solidFill>
                  <a:srgbClr val="C9D6E8"/>
                </a:solidFill>
                <a:latin typeface="IBM Plex Sans Arabic" pitchFamily="34" charset="0"/>
                <a:ea typeface="IBM Plex Sans Arabic" pitchFamily="34" charset="-122"/>
                <a:cs typeface="IBM Plex Sans Arabic" pitchFamily="34" charset="-120"/>
              </a:rPr>
              <a:t>شركة إماراتية متخصصة في حلول السيارات الكهربائية</a:t>
            </a:r>
            <a:endParaRPr lang="ar-AE" sz="1200" dirty="0"/>
          </a:p>
        </p:txBody>
      </p:sp>
      <p:sp>
        <p:nvSpPr>
          <p:cNvPr id="10" name="Text 6"/>
          <p:cNvSpPr txBox="1"/>
          <p:nvPr/>
        </p:nvSpPr>
        <p:spPr>
          <a:xfrm>
            <a:off x="640080" y="4937760"/>
            <a:ext cx="5852160" cy="274320"/>
          </a:xfrm>
          <a:prstGeom prst="rect">
            <a:avLst/>
          </a:prstGeom>
          <a:noFill/>
          <a:ln/>
        </p:spPr>
        <p:txBody>
          <a:bodyPr wrap="square" lIns="0" tIns="0" rIns="0" bIns="0" rtlCol="0" anchor="t"/>
          <a:lstStyle/>
          <a:p>
            <a:pPr algn="ctr" indent="0" marL="0">
              <a:lnSpc>
                <a:spcPct val="110000"/>
              </a:lnSpc>
              <a:spcAft>
                <a:spcPts val="500"/>
              </a:spcAft>
              <a:buNone/>
            </a:pPr>
            <a:r>
              <a:rPr lang="en-US" altLang="en-US" sz="1100" dirty="0">
                <a:solidFill>
                  <a:srgbClr val="C9D6E8"/>
                </a:solidFill>
                <a:latin typeface="Inter" pitchFamily="34" charset="0"/>
                <a:ea typeface="Inter" pitchFamily="34" charset="-122"/>
                <a:cs typeface="Inter" pitchFamily="34" charset="-120"/>
              </a:rPr>
              <a:t>An Emirati Brand Specialized in Electric Vehicle Solutions</a:t>
            </a:r>
            <a:endParaRPr lang="en-US" sz="1100" dirty="0"/>
          </a:p>
        </p:txBody>
      </p:sp>
      <p:sp>
        <p:nvSpPr>
          <p:cNvPr id="11" name="Text 7"/>
          <p:cNvSpPr txBox="1"/>
          <p:nvPr/>
        </p:nvSpPr>
        <p:spPr>
          <a:xfrm>
            <a:off x="640080" y="6080760"/>
            <a:ext cx="5852160" cy="274320"/>
          </a:xfrm>
          <a:prstGeom prst="rect">
            <a:avLst/>
          </a:prstGeom>
          <a:noFill/>
          <a:ln/>
        </p:spPr>
        <p:txBody>
          <a:bodyPr wrap="square" lIns="0" tIns="0" rIns="0" bIns="0" rtlCol="0" anchor="t"/>
          <a:lstStyle/>
          <a:p>
            <a:pPr algn="ctr" indent="0" marL="0">
              <a:lnSpc>
                <a:spcPct val="110000"/>
              </a:lnSpc>
              <a:spcAft>
                <a:spcPts val="500"/>
              </a:spcAft>
              <a:buNone/>
            </a:pPr>
            <a:r>
              <a:rPr lang="en-US" altLang="en-US" sz="900" b="1" spc="400" kern="0" dirty="0">
                <a:solidFill>
                  <a:srgbClr val="3E9ACA"/>
                </a:solidFill>
                <a:latin typeface="Inter" pitchFamily="34" charset="0"/>
                <a:ea typeface="Inter" pitchFamily="34" charset="-122"/>
                <a:cs typeface="Inter" pitchFamily="34" charset="-120"/>
              </a:rPr>
              <a:t>UAE  •  OMAN  •  REGIONAL EXPANSION</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411480"/>
            <a:ext cx="5547208" cy="274320"/>
          </a:xfrm>
          <a:prstGeom prst="rect">
            <a:avLst/>
          </a:prstGeom>
          <a:noFill/>
          <a:ln/>
        </p:spPr>
        <p:txBody>
          <a:bodyPr wrap="square" lIns="0" tIns="0" rIns="0" bIns="0" rtlCol="0" anchor="t"/>
          <a:lstStyle/>
          <a:p>
            <a:pPr algn="l" indent="0" marL="0">
              <a:lnSpc>
                <a:spcPct val="110000"/>
              </a:lnSpc>
              <a:spcAft>
                <a:spcPts val="500"/>
              </a:spcAft>
              <a:buNone/>
            </a:pPr>
            <a:r>
              <a:rPr lang="en-US" altLang="en-US" sz="1000" b="1" dirty="0">
                <a:solidFill>
                  <a:srgbClr val="3E9ACA"/>
                </a:solidFill>
                <a:latin typeface="Sora" pitchFamily="34" charset="0"/>
                <a:ea typeface="Sora" pitchFamily="34" charset="-122"/>
                <a:cs typeface="Sora" pitchFamily="34" charset="-120"/>
              </a:rPr>
              <a:t>01</a:t>
            </a:r>
            <a:pPr algn="l" indent="0" marL="0">
              <a:lnSpc>
                <a:spcPct val="110000"/>
              </a:lnSpc>
              <a:spcAft>
                <a:spcPts val="500"/>
              </a:spcAft>
              <a:buNone/>
            </a:pPr>
            <a:r>
              <a:rPr lang="en-US" altLang="en-US" sz="1000" b="1" spc="200" kern="0" dirty="0">
                <a:solidFill>
                  <a:srgbClr val="0A1628"/>
                </a:solidFill>
                <a:latin typeface="Sora" pitchFamily="34" charset="0"/>
                <a:ea typeface="Sora" pitchFamily="34" charset="-122"/>
                <a:cs typeface="Sora" pitchFamily="34" charset="-120"/>
              </a:rPr>
              <a:t>  |  ABOUT EVCARS</a:t>
            </a:r>
            <a:endParaRPr lang="en-US" sz="1000" dirty="0"/>
          </a:p>
        </p:txBody>
      </p:sp>
      <p:sp>
        <p:nvSpPr>
          <p:cNvPr id="3" name="Text 1"/>
          <p:cNvSpPr txBox="1"/>
          <p:nvPr/>
        </p:nvSpPr>
        <p:spPr>
          <a:xfrm>
            <a:off x="6095848" y="393192"/>
            <a:ext cx="5547208" cy="274320"/>
          </a:xfrm>
          <a:prstGeom prst="rect">
            <a:avLst/>
          </a:prstGeom>
          <a:noFill/>
          <a:ln/>
        </p:spPr>
        <p:txBody>
          <a:bodyPr wrap="square" lIns="0" tIns="0" rIns="0" bIns="0" rtlCol="0" anchor="t"/>
          <a:lstStyle/>
          <a:p>
            <a:pPr rtl="1" algn="r" indent="0" marL="0">
              <a:lnSpc>
                <a:spcPct val="110000"/>
              </a:lnSpc>
              <a:spcAft>
                <a:spcPts val="500"/>
              </a:spcAft>
              <a:buNone/>
            </a:pPr>
            <a:r>
              <a:rPr lang="ar-AE" altLang="en-US" sz="1200" b="1" dirty="0">
                <a:solidFill>
                  <a:srgbClr val="3E9ACA"/>
                </a:solidFill>
                <a:latin typeface="IBM Plex Sans Arabic" pitchFamily="34" charset="0"/>
                <a:ea typeface="IBM Plex Sans Arabic" pitchFamily="34" charset="-122"/>
                <a:cs typeface="IBM Plex Sans Arabic" pitchFamily="34" charset="-120"/>
              </a:rPr>
              <a:t>01</a:t>
            </a:r>
            <a:pPr algn="r" indent="0" marL="0">
              <a:lnSpc>
                <a:spcPct val="110000"/>
              </a:lnSpc>
              <a:spcAft>
                <a:spcPts val="500"/>
              </a:spcAft>
              <a:buNone/>
            </a:pPr>
            <a:r>
              <a:rPr lang="ar-AE" altLang="en-US" sz="1200" b="1" dirty="0">
                <a:solidFill>
                  <a:srgbClr val="0A1628"/>
                </a:solidFill>
                <a:latin typeface="IBM Plex Sans Arabic" pitchFamily="34" charset="0"/>
                <a:ea typeface="IBM Plex Sans Arabic" pitchFamily="34" charset="-122"/>
                <a:cs typeface="IBM Plex Sans Arabic" pitchFamily="34" charset="-120"/>
              </a:rPr>
              <a:t>  |  من نحن</a:t>
            </a:r>
            <a:endParaRPr lang="ar-AE" sz="1200" dirty="0"/>
          </a:p>
        </p:txBody>
      </p:sp>
      <p:sp>
        <p:nvSpPr>
          <p:cNvPr id="4" name="Shape 2"/>
          <p:cNvSpPr/>
          <p:nvPr/>
        </p:nvSpPr>
        <p:spPr>
          <a:xfrm>
            <a:off x="548640" y="722376"/>
            <a:ext cx="11094415" cy="0"/>
          </a:xfrm>
          <a:prstGeom prst="line">
            <a:avLst/>
          </a:prstGeom>
          <a:noFill/>
          <a:ln w="9525">
            <a:solidFill>
              <a:srgbClr val="E3E8EF"/>
            </a:solidFill>
            <a:prstDash val="solid"/>
          </a:ln>
        </p:spPr>
      </p:sp>
      <p:sp>
        <p:nvSpPr>
          <p:cNvPr id="5" name="Text 3"/>
          <p:cNvSpPr txBox="1"/>
          <p:nvPr/>
        </p:nvSpPr>
        <p:spPr>
          <a:xfrm>
            <a:off x="548640" y="914400"/>
            <a:ext cx="5349240" cy="2514600"/>
          </a:xfrm>
          <a:prstGeom prst="rect">
            <a:avLst/>
          </a:prstGeom>
          <a:noFill/>
          <a:ln/>
        </p:spPr>
        <p:txBody>
          <a:bodyPr wrap="square" lIns="0" tIns="0" rIns="0" bIns="0" rtlCol="0" anchor="t"/>
          <a:lstStyle/>
          <a:p>
            <a:pPr algn="l" indent="0" marL="0">
              <a:lnSpc>
                <a:spcPct val="110000"/>
              </a:lnSpc>
              <a:spcAft>
                <a:spcPts val="500"/>
              </a:spcAft>
              <a:buNone/>
            </a:pPr>
            <a:r>
              <a:rPr lang="en-US" altLang="en-US" sz="1050" b="1" dirty="0">
                <a:solidFill>
                  <a:srgbClr val="0A1628"/>
                </a:solidFill>
                <a:latin typeface="Inter" pitchFamily="34" charset="0"/>
                <a:ea typeface="Inter" pitchFamily="34" charset="-122"/>
                <a:cs typeface="Inter" pitchFamily="34" charset="-120"/>
              </a:rPr>
              <a:t>EVCARS is an Emirati brand specializing in comprehensive electric vehicle solutions, including interior and exterior accessories, EV charging equipment, charging adapters, professional installation, and specialized technical services.</a:t>
            </a:r>
            <a:endParaRPr lang="en-US" sz="900" dirty="0"/>
          </a:p>
          <a:p>
            <a:pPr algn="l" indent="0" marL="0">
              <a:lnSpc>
                <a:spcPct val="110000"/>
              </a:lnSpc>
              <a:spcAft>
                <a:spcPts val="500"/>
              </a:spcAft>
              <a:buNone/>
            </a:pPr>
            <a:r>
              <a:rPr lang="en-US" altLang="en-US" sz="900" dirty="0">
                <a:solidFill>
                  <a:srgbClr val="0A1628"/>
                </a:solidFill>
                <a:latin typeface="Inter" pitchFamily="34" charset="0"/>
                <a:ea typeface="Inter" pitchFamily="34" charset="-122"/>
                <a:cs typeface="Inter" pitchFamily="34" charset="-120"/>
              </a:rPr>
              <a:t>Established in 2023 as an e-commerce business in the United Arab Emirates, EVCARS has grown into a physical retail network serving customers directly, with operations extending into the Sultanate of Oman.</a:t>
            </a:r>
            <a:endParaRPr lang="en-US" sz="900" dirty="0"/>
          </a:p>
          <a:p>
            <a:pPr algn="l" indent="0" marL="0">
              <a:lnSpc>
                <a:spcPct val="110000"/>
              </a:lnSpc>
              <a:spcAft>
                <a:spcPts val="500"/>
              </a:spcAft>
              <a:buNone/>
            </a:pPr>
            <a:r>
              <a:rPr lang="en-US" altLang="en-US" sz="900" dirty="0">
                <a:solidFill>
                  <a:srgbClr val="0A1628"/>
                </a:solidFill>
                <a:latin typeface="Inter" pitchFamily="34" charset="0"/>
                <a:ea typeface="Inter" pitchFamily="34" charset="-122"/>
                <a:cs typeface="Inter" pitchFamily="34" charset="-120"/>
              </a:rPr>
              <a:t>The company combines specialized products, technical services, and online and in-store shopping experiences to meet the evolving needs of electric vehicle owners.</a:t>
            </a:r>
            <a:endParaRPr lang="en-US" sz="900" dirty="0"/>
          </a:p>
          <a:p>
            <a:pPr algn="l" indent="0" marL="0">
              <a:lnSpc>
                <a:spcPct val="110000"/>
              </a:lnSpc>
              <a:spcAft>
                <a:spcPts val="500"/>
              </a:spcAft>
              <a:buNone/>
            </a:pPr>
            <a:r>
              <a:rPr lang="en-US" altLang="en-US" sz="900" dirty="0">
                <a:solidFill>
                  <a:srgbClr val="0A1628"/>
                </a:solidFill>
                <a:latin typeface="Inter" pitchFamily="34" charset="0"/>
                <a:ea typeface="Inter" pitchFamily="34" charset="-122"/>
                <a:cs typeface="Inter" pitchFamily="34" charset="-120"/>
              </a:rPr>
              <a:t>EVCARS continues to strengthen its capabilities and expand its commercial presence from the UAE into new regional markets.</a:t>
            </a:r>
            <a:endParaRPr lang="en-US" sz="900" dirty="0"/>
          </a:p>
        </p:txBody>
      </p:sp>
      <p:sp>
        <p:nvSpPr>
          <p:cNvPr id="6" name="Text 4"/>
          <p:cNvSpPr txBox="1"/>
          <p:nvPr/>
        </p:nvSpPr>
        <p:spPr>
          <a:xfrm>
            <a:off x="6293815" y="914400"/>
            <a:ext cx="5349240" cy="2514600"/>
          </a:xfrm>
          <a:prstGeom prst="rect">
            <a:avLst/>
          </a:prstGeom>
          <a:noFill/>
          <a:ln/>
        </p:spPr>
        <p:txBody>
          <a:bodyPr wrap="square" lIns="0" tIns="0" rIns="0" bIns="0" rtlCol="0" anchor="t"/>
          <a:lstStyle/>
          <a:p>
            <a:pPr rtl="1" algn="r" indent="0" marL="0">
              <a:lnSpc>
                <a:spcPct val="110000"/>
              </a:lnSpc>
              <a:spcAft>
                <a:spcPts val="500"/>
              </a:spcAft>
              <a:buNone/>
            </a:pPr>
            <a:r>
              <a:rPr lang="ar-AE" altLang="en-US" sz="1150" b="1" dirty="0">
                <a:solidFill>
                  <a:srgbClr val="0A1628"/>
                </a:solidFill>
                <a:latin typeface="IBM Plex Sans Arabic" pitchFamily="34" charset="0"/>
                <a:ea typeface="IBM Plex Sans Arabic" pitchFamily="34" charset="-122"/>
                <a:cs typeface="IBM Plex Sans Arabic" pitchFamily="34" charset="-120"/>
              </a:rPr>
              <a:t>EVCARS علامة تجارية إماراتية متخصصة في تقديم حلول متكاملة للسيارات الكهربائية، تشمل الإكسسوارات الداخلية والخارجية، وشواحن السيارات الكهربائية، ومحولات الشحن، وخدمات التركيب والدعم الفني المتخصص.</a:t>
            </a:r>
            <a:endParaRPr lang="ar-AE" sz="1000" dirty="0"/>
          </a:p>
          <a:p>
            <a:pPr rtl="1" algn="r" indent="0" marL="0">
              <a:lnSpc>
                <a:spcPct val="110000"/>
              </a:lnSpc>
              <a:spcAft>
                <a:spcPts val="500"/>
              </a:spcAft>
              <a:buNone/>
            </a:pPr>
            <a:r>
              <a:rPr lang="ar-AE" altLang="en-US" sz="1000" dirty="0">
                <a:solidFill>
                  <a:srgbClr val="0A1628"/>
                </a:solidFill>
                <a:latin typeface="IBM Plex Sans Arabic" pitchFamily="34" charset="0"/>
                <a:ea typeface="IBM Plex Sans Arabic" pitchFamily="34" charset="-122"/>
                <a:cs typeface="IBM Plex Sans Arabic" pitchFamily="34" charset="-120"/>
              </a:rPr>
              <a:t>انطلقت EVCARS في عام 2023 من خلال التجارة الإلكترونية في دولة الإمارات العربية المتحدة، ثم توسعت إلى شبكة من الفروع الفعلية لخدمة العملاء بصورة مباشرة، وصولاً إلى التوسع في سلطنة عُمان.</a:t>
            </a:r>
            <a:endParaRPr lang="ar-AE" sz="1000" dirty="0"/>
          </a:p>
          <a:p>
            <a:pPr rtl="1" algn="r" indent="0" marL="0">
              <a:lnSpc>
                <a:spcPct val="110000"/>
              </a:lnSpc>
              <a:spcAft>
                <a:spcPts val="500"/>
              </a:spcAft>
              <a:buNone/>
            </a:pPr>
            <a:r>
              <a:rPr lang="ar-AE" altLang="en-US" sz="1000" dirty="0">
                <a:solidFill>
                  <a:srgbClr val="0A1628"/>
                </a:solidFill>
                <a:latin typeface="IBM Plex Sans Arabic" pitchFamily="34" charset="0"/>
                <a:ea typeface="IBM Plex Sans Arabic" pitchFamily="34" charset="-122"/>
                <a:cs typeface="IBM Plex Sans Arabic" pitchFamily="34" charset="-120"/>
              </a:rPr>
              <a:t>تعتمد الشركة على الجمع بين المنتجات المتخصصة والخدمات الفنية وتجربة التسوق المباشر والإلكتروني، لتلبية احتياجات ملاك السيارات الكهربائية.</a:t>
            </a:r>
            <a:endParaRPr lang="ar-AE" sz="1000" dirty="0"/>
          </a:p>
          <a:p>
            <a:pPr rtl="1" algn="r" indent="0" marL="0">
              <a:lnSpc>
                <a:spcPct val="110000"/>
              </a:lnSpc>
              <a:spcAft>
                <a:spcPts val="500"/>
              </a:spcAft>
              <a:buNone/>
            </a:pPr>
            <a:r>
              <a:rPr lang="ar-AE" altLang="en-US" sz="1000" dirty="0">
                <a:solidFill>
                  <a:srgbClr val="0A1628"/>
                </a:solidFill>
                <a:latin typeface="IBM Plex Sans Arabic" pitchFamily="34" charset="0"/>
                <a:ea typeface="IBM Plex Sans Arabic" pitchFamily="34" charset="-122"/>
                <a:cs typeface="IBM Plex Sans Arabic" pitchFamily="34" charset="-120"/>
              </a:rPr>
              <a:t>وتواصل EVCARS تطوير خدماتها وتوسيع حضورها التجاري، انطلاقاً من دولة الإمارات العربية المتحدة نحو أسواق إقليمية جديدة.</a:t>
            </a:r>
            <a:endParaRPr lang="ar-AE" sz="1000" dirty="0"/>
          </a:p>
        </p:txBody>
      </p:sp>
      <p:sp>
        <p:nvSpPr>
          <p:cNvPr id="7" name="Shape 5"/>
          <p:cNvSpPr/>
          <p:nvPr/>
        </p:nvSpPr>
        <p:spPr>
          <a:xfrm>
            <a:off x="6096305" y="960120"/>
            <a:ext cx="0" cy="2377440"/>
          </a:xfrm>
          <a:prstGeom prst="line">
            <a:avLst/>
          </a:prstGeom>
          <a:noFill/>
          <a:ln w="9525">
            <a:solidFill>
              <a:srgbClr val="E3E8EF"/>
            </a:solidFill>
            <a:prstDash val="solid"/>
          </a:ln>
        </p:spPr>
      </p:sp>
      <p:sp>
        <p:nvSpPr>
          <p:cNvPr id="8" name="Founder card"/>
          <p:cNvSpPr/>
          <p:nvPr/>
        </p:nvSpPr>
        <p:spPr>
          <a:xfrm>
            <a:off x="548640" y="3611880"/>
            <a:ext cx="11094415" cy="2697480"/>
          </a:xfrm>
          <a:prstGeom prst="rect">
            <a:avLst/>
          </a:prstGeom>
          <a:solidFill>
            <a:srgbClr val="0A1628"/>
          </a:solidFill>
          <a:ln w="12700">
            <a:solidFill>
              <a:srgbClr val="0A1628"/>
            </a:solidFill>
            <a:prstDash val="solid"/>
          </a:ln>
        </p:spPr>
      </p:sp>
      <p:sp>
        <p:nvSpPr>
          <p:cNvPr id="9" name="Text 7"/>
          <p:cNvSpPr txBox="1"/>
          <p:nvPr/>
        </p:nvSpPr>
        <p:spPr>
          <a:xfrm>
            <a:off x="822960" y="3749040"/>
            <a:ext cx="5272888" cy="274320"/>
          </a:xfrm>
          <a:prstGeom prst="rect">
            <a:avLst/>
          </a:prstGeom>
          <a:noFill/>
          <a:ln/>
        </p:spPr>
        <p:txBody>
          <a:bodyPr wrap="square" lIns="0" tIns="0" rIns="0" bIns="0" rtlCol="0" anchor="t"/>
          <a:lstStyle/>
          <a:p>
            <a:pPr algn="l" indent="0" marL="0">
              <a:lnSpc>
                <a:spcPct val="110000"/>
              </a:lnSpc>
              <a:spcAft>
                <a:spcPts val="500"/>
              </a:spcAft>
              <a:buNone/>
            </a:pPr>
            <a:r>
              <a:rPr lang="en-US" altLang="en-US" sz="1000" b="1" dirty="0">
                <a:solidFill>
                  <a:srgbClr val="3E9ACA"/>
                </a:solidFill>
                <a:latin typeface="Sora" pitchFamily="34" charset="0"/>
                <a:ea typeface="Sora" pitchFamily="34" charset="-122"/>
                <a:cs typeface="Sora" pitchFamily="34" charset="-120"/>
              </a:rPr>
              <a:t>02</a:t>
            </a:r>
            <a:pPr algn="l" indent="0" marL="0">
              <a:lnSpc>
                <a:spcPct val="110000"/>
              </a:lnSpc>
              <a:spcAft>
                <a:spcPts val="500"/>
              </a:spcAft>
              <a:buNone/>
            </a:pPr>
            <a:r>
              <a:rPr lang="en-US" altLang="en-US" sz="1000" b="1" spc="200" kern="0" dirty="0">
                <a:solidFill>
                  <a:srgbClr val="FFFFFF"/>
                </a:solidFill>
                <a:latin typeface="Sora" pitchFamily="34" charset="0"/>
                <a:ea typeface="Sora" pitchFamily="34" charset="-122"/>
                <a:cs typeface="Sora" pitchFamily="34" charset="-120"/>
              </a:rPr>
              <a:t>  |  FOUNDER’S MESSAGE</a:t>
            </a:r>
            <a:endParaRPr lang="en-US" sz="1000" dirty="0"/>
          </a:p>
        </p:txBody>
      </p:sp>
      <p:sp>
        <p:nvSpPr>
          <p:cNvPr id="10" name="Text 8"/>
          <p:cNvSpPr txBox="1"/>
          <p:nvPr/>
        </p:nvSpPr>
        <p:spPr>
          <a:xfrm>
            <a:off x="6095848" y="3730752"/>
            <a:ext cx="5272888" cy="274320"/>
          </a:xfrm>
          <a:prstGeom prst="rect">
            <a:avLst/>
          </a:prstGeom>
          <a:noFill/>
          <a:ln/>
        </p:spPr>
        <p:txBody>
          <a:bodyPr wrap="square" lIns="0" tIns="0" rIns="0" bIns="0" rtlCol="0" anchor="t"/>
          <a:lstStyle/>
          <a:p>
            <a:pPr rtl="1" algn="r" indent="0" marL="0">
              <a:lnSpc>
                <a:spcPct val="110000"/>
              </a:lnSpc>
              <a:spcAft>
                <a:spcPts val="500"/>
              </a:spcAft>
              <a:buNone/>
            </a:pPr>
            <a:r>
              <a:rPr lang="ar-AE" altLang="en-US" sz="1200" b="1" dirty="0">
                <a:solidFill>
                  <a:srgbClr val="3E9ACA"/>
                </a:solidFill>
                <a:latin typeface="IBM Plex Sans Arabic" pitchFamily="34" charset="0"/>
                <a:ea typeface="IBM Plex Sans Arabic" pitchFamily="34" charset="-122"/>
                <a:cs typeface="IBM Plex Sans Arabic" pitchFamily="34" charset="-120"/>
              </a:rPr>
              <a:t>02</a:t>
            </a:r>
            <a:pPr algn="r" indent="0" marL="0">
              <a:lnSpc>
                <a:spcPct val="110000"/>
              </a:lnSpc>
              <a:spcAft>
                <a:spcPts val="500"/>
              </a:spcAft>
              <a:buNone/>
            </a:pPr>
            <a:r>
              <a:rPr lang="ar-AE" altLang="en-US" sz="1200" b="1" dirty="0">
                <a:solidFill>
                  <a:srgbClr val="FFFFFF"/>
                </a:solidFill>
                <a:latin typeface="IBM Plex Sans Arabic" pitchFamily="34" charset="0"/>
                <a:ea typeface="IBM Plex Sans Arabic" pitchFamily="34" charset="-122"/>
                <a:cs typeface="IBM Plex Sans Arabic" pitchFamily="34" charset="-120"/>
              </a:rPr>
              <a:t>  |  كلمة المؤسس</a:t>
            </a:r>
            <a:endParaRPr lang="ar-AE" sz="1200" dirty="0"/>
          </a:p>
        </p:txBody>
      </p:sp>
      <p:sp>
        <p:nvSpPr>
          <p:cNvPr id="11" name="Shape 9"/>
          <p:cNvSpPr/>
          <p:nvPr/>
        </p:nvSpPr>
        <p:spPr>
          <a:xfrm>
            <a:off x="822960" y="4059936"/>
            <a:ext cx="10545775" cy="0"/>
          </a:xfrm>
          <a:prstGeom prst="line">
            <a:avLst/>
          </a:prstGeom>
          <a:noFill/>
          <a:ln w="9525">
            <a:solidFill>
              <a:srgbClr val="24385A"/>
            </a:solidFill>
            <a:prstDash val="solid"/>
          </a:ln>
        </p:spPr>
      </p:sp>
      <p:sp>
        <p:nvSpPr>
          <p:cNvPr id="12" name="Text 10"/>
          <p:cNvSpPr txBox="1"/>
          <p:nvPr/>
        </p:nvSpPr>
        <p:spPr>
          <a:xfrm>
            <a:off x="822960" y="4187952"/>
            <a:ext cx="5120640" cy="1600200"/>
          </a:xfrm>
          <a:prstGeom prst="rect">
            <a:avLst/>
          </a:prstGeom>
          <a:noFill/>
          <a:ln/>
        </p:spPr>
        <p:txBody>
          <a:bodyPr wrap="square" lIns="0" tIns="0" rIns="0" bIns="0" rtlCol="0" anchor="t"/>
          <a:lstStyle/>
          <a:p>
            <a:pPr algn="l" indent="0" marL="0">
              <a:lnSpc>
                <a:spcPct val="110000"/>
              </a:lnSpc>
              <a:spcAft>
                <a:spcPts val="300"/>
              </a:spcAft>
              <a:buNone/>
            </a:pPr>
            <a:r>
              <a:rPr lang="en-US" altLang="en-US" sz="780" dirty="0">
                <a:solidFill>
                  <a:srgbClr val="DCE6F4"/>
                </a:solidFill>
                <a:latin typeface="Inter" pitchFamily="34" charset="0"/>
                <a:ea typeface="Inter" pitchFamily="34" charset="-122"/>
                <a:cs typeface="Inter" pitchFamily="34" charset="-120"/>
              </a:rPr>
              <a:t>Since establishing EVCARS, our goal has been to build a specialized brand that provides practical and reliable solutions for electric vehicle owners, combining quality products with professional service.</a:t>
            </a:r>
            <a:endParaRPr lang="en-US" sz="780" dirty="0"/>
          </a:p>
          <a:p>
            <a:pPr algn="l" indent="0" marL="0">
              <a:lnSpc>
                <a:spcPct val="110000"/>
              </a:lnSpc>
              <a:spcAft>
                <a:spcPts val="300"/>
              </a:spcAft>
              <a:buNone/>
            </a:pPr>
            <a:r>
              <a:rPr lang="en-US" altLang="en-US" sz="780" dirty="0">
                <a:solidFill>
                  <a:srgbClr val="DCE6F4"/>
                </a:solidFill>
                <a:latin typeface="Inter" pitchFamily="34" charset="0"/>
                <a:ea typeface="Inter" pitchFamily="34" charset="-122"/>
                <a:cs typeface="Inter" pitchFamily="34" charset="-120"/>
              </a:rPr>
              <a:t>Our journey began as an online store. Through the trust of our customers and the dedication of our team, we have grown into a branch network across the United Arab Emirates and the Sultanate of Oman.</a:t>
            </a:r>
            <a:endParaRPr lang="en-US" sz="780" dirty="0"/>
          </a:p>
          <a:p>
            <a:pPr algn="l" indent="0" marL="0">
              <a:lnSpc>
                <a:spcPct val="110000"/>
              </a:lnSpc>
              <a:spcAft>
                <a:spcPts val="300"/>
              </a:spcAft>
              <a:buNone/>
            </a:pPr>
            <a:r>
              <a:rPr lang="en-US" altLang="en-US" sz="780" dirty="0">
                <a:solidFill>
                  <a:srgbClr val="DCE6F4"/>
                </a:solidFill>
                <a:latin typeface="Inter" pitchFamily="34" charset="0"/>
                <a:ea typeface="Inter" pitchFamily="34" charset="-122"/>
                <a:cs typeface="Inter" pitchFamily="34" charset="-120"/>
              </a:rPr>
              <a:t>We believe that the future of electric mobility requires more than vehicles. It also depends on a complete ecosystem of accessories, charging solutions, and specialized services.</a:t>
            </a:r>
            <a:endParaRPr lang="en-US" sz="780" dirty="0"/>
          </a:p>
          <a:p>
            <a:pPr algn="l" indent="0" marL="0">
              <a:lnSpc>
                <a:spcPct val="110000"/>
              </a:lnSpc>
              <a:spcAft>
                <a:spcPts val="300"/>
              </a:spcAft>
              <a:buNone/>
            </a:pPr>
            <a:r>
              <a:rPr lang="en-US" altLang="en-US" sz="780" dirty="0">
                <a:solidFill>
                  <a:srgbClr val="DCE6F4"/>
                </a:solidFill>
                <a:latin typeface="Inter" pitchFamily="34" charset="0"/>
                <a:ea typeface="Inter" pitchFamily="34" charset="-122"/>
                <a:cs typeface="Inter" pitchFamily="34" charset="-120"/>
              </a:rPr>
              <a:t>We remain committed to improving the customer experience, expanding our product range, strengthening our technical capabilities, and pursuing sustainable regional growth.</a:t>
            </a:r>
            <a:endParaRPr lang="en-US" sz="780" dirty="0"/>
          </a:p>
          <a:p>
            <a:pPr algn="l" indent="0" marL="0">
              <a:lnSpc>
                <a:spcPct val="110000"/>
              </a:lnSpc>
              <a:spcAft>
                <a:spcPts val="300"/>
              </a:spcAft>
              <a:buNone/>
            </a:pPr>
            <a:r>
              <a:rPr lang="en-US" altLang="en-US" sz="780" dirty="0">
                <a:solidFill>
                  <a:srgbClr val="DCE6F4"/>
                </a:solidFill>
                <a:latin typeface="Inter" pitchFamily="34" charset="0"/>
                <a:ea typeface="Inter" pitchFamily="34" charset="-122"/>
                <a:cs typeface="Inter" pitchFamily="34" charset="-120"/>
              </a:rPr>
              <a:t>Our ambition is to establish EVCARS as a recognized and trusted brand among electric vehicle owners across the region and beyond.</a:t>
            </a:r>
            <a:endParaRPr lang="en-US" sz="780" dirty="0"/>
          </a:p>
        </p:txBody>
      </p:sp>
      <p:sp>
        <p:nvSpPr>
          <p:cNvPr id="13" name="Text 11"/>
          <p:cNvSpPr txBox="1"/>
          <p:nvPr/>
        </p:nvSpPr>
        <p:spPr>
          <a:xfrm>
            <a:off x="6336792" y="4187952"/>
            <a:ext cx="5120640" cy="1600200"/>
          </a:xfrm>
          <a:prstGeom prst="rect">
            <a:avLst/>
          </a:prstGeom>
          <a:noFill/>
          <a:ln/>
        </p:spPr>
        <p:txBody>
          <a:bodyPr wrap="square" lIns="0" tIns="0" rIns="0" bIns="0" rtlCol="0" anchor="t"/>
          <a:lstStyle/>
          <a:p>
            <a:pPr rtl="1" algn="r" indent="0" marL="0">
              <a:lnSpc>
                <a:spcPct val="110000"/>
              </a:lnSpc>
              <a:spcAft>
                <a:spcPts val="300"/>
              </a:spcAft>
              <a:buNone/>
            </a:pPr>
            <a:r>
              <a:rPr lang="ar-AE" altLang="en-US" sz="860" dirty="0">
                <a:solidFill>
                  <a:srgbClr val="DCE6F4"/>
                </a:solidFill>
                <a:latin typeface="IBM Plex Sans Arabic" pitchFamily="34" charset="0"/>
                <a:ea typeface="IBM Plex Sans Arabic" pitchFamily="34" charset="-122"/>
                <a:cs typeface="IBM Plex Sans Arabic" pitchFamily="34" charset="-120"/>
              </a:rPr>
              <a:t>منذ تأسيس EVCARS، كان هدفنا بناء علامة تجارية متخصصة تقدم حلولاً عملية وموثوقة لملاك السيارات الكهربائية، وتجمع بين جودة المنتجات والخدمة الاحترافية.</a:t>
            </a:r>
            <a:endParaRPr lang="ar-AE" sz="860" dirty="0"/>
          </a:p>
          <a:p>
            <a:pPr rtl="1" algn="r" indent="0" marL="0">
              <a:lnSpc>
                <a:spcPct val="110000"/>
              </a:lnSpc>
              <a:spcAft>
                <a:spcPts val="300"/>
              </a:spcAft>
              <a:buNone/>
            </a:pPr>
            <a:r>
              <a:rPr lang="ar-AE" altLang="en-US" sz="860" dirty="0">
                <a:solidFill>
                  <a:srgbClr val="DCE6F4"/>
                </a:solidFill>
                <a:latin typeface="IBM Plex Sans Arabic" pitchFamily="34" charset="0"/>
                <a:ea typeface="IBM Plex Sans Arabic" pitchFamily="34" charset="-122"/>
                <a:cs typeface="IBM Plex Sans Arabic" pitchFamily="34" charset="-120"/>
              </a:rPr>
              <a:t>بدأت رحلتنا من متجر إلكتروني، وبفضل ثقة عملائنا والتزام فريق العمل، تطورنا إلى شبكة فروع في دولة الإمارات العربية المتحدة وسلطنة عُمان.</a:t>
            </a:r>
            <a:endParaRPr lang="ar-AE" sz="860" dirty="0"/>
          </a:p>
          <a:p>
            <a:pPr rtl="1" algn="r" indent="0" marL="0">
              <a:lnSpc>
                <a:spcPct val="110000"/>
              </a:lnSpc>
              <a:spcAft>
                <a:spcPts val="300"/>
              </a:spcAft>
              <a:buNone/>
            </a:pPr>
            <a:r>
              <a:rPr lang="ar-AE" altLang="en-US" sz="860" dirty="0">
                <a:solidFill>
                  <a:srgbClr val="DCE6F4"/>
                </a:solidFill>
                <a:latin typeface="IBM Plex Sans Arabic" pitchFamily="34" charset="0"/>
                <a:ea typeface="IBM Plex Sans Arabic" pitchFamily="34" charset="-122"/>
                <a:cs typeface="IBM Plex Sans Arabic" pitchFamily="34" charset="-120"/>
              </a:rPr>
              <a:t>نؤمن بأن مستقبل قطاع السيارات الكهربائية لا يعتمد على المركبات وحدها، بل يحتاج أيضاً إلى منظومة متكاملة من الإكسسوارات وحلول الشحن والخدمات المتخصصة.</a:t>
            </a:r>
            <a:endParaRPr lang="ar-AE" sz="860" dirty="0"/>
          </a:p>
          <a:p>
            <a:pPr rtl="1" algn="r" indent="0" marL="0">
              <a:lnSpc>
                <a:spcPct val="110000"/>
              </a:lnSpc>
              <a:spcAft>
                <a:spcPts val="300"/>
              </a:spcAft>
              <a:buNone/>
            </a:pPr>
            <a:r>
              <a:rPr lang="ar-AE" altLang="en-US" sz="860" dirty="0">
                <a:solidFill>
                  <a:srgbClr val="DCE6F4"/>
                </a:solidFill>
                <a:latin typeface="IBM Plex Sans Arabic" pitchFamily="34" charset="0"/>
                <a:ea typeface="IBM Plex Sans Arabic" pitchFamily="34" charset="-122"/>
                <a:cs typeface="IBM Plex Sans Arabic" pitchFamily="34" charset="-120"/>
              </a:rPr>
              <a:t>ولهذا نواصل الاستثمار في تطوير تجربة العملاء، وتنويع المنتجات، وتعزيز قدرات فرقنا الفنية، والتوسع المدروس في الأسواق.</a:t>
            </a:r>
            <a:endParaRPr lang="ar-AE" sz="860" dirty="0"/>
          </a:p>
          <a:p>
            <a:pPr rtl="1" algn="r" indent="0" marL="0">
              <a:lnSpc>
                <a:spcPct val="110000"/>
              </a:lnSpc>
              <a:spcAft>
                <a:spcPts val="300"/>
              </a:spcAft>
              <a:buNone/>
            </a:pPr>
            <a:r>
              <a:rPr lang="ar-AE" altLang="en-US" sz="860" dirty="0">
                <a:solidFill>
                  <a:srgbClr val="DCE6F4"/>
                </a:solidFill>
                <a:latin typeface="IBM Plex Sans Arabic" pitchFamily="34" charset="0"/>
                <a:ea typeface="IBM Plex Sans Arabic" pitchFamily="34" charset="-122"/>
                <a:cs typeface="IBM Plex Sans Arabic" pitchFamily="34" charset="-120"/>
              </a:rPr>
              <a:t>طموحنا أن تصبح EVCARS علامة تجارية معروفة وموثوقة لدى ملاك السيارات الكهربائية في المنطقة وخارجها.</a:t>
            </a:r>
            <a:endParaRPr lang="ar-AE" sz="860" dirty="0"/>
          </a:p>
        </p:txBody>
      </p:sp>
      <p:sp>
        <p:nvSpPr>
          <p:cNvPr id="14" name="Shape 12"/>
          <p:cNvSpPr/>
          <p:nvPr/>
        </p:nvSpPr>
        <p:spPr>
          <a:xfrm>
            <a:off x="6096305" y="4224528"/>
            <a:ext cx="0" cy="1463040"/>
          </a:xfrm>
          <a:prstGeom prst="line">
            <a:avLst/>
          </a:prstGeom>
          <a:noFill/>
          <a:ln w="9525">
            <a:solidFill>
              <a:srgbClr val="24385A"/>
            </a:solidFill>
            <a:prstDash val="solid"/>
          </a:ln>
        </p:spPr>
      </p:sp>
      <p:sp>
        <p:nvSpPr>
          <p:cNvPr id="15" name="Shape 13"/>
          <p:cNvSpPr/>
          <p:nvPr/>
        </p:nvSpPr>
        <p:spPr>
          <a:xfrm>
            <a:off x="822960" y="5870448"/>
            <a:ext cx="10545775" cy="0"/>
          </a:xfrm>
          <a:prstGeom prst="line">
            <a:avLst/>
          </a:prstGeom>
          <a:noFill/>
          <a:ln w="9525">
            <a:solidFill>
              <a:srgbClr val="24385A"/>
            </a:solidFill>
            <a:prstDash val="solid"/>
          </a:ln>
        </p:spPr>
      </p:sp>
      <p:sp>
        <p:nvSpPr>
          <p:cNvPr id="16" name="Text 14"/>
          <p:cNvSpPr txBox="1"/>
          <p:nvPr/>
        </p:nvSpPr>
        <p:spPr>
          <a:xfrm>
            <a:off x="822960" y="5961888"/>
            <a:ext cx="5120640" cy="274320"/>
          </a:xfrm>
          <a:prstGeom prst="rect">
            <a:avLst/>
          </a:prstGeom>
          <a:noFill/>
          <a:ln/>
        </p:spPr>
        <p:txBody>
          <a:bodyPr wrap="square" lIns="0" tIns="0" rIns="0" bIns="0" rtlCol="0" anchor="t"/>
          <a:lstStyle/>
          <a:p>
            <a:pPr algn="l" indent="0" marL="0">
              <a:lnSpc>
                <a:spcPct val="110000"/>
              </a:lnSpc>
              <a:spcAft>
                <a:spcPts val="500"/>
              </a:spcAft>
              <a:buNone/>
            </a:pPr>
            <a:r>
              <a:rPr lang="en-US" altLang="en-US" sz="900" b="1" dirty="0">
                <a:solidFill>
                  <a:srgbClr val="FFFFFF"/>
                </a:solidFill>
                <a:latin typeface="Inter" pitchFamily="34" charset="0"/>
                <a:ea typeface="Inter" pitchFamily="34" charset="-122"/>
                <a:cs typeface="Inter" pitchFamily="34" charset="-120"/>
              </a:rPr>
              <a:t>Ahmed Al Ketbi (Bu Saeed)</a:t>
            </a:r>
            <a:pPr algn="l" indent="0" marL="0">
              <a:lnSpc>
                <a:spcPct val="110000"/>
              </a:lnSpc>
              <a:spcAft>
                <a:spcPts val="500"/>
              </a:spcAft>
              <a:buNone/>
            </a:pPr>
            <a:r>
              <a:rPr lang="en-US" altLang="en-US" sz="900" dirty="0">
                <a:solidFill>
                  <a:srgbClr val="AFC0D8"/>
                </a:solidFill>
                <a:latin typeface="Inter" pitchFamily="34" charset="0"/>
                <a:ea typeface="Inter" pitchFamily="34" charset="-122"/>
                <a:cs typeface="Inter" pitchFamily="34" charset="-120"/>
              </a:rPr>
              <a:t>   Founder &amp; General Manager, EVCARS</a:t>
            </a:r>
            <a:endParaRPr lang="en-US" sz="900" dirty="0"/>
          </a:p>
        </p:txBody>
      </p:sp>
      <p:sp>
        <p:nvSpPr>
          <p:cNvPr id="17" name="Text 15"/>
          <p:cNvSpPr txBox="1"/>
          <p:nvPr/>
        </p:nvSpPr>
        <p:spPr>
          <a:xfrm>
            <a:off x="6336792" y="5943600"/>
            <a:ext cx="5120640" cy="274320"/>
          </a:xfrm>
          <a:prstGeom prst="rect">
            <a:avLst/>
          </a:prstGeom>
          <a:noFill/>
          <a:ln/>
        </p:spPr>
        <p:txBody>
          <a:bodyPr wrap="square" lIns="0" tIns="0" rIns="0" bIns="0" rtlCol="0" anchor="t"/>
          <a:lstStyle/>
          <a:p>
            <a:pPr rtl="1" algn="r" indent="0" marL="0">
              <a:lnSpc>
                <a:spcPct val="110000"/>
              </a:lnSpc>
              <a:spcAft>
                <a:spcPts val="500"/>
              </a:spcAft>
              <a:buNone/>
            </a:pPr>
            <a:r>
              <a:rPr lang="ar-AE" altLang="en-US" sz="1000" b="1" dirty="0">
                <a:solidFill>
                  <a:srgbClr val="FFFFFF"/>
                </a:solidFill>
                <a:latin typeface="IBM Plex Sans Arabic" pitchFamily="34" charset="0"/>
                <a:ea typeface="IBM Plex Sans Arabic" pitchFamily="34" charset="-122"/>
                <a:cs typeface="IBM Plex Sans Arabic" pitchFamily="34" charset="-120"/>
              </a:rPr>
              <a:t>أحمد الكتبي (بوسعيد)</a:t>
            </a:r>
            <a:pPr algn="r" indent="0" marL="0">
              <a:lnSpc>
                <a:spcPct val="110000"/>
              </a:lnSpc>
              <a:spcAft>
                <a:spcPts val="500"/>
              </a:spcAft>
              <a:buNone/>
            </a:pPr>
            <a:r>
              <a:rPr lang="ar-AE" altLang="en-US" sz="1000" dirty="0">
                <a:solidFill>
                  <a:srgbClr val="AFC0D8"/>
                </a:solidFill>
                <a:latin typeface="IBM Plex Sans Arabic" pitchFamily="34" charset="0"/>
                <a:ea typeface="IBM Plex Sans Arabic" pitchFamily="34" charset="-122"/>
                <a:cs typeface="IBM Plex Sans Arabic" pitchFamily="34" charset="-120"/>
              </a:rPr>
              <a:t>   المؤسس والمدير العام، EVCARS</a:t>
            </a:r>
            <a:endParaRPr lang="ar-AE" sz="1000" dirty="0"/>
          </a:p>
        </p:txBody>
      </p:sp>
      <p:sp>
        <p:nvSpPr>
          <p:cNvPr id="18" name="Shape 16"/>
          <p:cNvSpPr/>
          <p:nvPr/>
        </p:nvSpPr>
        <p:spPr>
          <a:xfrm>
            <a:off x="548640" y="6428232"/>
            <a:ext cx="11094415" cy="0"/>
          </a:xfrm>
          <a:prstGeom prst="line">
            <a:avLst/>
          </a:prstGeom>
          <a:noFill/>
          <a:ln w="9525">
            <a:solidFill>
              <a:srgbClr val="E3E8EF"/>
            </a:solidFill>
            <a:prstDash val="solid"/>
          </a:ln>
        </p:spPr>
      </p:sp>
      <p:pic>
        <p:nvPicPr>
          <p:cNvPr id="19" name="Image 0" descr="EVCARS logo">
            <a:hlinkClick r:id="rId2" tooltip="Back to cover" action="ppaction://hlinksldjump"/>
          </p:cNvPr>
          <p:cNvPicPr>
            <a:picLocks noChangeAspect="1"/>
          </p:cNvPicPr>
          <p:nvPr/>
        </p:nvPicPr>
        <p:blipFill>
          <a:blip r:embed="rId1"/>
          <a:stretch>
            <a:fillRect/>
          </a:stretch>
        </p:blipFill>
        <p:spPr>
          <a:xfrm>
            <a:off x="548640" y="6510528"/>
            <a:ext cx="833104" cy="155448"/>
          </a:xfrm>
          <a:prstGeom prst="rect">
            <a:avLst/>
          </a:prstGeom>
        </p:spPr>
      </p:pic>
      <p:sp>
        <p:nvSpPr>
          <p:cNvPr id="20" name="Text 17">
            <a:hlinkClick r:id="rId3" tooltip="www.evcars.me"/>
          </p:cNvPr>
          <p:cNvSpPr txBox="1"/>
          <p:nvPr/>
        </p:nvSpPr>
        <p:spPr>
          <a:xfrm>
            <a:off x="1600200" y="6492240"/>
            <a:ext cx="1463040" cy="201168"/>
          </a:xfrm>
          <a:prstGeom prst="rect">
            <a:avLst/>
          </a:prstGeom>
          <a:noFill/>
          <a:ln/>
        </p:spPr>
        <p:txBody>
          <a:bodyPr wrap="square" lIns="0" tIns="0" rIns="0" bIns="0" rtlCol="0" anchor="ctr"/>
          <a:lstStyle/>
          <a:p>
            <a:pPr indent="0" marL="0">
              <a:buNone/>
            </a:pPr>
            <a:r>
              <a:rPr lang="en-US" sz="800" u="sng" dirty="0">
                <a:solidFill>
                  <a:srgbClr val="3E9ACA"/>
                </a:solidFill>
                <a:latin typeface="Inter" pitchFamily="34" charset="0"/>
                <a:ea typeface="Inter" pitchFamily="34" charset="-122"/>
                <a:cs typeface="Inter" pitchFamily="34" charset="-120"/>
                <a:hlinkClick r:id="rId3" invalidUrl="" action="" tgtFrame="" tooltip="www.evcars.me" history="1" highlightClick="0" endSnd="0">
                  <a:extLst>
                    <a:ext uri="{A12FA001-AC4F-418D-AE19-62706E023703}">
                      <ahyp:hlinkClr xmlns:ahyp="http://schemas.microsoft.com/office/drawing/2018/hyperlinkcolor" val="tx"/>
                    </a:ext>
                  </a:extLst>
                </a:hlinkClick>
              </a:rPr>
              <a:t>www.evcars.me</a:t>
            </a:r>
            <a:endParaRPr lang="en-US" sz="800" dirty="0"/>
          </a:p>
        </p:txBody>
      </p:sp>
      <p:sp>
        <p:nvSpPr>
          <p:cNvPr id="21" name="Text 18">
            <a:hlinkClick r:id="rId4" tooltip="Page 1" action="ppaction://hlinksldjump"/>
          </p:cNvPr>
          <p:cNvSpPr txBox="1"/>
          <p:nvPr/>
        </p:nvSpPr>
        <p:spPr>
          <a:xfrm>
            <a:off x="834847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4" action="ppaction://hlinksldjump" tooltip="Page 1">
                  <a:extLst>
                    <a:ext uri="{A12FA001-AC4F-418D-AE19-62706E023703}">
                      <ahyp:hlinkClr xmlns:ahyp="http://schemas.microsoft.com/office/drawing/2018/hyperlinkcolor" val="tx"/>
                    </a:ext>
                  </a:extLst>
                </a:hlinkClick>
              </a:rPr>
              <a:t>1</a:t>
            </a:r>
            <a:endParaRPr lang="en-US" sz="750" dirty="0"/>
          </a:p>
        </p:txBody>
      </p:sp>
      <p:sp>
        <p:nvSpPr>
          <p:cNvPr id="22" name="Text 19">
            <a:hlinkClick r:id="rId5" tooltip="Page 2" action="ppaction://hlinksldjump"/>
          </p:cNvPr>
          <p:cNvSpPr txBox="1"/>
          <p:nvPr/>
        </p:nvSpPr>
        <p:spPr>
          <a:xfrm>
            <a:off x="8622792" y="6492240"/>
            <a:ext cx="274320" cy="201168"/>
          </a:xfrm>
          <a:prstGeom prst="rect">
            <a:avLst/>
          </a:prstGeom>
          <a:noFill/>
          <a:ln/>
        </p:spPr>
        <p:txBody>
          <a:bodyPr wrap="square" lIns="0" tIns="0" rIns="0" bIns="0" rtlCol="0" anchor="ctr"/>
          <a:lstStyle/>
          <a:p>
            <a:pPr algn="ctr" indent="0" marL="0">
              <a:buNone/>
            </a:pPr>
            <a:r>
              <a:rPr lang="en-US" sz="750" b="1" u="sng" dirty="0">
                <a:solidFill>
                  <a:srgbClr val="3E9ACA"/>
                </a:solidFill>
                <a:latin typeface="Inter" pitchFamily="34" charset="0"/>
                <a:ea typeface="Inter" pitchFamily="34" charset="-122"/>
                <a:cs typeface="Inter" pitchFamily="34" charset="-120"/>
                <a:hlinkClick r:id="rId5" action="ppaction://hlinksldjump" tooltip="Page 2">
                  <a:extLst>
                    <a:ext uri="{A12FA001-AC4F-418D-AE19-62706E023703}">
                      <ahyp:hlinkClr xmlns:ahyp="http://schemas.microsoft.com/office/drawing/2018/hyperlinkcolor" val="tx"/>
                    </a:ext>
                  </a:extLst>
                </a:hlinkClick>
              </a:rPr>
              <a:t>2</a:t>
            </a:r>
            <a:endParaRPr lang="en-US" sz="750" dirty="0"/>
          </a:p>
        </p:txBody>
      </p:sp>
      <p:sp>
        <p:nvSpPr>
          <p:cNvPr id="23" name="Text 20">
            <a:hlinkClick r:id="rId6" tooltip="Page 3" action="ppaction://hlinksldjump"/>
          </p:cNvPr>
          <p:cNvSpPr txBox="1"/>
          <p:nvPr/>
        </p:nvSpPr>
        <p:spPr>
          <a:xfrm>
            <a:off x="889711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6" action="ppaction://hlinksldjump" tooltip="Page 3">
                  <a:extLst>
                    <a:ext uri="{A12FA001-AC4F-418D-AE19-62706E023703}">
                      <ahyp:hlinkClr xmlns:ahyp="http://schemas.microsoft.com/office/drawing/2018/hyperlinkcolor" val="tx"/>
                    </a:ext>
                  </a:extLst>
                </a:hlinkClick>
              </a:rPr>
              <a:t>3</a:t>
            </a:r>
            <a:endParaRPr lang="en-US" sz="750" dirty="0"/>
          </a:p>
        </p:txBody>
      </p:sp>
      <p:sp>
        <p:nvSpPr>
          <p:cNvPr id="24" name="Text 21">
            <a:hlinkClick r:id="rId7" tooltip="Page 4" action="ppaction://hlinksldjump"/>
          </p:cNvPr>
          <p:cNvSpPr txBox="1"/>
          <p:nvPr/>
        </p:nvSpPr>
        <p:spPr>
          <a:xfrm>
            <a:off x="917143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7" action="ppaction://hlinksldjump" tooltip="Page 4">
                  <a:extLst>
                    <a:ext uri="{A12FA001-AC4F-418D-AE19-62706E023703}">
                      <ahyp:hlinkClr xmlns:ahyp="http://schemas.microsoft.com/office/drawing/2018/hyperlinkcolor" val="tx"/>
                    </a:ext>
                  </a:extLst>
                </a:hlinkClick>
              </a:rPr>
              <a:t>4</a:t>
            </a:r>
            <a:endParaRPr lang="en-US" sz="750" dirty="0"/>
          </a:p>
        </p:txBody>
      </p:sp>
      <p:sp>
        <p:nvSpPr>
          <p:cNvPr id="25" name="Text 22">
            <a:hlinkClick r:id="rId8" tooltip="Page 5" action="ppaction://hlinksldjump"/>
          </p:cNvPr>
          <p:cNvSpPr txBox="1"/>
          <p:nvPr/>
        </p:nvSpPr>
        <p:spPr>
          <a:xfrm>
            <a:off x="944575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8" action="ppaction://hlinksldjump" tooltip="Page 5">
                  <a:extLst>
                    <a:ext uri="{A12FA001-AC4F-418D-AE19-62706E023703}">
                      <ahyp:hlinkClr xmlns:ahyp="http://schemas.microsoft.com/office/drawing/2018/hyperlinkcolor" val="tx"/>
                    </a:ext>
                  </a:extLst>
                </a:hlinkClick>
              </a:rPr>
              <a:t>5</a:t>
            </a:r>
            <a:endParaRPr lang="en-US" sz="750" dirty="0"/>
          </a:p>
        </p:txBody>
      </p:sp>
      <p:sp>
        <p:nvSpPr>
          <p:cNvPr id="26" name="Text 23">
            <a:hlinkClick r:id="rId9" tooltip="Page 6" action="ppaction://hlinksldjump"/>
          </p:cNvPr>
          <p:cNvSpPr txBox="1"/>
          <p:nvPr/>
        </p:nvSpPr>
        <p:spPr>
          <a:xfrm>
            <a:off x="972007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9" action="ppaction://hlinksldjump" tooltip="Page 6">
                  <a:extLst>
                    <a:ext uri="{A12FA001-AC4F-418D-AE19-62706E023703}">
                      <ahyp:hlinkClr xmlns:ahyp="http://schemas.microsoft.com/office/drawing/2018/hyperlinkcolor" val="tx"/>
                    </a:ext>
                  </a:extLst>
                </a:hlinkClick>
              </a:rPr>
              <a:t>6</a:t>
            </a:r>
            <a:endParaRPr lang="en-US" sz="750" dirty="0"/>
          </a:p>
        </p:txBody>
      </p:sp>
      <p:sp>
        <p:nvSpPr>
          <p:cNvPr id="27" name="Text 24">
            <a:hlinkClick r:id="rId10" tooltip="Page 7" action="ppaction://hlinksldjump"/>
          </p:cNvPr>
          <p:cNvSpPr txBox="1"/>
          <p:nvPr/>
        </p:nvSpPr>
        <p:spPr>
          <a:xfrm>
            <a:off x="999439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0" action="ppaction://hlinksldjump" tooltip="Page 7">
                  <a:extLst>
                    <a:ext uri="{A12FA001-AC4F-418D-AE19-62706E023703}">
                      <ahyp:hlinkClr xmlns:ahyp="http://schemas.microsoft.com/office/drawing/2018/hyperlinkcolor" val="tx"/>
                    </a:ext>
                  </a:extLst>
                </a:hlinkClick>
              </a:rPr>
              <a:t>7</a:t>
            </a:r>
            <a:endParaRPr lang="en-US" sz="750" dirty="0"/>
          </a:p>
        </p:txBody>
      </p:sp>
      <p:sp>
        <p:nvSpPr>
          <p:cNvPr id="28" name="Text 25">
            <a:hlinkClick r:id="rId11" tooltip="Page 8" action="ppaction://hlinksldjump"/>
          </p:cNvPr>
          <p:cNvSpPr txBox="1"/>
          <p:nvPr/>
        </p:nvSpPr>
        <p:spPr>
          <a:xfrm>
            <a:off x="1026871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1" action="ppaction://hlinksldjump" tooltip="Page 8">
                  <a:extLst>
                    <a:ext uri="{A12FA001-AC4F-418D-AE19-62706E023703}">
                      <ahyp:hlinkClr xmlns:ahyp="http://schemas.microsoft.com/office/drawing/2018/hyperlinkcolor" val="tx"/>
                    </a:ext>
                  </a:extLst>
                </a:hlinkClick>
              </a:rPr>
              <a:t>8</a:t>
            </a:r>
            <a:endParaRPr lang="en-US" sz="750" dirty="0"/>
          </a:p>
        </p:txBody>
      </p:sp>
      <p:sp>
        <p:nvSpPr>
          <p:cNvPr id="29" name="Text 26">
            <a:hlinkClick r:id="rId12" tooltip="Page 9" action="ppaction://hlinksldjump"/>
          </p:cNvPr>
          <p:cNvSpPr txBox="1"/>
          <p:nvPr/>
        </p:nvSpPr>
        <p:spPr>
          <a:xfrm>
            <a:off x="1054303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2" action="ppaction://hlinksldjump" tooltip="Page 9">
                  <a:extLst>
                    <a:ext uri="{A12FA001-AC4F-418D-AE19-62706E023703}">
                      <ahyp:hlinkClr xmlns:ahyp="http://schemas.microsoft.com/office/drawing/2018/hyperlinkcolor" val="tx"/>
                    </a:ext>
                  </a:extLst>
                </a:hlinkClick>
              </a:rPr>
              <a:t>9</a:t>
            </a:r>
            <a:endParaRPr lang="en-US" sz="750" dirty="0"/>
          </a:p>
        </p:txBody>
      </p:sp>
      <p:sp>
        <p:nvSpPr>
          <p:cNvPr id="30" name="Text 27">
            <a:hlinkClick r:id="rId13" tooltip="Page 10" action="ppaction://hlinksldjump"/>
          </p:cNvPr>
          <p:cNvSpPr txBox="1"/>
          <p:nvPr/>
        </p:nvSpPr>
        <p:spPr>
          <a:xfrm>
            <a:off x="1081735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3" action="ppaction://hlinksldjump" tooltip="Page 10">
                  <a:extLst>
                    <a:ext uri="{A12FA001-AC4F-418D-AE19-62706E023703}">
                      <ahyp:hlinkClr xmlns:ahyp="http://schemas.microsoft.com/office/drawing/2018/hyperlinkcolor" val="tx"/>
                    </a:ext>
                  </a:extLst>
                </a:hlinkClick>
              </a:rPr>
              <a:t>10</a:t>
            </a:r>
            <a:endParaRPr lang="en-US" sz="750" dirty="0"/>
          </a:p>
        </p:txBody>
      </p:sp>
      <p:sp>
        <p:nvSpPr>
          <p:cNvPr id="31" name="Text 28">
            <a:hlinkClick r:id="rId14" tooltip="Page 11" action="ppaction://hlinksldjump"/>
          </p:cNvPr>
          <p:cNvSpPr txBox="1"/>
          <p:nvPr/>
        </p:nvSpPr>
        <p:spPr>
          <a:xfrm>
            <a:off x="1109167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4" action="ppaction://hlinksldjump" tooltip="Page 11">
                  <a:extLst>
                    <a:ext uri="{A12FA001-AC4F-418D-AE19-62706E023703}">
                      <ahyp:hlinkClr xmlns:ahyp="http://schemas.microsoft.com/office/drawing/2018/hyperlinkcolor" val="tx"/>
                    </a:ext>
                  </a:extLst>
                </a:hlinkClick>
              </a:rPr>
              <a:t>11</a:t>
            </a:r>
            <a:endParaRPr lang="en-US" sz="750" dirty="0"/>
          </a:p>
        </p:txBody>
      </p:sp>
      <p:sp>
        <p:nvSpPr>
          <p:cNvPr id="32" name="Text 29">
            <a:hlinkClick r:id="rId15" tooltip="Page 12" action="ppaction://hlinksldjump"/>
          </p:cNvPr>
          <p:cNvSpPr txBox="1"/>
          <p:nvPr/>
        </p:nvSpPr>
        <p:spPr>
          <a:xfrm>
            <a:off x="1136599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5" action="ppaction://hlinksldjump" tooltip="Page 12">
                  <a:extLst>
                    <a:ext uri="{A12FA001-AC4F-418D-AE19-62706E023703}">
                      <ahyp:hlinkClr xmlns:ahyp="http://schemas.microsoft.com/office/drawing/2018/hyperlinkcolor" val="tx"/>
                    </a:ext>
                  </a:extLst>
                </a:hlinkClick>
              </a:rPr>
              <a:t>12</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411480"/>
            <a:ext cx="5547208" cy="274320"/>
          </a:xfrm>
          <a:prstGeom prst="rect">
            <a:avLst/>
          </a:prstGeom>
          <a:noFill/>
          <a:ln/>
        </p:spPr>
        <p:txBody>
          <a:bodyPr wrap="square" lIns="0" tIns="0" rIns="0" bIns="0" rtlCol="0" anchor="t"/>
          <a:lstStyle/>
          <a:p>
            <a:pPr algn="l" indent="0" marL="0">
              <a:lnSpc>
                <a:spcPct val="110000"/>
              </a:lnSpc>
              <a:spcAft>
                <a:spcPts val="500"/>
              </a:spcAft>
              <a:buNone/>
            </a:pPr>
            <a:r>
              <a:rPr lang="en-US" altLang="en-US" sz="1000" b="1" dirty="0">
                <a:solidFill>
                  <a:srgbClr val="3E9ACA"/>
                </a:solidFill>
                <a:latin typeface="Sora" pitchFamily="34" charset="0"/>
                <a:ea typeface="Sora" pitchFamily="34" charset="-122"/>
                <a:cs typeface="Sora" pitchFamily="34" charset="-120"/>
              </a:rPr>
              <a:t>03</a:t>
            </a:r>
            <a:pPr algn="l" indent="0" marL="0">
              <a:lnSpc>
                <a:spcPct val="110000"/>
              </a:lnSpc>
              <a:spcAft>
                <a:spcPts val="500"/>
              </a:spcAft>
              <a:buNone/>
            </a:pPr>
            <a:r>
              <a:rPr lang="en-US" altLang="en-US" sz="1000" b="1" spc="200" kern="0" dirty="0">
                <a:solidFill>
                  <a:srgbClr val="0A1628"/>
                </a:solidFill>
                <a:latin typeface="Sora" pitchFamily="34" charset="0"/>
                <a:ea typeface="Sora" pitchFamily="34" charset="-122"/>
                <a:cs typeface="Sora" pitchFamily="34" charset="-120"/>
              </a:rPr>
              <a:t>  |  VISION, MISSION &amp; VALUES</a:t>
            </a:r>
            <a:endParaRPr lang="en-US" sz="1000" dirty="0"/>
          </a:p>
        </p:txBody>
      </p:sp>
      <p:sp>
        <p:nvSpPr>
          <p:cNvPr id="3" name="Text 1"/>
          <p:cNvSpPr txBox="1"/>
          <p:nvPr/>
        </p:nvSpPr>
        <p:spPr>
          <a:xfrm>
            <a:off x="6095848" y="393192"/>
            <a:ext cx="5547208" cy="274320"/>
          </a:xfrm>
          <a:prstGeom prst="rect">
            <a:avLst/>
          </a:prstGeom>
          <a:noFill/>
          <a:ln/>
        </p:spPr>
        <p:txBody>
          <a:bodyPr wrap="square" lIns="0" tIns="0" rIns="0" bIns="0" rtlCol="0" anchor="t"/>
          <a:lstStyle/>
          <a:p>
            <a:pPr rtl="1" algn="r" indent="0" marL="0">
              <a:lnSpc>
                <a:spcPct val="110000"/>
              </a:lnSpc>
              <a:spcAft>
                <a:spcPts val="500"/>
              </a:spcAft>
              <a:buNone/>
            </a:pPr>
            <a:r>
              <a:rPr lang="ar-AE" altLang="en-US" sz="1200" b="1" dirty="0">
                <a:solidFill>
                  <a:srgbClr val="3E9ACA"/>
                </a:solidFill>
                <a:latin typeface="IBM Plex Sans Arabic" pitchFamily="34" charset="0"/>
                <a:ea typeface="IBM Plex Sans Arabic" pitchFamily="34" charset="-122"/>
                <a:cs typeface="IBM Plex Sans Arabic" pitchFamily="34" charset="-120"/>
              </a:rPr>
              <a:t>03</a:t>
            </a:r>
            <a:pPr algn="r" indent="0" marL="0">
              <a:lnSpc>
                <a:spcPct val="110000"/>
              </a:lnSpc>
              <a:spcAft>
                <a:spcPts val="500"/>
              </a:spcAft>
              <a:buNone/>
            </a:pPr>
            <a:r>
              <a:rPr lang="ar-AE" altLang="en-US" sz="1200" b="1" dirty="0">
                <a:solidFill>
                  <a:srgbClr val="0A1628"/>
                </a:solidFill>
                <a:latin typeface="IBM Plex Sans Arabic" pitchFamily="34" charset="0"/>
                <a:ea typeface="IBM Plex Sans Arabic" pitchFamily="34" charset="-122"/>
                <a:cs typeface="IBM Plex Sans Arabic" pitchFamily="34" charset="-120"/>
              </a:rPr>
              <a:t>  |  الرؤية والرسالة والقيم</a:t>
            </a:r>
            <a:endParaRPr lang="ar-AE" sz="1200" dirty="0"/>
          </a:p>
        </p:txBody>
      </p:sp>
      <p:sp>
        <p:nvSpPr>
          <p:cNvPr id="4" name="Shape 2"/>
          <p:cNvSpPr/>
          <p:nvPr/>
        </p:nvSpPr>
        <p:spPr>
          <a:xfrm>
            <a:off x="548640" y="722376"/>
            <a:ext cx="11094415" cy="0"/>
          </a:xfrm>
          <a:prstGeom prst="line">
            <a:avLst/>
          </a:prstGeom>
          <a:noFill/>
          <a:ln w="9525">
            <a:solidFill>
              <a:srgbClr val="E3E8EF"/>
            </a:solidFill>
            <a:prstDash val="solid"/>
          </a:ln>
        </p:spPr>
      </p:sp>
      <p:sp>
        <p:nvSpPr>
          <p:cNvPr id="5" name="Our Vision"/>
          <p:cNvSpPr/>
          <p:nvPr/>
        </p:nvSpPr>
        <p:spPr>
          <a:xfrm>
            <a:off x="548640" y="914400"/>
            <a:ext cx="5440680" cy="2331720"/>
          </a:xfrm>
          <a:prstGeom prst="rect">
            <a:avLst/>
          </a:prstGeom>
          <a:solidFill>
            <a:srgbClr val="F4F6F9"/>
          </a:solidFill>
          <a:ln w="9525">
            <a:solidFill>
              <a:srgbClr val="E3E8EF"/>
            </a:solidFill>
            <a:prstDash val="solid"/>
          </a:ln>
        </p:spPr>
      </p:sp>
      <p:sp>
        <p:nvSpPr>
          <p:cNvPr id="6" name="Shape 4"/>
          <p:cNvSpPr/>
          <p:nvPr/>
        </p:nvSpPr>
        <p:spPr>
          <a:xfrm>
            <a:off x="548640" y="914400"/>
            <a:ext cx="54864" cy="2331720"/>
          </a:xfrm>
          <a:prstGeom prst="rect">
            <a:avLst/>
          </a:prstGeom>
          <a:solidFill>
            <a:srgbClr val="3E9ACA"/>
          </a:solidFill>
          <a:ln w="12700">
            <a:solidFill>
              <a:srgbClr val="3E9ACA"/>
            </a:solidFill>
            <a:prstDash val="solid"/>
          </a:ln>
        </p:spPr>
      </p:sp>
      <p:sp>
        <p:nvSpPr>
          <p:cNvPr id="7" name="Text 5"/>
          <p:cNvSpPr txBox="1"/>
          <p:nvPr/>
        </p:nvSpPr>
        <p:spPr>
          <a:xfrm>
            <a:off x="822960" y="1078992"/>
            <a:ext cx="2377440" cy="274320"/>
          </a:xfrm>
          <a:prstGeom prst="rect">
            <a:avLst/>
          </a:prstGeom>
          <a:noFill/>
          <a:ln/>
        </p:spPr>
        <p:txBody>
          <a:bodyPr wrap="square" lIns="0" tIns="0" rIns="0" bIns="0" rtlCol="0" anchor="t"/>
          <a:lstStyle/>
          <a:p>
            <a:pPr algn="l" indent="0" marL="0">
              <a:lnSpc>
                <a:spcPct val="110000"/>
              </a:lnSpc>
              <a:spcAft>
                <a:spcPts val="500"/>
              </a:spcAft>
              <a:buNone/>
            </a:pPr>
            <a:r>
              <a:rPr lang="en-US" altLang="en-US" sz="1100" b="1" spc="200" kern="0" dirty="0">
                <a:solidFill>
                  <a:srgbClr val="0A1628"/>
                </a:solidFill>
                <a:latin typeface="Sora" pitchFamily="34" charset="0"/>
                <a:ea typeface="Sora" pitchFamily="34" charset="-122"/>
                <a:cs typeface="Sora" pitchFamily="34" charset="-120"/>
              </a:rPr>
              <a:t>OUR VISION</a:t>
            </a:r>
            <a:endParaRPr lang="en-US" sz="1100" dirty="0"/>
          </a:p>
        </p:txBody>
      </p:sp>
      <p:sp>
        <p:nvSpPr>
          <p:cNvPr id="8" name="Text 6"/>
          <p:cNvSpPr txBox="1"/>
          <p:nvPr/>
        </p:nvSpPr>
        <p:spPr>
          <a:xfrm>
            <a:off x="3337560" y="1042416"/>
            <a:ext cx="2377440" cy="292608"/>
          </a:xfrm>
          <a:prstGeom prst="rect">
            <a:avLst/>
          </a:prstGeom>
          <a:noFill/>
          <a:ln/>
        </p:spPr>
        <p:txBody>
          <a:bodyPr wrap="square" lIns="0" tIns="0" rIns="0" bIns="0" rtlCol="0" anchor="t"/>
          <a:lstStyle/>
          <a:p>
            <a:pPr rtl="1" algn="r" indent="0" marL="0">
              <a:lnSpc>
                <a:spcPct val="110000"/>
              </a:lnSpc>
              <a:spcAft>
                <a:spcPts val="500"/>
              </a:spcAft>
              <a:buNone/>
            </a:pPr>
            <a:r>
              <a:rPr lang="ar-AE" altLang="en-US" sz="1400" b="1" dirty="0">
                <a:solidFill>
                  <a:srgbClr val="0A1628"/>
                </a:solidFill>
                <a:latin typeface="IBM Plex Sans Arabic" pitchFamily="34" charset="0"/>
                <a:ea typeface="IBM Plex Sans Arabic" pitchFamily="34" charset="-122"/>
                <a:cs typeface="IBM Plex Sans Arabic" pitchFamily="34" charset="-120"/>
              </a:rPr>
              <a:t>رؤيتنا</a:t>
            </a:r>
            <a:endParaRPr lang="ar-AE" sz="1400" dirty="0"/>
          </a:p>
        </p:txBody>
      </p:sp>
      <p:sp>
        <p:nvSpPr>
          <p:cNvPr id="9" name="Text 7"/>
          <p:cNvSpPr txBox="1"/>
          <p:nvPr/>
        </p:nvSpPr>
        <p:spPr>
          <a:xfrm>
            <a:off x="822960" y="1463040"/>
            <a:ext cx="4892040" cy="777240"/>
          </a:xfrm>
          <a:prstGeom prst="rect">
            <a:avLst/>
          </a:prstGeom>
          <a:noFill/>
          <a:ln/>
        </p:spPr>
        <p:txBody>
          <a:bodyPr wrap="square" lIns="0" tIns="0" rIns="0" bIns="0" rtlCol="0" anchor="t"/>
          <a:lstStyle/>
          <a:p>
            <a:pPr algn="l" indent="0" marL="0">
              <a:lnSpc>
                <a:spcPct val="110000"/>
              </a:lnSpc>
              <a:spcAft>
                <a:spcPts val="500"/>
              </a:spcAft>
              <a:buNone/>
            </a:pPr>
            <a:r>
              <a:rPr lang="en-US" altLang="en-US" sz="900" dirty="0">
                <a:solidFill>
                  <a:srgbClr val="2A3547"/>
                </a:solidFill>
                <a:latin typeface="Inter" pitchFamily="34" charset="0"/>
                <a:ea typeface="Inter" pitchFamily="34" charset="-122"/>
                <a:cs typeface="Inter" pitchFamily="34" charset="-120"/>
              </a:rPr>
              <a:t>To become a leading brand in electric vehicle solutions across regional and global markets by delivering innovative products and reliable services that enhance the electric vehicle ownership experience.</a:t>
            </a:r>
            <a:endParaRPr lang="en-US" sz="900" dirty="0"/>
          </a:p>
        </p:txBody>
      </p:sp>
      <p:sp>
        <p:nvSpPr>
          <p:cNvPr id="10" name="Shape 8"/>
          <p:cNvSpPr/>
          <p:nvPr/>
        </p:nvSpPr>
        <p:spPr>
          <a:xfrm>
            <a:off x="822960" y="2258568"/>
            <a:ext cx="4892040" cy="0"/>
          </a:xfrm>
          <a:prstGeom prst="line">
            <a:avLst/>
          </a:prstGeom>
          <a:noFill/>
          <a:ln w="9525">
            <a:solidFill>
              <a:srgbClr val="E3E8EF"/>
            </a:solidFill>
            <a:prstDash val="solid"/>
          </a:ln>
        </p:spPr>
      </p:sp>
      <p:sp>
        <p:nvSpPr>
          <p:cNvPr id="11" name="Text 9"/>
          <p:cNvSpPr txBox="1"/>
          <p:nvPr/>
        </p:nvSpPr>
        <p:spPr>
          <a:xfrm>
            <a:off x="822960" y="2359152"/>
            <a:ext cx="4892040" cy="822960"/>
          </a:xfrm>
          <a:prstGeom prst="rect">
            <a:avLst/>
          </a:prstGeom>
          <a:noFill/>
          <a:ln/>
        </p:spPr>
        <p:txBody>
          <a:bodyPr wrap="square" lIns="0" tIns="0" rIns="0" bIns="0" rtlCol="0" anchor="t"/>
          <a:lstStyle/>
          <a:p>
            <a:pPr rtl="1" algn="r" indent="0" marL="0">
              <a:lnSpc>
                <a:spcPct val="110000"/>
              </a:lnSpc>
              <a:spcAft>
                <a:spcPts val="500"/>
              </a:spcAft>
              <a:buNone/>
            </a:pPr>
            <a:r>
              <a:rPr lang="ar-AE" altLang="en-US" sz="980" dirty="0">
                <a:solidFill>
                  <a:srgbClr val="2A3547"/>
                </a:solidFill>
                <a:latin typeface="IBM Plex Sans Arabic" pitchFamily="34" charset="0"/>
                <a:ea typeface="IBM Plex Sans Arabic" pitchFamily="34" charset="-122"/>
                <a:cs typeface="IBM Plex Sans Arabic" pitchFamily="34" charset="-120"/>
              </a:rPr>
              <a:t>أن نكون من أبرز العلامات التجارية المتخصصة في حلول السيارات الكهربائية على المستوى الإقليمي والعالمي، من خلال تقديم منتجات مبتكرة وخدمات موثوقة تسهم في تطوير تجربة امتلاك واستخدام السيارات الكهربائية.</a:t>
            </a:r>
            <a:endParaRPr lang="ar-AE" sz="980" dirty="0"/>
          </a:p>
        </p:txBody>
      </p:sp>
      <p:sp>
        <p:nvSpPr>
          <p:cNvPr id="12" name="Our Mission"/>
          <p:cNvSpPr/>
          <p:nvPr/>
        </p:nvSpPr>
        <p:spPr>
          <a:xfrm>
            <a:off x="6202375" y="914400"/>
            <a:ext cx="5440680" cy="2331720"/>
          </a:xfrm>
          <a:prstGeom prst="rect">
            <a:avLst/>
          </a:prstGeom>
          <a:solidFill>
            <a:srgbClr val="F4F6F9"/>
          </a:solidFill>
          <a:ln w="9525">
            <a:solidFill>
              <a:srgbClr val="E3E8EF"/>
            </a:solidFill>
            <a:prstDash val="solid"/>
          </a:ln>
        </p:spPr>
      </p:sp>
      <p:sp>
        <p:nvSpPr>
          <p:cNvPr id="13" name="Shape 11"/>
          <p:cNvSpPr/>
          <p:nvPr/>
        </p:nvSpPr>
        <p:spPr>
          <a:xfrm>
            <a:off x="6202375" y="914400"/>
            <a:ext cx="54864" cy="2331720"/>
          </a:xfrm>
          <a:prstGeom prst="rect">
            <a:avLst/>
          </a:prstGeom>
          <a:solidFill>
            <a:srgbClr val="3E9ACA"/>
          </a:solidFill>
          <a:ln w="12700">
            <a:solidFill>
              <a:srgbClr val="3E9ACA"/>
            </a:solidFill>
            <a:prstDash val="solid"/>
          </a:ln>
        </p:spPr>
      </p:sp>
      <p:sp>
        <p:nvSpPr>
          <p:cNvPr id="14" name="Text 12"/>
          <p:cNvSpPr txBox="1"/>
          <p:nvPr/>
        </p:nvSpPr>
        <p:spPr>
          <a:xfrm>
            <a:off x="6476695" y="1078992"/>
            <a:ext cx="2377440" cy="274320"/>
          </a:xfrm>
          <a:prstGeom prst="rect">
            <a:avLst/>
          </a:prstGeom>
          <a:noFill/>
          <a:ln/>
        </p:spPr>
        <p:txBody>
          <a:bodyPr wrap="square" lIns="0" tIns="0" rIns="0" bIns="0" rtlCol="0" anchor="t"/>
          <a:lstStyle/>
          <a:p>
            <a:pPr algn="l" indent="0" marL="0">
              <a:lnSpc>
                <a:spcPct val="110000"/>
              </a:lnSpc>
              <a:spcAft>
                <a:spcPts val="500"/>
              </a:spcAft>
              <a:buNone/>
            </a:pPr>
            <a:r>
              <a:rPr lang="en-US" altLang="en-US" sz="1100" b="1" spc="200" kern="0" dirty="0">
                <a:solidFill>
                  <a:srgbClr val="0A1628"/>
                </a:solidFill>
                <a:latin typeface="Sora" pitchFamily="34" charset="0"/>
                <a:ea typeface="Sora" pitchFamily="34" charset="-122"/>
                <a:cs typeface="Sora" pitchFamily="34" charset="-120"/>
              </a:rPr>
              <a:t>OUR MISSION</a:t>
            </a:r>
            <a:endParaRPr lang="en-US" sz="1100" dirty="0"/>
          </a:p>
        </p:txBody>
      </p:sp>
      <p:sp>
        <p:nvSpPr>
          <p:cNvPr id="15" name="Text 13"/>
          <p:cNvSpPr txBox="1"/>
          <p:nvPr/>
        </p:nvSpPr>
        <p:spPr>
          <a:xfrm>
            <a:off x="8991295" y="1042416"/>
            <a:ext cx="2377440" cy="292608"/>
          </a:xfrm>
          <a:prstGeom prst="rect">
            <a:avLst/>
          </a:prstGeom>
          <a:noFill/>
          <a:ln/>
        </p:spPr>
        <p:txBody>
          <a:bodyPr wrap="square" lIns="0" tIns="0" rIns="0" bIns="0" rtlCol="0" anchor="t"/>
          <a:lstStyle/>
          <a:p>
            <a:pPr rtl="1" algn="r" indent="0" marL="0">
              <a:lnSpc>
                <a:spcPct val="110000"/>
              </a:lnSpc>
              <a:spcAft>
                <a:spcPts val="500"/>
              </a:spcAft>
              <a:buNone/>
            </a:pPr>
            <a:r>
              <a:rPr lang="ar-AE" altLang="en-US" sz="1400" b="1" dirty="0">
                <a:solidFill>
                  <a:srgbClr val="0A1628"/>
                </a:solidFill>
                <a:latin typeface="IBM Plex Sans Arabic" pitchFamily="34" charset="0"/>
                <a:ea typeface="IBM Plex Sans Arabic" pitchFamily="34" charset="-122"/>
                <a:cs typeface="IBM Plex Sans Arabic" pitchFamily="34" charset="-120"/>
              </a:rPr>
              <a:t>رسالتنا</a:t>
            </a:r>
            <a:endParaRPr lang="ar-AE" sz="1400" dirty="0"/>
          </a:p>
        </p:txBody>
      </p:sp>
      <p:sp>
        <p:nvSpPr>
          <p:cNvPr id="16" name="Text 14"/>
          <p:cNvSpPr txBox="1"/>
          <p:nvPr/>
        </p:nvSpPr>
        <p:spPr>
          <a:xfrm>
            <a:off x="6476695" y="1463040"/>
            <a:ext cx="4892040" cy="777240"/>
          </a:xfrm>
          <a:prstGeom prst="rect">
            <a:avLst/>
          </a:prstGeom>
          <a:noFill/>
          <a:ln/>
        </p:spPr>
        <p:txBody>
          <a:bodyPr wrap="square" lIns="0" tIns="0" rIns="0" bIns="0" rtlCol="0" anchor="t"/>
          <a:lstStyle/>
          <a:p>
            <a:pPr algn="l" indent="0" marL="0">
              <a:lnSpc>
                <a:spcPct val="110000"/>
              </a:lnSpc>
              <a:spcAft>
                <a:spcPts val="500"/>
              </a:spcAft>
              <a:buNone/>
            </a:pPr>
            <a:r>
              <a:rPr lang="en-US" altLang="en-US" sz="900" dirty="0">
                <a:solidFill>
                  <a:srgbClr val="2A3547"/>
                </a:solidFill>
                <a:latin typeface="Inter" pitchFamily="34" charset="0"/>
                <a:ea typeface="Inter" pitchFamily="34" charset="-122"/>
                <a:cs typeface="Inter" pitchFamily="34" charset="-120"/>
              </a:rPr>
              <a:t>To provide comprehensive electric vehicle solutions, including specialized accessories, charging systems, and technical services, while maintaining a strong commitment to quality, innovation, and customer satisfaction.</a:t>
            </a:r>
            <a:endParaRPr lang="en-US" sz="900" dirty="0"/>
          </a:p>
        </p:txBody>
      </p:sp>
      <p:sp>
        <p:nvSpPr>
          <p:cNvPr id="17" name="Shape 15"/>
          <p:cNvSpPr/>
          <p:nvPr/>
        </p:nvSpPr>
        <p:spPr>
          <a:xfrm>
            <a:off x="6476695" y="2258568"/>
            <a:ext cx="4892040" cy="0"/>
          </a:xfrm>
          <a:prstGeom prst="line">
            <a:avLst/>
          </a:prstGeom>
          <a:noFill/>
          <a:ln w="9525">
            <a:solidFill>
              <a:srgbClr val="E3E8EF"/>
            </a:solidFill>
            <a:prstDash val="solid"/>
          </a:ln>
        </p:spPr>
      </p:sp>
      <p:sp>
        <p:nvSpPr>
          <p:cNvPr id="18" name="Text 16"/>
          <p:cNvSpPr txBox="1"/>
          <p:nvPr/>
        </p:nvSpPr>
        <p:spPr>
          <a:xfrm>
            <a:off x="6476695" y="2359152"/>
            <a:ext cx="4892040" cy="822960"/>
          </a:xfrm>
          <a:prstGeom prst="rect">
            <a:avLst/>
          </a:prstGeom>
          <a:noFill/>
          <a:ln/>
        </p:spPr>
        <p:txBody>
          <a:bodyPr wrap="square" lIns="0" tIns="0" rIns="0" bIns="0" rtlCol="0" anchor="t"/>
          <a:lstStyle/>
          <a:p>
            <a:pPr rtl="1" algn="r" indent="0" marL="0">
              <a:lnSpc>
                <a:spcPct val="110000"/>
              </a:lnSpc>
              <a:spcAft>
                <a:spcPts val="500"/>
              </a:spcAft>
              <a:buNone/>
            </a:pPr>
            <a:r>
              <a:rPr lang="ar-AE" altLang="en-US" sz="980" dirty="0">
                <a:solidFill>
                  <a:srgbClr val="2A3547"/>
                </a:solidFill>
                <a:latin typeface="IBM Plex Sans Arabic" pitchFamily="34" charset="0"/>
                <a:ea typeface="IBM Plex Sans Arabic" pitchFamily="34" charset="-122"/>
                <a:cs typeface="IBM Plex Sans Arabic" pitchFamily="34" charset="-120"/>
              </a:rPr>
              <a:t>توفير حلول متكاملة للسيارات الكهربائية تشمل الإكسسوارات المتخصصة، وأنظمة الشحن، والخدمات الفنية، مع الالتزام بالجودة والابتكار ورضا العملاء، وبناء تجربة متكاملة تجمع بين المنتجات الموثوقة والخدمة الاحترافية.</a:t>
            </a:r>
            <a:endParaRPr lang="ar-AE" sz="980" dirty="0"/>
          </a:p>
        </p:txBody>
      </p:sp>
      <p:sp>
        <p:nvSpPr>
          <p:cNvPr id="19" name="Text 17"/>
          <p:cNvSpPr txBox="1"/>
          <p:nvPr/>
        </p:nvSpPr>
        <p:spPr>
          <a:xfrm>
            <a:off x="548640" y="3456432"/>
            <a:ext cx="4572000" cy="274320"/>
          </a:xfrm>
          <a:prstGeom prst="rect">
            <a:avLst/>
          </a:prstGeom>
          <a:noFill/>
          <a:ln/>
        </p:spPr>
        <p:txBody>
          <a:bodyPr wrap="square" lIns="0" tIns="0" rIns="0" bIns="0" rtlCol="0" anchor="t"/>
          <a:lstStyle/>
          <a:p>
            <a:pPr algn="l" indent="0" marL="0">
              <a:lnSpc>
                <a:spcPct val="110000"/>
              </a:lnSpc>
              <a:spcAft>
                <a:spcPts val="500"/>
              </a:spcAft>
              <a:buNone/>
            </a:pPr>
            <a:r>
              <a:rPr lang="en-US" altLang="en-US" sz="1000" b="1" spc="200" kern="0" dirty="0">
                <a:solidFill>
                  <a:srgbClr val="0A1628"/>
                </a:solidFill>
                <a:latin typeface="Sora" pitchFamily="34" charset="0"/>
                <a:ea typeface="Sora" pitchFamily="34" charset="-122"/>
                <a:cs typeface="Sora" pitchFamily="34" charset="-120"/>
              </a:rPr>
              <a:t>OUR CORE VALUES</a:t>
            </a:r>
            <a:endParaRPr lang="en-US" sz="1000" dirty="0"/>
          </a:p>
        </p:txBody>
      </p:sp>
      <p:sp>
        <p:nvSpPr>
          <p:cNvPr id="20" name="Text 18"/>
          <p:cNvSpPr txBox="1"/>
          <p:nvPr/>
        </p:nvSpPr>
        <p:spPr>
          <a:xfrm>
            <a:off x="6293815" y="3438144"/>
            <a:ext cx="5349240" cy="274320"/>
          </a:xfrm>
          <a:prstGeom prst="rect">
            <a:avLst/>
          </a:prstGeom>
          <a:noFill/>
          <a:ln/>
        </p:spPr>
        <p:txBody>
          <a:bodyPr wrap="square" lIns="0" tIns="0" rIns="0" bIns="0" rtlCol="0" anchor="t"/>
          <a:lstStyle/>
          <a:p>
            <a:pPr rtl="1" algn="r" indent="0" marL="0">
              <a:lnSpc>
                <a:spcPct val="110000"/>
              </a:lnSpc>
              <a:spcAft>
                <a:spcPts val="500"/>
              </a:spcAft>
              <a:buNone/>
            </a:pPr>
            <a:r>
              <a:rPr lang="ar-AE" altLang="en-US" sz="1200" b="1" dirty="0">
                <a:solidFill>
                  <a:srgbClr val="0A1628"/>
                </a:solidFill>
                <a:latin typeface="IBM Plex Sans Arabic" pitchFamily="34" charset="0"/>
                <a:ea typeface="IBM Plex Sans Arabic" pitchFamily="34" charset="-122"/>
                <a:cs typeface="IBM Plex Sans Arabic" pitchFamily="34" charset="-120"/>
              </a:rPr>
              <a:t>قيمنا</a:t>
            </a:r>
            <a:endParaRPr lang="ar-AE" sz="1200" dirty="0"/>
          </a:p>
        </p:txBody>
      </p:sp>
      <p:sp>
        <p:nvSpPr>
          <p:cNvPr id="21" name="Shape 19"/>
          <p:cNvSpPr/>
          <p:nvPr/>
        </p:nvSpPr>
        <p:spPr>
          <a:xfrm>
            <a:off x="548640" y="3767328"/>
            <a:ext cx="11094415" cy="0"/>
          </a:xfrm>
          <a:prstGeom prst="line">
            <a:avLst/>
          </a:prstGeom>
          <a:noFill/>
          <a:ln w="9525">
            <a:solidFill>
              <a:srgbClr val="E3E8EF"/>
            </a:solidFill>
            <a:prstDash val="solid"/>
          </a:ln>
        </p:spPr>
      </p:sp>
      <p:sp>
        <p:nvSpPr>
          <p:cNvPr id="22" name="Quality"/>
          <p:cNvSpPr/>
          <p:nvPr/>
        </p:nvSpPr>
        <p:spPr>
          <a:xfrm>
            <a:off x="548640" y="3931920"/>
            <a:ext cx="2072579" cy="2331720"/>
          </a:xfrm>
          <a:prstGeom prst="rect">
            <a:avLst/>
          </a:prstGeom>
          <a:solidFill>
            <a:srgbClr val="FFFFFF"/>
          </a:solidFill>
          <a:ln w="9525">
            <a:solidFill>
              <a:srgbClr val="E3E8EF"/>
            </a:solidFill>
            <a:prstDash val="solid"/>
          </a:ln>
        </p:spPr>
      </p:sp>
      <p:sp>
        <p:nvSpPr>
          <p:cNvPr id="23" name="Shape 21"/>
          <p:cNvSpPr/>
          <p:nvPr/>
        </p:nvSpPr>
        <p:spPr>
          <a:xfrm>
            <a:off x="731520" y="4078224"/>
            <a:ext cx="347472" cy="347472"/>
          </a:xfrm>
          <a:prstGeom prst="ellipse">
            <a:avLst/>
          </a:prstGeom>
          <a:solidFill>
            <a:srgbClr val="3E9ACA"/>
          </a:solidFill>
          <a:ln w="12700">
            <a:solidFill>
              <a:srgbClr val="FFFFFF"/>
            </a:solidFill>
            <a:prstDash val="solid"/>
          </a:ln>
        </p:spPr>
      </p:sp>
      <p:sp>
        <p:nvSpPr>
          <p:cNvPr id="24" name="Text 22"/>
          <p:cNvSpPr txBox="1"/>
          <p:nvPr/>
        </p:nvSpPr>
        <p:spPr>
          <a:xfrm>
            <a:off x="731520" y="4078224"/>
            <a:ext cx="347472" cy="347472"/>
          </a:xfrm>
          <a:prstGeom prst="rect">
            <a:avLst/>
          </a:prstGeom>
          <a:noFill/>
          <a:ln/>
        </p:spPr>
        <p:txBody>
          <a:bodyPr wrap="square" lIns="0" tIns="0" rIns="0" bIns="0" rtlCol="0" anchor="ctr"/>
          <a:lstStyle/>
          <a:p>
            <a:pPr algn="ctr" indent="0" marL="0">
              <a:buNone/>
            </a:pPr>
            <a:r>
              <a:rPr lang="en-US" sz="1000" b="1" dirty="0">
                <a:solidFill>
                  <a:srgbClr val="0A1628"/>
                </a:solidFill>
                <a:latin typeface="Sora" pitchFamily="34" charset="0"/>
                <a:ea typeface="Sora" pitchFamily="34" charset="-122"/>
                <a:cs typeface="Sora" pitchFamily="34" charset="-120"/>
              </a:rPr>
              <a:t>1</a:t>
            </a:r>
            <a:endParaRPr lang="en-US" sz="1000" dirty="0"/>
          </a:p>
        </p:txBody>
      </p:sp>
      <p:sp>
        <p:nvSpPr>
          <p:cNvPr id="25" name="Text 23"/>
          <p:cNvSpPr txBox="1"/>
          <p:nvPr/>
        </p:nvSpPr>
        <p:spPr>
          <a:xfrm>
            <a:off x="731520" y="4553712"/>
            <a:ext cx="1706819" cy="274320"/>
          </a:xfrm>
          <a:prstGeom prst="rect">
            <a:avLst/>
          </a:prstGeom>
          <a:noFill/>
          <a:ln/>
        </p:spPr>
        <p:txBody>
          <a:bodyPr wrap="square" lIns="0" tIns="0" rIns="0" bIns="0" rtlCol="0" anchor="t"/>
          <a:lstStyle/>
          <a:p>
            <a:pPr algn="l" indent="0" marL="0">
              <a:lnSpc>
                <a:spcPct val="110000"/>
              </a:lnSpc>
              <a:spcAft>
                <a:spcPts val="500"/>
              </a:spcAft>
              <a:buNone/>
            </a:pPr>
            <a:r>
              <a:rPr lang="en-US" altLang="en-US" sz="1000" b="1" dirty="0">
                <a:solidFill>
                  <a:srgbClr val="0A1628"/>
                </a:solidFill>
                <a:latin typeface="Sora" pitchFamily="34" charset="0"/>
                <a:ea typeface="Sora" pitchFamily="34" charset="-122"/>
                <a:cs typeface="Sora" pitchFamily="34" charset="-120"/>
              </a:rPr>
              <a:t>Quality</a:t>
            </a:r>
            <a:endParaRPr lang="en-US" sz="1000" dirty="0"/>
          </a:p>
        </p:txBody>
      </p:sp>
      <p:sp>
        <p:nvSpPr>
          <p:cNvPr id="26" name="Text 24"/>
          <p:cNvSpPr txBox="1"/>
          <p:nvPr/>
        </p:nvSpPr>
        <p:spPr>
          <a:xfrm>
            <a:off x="731520" y="4809744"/>
            <a:ext cx="1706819" cy="274320"/>
          </a:xfrm>
          <a:prstGeom prst="rect">
            <a:avLst/>
          </a:prstGeom>
          <a:noFill/>
          <a:ln/>
        </p:spPr>
        <p:txBody>
          <a:bodyPr wrap="square" lIns="0" tIns="0" rIns="0" bIns="0" rtlCol="0" anchor="t"/>
          <a:lstStyle/>
          <a:p>
            <a:pPr rtl="1" algn="r" indent="0" marL="0">
              <a:lnSpc>
                <a:spcPct val="110000"/>
              </a:lnSpc>
              <a:spcAft>
                <a:spcPts val="500"/>
              </a:spcAft>
              <a:buNone/>
            </a:pPr>
            <a:r>
              <a:rPr lang="ar-AE" altLang="en-US" sz="1150" b="1" dirty="0">
                <a:solidFill>
                  <a:srgbClr val="0A1628"/>
                </a:solidFill>
                <a:latin typeface="IBM Plex Sans Arabic" pitchFamily="34" charset="0"/>
                <a:ea typeface="IBM Plex Sans Arabic" pitchFamily="34" charset="-122"/>
                <a:cs typeface="IBM Plex Sans Arabic" pitchFamily="34" charset="-120"/>
              </a:rPr>
              <a:t>الجودة</a:t>
            </a:r>
            <a:endParaRPr lang="ar-AE" sz="1150" dirty="0"/>
          </a:p>
        </p:txBody>
      </p:sp>
      <p:sp>
        <p:nvSpPr>
          <p:cNvPr id="27" name="Text 25"/>
          <p:cNvSpPr txBox="1"/>
          <p:nvPr/>
        </p:nvSpPr>
        <p:spPr>
          <a:xfrm>
            <a:off x="731520" y="5138928"/>
            <a:ext cx="1706819" cy="457200"/>
          </a:xfrm>
          <a:prstGeom prst="rect">
            <a:avLst/>
          </a:prstGeom>
          <a:noFill/>
          <a:ln/>
        </p:spPr>
        <p:txBody>
          <a:bodyPr wrap="square" lIns="0" tIns="0" rIns="0" bIns="0" rtlCol="0" anchor="t"/>
          <a:lstStyle/>
          <a:p>
            <a:pPr algn="l" indent="0" marL="0">
              <a:lnSpc>
                <a:spcPct val="110000"/>
              </a:lnSpc>
              <a:spcAft>
                <a:spcPts val="500"/>
              </a:spcAft>
              <a:buNone/>
            </a:pPr>
            <a:r>
              <a:rPr lang="en-US" altLang="en-US" sz="800" dirty="0">
                <a:solidFill>
                  <a:srgbClr val="5B6677"/>
                </a:solidFill>
                <a:latin typeface="Inter" pitchFamily="34" charset="0"/>
                <a:ea typeface="Inter" pitchFamily="34" charset="-122"/>
                <a:cs typeface="Inter" pitchFamily="34" charset="-120"/>
              </a:rPr>
              <a:t>Delivering products and services that meet standards of quality and reliability.</a:t>
            </a:r>
            <a:endParaRPr lang="en-US" sz="800" dirty="0"/>
          </a:p>
        </p:txBody>
      </p:sp>
      <p:sp>
        <p:nvSpPr>
          <p:cNvPr id="28" name="Text 26"/>
          <p:cNvSpPr txBox="1"/>
          <p:nvPr/>
        </p:nvSpPr>
        <p:spPr>
          <a:xfrm>
            <a:off x="731520" y="5623560"/>
            <a:ext cx="1706819" cy="548640"/>
          </a:xfrm>
          <a:prstGeom prst="rect">
            <a:avLst/>
          </a:prstGeom>
          <a:noFill/>
          <a:ln/>
        </p:spPr>
        <p:txBody>
          <a:bodyPr wrap="square" lIns="0" tIns="0" rIns="0" bIns="0" rtlCol="0" anchor="t"/>
          <a:lstStyle/>
          <a:p>
            <a:pPr rtl="1" algn="r" indent="0" marL="0">
              <a:lnSpc>
                <a:spcPct val="110000"/>
              </a:lnSpc>
              <a:spcAft>
                <a:spcPts val="500"/>
              </a:spcAft>
              <a:buNone/>
            </a:pPr>
            <a:r>
              <a:rPr lang="ar-AE" altLang="en-US" sz="880" dirty="0">
                <a:solidFill>
                  <a:srgbClr val="5B6677"/>
                </a:solidFill>
                <a:latin typeface="IBM Plex Sans Arabic" pitchFamily="34" charset="0"/>
                <a:ea typeface="IBM Plex Sans Arabic" pitchFamily="34" charset="-122"/>
                <a:cs typeface="IBM Plex Sans Arabic" pitchFamily="34" charset="-120"/>
              </a:rPr>
              <a:t>الحرص على تقديم منتجات وخدمات تحقق معايير الجودة والاعتمادية.</a:t>
            </a:r>
            <a:endParaRPr lang="ar-AE" sz="880" dirty="0"/>
          </a:p>
        </p:txBody>
      </p:sp>
      <p:sp>
        <p:nvSpPr>
          <p:cNvPr id="29" name="Innovation"/>
          <p:cNvSpPr/>
          <p:nvPr/>
        </p:nvSpPr>
        <p:spPr>
          <a:xfrm>
            <a:off x="2804099" y="3931920"/>
            <a:ext cx="2072579" cy="2331720"/>
          </a:xfrm>
          <a:prstGeom prst="rect">
            <a:avLst/>
          </a:prstGeom>
          <a:solidFill>
            <a:srgbClr val="FFFFFF"/>
          </a:solidFill>
          <a:ln w="9525">
            <a:solidFill>
              <a:srgbClr val="E3E8EF"/>
            </a:solidFill>
            <a:prstDash val="solid"/>
          </a:ln>
        </p:spPr>
      </p:sp>
      <p:sp>
        <p:nvSpPr>
          <p:cNvPr id="30" name="Shape 28"/>
          <p:cNvSpPr/>
          <p:nvPr/>
        </p:nvSpPr>
        <p:spPr>
          <a:xfrm>
            <a:off x="2986979" y="4078224"/>
            <a:ext cx="347472" cy="347472"/>
          </a:xfrm>
          <a:prstGeom prst="ellipse">
            <a:avLst/>
          </a:prstGeom>
          <a:solidFill>
            <a:srgbClr val="3E9ACA"/>
          </a:solidFill>
          <a:ln w="12700">
            <a:solidFill>
              <a:srgbClr val="FFFFFF"/>
            </a:solidFill>
            <a:prstDash val="solid"/>
          </a:ln>
        </p:spPr>
      </p:sp>
      <p:sp>
        <p:nvSpPr>
          <p:cNvPr id="31" name="Text 29"/>
          <p:cNvSpPr txBox="1"/>
          <p:nvPr/>
        </p:nvSpPr>
        <p:spPr>
          <a:xfrm>
            <a:off x="2986979" y="4078224"/>
            <a:ext cx="347472" cy="347472"/>
          </a:xfrm>
          <a:prstGeom prst="rect">
            <a:avLst/>
          </a:prstGeom>
          <a:noFill/>
          <a:ln/>
        </p:spPr>
        <p:txBody>
          <a:bodyPr wrap="square" lIns="0" tIns="0" rIns="0" bIns="0" rtlCol="0" anchor="ctr"/>
          <a:lstStyle/>
          <a:p>
            <a:pPr algn="ctr" indent="0" marL="0">
              <a:buNone/>
            </a:pPr>
            <a:r>
              <a:rPr lang="en-US" sz="1000" b="1" dirty="0">
                <a:solidFill>
                  <a:srgbClr val="0A1628"/>
                </a:solidFill>
                <a:latin typeface="Sora" pitchFamily="34" charset="0"/>
                <a:ea typeface="Sora" pitchFamily="34" charset="-122"/>
                <a:cs typeface="Sora" pitchFamily="34" charset="-120"/>
              </a:rPr>
              <a:t>2</a:t>
            </a:r>
            <a:endParaRPr lang="en-US" sz="1000" dirty="0"/>
          </a:p>
        </p:txBody>
      </p:sp>
      <p:sp>
        <p:nvSpPr>
          <p:cNvPr id="32" name="Text 30"/>
          <p:cNvSpPr txBox="1"/>
          <p:nvPr/>
        </p:nvSpPr>
        <p:spPr>
          <a:xfrm>
            <a:off x="2986979" y="4553712"/>
            <a:ext cx="1706819" cy="274320"/>
          </a:xfrm>
          <a:prstGeom prst="rect">
            <a:avLst/>
          </a:prstGeom>
          <a:noFill/>
          <a:ln/>
        </p:spPr>
        <p:txBody>
          <a:bodyPr wrap="square" lIns="0" tIns="0" rIns="0" bIns="0" rtlCol="0" anchor="t"/>
          <a:lstStyle/>
          <a:p>
            <a:pPr algn="l" indent="0" marL="0">
              <a:lnSpc>
                <a:spcPct val="110000"/>
              </a:lnSpc>
              <a:spcAft>
                <a:spcPts val="500"/>
              </a:spcAft>
              <a:buNone/>
            </a:pPr>
            <a:r>
              <a:rPr lang="en-US" altLang="en-US" sz="1000" b="1" dirty="0">
                <a:solidFill>
                  <a:srgbClr val="0A1628"/>
                </a:solidFill>
                <a:latin typeface="Sora" pitchFamily="34" charset="0"/>
                <a:ea typeface="Sora" pitchFamily="34" charset="-122"/>
                <a:cs typeface="Sora" pitchFamily="34" charset="-120"/>
              </a:rPr>
              <a:t>Innovation</a:t>
            </a:r>
            <a:endParaRPr lang="en-US" sz="1000" dirty="0"/>
          </a:p>
        </p:txBody>
      </p:sp>
      <p:sp>
        <p:nvSpPr>
          <p:cNvPr id="33" name="Text 31"/>
          <p:cNvSpPr txBox="1"/>
          <p:nvPr/>
        </p:nvSpPr>
        <p:spPr>
          <a:xfrm>
            <a:off x="2986979" y="4809744"/>
            <a:ext cx="1706819" cy="274320"/>
          </a:xfrm>
          <a:prstGeom prst="rect">
            <a:avLst/>
          </a:prstGeom>
          <a:noFill/>
          <a:ln/>
        </p:spPr>
        <p:txBody>
          <a:bodyPr wrap="square" lIns="0" tIns="0" rIns="0" bIns="0" rtlCol="0" anchor="t"/>
          <a:lstStyle/>
          <a:p>
            <a:pPr rtl="1" algn="r" indent="0" marL="0">
              <a:lnSpc>
                <a:spcPct val="110000"/>
              </a:lnSpc>
              <a:spcAft>
                <a:spcPts val="500"/>
              </a:spcAft>
              <a:buNone/>
            </a:pPr>
            <a:r>
              <a:rPr lang="ar-AE" altLang="en-US" sz="1150" b="1" dirty="0">
                <a:solidFill>
                  <a:srgbClr val="0A1628"/>
                </a:solidFill>
                <a:latin typeface="IBM Plex Sans Arabic" pitchFamily="34" charset="0"/>
                <a:ea typeface="IBM Plex Sans Arabic" pitchFamily="34" charset="-122"/>
                <a:cs typeface="IBM Plex Sans Arabic" pitchFamily="34" charset="-120"/>
              </a:rPr>
              <a:t>الابتكار</a:t>
            </a:r>
            <a:endParaRPr lang="ar-AE" sz="1150" dirty="0"/>
          </a:p>
        </p:txBody>
      </p:sp>
      <p:sp>
        <p:nvSpPr>
          <p:cNvPr id="34" name="Text 32"/>
          <p:cNvSpPr txBox="1"/>
          <p:nvPr/>
        </p:nvSpPr>
        <p:spPr>
          <a:xfrm>
            <a:off x="2986979" y="5138928"/>
            <a:ext cx="1706819" cy="457200"/>
          </a:xfrm>
          <a:prstGeom prst="rect">
            <a:avLst/>
          </a:prstGeom>
          <a:noFill/>
          <a:ln/>
        </p:spPr>
        <p:txBody>
          <a:bodyPr wrap="square" lIns="0" tIns="0" rIns="0" bIns="0" rtlCol="0" anchor="t"/>
          <a:lstStyle/>
          <a:p>
            <a:pPr algn="l" indent="0" marL="0">
              <a:lnSpc>
                <a:spcPct val="110000"/>
              </a:lnSpc>
              <a:spcAft>
                <a:spcPts val="500"/>
              </a:spcAft>
              <a:buNone/>
            </a:pPr>
            <a:r>
              <a:rPr lang="en-US" altLang="en-US" sz="800" dirty="0">
                <a:solidFill>
                  <a:srgbClr val="5B6677"/>
                </a:solidFill>
                <a:latin typeface="Inter" pitchFamily="34" charset="0"/>
                <a:ea typeface="Inter" pitchFamily="34" charset="-122"/>
                <a:cs typeface="Inter" pitchFamily="34" charset="-120"/>
              </a:rPr>
              <a:t>Keeping pace with developments in the electric vehicle sector and offering fresh solutions.</a:t>
            </a:r>
            <a:endParaRPr lang="en-US" sz="800" dirty="0"/>
          </a:p>
        </p:txBody>
      </p:sp>
      <p:sp>
        <p:nvSpPr>
          <p:cNvPr id="35" name="Text 33"/>
          <p:cNvSpPr txBox="1"/>
          <p:nvPr/>
        </p:nvSpPr>
        <p:spPr>
          <a:xfrm>
            <a:off x="2986979" y="5623560"/>
            <a:ext cx="1706819" cy="548640"/>
          </a:xfrm>
          <a:prstGeom prst="rect">
            <a:avLst/>
          </a:prstGeom>
          <a:noFill/>
          <a:ln/>
        </p:spPr>
        <p:txBody>
          <a:bodyPr wrap="square" lIns="0" tIns="0" rIns="0" bIns="0" rtlCol="0" anchor="t"/>
          <a:lstStyle/>
          <a:p>
            <a:pPr rtl="1" algn="r" indent="0" marL="0">
              <a:lnSpc>
                <a:spcPct val="110000"/>
              </a:lnSpc>
              <a:spcAft>
                <a:spcPts val="500"/>
              </a:spcAft>
              <a:buNone/>
            </a:pPr>
            <a:r>
              <a:rPr lang="ar-AE" altLang="en-US" sz="880" dirty="0">
                <a:solidFill>
                  <a:srgbClr val="5B6677"/>
                </a:solidFill>
                <a:latin typeface="IBM Plex Sans Arabic" pitchFamily="34" charset="0"/>
                <a:ea typeface="IBM Plex Sans Arabic" pitchFamily="34" charset="-122"/>
                <a:cs typeface="IBM Plex Sans Arabic" pitchFamily="34" charset="-120"/>
              </a:rPr>
              <a:t>مواكبة التطورات في قطاع السيارات الكهربائية وتقديم حلول متجددة.</a:t>
            </a:r>
            <a:endParaRPr lang="ar-AE" sz="880" dirty="0"/>
          </a:p>
        </p:txBody>
      </p:sp>
      <p:sp>
        <p:nvSpPr>
          <p:cNvPr id="36" name="Trust &amp; Integrity"/>
          <p:cNvSpPr/>
          <p:nvPr/>
        </p:nvSpPr>
        <p:spPr>
          <a:xfrm>
            <a:off x="5059558" y="3931920"/>
            <a:ext cx="2072579" cy="2331720"/>
          </a:xfrm>
          <a:prstGeom prst="rect">
            <a:avLst/>
          </a:prstGeom>
          <a:solidFill>
            <a:srgbClr val="FFFFFF"/>
          </a:solidFill>
          <a:ln w="9525">
            <a:solidFill>
              <a:srgbClr val="E3E8EF"/>
            </a:solidFill>
            <a:prstDash val="solid"/>
          </a:ln>
        </p:spPr>
      </p:sp>
      <p:sp>
        <p:nvSpPr>
          <p:cNvPr id="37" name="Shape 35"/>
          <p:cNvSpPr/>
          <p:nvPr/>
        </p:nvSpPr>
        <p:spPr>
          <a:xfrm>
            <a:off x="5242438" y="4078224"/>
            <a:ext cx="347472" cy="347472"/>
          </a:xfrm>
          <a:prstGeom prst="ellipse">
            <a:avLst/>
          </a:prstGeom>
          <a:solidFill>
            <a:srgbClr val="3E9ACA"/>
          </a:solidFill>
          <a:ln w="12700">
            <a:solidFill>
              <a:srgbClr val="FFFFFF"/>
            </a:solidFill>
            <a:prstDash val="solid"/>
          </a:ln>
        </p:spPr>
      </p:sp>
      <p:sp>
        <p:nvSpPr>
          <p:cNvPr id="38" name="Text 36"/>
          <p:cNvSpPr txBox="1"/>
          <p:nvPr/>
        </p:nvSpPr>
        <p:spPr>
          <a:xfrm>
            <a:off x="5242438" y="4078224"/>
            <a:ext cx="347472" cy="347472"/>
          </a:xfrm>
          <a:prstGeom prst="rect">
            <a:avLst/>
          </a:prstGeom>
          <a:noFill/>
          <a:ln/>
        </p:spPr>
        <p:txBody>
          <a:bodyPr wrap="square" lIns="0" tIns="0" rIns="0" bIns="0" rtlCol="0" anchor="ctr"/>
          <a:lstStyle/>
          <a:p>
            <a:pPr algn="ctr" indent="0" marL="0">
              <a:buNone/>
            </a:pPr>
            <a:r>
              <a:rPr lang="en-US" sz="1000" b="1" dirty="0">
                <a:solidFill>
                  <a:srgbClr val="0A1628"/>
                </a:solidFill>
                <a:latin typeface="Sora" pitchFamily="34" charset="0"/>
                <a:ea typeface="Sora" pitchFamily="34" charset="-122"/>
                <a:cs typeface="Sora" pitchFamily="34" charset="-120"/>
              </a:rPr>
              <a:t>3</a:t>
            </a:r>
            <a:endParaRPr lang="en-US" sz="1000" dirty="0"/>
          </a:p>
        </p:txBody>
      </p:sp>
      <p:sp>
        <p:nvSpPr>
          <p:cNvPr id="39" name="Text 37"/>
          <p:cNvSpPr txBox="1"/>
          <p:nvPr/>
        </p:nvSpPr>
        <p:spPr>
          <a:xfrm>
            <a:off x="5242438" y="4553712"/>
            <a:ext cx="1706819" cy="274320"/>
          </a:xfrm>
          <a:prstGeom prst="rect">
            <a:avLst/>
          </a:prstGeom>
          <a:noFill/>
          <a:ln/>
        </p:spPr>
        <p:txBody>
          <a:bodyPr wrap="square" lIns="0" tIns="0" rIns="0" bIns="0" rtlCol="0" anchor="t"/>
          <a:lstStyle/>
          <a:p>
            <a:pPr algn="l" indent="0" marL="0">
              <a:lnSpc>
                <a:spcPct val="110000"/>
              </a:lnSpc>
              <a:spcAft>
                <a:spcPts val="500"/>
              </a:spcAft>
              <a:buNone/>
            </a:pPr>
            <a:r>
              <a:rPr lang="en-US" altLang="en-US" sz="1000" b="1" dirty="0">
                <a:solidFill>
                  <a:srgbClr val="0A1628"/>
                </a:solidFill>
                <a:latin typeface="Sora" pitchFamily="34" charset="0"/>
                <a:ea typeface="Sora" pitchFamily="34" charset="-122"/>
                <a:cs typeface="Sora" pitchFamily="34" charset="-120"/>
              </a:rPr>
              <a:t>Trust &amp; Integrity</a:t>
            </a:r>
            <a:endParaRPr lang="en-US" sz="1000" dirty="0"/>
          </a:p>
        </p:txBody>
      </p:sp>
      <p:sp>
        <p:nvSpPr>
          <p:cNvPr id="40" name="Text 38"/>
          <p:cNvSpPr txBox="1"/>
          <p:nvPr/>
        </p:nvSpPr>
        <p:spPr>
          <a:xfrm>
            <a:off x="5242438" y="4809744"/>
            <a:ext cx="1706819" cy="274320"/>
          </a:xfrm>
          <a:prstGeom prst="rect">
            <a:avLst/>
          </a:prstGeom>
          <a:noFill/>
          <a:ln/>
        </p:spPr>
        <p:txBody>
          <a:bodyPr wrap="square" lIns="0" tIns="0" rIns="0" bIns="0" rtlCol="0" anchor="t"/>
          <a:lstStyle/>
          <a:p>
            <a:pPr rtl="1" algn="r" indent="0" marL="0">
              <a:lnSpc>
                <a:spcPct val="110000"/>
              </a:lnSpc>
              <a:spcAft>
                <a:spcPts val="500"/>
              </a:spcAft>
              <a:buNone/>
            </a:pPr>
            <a:r>
              <a:rPr lang="ar-AE" altLang="en-US" sz="1150" b="1" dirty="0">
                <a:solidFill>
                  <a:srgbClr val="0A1628"/>
                </a:solidFill>
                <a:latin typeface="IBM Plex Sans Arabic" pitchFamily="34" charset="0"/>
                <a:ea typeface="IBM Plex Sans Arabic" pitchFamily="34" charset="-122"/>
                <a:cs typeface="IBM Plex Sans Arabic" pitchFamily="34" charset="-120"/>
              </a:rPr>
              <a:t>الثقة والمصداقية</a:t>
            </a:r>
            <a:endParaRPr lang="ar-AE" sz="1150" dirty="0"/>
          </a:p>
        </p:txBody>
      </p:sp>
      <p:sp>
        <p:nvSpPr>
          <p:cNvPr id="41" name="Text 39"/>
          <p:cNvSpPr txBox="1"/>
          <p:nvPr/>
        </p:nvSpPr>
        <p:spPr>
          <a:xfrm>
            <a:off x="5242438" y="5138928"/>
            <a:ext cx="1706819" cy="457200"/>
          </a:xfrm>
          <a:prstGeom prst="rect">
            <a:avLst/>
          </a:prstGeom>
          <a:noFill/>
          <a:ln/>
        </p:spPr>
        <p:txBody>
          <a:bodyPr wrap="square" lIns="0" tIns="0" rIns="0" bIns="0" rtlCol="0" anchor="t"/>
          <a:lstStyle/>
          <a:p>
            <a:pPr algn="l" indent="0" marL="0">
              <a:lnSpc>
                <a:spcPct val="110000"/>
              </a:lnSpc>
              <a:spcAft>
                <a:spcPts val="500"/>
              </a:spcAft>
              <a:buNone/>
            </a:pPr>
            <a:r>
              <a:rPr lang="en-US" altLang="en-US" sz="800" dirty="0">
                <a:solidFill>
                  <a:srgbClr val="5B6677"/>
                </a:solidFill>
                <a:latin typeface="Inter" pitchFamily="34" charset="0"/>
                <a:ea typeface="Inter" pitchFamily="34" charset="-122"/>
                <a:cs typeface="Inter" pitchFamily="34" charset="-120"/>
              </a:rPr>
              <a:t>Building long-term customer relationships through clarity and credibility.</a:t>
            </a:r>
            <a:endParaRPr lang="en-US" sz="800" dirty="0"/>
          </a:p>
        </p:txBody>
      </p:sp>
      <p:sp>
        <p:nvSpPr>
          <p:cNvPr id="42" name="Text 40"/>
          <p:cNvSpPr txBox="1"/>
          <p:nvPr/>
        </p:nvSpPr>
        <p:spPr>
          <a:xfrm>
            <a:off x="5242438" y="5623560"/>
            <a:ext cx="1706819" cy="548640"/>
          </a:xfrm>
          <a:prstGeom prst="rect">
            <a:avLst/>
          </a:prstGeom>
          <a:noFill/>
          <a:ln/>
        </p:spPr>
        <p:txBody>
          <a:bodyPr wrap="square" lIns="0" tIns="0" rIns="0" bIns="0" rtlCol="0" anchor="t"/>
          <a:lstStyle/>
          <a:p>
            <a:pPr rtl="1" algn="r" indent="0" marL="0">
              <a:lnSpc>
                <a:spcPct val="110000"/>
              </a:lnSpc>
              <a:spcAft>
                <a:spcPts val="500"/>
              </a:spcAft>
              <a:buNone/>
            </a:pPr>
            <a:r>
              <a:rPr lang="ar-AE" altLang="en-US" sz="880" dirty="0">
                <a:solidFill>
                  <a:srgbClr val="5B6677"/>
                </a:solidFill>
                <a:latin typeface="IBM Plex Sans Arabic" pitchFamily="34" charset="0"/>
                <a:ea typeface="IBM Plex Sans Arabic" pitchFamily="34" charset="-122"/>
                <a:cs typeface="IBM Plex Sans Arabic" pitchFamily="34" charset="-120"/>
              </a:rPr>
              <a:t>بناء علاقات طويلة الأمد مع العملاء من خلال الوضوح والمصداقية.</a:t>
            </a:r>
            <a:endParaRPr lang="ar-AE" sz="880" dirty="0"/>
          </a:p>
        </p:txBody>
      </p:sp>
      <p:sp>
        <p:nvSpPr>
          <p:cNvPr id="43" name="Customer Focus"/>
          <p:cNvSpPr/>
          <p:nvPr/>
        </p:nvSpPr>
        <p:spPr>
          <a:xfrm>
            <a:off x="7315017" y="3931920"/>
            <a:ext cx="2072579" cy="2331720"/>
          </a:xfrm>
          <a:prstGeom prst="rect">
            <a:avLst/>
          </a:prstGeom>
          <a:solidFill>
            <a:srgbClr val="FFFFFF"/>
          </a:solidFill>
          <a:ln w="9525">
            <a:solidFill>
              <a:srgbClr val="E3E8EF"/>
            </a:solidFill>
            <a:prstDash val="solid"/>
          </a:ln>
        </p:spPr>
      </p:sp>
      <p:sp>
        <p:nvSpPr>
          <p:cNvPr id="44" name="Shape 42"/>
          <p:cNvSpPr/>
          <p:nvPr/>
        </p:nvSpPr>
        <p:spPr>
          <a:xfrm>
            <a:off x="7497897" y="4078224"/>
            <a:ext cx="347472" cy="347472"/>
          </a:xfrm>
          <a:prstGeom prst="ellipse">
            <a:avLst/>
          </a:prstGeom>
          <a:solidFill>
            <a:srgbClr val="3E9ACA"/>
          </a:solidFill>
          <a:ln w="12700">
            <a:solidFill>
              <a:srgbClr val="FFFFFF"/>
            </a:solidFill>
            <a:prstDash val="solid"/>
          </a:ln>
        </p:spPr>
      </p:sp>
      <p:sp>
        <p:nvSpPr>
          <p:cNvPr id="45" name="Text 43"/>
          <p:cNvSpPr txBox="1"/>
          <p:nvPr/>
        </p:nvSpPr>
        <p:spPr>
          <a:xfrm>
            <a:off x="7497897" y="4078224"/>
            <a:ext cx="347472" cy="347472"/>
          </a:xfrm>
          <a:prstGeom prst="rect">
            <a:avLst/>
          </a:prstGeom>
          <a:noFill/>
          <a:ln/>
        </p:spPr>
        <p:txBody>
          <a:bodyPr wrap="square" lIns="0" tIns="0" rIns="0" bIns="0" rtlCol="0" anchor="ctr"/>
          <a:lstStyle/>
          <a:p>
            <a:pPr algn="ctr" indent="0" marL="0">
              <a:buNone/>
            </a:pPr>
            <a:r>
              <a:rPr lang="en-US" sz="1000" b="1" dirty="0">
                <a:solidFill>
                  <a:srgbClr val="0A1628"/>
                </a:solidFill>
                <a:latin typeface="Sora" pitchFamily="34" charset="0"/>
                <a:ea typeface="Sora" pitchFamily="34" charset="-122"/>
                <a:cs typeface="Sora" pitchFamily="34" charset="-120"/>
              </a:rPr>
              <a:t>4</a:t>
            </a:r>
            <a:endParaRPr lang="en-US" sz="1000" dirty="0"/>
          </a:p>
        </p:txBody>
      </p:sp>
      <p:sp>
        <p:nvSpPr>
          <p:cNvPr id="46" name="Text 44"/>
          <p:cNvSpPr txBox="1"/>
          <p:nvPr/>
        </p:nvSpPr>
        <p:spPr>
          <a:xfrm>
            <a:off x="7497897" y="4553712"/>
            <a:ext cx="1706819" cy="274320"/>
          </a:xfrm>
          <a:prstGeom prst="rect">
            <a:avLst/>
          </a:prstGeom>
          <a:noFill/>
          <a:ln/>
        </p:spPr>
        <p:txBody>
          <a:bodyPr wrap="square" lIns="0" tIns="0" rIns="0" bIns="0" rtlCol="0" anchor="t"/>
          <a:lstStyle/>
          <a:p>
            <a:pPr algn="l" indent="0" marL="0">
              <a:lnSpc>
                <a:spcPct val="110000"/>
              </a:lnSpc>
              <a:spcAft>
                <a:spcPts val="500"/>
              </a:spcAft>
              <a:buNone/>
            </a:pPr>
            <a:r>
              <a:rPr lang="en-US" altLang="en-US" sz="1000" b="1" dirty="0">
                <a:solidFill>
                  <a:srgbClr val="0A1628"/>
                </a:solidFill>
                <a:latin typeface="Sora" pitchFamily="34" charset="0"/>
                <a:ea typeface="Sora" pitchFamily="34" charset="-122"/>
                <a:cs typeface="Sora" pitchFamily="34" charset="-120"/>
              </a:rPr>
              <a:t>Customer Focus</a:t>
            </a:r>
            <a:endParaRPr lang="en-US" sz="1000" dirty="0"/>
          </a:p>
        </p:txBody>
      </p:sp>
      <p:sp>
        <p:nvSpPr>
          <p:cNvPr id="47" name="Text 45"/>
          <p:cNvSpPr txBox="1"/>
          <p:nvPr/>
        </p:nvSpPr>
        <p:spPr>
          <a:xfrm>
            <a:off x="7497897" y="4809744"/>
            <a:ext cx="1706819" cy="274320"/>
          </a:xfrm>
          <a:prstGeom prst="rect">
            <a:avLst/>
          </a:prstGeom>
          <a:noFill/>
          <a:ln/>
        </p:spPr>
        <p:txBody>
          <a:bodyPr wrap="square" lIns="0" tIns="0" rIns="0" bIns="0" rtlCol="0" anchor="t"/>
          <a:lstStyle/>
          <a:p>
            <a:pPr rtl="1" algn="r" indent="0" marL="0">
              <a:lnSpc>
                <a:spcPct val="110000"/>
              </a:lnSpc>
              <a:spcAft>
                <a:spcPts val="500"/>
              </a:spcAft>
              <a:buNone/>
            </a:pPr>
            <a:r>
              <a:rPr lang="ar-AE" altLang="en-US" sz="1150" b="1" dirty="0">
                <a:solidFill>
                  <a:srgbClr val="0A1628"/>
                </a:solidFill>
                <a:latin typeface="IBM Plex Sans Arabic" pitchFamily="34" charset="0"/>
                <a:ea typeface="IBM Plex Sans Arabic" pitchFamily="34" charset="-122"/>
                <a:cs typeface="IBM Plex Sans Arabic" pitchFamily="34" charset="-120"/>
              </a:rPr>
              <a:t>التركيز على العملاء</a:t>
            </a:r>
            <a:endParaRPr lang="ar-AE" sz="1150" dirty="0"/>
          </a:p>
        </p:txBody>
      </p:sp>
      <p:sp>
        <p:nvSpPr>
          <p:cNvPr id="48" name="Text 46"/>
          <p:cNvSpPr txBox="1"/>
          <p:nvPr/>
        </p:nvSpPr>
        <p:spPr>
          <a:xfrm>
            <a:off x="7497897" y="5138928"/>
            <a:ext cx="1706819" cy="457200"/>
          </a:xfrm>
          <a:prstGeom prst="rect">
            <a:avLst/>
          </a:prstGeom>
          <a:noFill/>
          <a:ln/>
        </p:spPr>
        <p:txBody>
          <a:bodyPr wrap="square" lIns="0" tIns="0" rIns="0" bIns="0" rtlCol="0" anchor="t"/>
          <a:lstStyle/>
          <a:p>
            <a:pPr algn="l" indent="0" marL="0">
              <a:lnSpc>
                <a:spcPct val="110000"/>
              </a:lnSpc>
              <a:spcAft>
                <a:spcPts val="500"/>
              </a:spcAft>
              <a:buNone/>
            </a:pPr>
            <a:r>
              <a:rPr lang="en-US" altLang="en-US" sz="800" dirty="0">
                <a:solidFill>
                  <a:srgbClr val="5B6677"/>
                </a:solidFill>
                <a:latin typeface="Inter" pitchFamily="34" charset="0"/>
                <a:ea typeface="Inter" pitchFamily="34" charset="-122"/>
                <a:cs typeface="Inter" pitchFamily="34" charset="-120"/>
              </a:rPr>
              <a:t>Understanding customer needs and continuously improving their experience.</a:t>
            </a:r>
            <a:endParaRPr lang="en-US" sz="800" dirty="0"/>
          </a:p>
        </p:txBody>
      </p:sp>
      <p:sp>
        <p:nvSpPr>
          <p:cNvPr id="49" name="Text 47"/>
          <p:cNvSpPr txBox="1"/>
          <p:nvPr/>
        </p:nvSpPr>
        <p:spPr>
          <a:xfrm>
            <a:off x="7497897" y="5623560"/>
            <a:ext cx="1706819" cy="548640"/>
          </a:xfrm>
          <a:prstGeom prst="rect">
            <a:avLst/>
          </a:prstGeom>
          <a:noFill/>
          <a:ln/>
        </p:spPr>
        <p:txBody>
          <a:bodyPr wrap="square" lIns="0" tIns="0" rIns="0" bIns="0" rtlCol="0" anchor="t"/>
          <a:lstStyle/>
          <a:p>
            <a:pPr rtl="1" algn="r" indent="0" marL="0">
              <a:lnSpc>
                <a:spcPct val="110000"/>
              </a:lnSpc>
              <a:spcAft>
                <a:spcPts val="500"/>
              </a:spcAft>
              <a:buNone/>
            </a:pPr>
            <a:r>
              <a:rPr lang="ar-AE" altLang="en-US" sz="880" dirty="0">
                <a:solidFill>
                  <a:srgbClr val="5B6677"/>
                </a:solidFill>
                <a:latin typeface="IBM Plex Sans Arabic" pitchFamily="34" charset="0"/>
                <a:ea typeface="IBM Plex Sans Arabic" pitchFamily="34" charset="-122"/>
                <a:cs typeface="IBM Plex Sans Arabic" pitchFamily="34" charset="-120"/>
              </a:rPr>
              <a:t>فهم احتياجات العملاء والعمل على تحسين تجربتهم باستمرار.</a:t>
            </a:r>
            <a:endParaRPr lang="ar-AE" sz="880" dirty="0"/>
          </a:p>
        </p:txBody>
      </p:sp>
      <p:sp>
        <p:nvSpPr>
          <p:cNvPr id="50" name="Continuous Improvement"/>
          <p:cNvSpPr/>
          <p:nvPr/>
        </p:nvSpPr>
        <p:spPr>
          <a:xfrm>
            <a:off x="9570476" y="3931920"/>
            <a:ext cx="2072579" cy="2331720"/>
          </a:xfrm>
          <a:prstGeom prst="rect">
            <a:avLst/>
          </a:prstGeom>
          <a:solidFill>
            <a:srgbClr val="FFFFFF"/>
          </a:solidFill>
          <a:ln w="9525">
            <a:solidFill>
              <a:srgbClr val="E3E8EF"/>
            </a:solidFill>
            <a:prstDash val="solid"/>
          </a:ln>
        </p:spPr>
      </p:sp>
      <p:sp>
        <p:nvSpPr>
          <p:cNvPr id="51" name="Shape 49"/>
          <p:cNvSpPr/>
          <p:nvPr/>
        </p:nvSpPr>
        <p:spPr>
          <a:xfrm>
            <a:off x="9753356" y="4078224"/>
            <a:ext cx="347472" cy="347472"/>
          </a:xfrm>
          <a:prstGeom prst="ellipse">
            <a:avLst/>
          </a:prstGeom>
          <a:solidFill>
            <a:srgbClr val="B1D479"/>
          </a:solidFill>
          <a:ln w="12700">
            <a:solidFill>
              <a:srgbClr val="FFFFFF"/>
            </a:solidFill>
            <a:prstDash val="solid"/>
          </a:ln>
        </p:spPr>
      </p:sp>
      <p:sp>
        <p:nvSpPr>
          <p:cNvPr id="52" name="Text 50"/>
          <p:cNvSpPr txBox="1"/>
          <p:nvPr/>
        </p:nvSpPr>
        <p:spPr>
          <a:xfrm>
            <a:off x="9753356" y="4078224"/>
            <a:ext cx="347472" cy="347472"/>
          </a:xfrm>
          <a:prstGeom prst="rect">
            <a:avLst/>
          </a:prstGeom>
          <a:noFill/>
          <a:ln/>
        </p:spPr>
        <p:txBody>
          <a:bodyPr wrap="square" lIns="0" tIns="0" rIns="0" bIns="0" rtlCol="0" anchor="ctr"/>
          <a:lstStyle/>
          <a:p>
            <a:pPr algn="ctr" indent="0" marL="0">
              <a:buNone/>
            </a:pPr>
            <a:r>
              <a:rPr lang="en-US" sz="1000" b="1" dirty="0">
                <a:solidFill>
                  <a:srgbClr val="0A1628"/>
                </a:solidFill>
                <a:latin typeface="Sora" pitchFamily="34" charset="0"/>
                <a:ea typeface="Sora" pitchFamily="34" charset="-122"/>
                <a:cs typeface="Sora" pitchFamily="34" charset="-120"/>
              </a:rPr>
              <a:t>5</a:t>
            </a:r>
            <a:endParaRPr lang="en-US" sz="1000" dirty="0"/>
          </a:p>
        </p:txBody>
      </p:sp>
      <p:sp>
        <p:nvSpPr>
          <p:cNvPr id="53" name="Text 51"/>
          <p:cNvSpPr txBox="1"/>
          <p:nvPr/>
        </p:nvSpPr>
        <p:spPr>
          <a:xfrm>
            <a:off x="9753356" y="4553712"/>
            <a:ext cx="1706819" cy="274320"/>
          </a:xfrm>
          <a:prstGeom prst="rect">
            <a:avLst/>
          </a:prstGeom>
          <a:noFill/>
          <a:ln/>
        </p:spPr>
        <p:txBody>
          <a:bodyPr wrap="square" lIns="0" tIns="0" rIns="0" bIns="0" rtlCol="0" anchor="t"/>
          <a:lstStyle/>
          <a:p>
            <a:pPr algn="l" indent="0" marL="0">
              <a:lnSpc>
                <a:spcPct val="110000"/>
              </a:lnSpc>
              <a:spcAft>
                <a:spcPts val="500"/>
              </a:spcAft>
              <a:buNone/>
            </a:pPr>
            <a:r>
              <a:rPr lang="en-US" altLang="en-US" sz="1000" b="1" dirty="0">
                <a:solidFill>
                  <a:srgbClr val="0A1628"/>
                </a:solidFill>
                <a:latin typeface="Sora" pitchFamily="34" charset="0"/>
                <a:ea typeface="Sora" pitchFamily="34" charset="-122"/>
                <a:cs typeface="Sora" pitchFamily="34" charset="-120"/>
              </a:rPr>
              <a:t>Continuous Improvement</a:t>
            </a:r>
            <a:endParaRPr lang="en-US" sz="1000" dirty="0"/>
          </a:p>
        </p:txBody>
      </p:sp>
      <p:sp>
        <p:nvSpPr>
          <p:cNvPr id="54" name="Text 52"/>
          <p:cNvSpPr txBox="1"/>
          <p:nvPr/>
        </p:nvSpPr>
        <p:spPr>
          <a:xfrm>
            <a:off x="9753356" y="4809744"/>
            <a:ext cx="1706819" cy="274320"/>
          </a:xfrm>
          <a:prstGeom prst="rect">
            <a:avLst/>
          </a:prstGeom>
          <a:noFill/>
          <a:ln/>
        </p:spPr>
        <p:txBody>
          <a:bodyPr wrap="square" lIns="0" tIns="0" rIns="0" bIns="0" rtlCol="0" anchor="t"/>
          <a:lstStyle/>
          <a:p>
            <a:pPr rtl="1" algn="r" indent="0" marL="0">
              <a:lnSpc>
                <a:spcPct val="110000"/>
              </a:lnSpc>
              <a:spcAft>
                <a:spcPts val="500"/>
              </a:spcAft>
              <a:buNone/>
            </a:pPr>
            <a:r>
              <a:rPr lang="ar-AE" altLang="en-US" sz="1150" b="1" dirty="0">
                <a:solidFill>
                  <a:srgbClr val="0A1628"/>
                </a:solidFill>
                <a:latin typeface="IBM Plex Sans Arabic" pitchFamily="34" charset="0"/>
                <a:ea typeface="IBM Plex Sans Arabic" pitchFamily="34" charset="-122"/>
                <a:cs typeface="IBM Plex Sans Arabic" pitchFamily="34" charset="-120"/>
              </a:rPr>
              <a:t>التطوير المستمر</a:t>
            </a:r>
            <a:endParaRPr lang="ar-AE" sz="1150" dirty="0"/>
          </a:p>
        </p:txBody>
      </p:sp>
      <p:sp>
        <p:nvSpPr>
          <p:cNvPr id="55" name="Text 53"/>
          <p:cNvSpPr txBox="1"/>
          <p:nvPr/>
        </p:nvSpPr>
        <p:spPr>
          <a:xfrm>
            <a:off x="9753356" y="5138928"/>
            <a:ext cx="1706819" cy="457200"/>
          </a:xfrm>
          <a:prstGeom prst="rect">
            <a:avLst/>
          </a:prstGeom>
          <a:noFill/>
          <a:ln/>
        </p:spPr>
        <p:txBody>
          <a:bodyPr wrap="square" lIns="0" tIns="0" rIns="0" bIns="0" rtlCol="0" anchor="t"/>
          <a:lstStyle/>
          <a:p>
            <a:pPr algn="l" indent="0" marL="0">
              <a:lnSpc>
                <a:spcPct val="110000"/>
              </a:lnSpc>
              <a:spcAft>
                <a:spcPts val="500"/>
              </a:spcAft>
              <a:buNone/>
            </a:pPr>
            <a:r>
              <a:rPr lang="en-US" altLang="en-US" sz="800" dirty="0">
                <a:solidFill>
                  <a:srgbClr val="5B6677"/>
                </a:solidFill>
                <a:latin typeface="Inter" pitchFamily="34" charset="0"/>
                <a:ea typeface="Inter" pitchFamily="34" charset="-122"/>
                <a:cs typeface="Inter" pitchFamily="34" charset="-120"/>
              </a:rPr>
              <a:t>Continuously developing products, services, and technical capabilities.</a:t>
            </a:r>
            <a:endParaRPr lang="en-US" sz="800" dirty="0"/>
          </a:p>
        </p:txBody>
      </p:sp>
      <p:sp>
        <p:nvSpPr>
          <p:cNvPr id="56" name="Text 54"/>
          <p:cNvSpPr txBox="1"/>
          <p:nvPr/>
        </p:nvSpPr>
        <p:spPr>
          <a:xfrm>
            <a:off x="9753356" y="5623560"/>
            <a:ext cx="1706819" cy="548640"/>
          </a:xfrm>
          <a:prstGeom prst="rect">
            <a:avLst/>
          </a:prstGeom>
          <a:noFill/>
          <a:ln/>
        </p:spPr>
        <p:txBody>
          <a:bodyPr wrap="square" lIns="0" tIns="0" rIns="0" bIns="0" rtlCol="0" anchor="t"/>
          <a:lstStyle/>
          <a:p>
            <a:pPr rtl="1" algn="r" indent="0" marL="0">
              <a:lnSpc>
                <a:spcPct val="110000"/>
              </a:lnSpc>
              <a:spcAft>
                <a:spcPts val="500"/>
              </a:spcAft>
              <a:buNone/>
            </a:pPr>
            <a:r>
              <a:rPr lang="ar-AE" altLang="en-US" sz="880" dirty="0">
                <a:solidFill>
                  <a:srgbClr val="5B6677"/>
                </a:solidFill>
                <a:latin typeface="IBM Plex Sans Arabic" pitchFamily="34" charset="0"/>
                <a:ea typeface="IBM Plex Sans Arabic" pitchFamily="34" charset="-122"/>
                <a:cs typeface="IBM Plex Sans Arabic" pitchFamily="34" charset="-120"/>
              </a:rPr>
              <a:t>تطوير المنتجات والخدمات والقدرات الفنية بصورة مستمرة.</a:t>
            </a:r>
            <a:endParaRPr lang="ar-AE" sz="880" dirty="0"/>
          </a:p>
        </p:txBody>
      </p:sp>
      <p:sp>
        <p:nvSpPr>
          <p:cNvPr id="57" name="Shape 55"/>
          <p:cNvSpPr/>
          <p:nvPr/>
        </p:nvSpPr>
        <p:spPr>
          <a:xfrm>
            <a:off x="548640" y="6428232"/>
            <a:ext cx="11094415" cy="0"/>
          </a:xfrm>
          <a:prstGeom prst="line">
            <a:avLst/>
          </a:prstGeom>
          <a:noFill/>
          <a:ln w="9525">
            <a:solidFill>
              <a:srgbClr val="E3E8EF"/>
            </a:solidFill>
            <a:prstDash val="solid"/>
          </a:ln>
        </p:spPr>
      </p:sp>
      <p:pic>
        <p:nvPicPr>
          <p:cNvPr id="58" name="Image 0" descr="EVCARS logo">
            <a:hlinkClick r:id="rId2" tooltip="Back to cover" action="ppaction://hlinksldjump"/>
          </p:cNvPr>
          <p:cNvPicPr>
            <a:picLocks noChangeAspect="1"/>
          </p:cNvPicPr>
          <p:nvPr/>
        </p:nvPicPr>
        <p:blipFill>
          <a:blip r:embed="rId1"/>
          <a:stretch>
            <a:fillRect/>
          </a:stretch>
        </p:blipFill>
        <p:spPr>
          <a:xfrm>
            <a:off x="548640" y="6510528"/>
            <a:ext cx="833104" cy="155448"/>
          </a:xfrm>
          <a:prstGeom prst="rect">
            <a:avLst/>
          </a:prstGeom>
        </p:spPr>
      </p:pic>
      <p:sp>
        <p:nvSpPr>
          <p:cNvPr id="59" name="Text 56">
            <a:hlinkClick r:id="rId3" tooltip="www.evcars.me"/>
          </p:cNvPr>
          <p:cNvSpPr txBox="1"/>
          <p:nvPr/>
        </p:nvSpPr>
        <p:spPr>
          <a:xfrm>
            <a:off x="1600200" y="6492240"/>
            <a:ext cx="1463040" cy="201168"/>
          </a:xfrm>
          <a:prstGeom prst="rect">
            <a:avLst/>
          </a:prstGeom>
          <a:noFill/>
          <a:ln/>
        </p:spPr>
        <p:txBody>
          <a:bodyPr wrap="square" lIns="0" tIns="0" rIns="0" bIns="0" rtlCol="0" anchor="ctr"/>
          <a:lstStyle/>
          <a:p>
            <a:pPr indent="0" marL="0">
              <a:buNone/>
            </a:pPr>
            <a:r>
              <a:rPr lang="en-US" sz="800" u="sng" dirty="0">
                <a:solidFill>
                  <a:srgbClr val="3E9ACA"/>
                </a:solidFill>
                <a:latin typeface="Inter" pitchFamily="34" charset="0"/>
                <a:ea typeface="Inter" pitchFamily="34" charset="-122"/>
                <a:cs typeface="Inter" pitchFamily="34" charset="-120"/>
                <a:hlinkClick r:id="rId3" invalidUrl="" action="" tgtFrame="" tooltip="www.evcars.me" history="1" highlightClick="0" endSnd="0">
                  <a:extLst>
                    <a:ext uri="{A12FA001-AC4F-418D-AE19-62706E023703}">
                      <ahyp:hlinkClr xmlns:ahyp="http://schemas.microsoft.com/office/drawing/2018/hyperlinkcolor" val="tx"/>
                    </a:ext>
                  </a:extLst>
                </a:hlinkClick>
              </a:rPr>
              <a:t>www.evcars.me</a:t>
            </a:r>
            <a:endParaRPr lang="en-US" sz="800" dirty="0"/>
          </a:p>
        </p:txBody>
      </p:sp>
      <p:sp>
        <p:nvSpPr>
          <p:cNvPr id="60" name="Text 57">
            <a:hlinkClick r:id="rId4" tooltip="Page 1" action="ppaction://hlinksldjump"/>
          </p:cNvPr>
          <p:cNvSpPr txBox="1"/>
          <p:nvPr/>
        </p:nvSpPr>
        <p:spPr>
          <a:xfrm>
            <a:off x="834847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4" action="ppaction://hlinksldjump" tooltip="Page 1">
                  <a:extLst>
                    <a:ext uri="{A12FA001-AC4F-418D-AE19-62706E023703}">
                      <ahyp:hlinkClr xmlns:ahyp="http://schemas.microsoft.com/office/drawing/2018/hyperlinkcolor" val="tx"/>
                    </a:ext>
                  </a:extLst>
                </a:hlinkClick>
              </a:rPr>
              <a:t>1</a:t>
            </a:r>
            <a:endParaRPr lang="en-US" sz="750" dirty="0"/>
          </a:p>
        </p:txBody>
      </p:sp>
      <p:sp>
        <p:nvSpPr>
          <p:cNvPr id="61" name="Text 58">
            <a:hlinkClick r:id="rId5" tooltip="Page 2" action="ppaction://hlinksldjump"/>
          </p:cNvPr>
          <p:cNvSpPr txBox="1"/>
          <p:nvPr/>
        </p:nvSpPr>
        <p:spPr>
          <a:xfrm>
            <a:off x="862279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5" action="ppaction://hlinksldjump" tooltip="Page 2">
                  <a:extLst>
                    <a:ext uri="{A12FA001-AC4F-418D-AE19-62706E023703}">
                      <ahyp:hlinkClr xmlns:ahyp="http://schemas.microsoft.com/office/drawing/2018/hyperlinkcolor" val="tx"/>
                    </a:ext>
                  </a:extLst>
                </a:hlinkClick>
              </a:rPr>
              <a:t>2</a:t>
            </a:r>
            <a:endParaRPr lang="en-US" sz="750" dirty="0"/>
          </a:p>
        </p:txBody>
      </p:sp>
      <p:sp>
        <p:nvSpPr>
          <p:cNvPr id="62" name="Text 59">
            <a:hlinkClick r:id="rId6" tooltip="Page 3" action="ppaction://hlinksldjump"/>
          </p:cNvPr>
          <p:cNvSpPr txBox="1"/>
          <p:nvPr/>
        </p:nvSpPr>
        <p:spPr>
          <a:xfrm>
            <a:off x="8897112" y="6492240"/>
            <a:ext cx="274320" cy="201168"/>
          </a:xfrm>
          <a:prstGeom prst="rect">
            <a:avLst/>
          </a:prstGeom>
          <a:noFill/>
          <a:ln/>
        </p:spPr>
        <p:txBody>
          <a:bodyPr wrap="square" lIns="0" tIns="0" rIns="0" bIns="0" rtlCol="0" anchor="ctr"/>
          <a:lstStyle/>
          <a:p>
            <a:pPr algn="ctr" indent="0" marL="0">
              <a:buNone/>
            </a:pPr>
            <a:r>
              <a:rPr lang="en-US" sz="750" b="1" u="sng" dirty="0">
                <a:solidFill>
                  <a:srgbClr val="3E9ACA"/>
                </a:solidFill>
                <a:latin typeface="Inter" pitchFamily="34" charset="0"/>
                <a:ea typeface="Inter" pitchFamily="34" charset="-122"/>
                <a:cs typeface="Inter" pitchFamily="34" charset="-120"/>
                <a:hlinkClick r:id="rId6" action="ppaction://hlinksldjump" tooltip="Page 3">
                  <a:extLst>
                    <a:ext uri="{A12FA001-AC4F-418D-AE19-62706E023703}">
                      <ahyp:hlinkClr xmlns:ahyp="http://schemas.microsoft.com/office/drawing/2018/hyperlinkcolor" val="tx"/>
                    </a:ext>
                  </a:extLst>
                </a:hlinkClick>
              </a:rPr>
              <a:t>3</a:t>
            </a:r>
            <a:endParaRPr lang="en-US" sz="750" dirty="0"/>
          </a:p>
        </p:txBody>
      </p:sp>
      <p:sp>
        <p:nvSpPr>
          <p:cNvPr id="63" name="Text 60">
            <a:hlinkClick r:id="rId7" tooltip="Page 4" action="ppaction://hlinksldjump"/>
          </p:cNvPr>
          <p:cNvSpPr txBox="1"/>
          <p:nvPr/>
        </p:nvSpPr>
        <p:spPr>
          <a:xfrm>
            <a:off x="917143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7" action="ppaction://hlinksldjump" tooltip="Page 4">
                  <a:extLst>
                    <a:ext uri="{A12FA001-AC4F-418D-AE19-62706E023703}">
                      <ahyp:hlinkClr xmlns:ahyp="http://schemas.microsoft.com/office/drawing/2018/hyperlinkcolor" val="tx"/>
                    </a:ext>
                  </a:extLst>
                </a:hlinkClick>
              </a:rPr>
              <a:t>4</a:t>
            </a:r>
            <a:endParaRPr lang="en-US" sz="750" dirty="0"/>
          </a:p>
        </p:txBody>
      </p:sp>
      <p:sp>
        <p:nvSpPr>
          <p:cNvPr id="64" name="Text 61">
            <a:hlinkClick r:id="rId8" tooltip="Page 5" action="ppaction://hlinksldjump"/>
          </p:cNvPr>
          <p:cNvSpPr txBox="1"/>
          <p:nvPr/>
        </p:nvSpPr>
        <p:spPr>
          <a:xfrm>
            <a:off x="944575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8" action="ppaction://hlinksldjump" tooltip="Page 5">
                  <a:extLst>
                    <a:ext uri="{A12FA001-AC4F-418D-AE19-62706E023703}">
                      <ahyp:hlinkClr xmlns:ahyp="http://schemas.microsoft.com/office/drawing/2018/hyperlinkcolor" val="tx"/>
                    </a:ext>
                  </a:extLst>
                </a:hlinkClick>
              </a:rPr>
              <a:t>5</a:t>
            </a:r>
            <a:endParaRPr lang="en-US" sz="750" dirty="0"/>
          </a:p>
        </p:txBody>
      </p:sp>
      <p:sp>
        <p:nvSpPr>
          <p:cNvPr id="65" name="Text 62">
            <a:hlinkClick r:id="rId9" tooltip="Page 6" action="ppaction://hlinksldjump"/>
          </p:cNvPr>
          <p:cNvSpPr txBox="1"/>
          <p:nvPr/>
        </p:nvSpPr>
        <p:spPr>
          <a:xfrm>
            <a:off x="972007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9" action="ppaction://hlinksldjump" tooltip="Page 6">
                  <a:extLst>
                    <a:ext uri="{A12FA001-AC4F-418D-AE19-62706E023703}">
                      <ahyp:hlinkClr xmlns:ahyp="http://schemas.microsoft.com/office/drawing/2018/hyperlinkcolor" val="tx"/>
                    </a:ext>
                  </a:extLst>
                </a:hlinkClick>
              </a:rPr>
              <a:t>6</a:t>
            </a:r>
            <a:endParaRPr lang="en-US" sz="750" dirty="0"/>
          </a:p>
        </p:txBody>
      </p:sp>
      <p:sp>
        <p:nvSpPr>
          <p:cNvPr id="66" name="Text 63">
            <a:hlinkClick r:id="rId10" tooltip="Page 7" action="ppaction://hlinksldjump"/>
          </p:cNvPr>
          <p:cNvSpPr txBox="1"/>
          <p:nvPr/>
        </p:nvSpPr>
        <p:spPr>
          <a:xfrm>
            <a:off x="999439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0" action="ppaction://hlinksldjump" tooltip="Page 7">
                  <a:extLst>
                    <a:ext uri="{A12FA001-AC4F-418D-AE19-62706E023703}">
                      <ahyp:hlinkClr xmlns:ahyp="http://schemas.microsoft.com/office/drawing/2018/hyperlinkcolor" val="tx"/>
                    </a:ext>
                  </a:extLst>
                </a:hlinkClick>
              </a:rPr>
              <a:t>7</a:t>
            </a:r>
            <a:endParaRPr lang="en-US" sz="750" dirty="0"/>
          </a:p>
        </p:txBody>
      </p:sp>
      <p:sp>
        <p:nvSpPr>
          <p:cNvPr id="67" name="Text 64">
            <a:hlinkClick r:id="rId11" tooltip="Page 8" action="ppaction://hlinksldjump"/>
          </p:cNvPr>
          <p:cNvSpPr txBox="1"/>
          <p:nvPr/>
        </p:nvSpPr>
        <p:spPr>
          <a:xfrm>
            <a:off x="1026871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1" action="ppaction://hlinksldjump" tooltip="Page 8">
                  <a:extLst>
                    <a:ext uri="{A12FA001-AC4F-418D-AE19-62706E023703}">
                      <ahyp:hlinkClr xmlns:ahyp="http://schemas.microsoft.com/office/drawing/2018/hyperlinkcolor" val="tx"/>
                    </a:ext>
                  </a:extLst>
                </a:hlinkClick>
              </a:rPr>
              <a:t>8</a:t>
            </a:r>
            <a:endParaRPr lang="en-US" sz="750" dirty="0"/>
          </a:p>
        </p:txBody>
      </p:sp>
      <p:sp>
        <p:nvSpPr>
          <p:cNvPr id="68" name="Text 65">
            <a:hlinkClick r:id="rId12" tooltip="Page 9" action="ppaction://hlinksldjump"/>
          </p:cNvPr>
          <p:cNvSpPr txBox="1"/>
          <p:nvPr/>
        </p:nvSpPr>
        <p:spPr>
          <a:xfrm>
            <a:off x="1054303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2" action="ppaction://hlinksldjump" tooltip="Page 9">
                  <a:extLst>
                    <a:ext uri="{A12FA001-AC4F-418D-AE19-62706E023703}">
                      <ahyp:hlinkClr xmlns:ahyp="http://schemas.microsoft.com/office/drawing/2018/hyperlinkcolor" val="tx"/>
                    </a:ext>
                  </a:extLst>
                </a:hlinkClick>
              </a:rPr>
              <a:t>9</a:t>
            </a:r>
            <a:endParaRPr lang="en-US" sz="750" dirty="0"/>
          </a:p>
        </p:txBody>
      </p:sp>
      <p:sp>
        <p:nvSpPr>
          <p:cNvPr id="69" name="Text 66">
            <a:hlinkClick r:id="rId13" tooltip="Page 10" action="ppaction://hlinksldjump"/>
          </p:cNvPr>
          <p:cNvSpPr txBox="1"/>
          <p:nvPr/>
        </p:nvSpPr>
        <p:spPr>
          <a:xfrm>
            <a:off x="1081735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3" action="ppaction://hlinksldjump" tooltip="Page 10">
                  <a:extLst>
                    <a:ext uri="{A12FA001-AC4F-418D-AE19-62706E023703}">
                      <ahyp:hlinkClr xmlns:ahyp="http://schemas.microsoft.com/office/drawing/2018/hyperlinkcolor" val="tx"/>
                    </a:ext>
                  </a:extLst>
                </a:hlinkClick>
              </a:rPr>
              <a:t>10</a:t>
            </a:r>
            <a:endParaRPr lang="en-US" sz="750" dirty="0"/>
          </a:p>
        </p:txBody>
      </p:sp>
      <p:sp>
        <p:nvSpPr>
          <p:cNvPr id="70" name="Text 67">
            <a:hlinkClick r:id="rId14" tooltip="Page 11" action="ppaction://hlinksldjump"/>
          </p:cNvPr>
          <p:cNvSpPr txBox="1"/>
          <p:nvPr/>
        </p:nvSpPr>
        <p:spPr>
          <a:xfrm>
            <a:off x="1109167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4" action="ppaction://hlinksldjump" tooltip="Page 11">
                  <a:extLst>
                    <a:ext uri="{A12FA001-AC4F-418D-AE19-62706E023703}">
                      <ahyp:hlinkClr xmlns:ahyp="http://schemas.microsoft.com/office/drawing/2018/hyperlinkcolor" val="tx"/>
                    </a:ext>
                  </a:extLst>
                </a:hlinkClick>
              </a:rPr>
              <a:t>11</a:t>
            </a:r>
            <a:endParaRPr lang="en-US" sz="750" dirty="0"/>
          </a:p>
        </p:txBody>
      </p:sp>
      <p:sp>
        <p:nvSpPr>
          <p:cNvPr id="71" name="Text 68">
            <a:hlinkClick r:id="rId15" tooltip="Page 12" action="ppaction://hlinksldjump"/>
          </p:cNvPr>
          <p:cNvSpPr txBox="1"/>
          <p:nvPr/>
        </p:nvSpPr>
        <p:spPr>
          <a:xfrm>
            <a:off x="1136599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5" action="ppaction://hlinksldjump" tooltip="Page 12">
                  <a:extLst>
                    <a:ext uri="{A12FA001-AC4F-418D-AE19-62706E023703}">
                      <ahyp:hlinkClr xmlns:ahyp="http://schemas.microsoft.com/office/drawing/2018/hyperlinkcolor" val="tx"/>
                    </a:ext>
                  </a:extLst>
                </a:hlinkClick>
              </a:rPr>
              <a:t>12</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411480"/>
            <a:ext cx="5547208" cy="274320"/>
          </a:xfrm>
          <a:prstGeom prst="rect">
            <a:avLst/>
          </a:prstGeom>
          <a:noFill/>
          <a:ln/>
        </p:spPr>
        <p:txBody>
          <a:bodyPr wrap="square" lIns="0" tIns="0" rIns="0" bIns="0" rtlCol="0" anchor="t"/>
          <a:lstStyle/>
          <a:p>
            <a:pPr algn="l" indent="0" marL="0">
              <a:lnSpc>
                <a:spcPct val="110000"/>
              </a:lnSpc>
              <a:spcAft>
                <a:spcPts val="500"/>
              </a:spcAft>
              <a:buNone/>
            </a:pPr>
            <a:r>
              <a:rPr lang="en-US" altLang="en-US" sz="1000" b="1" dirty="0">
                <a:solidFill>
                  <a:srgbClr val="3E9ACA"/>
                </a:solidFill>
                <a:latin typeface="Sora" pitchFamily="34" charset="0"/>
                <a:ea typeface="Sora" pitchFamily="34" charset="-122"/>
                <a:cs typeface="Sora" pitchFamily="34" charset="-120"/>
              </a:rPr>
              <a:t>04</a:t>
            </a:r>
            <a:pPr algn="l" indent="0" marL="0">
              <a:lnSpc>
                <a:spcPct val="110000"/>
              </a:lnSpc>
              <a:spcAft>
                <a:spcPts val="500"/>
              </a:spcAft>
              <a:buNone/>
            </a:pPr>
            <a:r>
              <a:rPr lang="en-US" altLang="en-US" sz="1000" b="1" spc="200" kern="0" dirty="0">
                <a:solidFill>
                  <a:srgbClr val="0A1628"/>
                </a:solidFill>
                <a:latin typeface="Sora" pitchFamily="34" charset="0"/>
                <a:ea typeface="Sora" pitchFamily="34" charset="-122"/>
                <a:cs typeface="Sora" pitchFamily="34" charset="-120"/>
              </a:rPr>
              <a:t>  |  OUR JOURNEY</a:t>
            </a:r>
            <a:endParaRPr lang="en-US" sz="1000" dirty="0"/>
          </a:p>
        </p:txBody>
      </p:sp>
      <p:sp>
        <p:nvSpPr>
          <p:cNvPr id="3" name="Text 1"/>
          <p:cNvSpPr txBox="1"/>
          <p:nvPr/>
        </p:nvSpPr>
        <p:spPr>
          <a:xfrm>
            <a:off x="6095848" y="393192"/>
            <a:ext cx="5547208" cy="274320"/>
          </a:xfrm>
          <a:prstGeom prst="rect">
            <a:avLst/>
          </a:prstGeom>
          <a:noFill/>
          <a:ln/>
        </p:spPr>
        <p:txBody>
          <a:bodyPr wrap="square" lIns="0" tIns="0" rIns="0" bIns="0" rtlCol="0" anchor="t"/>
          <a:lstStyle/>
          <a:p>
            <a:pPr rtl="1" algn="r" indent="0" marL="0">
              <a:lnSpc>
                <a:spcPct val="110000"/>
              </a:lnSpc>
              <a:spcAft>
                <a:spcPts val="500"/>
              </a:spcAft>
              <a:buNone/>
            </a:pPr>
            <a:r>
              <a:rPr lang="ar-AE" altLang="en-US" sz="1200" b="1" dirty="0">
                <a:solidFill>
                  <a:srgbClr val="3E9ACA"/>
                </a:solidFill>
                <a:latin typeface="IBM Plex Sans Arabic" pitchFamily="34" charset="0"/>
                <a:ea typeface="IBM Plex Sans Arabic" pitchFamily="34" charset="-122"/>
                <a:cs typeface="IBM Plex Sans Arabic" pitchFamily="34" charset="-120"/>
              </a:rPr>
              <a:t>04</a:t>
            </a:r>
            <a:pPr algn="r" indent="0" marL="0">
              <a:lnSpc>
                <a:spcPct val="110000"/>
              </a:lnSpc>
              <a:spcAft>
                <a:spcPts val="500"/>
              </a:spcAft>
              <a:buNone/>
            </a:pPr>
            <a:r>
              <a:rPr lang="ar-AE" altLang="en-US" sz="1200" b="1" dirty="0">
                <a:solidFill>
                  <a:srgbClr val="0A1628"/>
                </a:solidFill>
                <a:latin typeface="IBM Plex Sans Arabic" pitchFamily="34" charset="0"/>
                <a:ea typeface="IBM Plex Sans Arabic" pitchFamily="34" charset="-122"/>
                <a:cs typeface="IBM Plex Sans Arabic" pitchFamily="34" charset="-120"/>
              </a:rPr>
              <a:t>  |  رحلتنا</a:t>
            </a:r>
            <a:endParaRPr lang="ar-AE" sz="1200" dirty="0"/>
          </a:p>
        </p:txBody>
      </p:sp>
      <p:sp>
        <p:nvSpPr>
          <p:cNvPr id="4" name="Shape 2"/>
          <p:cNvSpPr/>
          <p:nvPr/>
        </p:nvSpPr>
        <p:spPr>
          <a:xfrm>
            <a:off x="548640" y="722376"/>
            <a:ext cx="11094415" cy="0"/>
          </a:xfrm>
          <a:prstGeom prst="line">
            <a:avLst/>
          </a:prstGeom>
          <a:noFill/>
          <a:ln w="9525">
            <a:solidFill>
              <a:srgbClr val="E3E8EF"/>
            </a:solidFill>
            <a:prstDash val="solid"/>
          </a:ln>
        </p:spPr>
      </p:sp>
      <p:sp>
        <p:nvSpPr>
          <p:cNvPr id="5" name="Shape 3"/>
          <p:cNvSpPr/>
          <p:nvPr/>
        </p:nvSpPr>
        <p:spPr>
          <a:xfrm>
            <a:off x="548640" y="1938528"/>
            <a:ext cx="11094415" cy="0"/>
          </a:xfrm>
          <a:prstGeom prst="line">
            <a:avLst/>
          </a:prstGeom>
          <a:noFill/>
          <a:ln w="9525">
            <a:solidFill>
              <a:srgbClr val="3E9ACA"/>
            </a:solidFill>
            <a:prstDash val="solid"/>
          </a:ln>
        </p:spPr>
      </p:sp>
      <p:sp>
        <p:nvSpPr>
          <p:cNvPr id="6" name="Text 4"/>
          <p:cNvSpPr txBox="1"/>
          <p:nvPr/>
        </p:nvSpPr>
        <p:spPr>
          <a:xfrm>
            <a:off x="548640" y="1051560"/>
            <a:ext cx="2602154" cy="685800"/>
          </a:xfrm>
          <a:prstGeom prst="rect">
            <a:avLst/>
          </a:prstGeom>
          <a:noFill/>
          <a:ln/>
        </p:spPr>
        <p:txBody>
          <a:bodyPr wrap="square" lIns="0" tIns="0" rIns="0" bIns="0" rtlCol="0" anchor="t"/>
          <a:lstStyle/>
          <a:p>
            <a:pPr algn="l" indent="0" marL="0">
              <a:lnSpc>
                <a:spcPct val="110000"/>
              </a:lnSpc>
              <a:spcAft>
                <a:spcPts val="500"/>
              </a:spcAft>
              <a:buNone/>
            </a:pPr>
            <a:r>
              <a:rPr lang="en-US" altLang="en-US" sz="3400" b="1" dirty="0">
                <a:solidFill>
                  <a:srgbClr val="0A1628"/>
                </a:solidFill>
                <a:latin typeface="Sora" pitchFamily="34" charset="0"/>
                <a:ea typeface="Sora" pitchFamily="34" charset="-122"/>
                <a:cs typeface="Sora" pitchFamily="34" charset="-120"/>
              </a:rPr>
              <a:t>2023</a:t>
            </a:r>
            <a:endParaRPr lang="en-US" sz="3400" dirty="0"/>
          </a:p>
        </p:txBody>
      </p:sp>
      <p:sp>
        <p:nvSpPr>
          <p:cNvPr id="7" name="Shape 5"/>
          <p:cNvSpPr/>
          <p:nvPr/>
        </p:nvSpPr>
        <p:spPr>
          <a:xfrm>
            <a:off x="548640" y="1828800"/>
            <a:ext cx="219456" cy="219456"/>
          </a:xfrm>
          <a:prstGeom prst="ellipse">
            <a:avLst/>
          </a:prstGeom>
          <a:solidFill>
            <a:srgbClr val="3E9ACA"/>
          </a:solidFill>
          <a:ln w="25400">
            <a:solidFill>
              <a:srgbClr val="FFFFFF"/>
            </a:solidFill>
            <a:prstDash val="solid"/>
          </a:ln>
        </p:spPr>
      </p:sp>
      <p:sp>
        <p:nvSpPr>
          <p:cNvPr id="8" name="Text 6"/>
          <p:cNvSpPr txBox="1"/>
          <p:nvPr/>
        </p:nvSpPr>
        <p:spPr>
          <a:xfrm>
            <a:off x="548640" y="2240280"/>
            <a:ext cx="2602154" cy="274320"/>
          </a:xfrm>
          <a:prstGeom prst="rect">
            <a:avLst/>
          </a:prstGeom>
          <a:noFill/>
          <a:ln/>
        </p:spPr>
        <p:txBody>
          <a:bodyPr wrap="square" lIns="0" tIns="0" rIns="0" bIns="0" rtlCol="0" anchor="t"/>
          <a:lstStyle/>
          <a:p>
            <a:pPr algn="l" indent="0" marL="0">
              <a:lnSpc>
                <a:spcPct val="110000"/>
              </a:lnSpc>
              <a:spcAft>
                <a:spcPts val="500"/>
              </a:spcAft>
              <a:buNone/>
            </a:pPr>
            <a:r>
              <a:rPr lang="en-US" altLang="en-US" sz="1100" b="1" dirty="0">
                <a:solidFill>
                  <a:srgbClr val="0A1628"/>
                </a:solidFill>
                <a:latin typeface="Sora" pitchFamily="34" charset="0"/>
                <a:ea typeface="Sora" pitchFamily="34" charset="-122"/>
                <a:cs typeface="Sora" pitchFamily="34" charset="-120"/>
              </a:rPr>
              <a:t>The Beginning</a:t>
            </a:r>
            <a:endParaRPr lang="en-US" sz="1100" dirty="0"/>
          </a:p>
        </p:txBody>
      </p:sp>
      <p:sp>
        <p:nvSpPr>
          <p:cNvPr id="9" name="Text 7"/>
          <p:cNvSpPr txBox="1"/>
          <p:nvPr/>
        </p:nvSpPr>
        <p:spPr>
          <a:xfrm>
            <a:off x="548640" y="2514600"/>
            <a:ext cx="2602154" cy="274320"/>
          </a:xfrm>
          <a:prstGeom prst="rect">
            <a:avLst/>
          </a:prstGeom>
          <a:noFill/>
          <a:ln/>
        </p:spPr>
        <p:txBody>
          <a:bodyPr wrap="square" lIns="0" tIns="0" rIns="0" bIns="0" rtlCol="0" anchor="t"/>
          <a:lstStyle/>
          <a:p>
            <a:pPr rtl="1" algn="r" indent="0" marL="0">
              <a:lnSpc>
                <a:spcPct val="110000"/>
              </a:lnSpc>
              <a:spcAft>
                <a:spcPts val="500"/>
              </a:spcAft>
              <a:buNone/>
            </a:pPr>
            <a:r>
              <a:rPr lang="ar-AE" altLang="en-US" sz="1200" b="1" dirty="0">
                <a:solidFill>
                  <a:srgbClr val="0A1628"/>
                </a:solidFill>
                <a:latin typeface="IBM Plex Sans Arabic" pitchFamily="34" charset="0"/>
                <a:ea typeface="IBM Plex Sans Arabic" pitchFamily="34" charset="-122"/>
                <a:cs typeface="IBM Plex Sans Arabic" pitchFamily="34" charset="-120"/>
              </a:rPr>
              <a:t>الانطلاقة</a:t>
            </a:r>
            <a:endParaRPr lang="ar-AE" sz="1200" dirty="0"/>
          </a:p>
        </p:txBody>
      </p:sp>
      <p:sp>
        <p:nvSpPr>
          <p:cNvPr id="10" name="Text 8"/>
          <p:cNvSpPr txBox="1"/>
          <p:nvPr/>
        </p:nvSpPr>
        <p:spPr>
          <a:xfrm>
            <a:off x="548640" y="2926080"/>
            <a:ext cx="2602154" cy="960120"/>
          </a:xfrm>
          <a:prstGeom prst="rect">
            <a:avLst/>
          </a:prstGeom>
          <a:noFill/>
          <a:ln/>
        </p:spPr>
        <p:txBody>
          <a:bodyPr wrap="square" lIns="0" tIns="0" rIns="0" bIns="0" rtlCol="0" anchor="t"/>
          <a:lstStyle/>
          <a:p>
            <a:pPr algn="l" indent="0" marL="0">
              <a:lnSpc>
                <a:spcPct val="110000"/>
              </a:lnSpc>
              <a:spcAft>
                <a:spcPts val="500"/>
              </a:spcAft>
              <a:buNone/>
            </a:pPr>
            <a:r>
              <a:rPr lang="en-US" altLang="en-US" sz="850" dirty="0">
                <a:solidFill>
                  <a:srgbClr val="2A3547"/>
                </a:solidFill>
                <a:latin typeface="Inter" pitchFamily="34" charset="0"/>
                <a:ea typeface="Inter" pitchFamily="34" charset="-122"/>
                <a:cs typeface="Inter" pitchFamily="34" charset="-120"/>
              </a:rPr>
              <a:t>EVCARS was established as an online store specializing in electric vehicle accessories in the UAE, followed by the opening of its first physical branch in Dubai later that year.</a:t>
            </a:r>
            <a:endParaRPr lang="en-US" sz="850" dirty="0"/>
          </a:p>
        </p:txBody>
      </p:sp>
      <p:sp>
        <p:nvSpPr>
          <p:cNvPr id="11" name="Text 9"/>
          <p:cNvSpPr txBox="1"/>
          <p:nvPr/>
        </p:nvSpPr>
        <p:spPr>
          <a:xfrm>
            <a:off x="548640" y="3749040"/>
            <a:ext cx="2602154" cy="1051560"/>
          </a:xfrm>
          <a:prstGeom prst="rect">
            <a:avLst/>
          </a:prstGeom>
          <a:noFill/>
          <a:ln/>
        </p:spPr>
        <p:txBody>
          <a:bodyPr wrap="square" lIns="0" tIns="0" rIns="0" bIns="0" rtlCol="0" anchor="t"/>
          <a:lstStyle/>
          <a:p>
            <a:pPr rtl="1" algn="r" indent="0" marL="0">
              <a:lnSpc>
                <a:spcPct val="110000"/>
              </a:lnSpc>
              <a:spcAft>
                <a:spcPts val="500"/>
              </a:spcAft>
              <a:buNone/>
            </a:pPr>
            <a:r>
              <a:rPr lang="ar-AE" altLang="en-US" sz="930" dirty="0">
                <a:solidFill>
                  <a:srgbClr val="2A3547"/>
                </a:solidFill>
                <a:latin typeface="IBM Plex Sans Arabic" pitchFamily="34" charset="0"/>
                <a:ea typeface="IBM Plex Sans Arabic" pitchFamily="34" charset="-122"/>
                <a:cs typeface="IBM Plex Sans Arabic" pitchFamily="34" charset="-120"/>
              </a:rPr>
              <a:t>تأسست EVCARS كمتجر إلكتروني متخصص في إكسسوارات السيارات الكهربائية في دولة الإمارات العربية المتحدة، وافتتحت أول فرع فعلي لها في دبي أواخر العام.</a:t>
            </a:r>
            <a:endParaRPr lang="ar-AE" sz="930" dirty="0"/>
          </a:p>
        </p:txBody>
      </p:sp>
      <p:sp>
        <p:nvSpPr>
          <p:cNvPr id="12" name="Photo placeholder"/>
          <p:cNvSpPr/>
          <p:nvPr/>
        </p:nvSpPr>
        <p:spPr>
          <a:xfrm>
            <a:off x="548640" y="4892040"/>
            <a:ext cx="2602154" cy="1371600"/>
          </a:xfrm>
          <a:prstGeom prst="rect">
            <a:avLst/>
          </a:prstGeom>
          <a:solidFill>
            <a:srgbClr val="F4F6F9"/>
          </a:solidFill>
          <a:ln w="9525">
            <a:solidFill>
              <a:srgbClr val="E3E8EF"/>
            </a:solidFill>
            <a:prstDash val="solid"/>
          </a:ln>
        </p:spPr>
      </p:sp>
      <p:sp>
        <p:nvSpPr>
          <p:cNvPr id="13" name="Text 11"/>
          <p:cNvSpPr txBox="1"/>
          <p:nvPr/>
        </p:nvSpPr>
        <p:spPr>
          <a:xfrm>
            <a:off x="548640" y="4892040"/>
            <a:ext cx="2602154" cy="1371600"/>
          </a:xfrm>
          <a:prstGeom prst="rect">
            <a:avLst/>
          </a:prstGeom>
          <a:noFill/>
          <a:ln/>
        </p:spPr>
        <p:txBody>
          <a:bodyPr wrap="square" lIns="0" tIns="0" rIns="0" bIns="0" rtlCol="0" anchor="ctr"/>
          <a:lstStyle/>
          <a:p>
            <a:pPr algn="ctr" indent="0" marL="0">
              <a:lnSpc>
                <a:spcPct val="110000"/>
              </a:lnSpc>
              <a:spcAft>
                <a:spcPts val="500"/>
              </a:spcAft>
              <a:buNone/>
            </a:pPr>
            <a:r>
              <a:rPr lang="en-US" altLang="en-US" sz="700" spc="100" kern="0" dirty="0">
                <a:solidFill>
                  <a:srgbClr val="8A94A6"/>
                </a:solidFill>
                <a:latin typeface="Inter" pitchFamily="34" charset="0"/>
                <a:ea typeface="Inter" pitchFamily="34" charset="-122"/>
                <a:cs typeface="Inter" pitchFamily="34" charset="-120"/>
              </a:rPr>
              <a:t>PHOTO  ·  Online store &amp; first branch</a:t>
            </a:r>
            <a:endParaRPr lang="en-US" sz="700" dirty="0"/>
          </a:p>
        </p:txBody>
      </p:sp>
      <p:sp>
        <p:nvSpPr>
          <p:cNvPr id="14" name="Text 12"/>
          <p:cNvSpPr txBox="1"/>
          <p:nvPr/>
        </p:nvSpPr>
        <p:spPr>
          <a:xfrm>
            <a:off x="3379394" y="1051560"/>
            <a:ext cx="2602154" cy="685800"/>
          </a:xfrm>
          <a:prstGeom prst="rect">
            <a:avLst/>
          </a:prstGeom>
          <a:noFill/>
          <a:ln/>
        </p:spPr>
        <p:txBody>
          <a:bodyPr wrap="square" lIns="0" tIns="0" rIns="0" bIns="0" rtlCol="0" anchor="t"/>
          <a:lstStyle/>
          <a:p>
            <a:pPr algn="l" indent="0" marL="0">
              <a:lnSpc>
                <a:spcPct val="110000"/>
              </a:lnSpc>
              <a:spcAft>
                <a:spcPts val="500"/>
              </a:spcAft>
              <a:buNone/>
            </a:pPr>
            <a:r>
              <a:rPr lang="en-US" altLang="en-US" sz="3400" b="1" dirty="0">
                <a:solidFill>
                  <a:srgbClr val="0A1628"/>
                </a:solidFill>
                <a:latin typeface="Sora" pitchFamily="34" charset="0"/>
                <a:ea typeface="Sora" pitchFamily="34" charset="-122"/>
                <a:cs typeface="Sora" pitchFamily="34" charset="-120"/>
              </a:rPr>
              <a:t>2024</a:t>
            </a:r>
            <a:endParaRPr lang="en-US" sz="3400" dirty="0"/>
          </a:p>
        </p:txBody>
      </p:sp>
      <p:sp>
        <p:nvSpPr>
          <p:cNvPr id="15" name="Shape 13"/>
          <p:cNvSpPr/>
          <p:nvPr/>
        </p:nvSpPr>
        <p:spPr>
          <a:xfrm>
            <a:off x="3379394" y="1828800"/>
            <a:ext cx="219456" cy="219456"/>
          </a:xfrm>
          <a:prstGeom prst="ellipse">
            <a:avLst/>
          </a:prstGeom>
          <a:solidFill>
            <a:srgbClr val="3E9ACA"/>
          </a:solidFill>
          <a:ln w="25400">
            <a:solidFill>
              <a:srgbClr val="FFFFFF"/>
            </a:solidFill>
            <a:prstDash val="solid"/>
          </a:ln>
        </p:spPr>
      </p:sp>
      <p:sp>
        <p:nvSpPr>
          <p:cNvPr id="16" name="Text 14"/>
          <p:cNvSpPr txBox="1"/>
          <p:nvPr/>
        </p:nvSpPr>
        <p:spPr>
          <a:xfrm>
            <a:off x="3379394" y="2240280"/>
            <a:ext cx="2602154" cy="274320"/>
          </a:xfrm>
          <a:prstGeom prst="rect">
            <a:avLst/>
          </a:prstGeom>
          <a:noFill/>
          <a:ln/>
        </p:spPr>
        <p:txBody>
          <a:bodyPr wrap="square" lIns="0" tIns="0" rIns="0" bIns="0" rtlCol="0" anchor="t"/>
          <a:lstStyle/>
          <a:p>
            <a:pPr algn="l" indent="0" marL="0">
              <a:lnSpc>
                <a:spcPct val="110000"/>
              </a:lnSpc>
              <a:spcAft>
                <a:spcPts val="500"/>
              </a:spcAft>
              <a:buNone/>
            </a:pPr>
            <a:r>
              <a:rPr lang="en-US" altLang="en-US" sz="1100" b="1" dirty="0">
                <a:solidFill>
                  <a:srgbClr val="0A1628"/>
                </a:solidFill>
                <a:latin typeface="Sora" pitchFamily="34" charset="0"/>
                <a:ea typeface="Sora" pitchFamily="34" charset="-122"/>
                <a:cs typeface="Sora" pitchFamily="34" charset="-120"/>
              </a:rPr>
              <a:t>UAE Expansion</a:t>
            </a:r>
            <a:endParaRPr lang="en-US" sz="1100" dirty="0"/>
          </a:p>
        </p:txBody>
      </p:sp>
      <p:sp>
        <p:nvSpPr>
          <p:cNvPr id="17" name="Text 15"/>
          <p:cNvSpPr txBox="1"/>
          <p:nvPr/>
        </p:nvSpPr>
        <p:spPr>
          <a:xfrm>
            <a:off x="3379394" y="2514600"/>
            <a:ext cx="2602154" cy="274320"/>
          </a:xfrm>
          <a:prstGeom prst="rect">
            <a:avLst/>
          </a:prstGeom>
          <a:noFill/>
          <a:ln/>
        </p:spPr>
        <p:txBody>
          <a:bodyPr wrap="square" lIns="0" tIns="0" rIns="0" bIns="0" rtlCol="0" anchor="t"/>
          <a:lstStyle/>
          <a:p>
            <a:pPr rtl="1" algn="r" indent="0" marL="0">
              <a:lnSpc>
                <a:spcPct val="110000"/>
              </a:lnSpc>
              <a:spcAft>
                <a:spcPts val="500"/>
              </a:spcAft>
              <a:buNone/>
            </a:pPr>
            <a:r>
              <a:rPr lang="ar-AE" altLang="en-US" sz="1200" b="1" dirty="0">
                <a:solidFill>
                  <a:srgbClr val="0A1628"/>
                </a:solidFill>
                <a:latin typeface="IBM Plex Sans Arabic" pitchFamily="34" charset="0"/>
                <a:ea typeface="IBM Plex Sans Arabic" pitchFamily="34" charset="-122"/>
                <a:cs typeface="IBM Plex Sans Arabic" pitchFamily="34" charset="-120"/>
              </a:rPr>
              <a:t>التوسع المحلي</a:t>
            </a:r>
            <a:endParaRPr lang="ar-AE" sz="1200" dirty="0"/>
          </a:p>
        </p:txBody>
      </p:sp>
      <p:sp>
        <p:nvSpPr>
          <p:cNvPr id="18" name="Text 16"/>
          <p:cNvSpPr txBox="1"/>
          <p:nvPr/>
        </p:nvSpPr>
        <p:spPr>
          <a:xfrm>
            <a:off x="3379394" y="2926080"/>
            <a:ext cx="2602154" cy="960120"/>
          </a:xfrm>
          <a:prstGeom prst="rect">
            <a:avLst/>
          </a:prstGeom>
          <a:noFill/>
          <a:ln/>
        </p:spPr>
        <p:txBody>
          <a:bodyPr wrap="square" lIns="0" tIns="0" rIns="0" bIns="0" rtlCol="0" anchor="t"/>
          <a:lstStyle/>
          <a:p>
            <a:pPr algn="l" indent="0" marL="0">
              <a:lnSpc>
                <a:spcPct val="110000"/>
              </a:lnSpc>
              <a:spcAft>
                <a:spcPts val="500"/>
              </a:spcAft>
              <a:buNone/>
            </a:pPr>
            <a:r>
              <a:rPr lang="en-US" altLang="en-US" sz="850" dirty="0">
                <a:solidFill>
                  <a:srgbClr val="2A3547"/>
                </a:solidFill>
                <a:latin typeface="Inter" pitchFamily="34" charset="0"/>
                <a:ea typeface="Inter" pitchFamily="34" charset="-122"/>
                <a:cs typeface="Inter" pitchFamily="34" charset="-120"/>
              </a:rPr>
              <a:t>Expanded its UAE retail presence through branches in Al Ain and Sharjah.</a:t>
            </a:r>
            <a:endParaRPr lang="en-US" sz="850" dirty="0"/>
          </a:p>
        </p:txBody>
      </p:sp>
      <p:sp>
        <p:nvSpPr>
          <p:cNvPr id="19" name="Text 17"/>
          <p:cNvSpPr txBox="1"/>
          <p:nvPr/>
        </p:nvSpPr>
        <p:spPr>
          <a:xfrm>
            <a:off x="3379394" y="3749040"/>
            <a:ext cx="2602154" cy="1051560"/>
          </a:xfrm>
          <a:prstGeom prst="rect">
            <a:avLst/>
          </a:prstGeom>
          <a:noFill/>
          <a:ln/>
        </p:spPr>
        <p:txBody>
          <a:bodyPr wrap="square" lIns="0" tIns="0" rIns="0" bIns="0" rtlCol="0" anchor="t"/>
          <a:lstStyle/>
          <a:p>
            <a:pPr rtl="1" algn="r" indent="0" marL="0">
              <a:lnSpc>
                <a:spcPct val="110000"/>
              </a:lnSpc>
              <a:spcAft>
                <a:spcPts val="500"/>
              </a:spcAft>
              <a:buNone/>
            </a:pPr>
            <a:r>
              <a:rPr lang="ar-AE" altLang="en-US" sz="930" dirty="0">
                <a:solidFill>
                  <a:srgbClr val="2A3547"/>
                </a:solidFill>
                <a:latin typeface="IBM Plex Sans Arabic" pitchFamily="34" charset="0"/>
                <a:ea typeface="IBM Plex Sans Arabic" pitchFamily="34" charset="-122"/>
                <a:cs typeface="IBM Plex Sans Arabic" pitchFamily="34" charset="-120"/>
              </a:rPr>
              <a:t>التوسع في دولة الإمارات العربية المتحدة من خلال افتتاح فروع في العين والشارقة.</a:t>
            </a:r>
            <a:endParaRPr lang="ar-AE" sz="930" dirty="0"/>
          </a:p>
        </p:txBody>
      </p:sp>
      <p:sp>
        <p:nvSpPr>
          <p:cNvPr id="20" name="Photo placeholder"/>
          <p:cNvSpPr/>
          <p:nvPr/>
        </p:nvSpPr>
        <p:spPr>
          <a:xfrm>
            <a:off x="3379394" y="4892040"/>
            <a:ext cx="2602154" cy="1371600"/>
          </a:xfrm>
          <a:prstGeom prst="rect">
            <a:avLst/>
          </a:prstGeom>
          <a:solidFill>
            <a:srgbClr val="F4F6F9"/>
          </a:solidFill>
          <a:ln w="9525">
            <a:solidFill>
              <a:srgbClr val="E3E8EF"/>
            </a:solidFill>
            <a:prstDash val="solid"/>
          </a:ln>
        </p:spPr>
      </p:sp>
      <p:sp>
        <p:nvSpPr>
          <p:cNvPr id="21" name="Text 19"/>
          <p:cNvSpPr txBox="1"/>
          <p:nvPr/>
        </p:nvSpPr>
        <p:spPr>
          <a:xfrm>
            <a:off x="3379394" y="4892040"/>
            <a:ext cx="2602154" cy="1371600"/>
          </a:xfrm>
          <a:prstGeom prst="rect">
            <a:avLst/>
          </a:prstGeom>
          <a:noFill/>
          <a:ln/>
        </p:spPr>
        <p:txBody>
          <a:bodyPr wrap="square" lIns="0" tIns="0" rIns="0" bIns="0" rtlCol="0" anchor="ctr"/>
          <a:lstStyle/>
          <a:p>
            <a:pPr algn="ctr" indent="0" marL="0">
              <a:lnSpc>
                <a:spcPct val="110000"/>
              </a:lnSpc>
              <a:spcAft>
                <a:spcPts val="500"/>
              </a:spcAft>
              <a:buNone/>
            </a:pPr>
            <a:r>
              <a:rPr lang="en-US" altLang="en-US" sz="700" spc="100" kern="0" dirty="0">
                <a:solidFill>
                  <a:srgbClr val="8A94A6"/>
                </a:solidFill>
                <a:latin typeface="Inter" pitchFamily="34" charset="0"/>
                <a:ea typeface="Inter" pitchFamily="34" charset="-122"/>
                <a:cs typeface="Inter" pitchFamily="34" charset="-120"/>
              </a:rPr>
              <a:t>PHOTO  ·  Al Ain &amp; Sharjah branches</a:t>
            </a:r>
            <a:endParaRPr lang="en-US" sz="700" dirty="0"/>
          </a:p>
        </p:txBody>
      </p:sp>
      <p:sp>
        <p:nvSpPr>
          <p:cNvPr id="22" name="Text 20"/>
          <p:cNvSpPr txBox="1"/>
          <p:nvPr/>
        </p:nvSpPr>
        <p:spPr>
          <a:xfrm>
            <a:off x="6210148" y="1051560"/>
            <a:ext cx="2602154" cy="685800"/>
          </a:xfrm>
          <a:prstGeom prst="rect">
            <a:avLst/>
          </a:prstGeom>
          <a:noFill/>
          <a:ln/>
        </p:spPr>
        <p:txBody>
          <a:bodyPr wrap="square" lIns="0" tIns="0" rIns="0" bIns="0" rtlCol="0" anchor="t"/>
          <a:lstStyle/>
          <a:p>
            <a:pPr algn="l" indent="0" marL="0">
              <a:lnSpc>
                <a:spcPct val="110000"/>
              </a:lnSpc>
              <a:spcAft>
                <a:spcPts val="500"/>
              </a:spcAft>
              <a:buNone/>
            </a:pPr>
            <a:r>
              <a:rPr lang="en-US" altLang="en-US" sz="3400" b="1" dirty="0">
                <a:solidFill>
                  <a:srgbClr val="0A1628"/>
                </a:solidFill>
                <a:latin typeface="Sora" pitchFamily="34" charset="0"/>
                <a:ea typeface="Sora" pitchFamily="34" charset="-122"/>
                <a:cs typeface="Sora" pitchFamily="34" charset="-120"/>
              </a:rPr>
              <a:t>2025</a:t>
            </a:r>
            <a:endParaRPr lang="en-US" sz="3400" dirty="0"/>
          </a:p>
        </p:txBody>
      </p:sp>
      <p:sp>
        <p:nvSpPr>
          <p:cNvPr id="23" name="Shape 21"/>
          <p:cNvSpPr/>
          <p:nvPr/>
        </p:nvSpPr>
        <p:spPr>
          <a:xfrm>
            <a:off x="6210148" y="1828800"/>
            <a:ext cx="219456" cy="219456"/>
          </a:xfrm>
          <a:prstGeom prst="ellipse">
            <a:avLst/>
          </a:prstGeom>
          <a:solidFill>
            <a:srgbClr val="3E9ACA"/>
          </a:solidFill>
          <a:ln w="25400">
            <a:solidFill>
              <a:srgbClr val="FFFFFF"/>
            </a:solidFill>
            <a:prstDash val="solid"/>
          </a:ln>
        </p:spPr>
      </p:sp>
      <p:sp>
        <p:nvSpPr>
          <p:cNvPr id="24" name="Text 22"/>
          <p:cNvSpPr txBox="1"/>
          <p:nvPr/>
        </p:nvSpPr>
        <p:spPr>
          <a:xfrm>
            <a:off x="6210148" y="2240280"/>
            <a:ext cx="2602154" cy="274320"/>
          </a:xfrm>
          <a:prstGeom prst="rect">
            <a:avLst/>
          </a:prstGeom>
          <a:noFill/>
          <a:ln/>
        </p:spPr>
        <p:txBody>
          <a:bodyPr wrap="square" lIns="0" tIns="0" rIns="0" bIns="0" rtlCol="0" anchor="t"/>
          <a:lstStyle/>
          <a:p>
            <a:pPr algn="l" indent="0" marL="0">
              <a:lnSpc>
                <a:spcPct val="110000"/>
              </a:lnSpc>
              <a:spcAft>
                <a:spcPts val="500"/>
              </a:spcAft>
              <a:buNone/>
            </a:pPr>
            <a:r>
              <a:rPr lang="en-US" altLang="en-US" sz="1100" b="1" dirty="0">
                <a:solidFill>
                  <a:srgbClr val="0A1628"/>
                </a:solidFill>
                <a:latin typeface="Sora" pitchFamily="34" charset="0"/>
                <a:ea typeface="Sora" pitchFamily="34" charset="-122"/>
                <a:cs typeface="Sora" pitchFamily="34" charset="-120"/>
              </a:rPr>
              <a:t>Regional Expansion</a:t>
            </a:r>
            <a:endParaRPr lang="en-US" sz="1100" dirty="0"/>
          </a:p>
        </p:txBody>
      </p:sp>
      <p:sp>
        <p:nvSpPr>
          <p:cNvPr id="25" name="Text 23"/>
          <p:cNvSpPr txBox="1"/>
          <p:nvPr/>
        </p:nvSpPr>
        <p:spPr>
          <a:xfrm>
            <a:off x="6210148" y="2514600"/>
            <a:ext cx="2602154" cy="274320"/>
          </a:xfrm>
          <a:prstGeom prst="rect">
            <a:avLst/>
          </a:prstGeom>
          <a:noFill/>
          <a:ln/>
        </p:spPr>
        <p:txBody>
          <a:bodyPr wrap="square" lIns="0" tIns="0" rIns="0" bIns="0" rtlCol="0" anchor="t"/>
          <a:lstStyle/>
          <a:p>
            <a:pPr rtl="1" algn="r" indent="0" marL="0">
              <a:lnSpc>
                <a:spcPct val="110000"/>
              </a:lnSpc>
              <a:spcAft>
                <a:spcPts val="500"/>
              </a:spcAft>
              <a:buNone/>
            </a:pPr>
            <a:r>
              <a:rPr lang="ar-AE" altLang="en-US" sz="1200" b="1" dirty="0">
                <a:solidFill>
                  <a:srgbClr val="0A1628"/>
                </a:solidFill>
                <a:latin typeface="IBM Plex Sans Arabic" pitchFamily="34" charset="0"/>
                <a:ea typeface="IBM Plex Sans Arabic" pitchFamily="34" charset="-122"/>
                <a:cs typeface="IBM Plex Sans Arabic" pitchFamily="34" charset="-120"/>
              </a:rPr>
              <a:t>التوسع الإقليمي</a:t>
            </a:r>
            <a:endParaRPr lang="ar-AE" sz="1200" dirty="0"/>
          </a:p>
        </p:txBody>
      </p:sp>
      <p:sp>
        <p:nvSpPr>
          <p:cNvPr id="26" name="Text 24"/>
          <p:cNvSpPr txBox="1"/>
          <p:nvPr/>
        </p:nvSpPr>
        <p:spPr>
          <a:xfrm>
            <a:off x="6210148" y="2926080"/>
            <a:ext cx="2602154" cy="960120"/>
          </a:xfrm>
          <a:prstGeom prst="rect">
            <a:avLst/>
          </a:prstGeom>
          <a:noFill/>
          <a:ln/>
        </p:spPr>
        <p:txBody>
          <a:bodyPr wrap="square" lIns="0" tIns="0" rIns="0" bIns="0" rtlCol="0" anchor="t"/>
          <a:lstStyle/>
          <a:p>
            <a:pPr algn="l" indent="0" marL="0">
              <a:lnSpc>
                <a:spcPct val="110000"/>
              </a:lnSpc>
              <a:spcAft>
                <a:spcPts val="500"/>
              </a:spcAft>
              <a:buNone/>
            </a:pPr>
            <a:r>
              <a:rPr lang="en-US" altLang="en-US" sz="850" dirty="0">
                <a:solidFill>
                  <a:srgbClr val="2A3547"/>
                </a:solidFill>
                <a:latin typeface="Inter" pitchFamily="34" charset="0"/>
                <a:ea typeface="Inter" pitchFamily="34" charset="-122"/>
                <a:cs typeface="Inter" pitchFamily="34" charset="-120"/>
              </a:rPr>
              <a:t>Entered the Omani market with branches in Muscat and North Al Batinah, while strengthening the brand’s presence through industry exhibitions.</a:t>
            </a:r>
            <a:endParaRPr lang="en-US" sz="850" dirty="0"/>
          </a:p>
        </p:txBody>
      </p:sp>
      <p:sp>
        <p:nvSpPr>
          <p:cNvPr id="27" name="Text 25"/>
          <p:cNvSpPr txBox="1"/>
          <p:nvPr/>
        </p:nvSpPr>
        <p:spPr>
          <a:xfrm>
            <a:off x="6210148" y="3749040"/>
            <a:ext cx="2602154" cy="1051560"/>
          </a:xfrm>
          <a:prstGeom prst="rect">
            <a:avLst/>
          </a:prstGeom>
          <a:noFill/>
          <a:ln/>
        </p:spPr>
        <p:txBody>
          <a:bodyPr wrap="square" lIns="0" tIns="0" rIns="0" bIns="0" rtlCol="0" anchor="t"/>
          <a:lstStyle/>
          <a:p>
            <a:pPr rtl="1" algn="r" indent="0" marL="0">
              <a:lnSpc>
                <a:spcPct val="110000"/>
              </a:lnSpc>
              <a:spcAft>
                <a:spcPts val="500"/>
              </a:spcAft>
              <a:buNone/>
            </a:pPr>
            <a:r>
              <a:rPr lang="ar-AE" altLang="en-US" sz="930" dirty="0">
                <a:solidFill>
                  <a:srgbClr val="2A3547"/>
                </a:solidFill>
                <a:latin typeface="IBM Plex Sans Arabic" pitchFamily="34" charset="0"/>
                <a:ea typeface="IBM Plex Sans Arabic" pitchFamily="34" charset="-122"/>
                <a:cs typeface="IBM Plex Sans Arabic" pitchFamily="34" charset="-120"/>
              </a:rPr>
              <a:t>دخول السوق العُماني بافتتاح فروع في مسقط وشمال الباطنة، وتعزيز حضور العلامة التجارية في المعارض المتخصصة.</a:t>
            </a:r>
            <a:endParaRPr lang="ar-AE" sz="930" dirty="0"/>
          </a:p>
        </p:txBody>
      </p:sp>
      <p:sp>
        <p:nvSpPr>
          <p:cNvPr id="28" name="Photo placeholder"/>
          <p:cNvSpPr/>
          <p:nvPr/>
        </p:nvSpPr>
        <p:spPr>
          <a:xfrm>
            <a:off x="6210148" y="4892040"/>
            <a:ext cx="2602154" cy="1371600"/>
          </a:xfrm>
          <a:prstGeom prst="rect">
            <a:avLst/>
          </a:prstGeom>
          <a:solidFill>
            <a:srgbClr val="F4F6F9"/>
          </a:solidFill>
          <a:ln w="9525">
            <a:solidFill>
              <a:srgbClr val="E3E8EF"/>
            </a:solidFill>
            <a:prstDash val="solid"/>
          </a:ln>
        </p:spPr>
      </p:sp>
      <p:sp>
        <p:nvSpPr>
          <p:cNvPr id="29" name="Text 27"/>
          <p:cNvSpPr txBox="1"/>
          <p:nvPr/>
        </p:nvSpPr>
        <p:spPr>
          <a:xfrm>
            <a:off x="6210148" y="4892040"/>
            <a:ext cx="2602154" cy="1371600"/>
          </a:xfrm>
          <a:prstGeom prst="rect">
            <a:avLst/>
          </a:prstGeom>
          <a:noFill/>
          <a:ln/>
        </p:spPr>
        <p:txBody>
          <a:bodyPr wrap="square" lIns="0" tIns="0" rIns="0" bIns="0" rtlCol="0" anchor="ctr"/>
          <a:lstStyle/>
          <a:p>
            <a:pPr algn="ctr" indent="0" marL="0">
              <a:lnSpc>
                <a:spcPct val="110000"/>
              </a:lnSpc>
              <a:spcAft>
                <a:spcPts val="500"/>
              </a:spcAft>
              <a:buNone/>
            </a:pPr>
            <a:r>
              <a:rPr lang="en-US" altLang="en-US" sz="700" spc="100" kern="0" dirty="0">
                <a:solidFill>
                  <a:srgbClr val="8A94A6"/>
                </a:solidFill>
                <a:latin typeface="Inter" pitchFamily="34" charset="0"/>
                <a:ea typeface="Inter" pitchFamily="34" charset="-122"/>
                <a:cs typeface="Inter" pitchFamily="34" charset="-120"/>
              </a:rPr>
              <a:t>PHOTO  ·  Oman branches &amp; exhibitions</a:t>
            </a:r>
            <a:endParaRPr lang="en-US" sz="700" dirty="0"/>
          </a:p>
        </p:txBody>
      </p:sp>
      <p:sp>
        <p:nvSpPr>
          <p:cNvPr id="30" name="Text 28"/>
          <p:cNvSpPr txBox="1"/>
          <p:nvPr/>
        </p:nvSpPr>
        <p:spPr>
          <a:xfrm>
            <a:off x="9040901" y="1051560"/>
            <a:ext cx="2602154" cy="685800"/>
          </a:xfrm>
          <a:prstGeom prst="rect">
            <a:avLst/>
          </a:prstGeom>
          <a:noFill/>
          <a:ln/>
        </p:spPr>
        <p:txBody>
          <a:bodyPr wrap="square" lIns="0" tIns="0" rIns="0" bIns="0" rtlCol="0" anchor="t"/>
          <a:lstStyle/>
          <a:p>
            <a:pPr algn="l" indent="0" marL="0">
              <a:lnSpc>
                <a:spcPct val="110000"/>
              </a:lnSpc>
              <a:spcAft>
                <a:spcPts val="500"/>
              </a:spcAft>
              <a:buNone/>
            </a:pPr>
            <a:r>
              <a:rPr lang="en-US" altLang="en-US" sz="3400" b="1" dirty="0">
                <a:solidFill>
                  <a:srgbClr val="7FA83F"/>
                </a:solidFill>
                <a:latin typeface="Sora" pitchFamily="34" charset="0"/>
                <a:ea typeface="Sora" pitchFamily="34" charset="-122"/>
                <a:cs typeface="Sora" pitchFamily="34" charset="-120"/>
              </a:rPr>
              <a:t>2026</a:t>
            </a:r>
            <a:endParaRPr lang="en-US" sz="3400" dirty="0"/>
          </a:p>
        </p:txBody>
      </p:sp>
      <p:sp>
        <p:nvSpPr>
          <p:cNvPr id="31" name="Shape 29"/>
          <p:cNvSpPr/>
          <p:nvPr/>
        </p:nvSpPr>
        <p:spPr>
          <a:xfrm>
            <a:off x="9040901" y="1828800"/>
            <a:ext cx="219456" cy="219456"/>
          </a:xfrm>
          <a:prstGeom prst="ellipse">
            <a:avLst/>
          </a:prstGeom>
          <a:solidFill>
            <a:srgbClr val="B1D479"/>
          </a:solidFill>
          <a:ln w="25400">
            <a:solidFill>
              <a:srgbClr val="FFFFFF"/>
            </a:solidFill>
            <a:prstDash val="solid"/>
          </a:ln>
        </p:spPr>
      </p:sp>
      <p:sp>
        <p:nvSpPr>
          <p:cNvPr id="32" name="Text 30"/>
          <p:cNvSpPr txBox="1"/>
          <p:nvPr/>
        </p:nvSpPr>
        <p:spPr>
          <a:xfrm>
            <a:off x="9040901" y="2240280"/>
            <a:ext cx="2602154" cy="274320"/>
          </a:xfrm>
          <a:prstGeom prst="rect">
            <a:avLst/>
          </a:prstGeom>
          <a:noFill/>
          <a:ln/>
        </p:spPr>
        <p:txBody>
          <a:bodyPr wrap="square" lIns="0" tIns="0" rIns="0" bIns="0" rtlCol="0" anchor="t"/>
          <a:lstStyle/>
          <a:p>
            <a:pPr algn="l" indent="0" marL="0">
              <a:lnSpc>
                <a:spcPct val="110000"/>
              </a:lnSpc>
              <a:spcAft>
                <a:spcPts val="500"/>
              </a:spcAft>
              <a:buNone/>
            </a:pPr>
            <a:r>
              <a:rPr lang="en-US" altLang="en-US" sz="1100" b="1" dirty="0">
                <a:solidFill>
                  <a:srgbClr val="0A1628"/>
                </a:solidFill>
                <a:latin typeface="Sora" pitchFamily="34" charset="0"/>
                <a:ea typeface="Sora" pitchFamily="34" charset="-122"/>
                <a:cs typeface="Sora" pitchFamily="34" charset="-120"/>
              </a:rPr>
              <a:t>Development &amp; Growth</a:t>
            </a:r>
            <a:endParaRPr lang="en-US" sz="1100" dirty="0"/>
          </a:p>
        </p:txBody>
      </p:sp>
      <p:sp>
        <p:nvSpPr>
          <p:cNvPr id="33" name="Text 31"/>
          <p:cNvSpPr txBox="1"/>
          <p:nvPr/>
        </p:nvSpPr>
        <p:spPr>
          <a:xfrm>
            <a:off x="9040901" y="2514600"/>
            <a:ext cx="2602154" cy="274320"/>
          </a:xfrm>
          <a:prstGeom prst="rect">
            <a:avLst/>
          </a:prstGeom>
          <a:noFill/>
          <a:ln/>
        </p:spPr>
        <p:txBody>
          <a:bodyPr wrap="square" lIns="0" tIns="0" rIns="0" bIns="0" rtlCol="0" anchor="t"/>
          <a:lstStyle/>
          <a:p>
            <a:pPr rtl="1" algn="r" indent="0" marL="0">
              <a:lnSpc>
                <a:spcPct val="110000"/>
              </a:lnSpc>
              <a:spcAft>
                <a:spcPts val="500"/>
              </a:spcAft>
              <a:buNone/>
            </a:pPr>
            <a:r>
              <a:rPr lang="ar-AE" altLang="en-US" sz="1200" b="1" dirty="0">
                <a:solidFill>
                  <a:srgbClr val="0A1628"/>
                </a:solidFill>
                <a:latin typeface="IBM Plex Sans Arabic" pitchFamily="34" charset="0"/>
                <a:ea typeface="IBM Plex Sans Arabic" pitchFamily="34" charset="-122"/>
                <a:cs typeface="IBM Plex Sans Arabic" pitchFamily="34" charset="-120"/>
              </a:rPr>
              <a:t>التطوير والنمو</a:t>
            </a:r>
            <a:endParaRPr lang="ar-AE" sz="1200" dirty="0"/>
          </a:p>
        </p:txBody>
      </p:sp>
      <p:sp>
        <p:nvSpPr>
          <p:cNvPr id="34" name="Text 32"/>
          <p:cNvSpPr txBox="1"/>
          <p:nvPr/>
        </p:nvSpPr>
        <p:spPr>
          <a:xfrm>
            <a:off x="9040901" y="2926080"/>
            <a:ext cx="2602154" cy="960120"/>
          </a:xfrm>
          <a:prstGeom prst="rect">
            <a:avLst/>
          </a:prstGeom>
          <a:noFill/>
          <a:ln/>
        </p:spPr>
        <p:txBody>
          <a:bodyPr wrap="square" lIns="0" tIns="0" rIns="0" bIns="0" rtlCol="0" anchor="t"/>
          <a:lstStyle/>
          <a:p>
            <a:pPr algn="l" indent="0" marL="0">
              <a:lnSpc>
                <a:spcPct val="110000"/>
              </a:lnSpc>
              <a:spcAft>
                <a:spcPts val="500"/>
              </a:spcAft>
              <a:buNone/>
            </a:pPr>
            <a:r>
              <a:rPr lang="en-US" altLang="en-US" sz="850" dirty="0">
                <a:solidFill>
                  <a:srgbClr val="2A3547"/>
                </a:solidFill>
                <a:latin typeface="Inter" pitchFamily="34" charset="0"/>
                <a:ea typeface="Inter" pitchFamily="34" charset="-122"/>
                <a:cs typeface="Inter" pitchFamily="34" charset="-120"/>
              </a:rPr>
              <a:t>Continued development of the branch network, technical services, and charging solutions, alongside plans to expand into Saudi Arabia, beginning with Riyadh.</a:t>
            </a:r>
            <a:endParaRPr lang="en-US" sz="850" dirty="0"/>
          </a:p>
        </p:txBody>
      </p:sp>
      <p:sp>
        <p:nvSpPr>
          <p:cNvPr id="35" name="Text 33"/>
          <p:cNvSpPr txBox="1"/>
          <p:nvPr/>
        </p:nvSpPr>
        <p:spPr>
          <a:xfrm>
            <a:off x="9040901" y="3749040"/>
            <a:ext cx="2602154" cy="1051560"/>
          </a:xfrm>
          <a:prstGeom prst="rect">
            <a:avLst/>
          </a:prstGeom>
          <a:noFill/>
          <a:ln/>
        </p:spPr>
        <p:txBody>
          <a:bodyPr wrap="square" lIns="0" tIns="0" rIns="0" bIns="0" rtlCol="0" anchor="t"/>
          <a:lstStyle/>
          <a:p>
            <a:pPr rtl="1" algn="r" indent="0" marL="0">
              <a:lnSpc>
                <a:spcPct val="110000"/>
              </a:lnSpc>
              <a:spcAft>
                <a:spcPts val="500"/>
              </a:spcAft>
              <a:buNone/>
            </a:pPr>
            <a:r>
              <a:rPr lang="ar-AE" altLang="en-US" sz="930" dirty="0">
                <a:solidFill>
                  <a:srgbClr val="2A3547"/>
                </a:solidFill>
                <a:latin typeface="IBM Plex Sans Arabic" pitchFamily="34" charset="0"/>
                <a:ea typeface="IBM Plex Sans Arabic" pitchFamily="34" charset="-122"/>
                <a:cs typeface="IBM Plex Sans Arabic" pitchFamily="34" charset="-120"/>
              </a:rPr>
              <a:t>مواصلة تطوير شبكة الفروع والخدمات الفنية وحلول الشحن، والعمل على خطط التوسع في المملكة العربية السعودية، بدءاً بمدينة الرياض.</a:t>
            </a:r>
            <a:endParaRPr lang="ar-AE" sz="930" dirty="0"/>
          </a:p>
        </p:txBody>
      </p:sp>
      <p:sp>
        <p:nvSpPr>
          <p:cNvPr id="36" name="Photo placeholder"/>
          <p:cNvSpPr/>
          <p:nvPr/>
        </p:nvSpPr>
        <p:spPr>
          <a:xfrm>
            <a:off x="9040901" y="4892040"/>
            <a:ext cx="2602154" cy="1371600"/>
          </a:xfrm>
          <a:prstGeom prst="rect">
            <a:avLst/>
          </a:prstGeom>
          <a:solidFill>
            <a:srgbClr val="F4F6F9"/>
          </a:solidFill>
          <a:ln w="9525">
            <a:solidFill>
              <a:srgbClr val="E3E8EF"/>
            </a:solidFill>
            <a:prstDash val="solid"/>
          </a:ln>
        </p:spPr>
      </p:sp>
      <p:sp>
        <p:nvSpPr>
          <p:cNvPr id="37" name="Text 35"/>
          <p:cNvSpPr txBox="1"/>
          <p:nvPr/>
        </p:nvSpPr>
        <p:spPr>
          <a:xfrm>
            <a:off x="9040901" y="4892040"/>
            <a:ext cx="2602154" cy="1371600"/>
          </a:xfrm>
          <a:prstGeom prst="rect">
            <a:avLst/>
          </a:prstGeom>
          <a:noFill/>
          <a:ln/>
        </p:spPr>
        <p:txBody>
          <a:bodyPr wrap="square" lIns="0" tIns="0" rIns="0" bIns="0" rtlCol="0" anchor="ctr"/>
          <a:lstStyle/>
          <a:p>
            <a:pPr algn="ctr" indent="0" marL="0">
              <a:lnSpc>
                <a:spcPct val="110000"/>
              </a:lnSpc>
              <a:spcAft>
                <a:spcPts val="500"/>
              </a:spcAft>
              <a:buNone/>
            </a:pPr>
            <a:r>
              <a:rPr lang="en-US" altLang="en-US" sz="700" spc="100" kern="0" dirty="0">
                <a:solidFill>
                  <a:srgbClr val="8A94A6"/>
                </a:solidFill>
                <a:latin typeface="Inter" pitchFamily="34" charset="0"/>
                <a:ea typeface="Inter" pitchFamily="34" charset="-122"/>
                <a:cs typeface="Inter" pitchFamily="34" charset="-120"/>
              </a:rPr>
              <a:t>PHOTO  ·  Branch network &amp; charging</a:t>
            </a:r>
            <a:endParaRPr lang="en-US" sz="700" dirty="0"/>
          </a:p>
        </p:txBody>
      </p:sp>
      <p:sp>
        <p:nvSpPr>
          <p:cNvPr id="38" name="Shape 36"/>
          <p:cNvSpPr/>
          <p:nvPr/>
        </p:nvSpPr>
        <p:spPr>
          <a:xfrm>
            <a:off x="548640" y="6428232"/>
            <a:ext cx="11094415" cy="0"/>
          </a:xfrm>
          <a:prstGeom prst="line">
            <a:avLst/>
          </a:prstGeom>
          <a:noFill/>
          <a:ln w="9525">
            <a:solidFill>
              <a:srgbClr val="E3E8EF"/>
            </a:solidFill>
            <a:prstDash val="solid"/>
          </a:ln>
        </p:spPr>
      </p:sp>
      <p:pic>
        <p:nvPicPr>
          <p:cNvPr id="39" name="Image 0" descr="EVCARS logo">
            <a:hlinkClick r:id="rId2" tooltip="Back to cover" action="ppaction://hlinksldjump"/>
          </p:cNvPr>
          <p:cNvPicPr>
            <a:picLocks noChangeAspect="1"/>
          </p:cNvPicPr>
          <p:nvPr/>
        </p:nvPicPr>
        <p:blipFill>
          <a:blip r:embed="rId1"/>
          <a:stretch>
            <a:fillRect/>
          </a:stretch>
        </p:blipFill>
        <p:spPr>
          <a:xfrm>
            <a:off x="548640" y="6510528"/>
            <a:ext cx="833104" cy="155448"/>
          </a:xfrm>
          <a:prstGeom prst="rect">
            <a:avLst/>
          </a:prstGeom>
        </p:spPr>
      </p:pic>
      <p:sp>
        <p:nvSpPr>
          <p:cNvPr id="40" name="Text 37">
            <a:hlinkClick r:id="rId3" tooltip="www.evcars.me"/>
          </p:cNvPr>
          <p:cNvSpPr txBox="1"/>
          <p:nvPr/>
        </p:nvSpPr>
        <p:spPr>
          <a:xfrm>
            <a:off x="1600200" y="6492240"/>
            <a:ext cx="1463040" cy="201168"/>
          </a:xfrm>
          <a:prstGeom prst="rect">
            <a:avLst/>
          </a:prstGeom>
          <a:noFill/>
          <a:ln/>
        </p:spPr>
        <p:txBody>
          <a:bodyPr wrap="square" lIns="0" tIns="0" rIns="0" bIns="0" rtlCol="0" anchor="ctr"/>
          <a:lstStyle/>
          <a:p>
            <a:pPr indent="0" marL="0">
              <a:buNone/>
            </a:pPr>
            <a:r>
              <a:rPr lang="en-US" sz="800" u="sng" dirty="0">
                <a:solidFill>
                  <a:srgbClr val="3E9ACA"/>
                </a:solidFill>
                <a:latin typeface="Inter" pitchFamily="34" charset="0"/>
                <a:ea typeface="Inter" pitchFamily="34" charset="-122"/>
                <a:cs typeface="Inter" pitchFamily="34" charset="-120"/>
                <a:hlinkClick r:id="rId3" invalidUrl="" action="" tgtFrame="" tooltip="www.evcars.me" history="1" highlightClick="0" endSnd="0">
                  <a:extLst>
                    <a:ext uri="{A12FA001-AC4F-418D-AE19-62706E023703}">
                      <ahyp:hlinkClr xmlns:ahyp="http://schemas.microsoft.com/office/drawing/2018/hyperlinkcolor" val="tx"/>
                    </a:ext>
                  </a:extLst>
                </a:hlinkClick>
              </a:rPr>
              <a:t>www.evcars.me</a:t>
            </a:r>
            <a:endParaRPr lang="en-US" sz="800" dirty="0"/>
          </a:p>
        </p:txBody>
      </p:sp>
      <p:sp>
        <p:nvSpPr>
          <p:cNvPr id="41" name="Text 38">
            <a:hlinkClick r:id="rId4" tooltip="Page 1" action="ppaction://hlinksldjump"/>
          </p:cNvPr>
          <p:cNvSpPr txBox="1"/>
          <p:nvPr/>
        </p:nvSpPr>
        <p:spPr>
          <a:xfrm>
            <a:off x="834847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4" action="ppaction://hlinksldjump" tooltip="Page 1">
                  <a:extLst>
                    <a:ext uri="{A12FA001-AC4F-418D-AE19-62706E023703}">
                      <ahyp:hlinkClr xmlns:ahyp="http://schemas.microsoft.com/office/drawing/2018/hyperlinkcolor" val="tx"/>
                    </a:ext>
                  </a:extLst>
                </a:hlinkClick>
              </a:rPr>
              <a:t>1</a:t>
            </a:r>
            <a:endParaRPr lang="en-US" sz="750" dirty="0"/>
          </a:p>
        </p:txBody>
      </p:sp>
      <p:sp>
        <p:nvSpPr>
          <p:cNvPr id="42" name="Text 39">
            <a:hlinkClick r:id="rId5" tooltip="Page 2" action="ppaction://hlinksldjump"/>
          </p:cNvPr>
          <p:cNvSpPr txBox="1"/>
          <p:nvPr/>
        </p:nvSpPr>
        <p:spPr>
          <a:xfrm>
            <a:off x="862279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5" action="ppaction://hlinksldjump" tooltip="Page 2">
                  <a:extLst>
                    <a:ext uri="{A12FA001-AC4F-418D-AE19-62706E023703}">
                      <ahyp:hlinkClr xmlns:ahyp="http://schemas.microsoft.com/office/drawing/2018/hyperlinkcolor" val="tx"/>
                    </a:ext>
                  </a:extLst>
                </a:hlinkClick>
              </a:rPr>
              <a:t>2</a:t>
            </a:r>
            <a:endParaRPr lang="en-US" sz="750" dirty="0"/>
          </a:p>
        </p:txBody>
      </p:sp>
      <p:sp>
        <p:nvSpPr>
          <p:cNvPr id="43" name="Text 40">
            <a:hlinkClick r:id="rId6" tooltip="Page 3" action="ppaction://hlinksldjump"/>
          </p:cNvPr>
          <p:cNvSpPr txBox="1"/>
          <p:nvPr/>
        </p:nvSpPr>
        <p:spPr>
          <a:xfrm>
            <a:off x="889711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6" action="ppaction://hlinksldjump" tooltip="Page 3">
                  <a:extLst>
                    <a:ext uri="{A12FA001-AC4F-418D-AE19-62706E023703}">
                      <ahyp:hlinkClr xmlns:ahyp="http://schemas.microsoft.com/office/drawing/2018/hyperlinkcolor" val="tx"/>
                    </a:ext>
                  </a:extLst>
                </a:hlinkClick>
              </a:rPr>
              <a:t>3</a:t>
            </a:r>
            <a:endParaRPr lang="en-US" sz="750" dirty="0"/>
          </a:p>
        </p:txBody>
      </p:sp>
      <p:sp>
        <p:nvSpPr>
          <p:cNvPr id="44" name="Text 41">
            <a:hlinkClick r:id="rId7" tooltip="Page 4" action="ppaction://hlinksldjump"/>
          </p:cNvPr>
          <p:cNvSpPr txBox="1"/>
          <p:nvPr/>
        </p:nvSpPr>
        <p:spPr>
          <a:xfrm>
            <a:off x="9171432" y="6492240"/>
            <a:ext cx="274320" cy="201168"/>
          </a:xfrm>
          <a:prstGeom prst="rect">
            <a:avLst/>
          </a:prstGeom>
          <a:noFill/>
          <a:ln/>
        </p:spPr>
        <p:txBody>
          <a:bodyPr wrap="square" lIns="0" tIns="0" rIns="0" bIns="0" rtlCol="0" anchor="ctr"/>
          <a:lstStyle/>
          <a:p>
            <a:pPr algn="ctr" indent="0" marL="0">
              <a:buNone/>
            </a:pPr>
            <a:r>
              <a:rPr lang="en-US" sz="750" b="1" u="sng" dirty="0">
                <a:solidFill>
                  <a:srgbClr val="3E9ACA"/>
                </a:solidFill>
                <a:latin typeface="Inter" pitchFamily="34" charset="0"/>
                <a:ea typeface="Inter" pitchFamily="34" charset="-122"/>
                <a:cs typeface="Inter" pitchFamily="34" charset="-120"/>
                <a:hlinkClick r:id="rId7" action="ppaction://hlinksldjump" tooltip="Page 4">
                  <a:extLst>
                    <a:ext uri="{A12FA001-AC4F-418D-AE19-62706E023703}">
                      <ahyp:hlinkClr xmlns:ahyp="http://schemas.microsoft.com/office/drawing/2018/hyperlinkcolor" val="tx"/>
                    </a:ext>
                  </a:extLst>
                </a:hlinkClick>
              </a:rPr>
              <a:t>4</a:t>
            </a:r>
            <a:endParaRPr lang="en-US" sz="750" dirty="0"/>
          </a:p>
        </p:txBody>
      </p:sp>
      <p:sp>
        <p:nvSpPr>
          <p:cNvPr id="45" name="Text 42">
            <a:hlinkClick r:id="rId8" tooltip="Page 5" action="ppaction://hlinksldjump"/>
          </p:cNvPr>
          <p:cNvSpPr txBox="1"/>
          <p:nvPr/>
        </p:nvSpPr>
        <p:spPr>
          <a:xfrm>
            <a:off x="944575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8" action="ppaction://hlinksldjump" tooltip="Page 5">
                  <a:extLst>
                    <a:ext uri="{A12FA001-AC4F-418D-AE19-62706E023703}">
                      <ahyp:hlinkClr xmlns:ahyp="http://schemas.microsoft.com/office/drawing/2018/hyperlinkcolor" val="tx"/>
                    </a:ext>
                  </a:extLst>
                </a:hlinkClick>
              </a:rPr>
              <a:t>5</a:t>
            </a:r>
            <a:endParaRPr lang="en-US" sz="750" dirty="0"/>
          </a:p>
        </p:txBody>
      </p:sp>
      <p:sp>
        <p:nvSpPr>
          <p:cNvPr id="46" name="Text 43">
            <a:hlinkClick r:id="rId9" tooltip="Page 6" action="ppaction://hlinksldjump"/>
          </p:cNvPr>
          <p:cNvSpPr txBox="1"/>
          <p:nvPr/>
        </p:nvSpPr>
        <p:spPr>
          <a:xfrm>
            <a:off x="972007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9" action="ppaction://hlinksldjump" tooltip="Page 6">
                  <a:extLst>
                    <a:ext uri="{A12FA001-AC4F-418D-AE19-62706E023703}">
                      <ahyp:hlinkClr xmlns:ahyp="http://schemas.microsoft.com/office/drawing/2018/hyperlinkcolor" val="tx"/>
                    </a:ext>
                  </a:extLst>
                </a:hlinkClick>
              </a:rPr>
              <a:t>6</a:t>
            </a:r>
            <a:endParaRPr lang="en-US" sz="750" dirty="0"/>
          </a:p>
        </p:txBody>
      </p:sp>
      <p:sp>
        <p:nvSpPr>
          <p:cNvPr id="47" name="Text 44">
            <a:hlinkClick r:id="rId10" tooltip="Page 7" action="ppaction://hlinksldjump"/>
          </p:cNvPr>
          <p:cNvSpPr txBox="1"/>
          <p:nvPr/>
        </p:nvSpPr>
        <p:spPr>
          <a:xfrm>
            <a:off x="999439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0" action="ppaction://hlinksldjump" tooltip="Page 7">
                  <a:extLst>
                    <a:ext uri="{A12FA001-AC4F-418D-AE19-62706E023703}">
                      <ahyp:hlinkClr xmlns:ahyp="http://schemas.microsoft.com/office/drawing/2018/hyperlinkcolor" val="tx"/>
                    </a:ext>
                  </a:extLst>
                </a:hlinkClick>
              </a:rPr>
              <a:t>7</a:t>
            </a:r>
            <a:endParaRPr lang="en-US" sz="750" dirty="0"/>
          </a:p>
        </p:txBody>
      </p:sp>
      <p:sp>
        <p:nvSpPr>
          <p:cNvPr id="48" name="Text 45">
            <a:hlinkClick r:id="rId11" tooltip="Page 8" action="ppaction://hlinksldjump"/>
          </p:cNvPr>
          <p:cNvSpPr txBox="1"/>
          <p:nvPr/>
        </p:nvSpPr>
        <p:spPr>
          <a:xfrm>
            <a:off x="1026871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1" action="ppaction://hlinksldjump" tooltip="Page 8">
                  <a:extLst>
                    <a:ext uri="{A12FA001-AC4F-418D-AE19-62706E023703}">
                      <ahyp:hlinkClr xmlns:ahyp="http://schemas.microsoft.com/office/drawing/2018/hyperlinkcolor" val="tx"/>
                    </a:ext>
                  </a:extLst>
                </a:hlinkClick>
              </a:rPr>
              <a:t>8</a:t>
            </a:r>
            <a:endParaRPr lang="en-US" sz="750" dirty="0"/>
          </a:p>
        </p:txBody>
      </p:sp>
      <p:sp>
        <p:nvSpPr>
          <p:cNvPr id="49" name="Text 46">
            <a:hlinkClick r:id="rId12" tooltip="Page 9" action="ppaction://hlinksldjump"/>
          </p:cNvPr>
          <p:cNvSpPr txBox="1"/>
          <p:nvPr/>
        </p:nvSpPr>
        <p:spPr>
          <a:xfrm>
            <a:off x="1054303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2" action="ppaction://hlinksldjump" tooltip="Page 9">
                  <a:extLst>
                    <a:ext uri="{A12FA001-AC4F-418D-AE19-62706E023703}">
                      <ahyp:hlinkClr xmlns:ahyp="http://schemas.microsoft.com/office/drawing/2018/hyperlinkcolor" val="tx"/>
                    </a:ext>
                  </a:extLst>
                </a:hlinkClick>
              </a:rPr>
              <a:t>9</a:t>
            </a:r>
            <a:endParaRPr lang="en-US" sz="750" dirty="0"/>
          </a:p>
        </p:txBody>
      </p:sp>
      <p:sp>
        <p:nvSpPr>
          <p:cNvPr id="50" name="Text 47">
            <a:hlinkClick r:id="rId13" tooltip="Page 10" action="ppaction://hlinksldjump"/>
          </p:cNvPr>
          <p:cNvSpPr txBox="1"/>
          <p:nvPr/>
        </p:nvSpPr>
        <p:spPr>
          <a:xfrm>
            <a:off x="1081735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3" action="ppaction://hlinksldjump" tooltip="Page 10">
                  <a:extLst>
                    <a:ext uri="{A12FA001-AC4F-418D-AE19-62706E023703}">
                      <ahyp:hlinkClr xmlns:ahyp="http://schemas.microsoft.com/office/drawing/2018/hyperlinkcolor" val="tx"/>
                    </a:ext>
                  </a:extLst>
                </a:hlinkClick>
              </a:rPr>
              <a:t>10</a:t>
            </a:r>
            <a:endParaRPr lang="en-US" sz="750" dirty="0"/>
          </a:p>
        </p:txBody>
      </p:sp>
      <p:sp>
        <p:nvSpPr>
          <p:cNvPr id="51" name="Text 48">
            <a:hlinkClick r:id="rId14" tooltip="Page 11" action="ppaction://hlinksldjump"/>
          </p:cNvPr>
          <p:cNvSpPr txBox="1"/>
          <p:nvPr/>
        </p:nvSpPr>
        <p:spPr>
          <a:xfrm>
            <a:off x="1109167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4" action="ppaction://hlinksldjump" tooltip="Page 11">
                  <a:extLst>
                    <a:ext uri="{A12FA001-AC4F-418D-AE19-62706E023703}">
                      <ahyp:hlinkClr xmlns:ahyp="http://schemas.microsoft.com/office/drawing/2018/hyperlinkcolor" val="tx"/>
                    </a:ext>
                  </a:extLst>
                </a:hlinkClick>
              </a:rPr>
              <a:t>11</a:t>
            </a:r>
            <a:endParaRPr lang="en-US" sz="750" dirty="0"/>
          </a:p>
        </p:txBody>
      </p:sp>
      <p:sp>
        <p:nvSpPr>
          <p:cNvPr id="52" name="Text 49">
            <a:hlinkClick r:id="rId15" tooltip="Page 12" action="ppaction://hlinksldjump"/>
          </p:cNvPr>
          <p:cNvSpPr txBox="1"/>
          <p:nvPr/>
        </p:nvSpPr>
        <p:spPr>
          <a:xfrm>
            <a:off x="1136599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5" action="ppaction://hlinksldjump" tooltip="Page 12">
                  <a:extLst>
                    <a:ext uri="{A12FA001-AC4F-418D-AE19-62706E023703}">
                      <ahyp:hlinkClr xmlns:ahyp="http://schemas.microsoft.com/office/drawing/2018/hyperlinkcolor" val="tx"/>
                    </a:ext>
                  </a:extLst>
                </a:hlinkClick>
              </a:rPr>
              <a:t>12</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65760"/>
            <a:ext cx="5547208" cy="274320"/>
          </a:xfrm>
          <a:prstGeom prst="rect">
            <a:avLst/>
          </a:prstGeom>
          <a:noFill/>
          <a:ln/>
        </p:spPr>
        <p:txBody>
          <a:bodyPr wrap="square" lIns="0" tIns="0" rIns="0" bIns="0" rtlCol="0" anchor="t"/>
          <a:lstStyle/>
          <a:p>
            <a:pPr algn="l" indent="0" marL="0">
              <a:lnSpc>
                <a:spcPct val="110000"/>
              </a:lnSpc>
              <a:spcAft>
                <a:spcPts val="500"/>
              </a:spcAft>
              <a:buNone/>
            </a:pPr>
            <a:r>
              <a:rPr lang="en-US" altLang="en-US" sz="1000" b="1" dirty="0">
                <a:solidFill>
                  <a:srgbClr val="3E9ACA"/>
                </a:solidFill>
                <a:latin typeface="Sora" pitchFamily="34" charset="0"/>
                <a:ea typeface="Sora" pitchFamily="34" charset="-122"/>
                <a:cs typeface="Sora" pitchFamily="34" charset="-120"/>
              </a:rPr>
              <a:t>05</a:t>
            </a:r>
            <a:pPr algn="l" indent="0" marL="0">
              <a:lnSpc>
                <a:spcPct val="110000"/>
              </a:lnSpc>
              <a:spcAft>
                <a:spcPts val="500"/>
              </a:spcAft>
              <a:buNone/>
            </a:pPr>
            <a:r>
              <a:rPr lang="en-US" altLang="en-US" sz="1000" b="1" spc="200" kern="0" dirty="0">
                <a:solidFill>
                  <a:srgbClr val="0A1628"/>
                </a:solidFill>
                <a:latin typeface="Sora" pitchFamily="34" charset="0"/>
                <a:ea typeface="Sora" pitchFamily="34" charset="-122"/>
                <a:cs typeface="Sora" pitchFamily="34" charset="-120"/>
              </a:rPr>
              <a:t>  |  OUR BUSINESS AREAS</a:t>
            </a:r>
            <a:endParaRPr lang="en-US" sz="1000" dirty="0"/>
          </a:p>
        </p:txBody>
      </p:sp>
      <p:sp>
        <p:nvSpPr>
          <p:cNvPr id="3" name="Text 1"/>
          <p:cNvSpPr txBox="1"/>
          <p:nvPr/>
        </p:nvSpPr>
        <p:spPr>
          <a:xfrm>
            <a:off x="6095848" y="347472"/>
            <a:ext cx="5547208" cy="274320"/>
          </a:xfrm>
          <a:prstGeom prst="rect">
            <a:avLst/>
          </a:prstGeom>
          <a:noFill/>
          <a:ln/>
        </p:spPr>
        <p:txBody>
          <a:bodyPr wrap="square" lIns="0" tIns="0" rIns="0" bIns="0" rtlCol="0" anchor="t"/>
          <a:lstStyle/>
          <a:p>
            <a:pPr rtl="1" algn="r" indent="0" marL="0">
              <a:lnSpc>
                <a:spcPct val="110000"/>
              </a:lnSpc>
              <a:spcAft>
                <a:spcPts val="500"/>
              </a:spcAft>
              <a:buNone/>
            </a:pPr>
            <a:r>
              <a:rPr lang="ar-AE" altLang="en-US" sz="1200" b="1" dirty="0">
                <a:solidFill>
                  <a:srgbClr val="3E9ACA"/>
                </a:solidFill>
                <a:latin typeface="IBM Plex Sans Arabic" pitchFamily="34" charset="0"/>
                <a:ea typeface="IBM Plex Sans Arabic" pitchFamily="34" charset="-122"/>
                <a:cs typeface="IBM Plex Sans Arabic" pitchFamily="34" charset="-120"/>
              </a:rPr>
              <a:t>05</a:t>
            </a:r>
            <a:pPr algn="r" indent="0" marL="0">
              <a:lnSpc>
                <a:spcPct val="110000"/>
              </a:lnSpc>
              <a:spcAft>
                <a:spcPts val="500"/>
              </a:spcAft>
              <a:buNone/>
            </a:pPr>
            <a:r>
              <a:rPr lang="ar-AE" altLang="en-US" sz="1200" b="1" dirty="0">
                <a:solidFill>
                  <a:srgbClr val="0A1628"/>
                </a:solidFill>
                <a:latin typeface="IBM Plex Sans Arabic" pitchFamily="34" charset="0"/>
                <a:ea typeface="IBM Plex Sans Arabic" pitchFamily="34" charset="-122"/>
                <a:cs typeface="IBM Plex Sans Arabic" pitchFamily="34" charset="-120"/>
              </a:rPr>
              <a:t>  |  مجالات أعمالنا</a:t>
            </a:r>
            <a:endParaRPr lang="ar-AE" sz="1200" dirty="0"/>
          </a:p>
        </p:txBody>
      </p:sp>
      <p:sp>
        <p:nvSpPr>
          <p:cNvPr id="4" name="Shape 2"/>
          <p:cNvSpPr/>
          <p:nvPr/>
        </p:nvSpPr>
        <p:spPr>
          <a:xfrm>
            <a:off x="548640" y="676656"/>
            <a:ext cx="11094415" cy="0"/>
          </a:xfrm>
          <a:prstGeom prst="line">
            <a:avLst/>
          </a:prstGeom>
          <a:noFill/>
          <a:ln w="9525">
            <a:solidFill>
              <a:srgbClr val="E3E8EF"/>
            </a:solidFill>
            <a:prstDash val="solid"/>
          </a:ln>
        </p:spPr>
      </p:sp>
      <p:sp>
        <p:nvSpPr>
          <p:cNvPr id="5" name="Electric Vehicle Accessories"/>
          <p:cNvSpPr/>
          <p:nvPr/>
        </p:nvSpPr>
        <p:spPr>
          <a:xfrm>
            <a:off x="548640" y="868680"/>
            <a:ext cx="3576218" cy="1874520"/>
          </a:xfrm>
          <a:prstGeom prst="rect">
            <a:avLst/>
          </a:prstGeom>
          <a:solidFill>
            <a:srgbClr val="F4F6F9"/>
          </a:solidFill>
          <a:ln w="9525">
            <a:solidFill>
              <a:srgbClr val="E3E8EF"/>
            </a:solidFill>
            <a:prstDash val="solid"/>
          </a:ln>
        </p:spPr>
      </p:sp>
      <p:sp>
        <p:nvSpPr>
          <p:cNvPr id="6" name="Text 4"/>
          <p:cNvSpPr txBox="1"/>
          <p:nvPr/>
        </p:nvSpPr>
        <p:spPr>
          <a:xfrm>
            <a:off x="731520" y="996696"/>
            <a:ext cx="457200" cy="228600"/>
          </a:xfrm>
          <a:prstGeom prst="rect">
            <a:avLst/>
          </a:prstGeom>
          <a:noFill/>
          <a:ln/>
        </p:spPr>
        <p:txBody>
          <a:bodyPr wrap="square" lIns="0" tIns="0" rIns="0" bIns="0" rtlCol="0" anchor="t"/>
          <a:lstStyle/>
          <a:p>
            <a:pPr algn="l" indent="0" marL="0">
              <a:lnSpc>
                <a:spcPct val="110000"/>
              </a:lnSpc>
              <a:spcAft>
                <a:spcPts val="500"/>
              </a:spcAft>
              <a:buNone/>
            </a:pPr>
            <a:r>
              <a:rPr lang="en-US" altLang="en-US" sz="1000" b="1" dirty="0">
                <a:solidFill>
                  <a:srgbClr val="3E9ACA"/>
                </a:solidFill>
                <a:latin typeface="Sora" pitchFamily="34" charset="0"/>
                <a:ea typeface="Sora" pitchFamily="34" charset="-122"/>
                <a:cs typeface="Sora" pitchFamily="34" charset="-120"/>
              </a:rPr>
              <a:t>01</a:t>
            </a:r>
            <a:endParaRPr lang="en-US" sz="1000" dirty="0"/>
          </a:p>
        </p:txBody>
      </p:sp>
      <p:sp>
        <p:nvSpPr>
          <p:cNvPr id="7" name="Text 5"/>
          <p:cNvSpPr txBox="1"/>
          <p:nvPr/>
        </p:nvSpPr>
        <p:spPr>
          <a:xfrm>
            <a:off x="731520" y="1197864"/>
            <a:ext cx="3210458" cy="228600"/>
          </a:xfrm>
          <a:prstGeom prst="rect">
            <a:avLst/>
          </a:prstGeom>
          <a:noFill/>
          <a:ln/>
        </p:spPr>
        <p:txBody>
          <a:bodyPr wrap="square" lIns="0" tIns="0" rIns="0" bIns="0" rtlCol="0" anchor="t"/>
          <a:lstStyle/>
          <a:p>
            <a:pPr algn="l" indent="0" marL="0">
              <a:lnSpc>
                <a:spcPct val="110000"/>
              </a:lnSpc>
              <a:spcAft>
                <a:spcPts val="500"/>
              </a:spcAft>
              <a:buNone/>
            </a:pPr>
            <a:r>
              <a:rPr lang="en-US" altLang="en-US" sz="950" b="1" dirty="0">
                <a:solidFill>
                  <a:srgbClr val="0A1628"/>
                </a:solidFill>
                <a:latin typeface="Sora" pitchFamily="34" charset="0"/>
                <a:ea typeface="Sora" pitchFamily="34" charset="-122"/>
                <a:cs typeface="Sora" pitchFamily="34" charset="-120"/>
              </a:rPr>
              <a:t>Electric Vehicle Accessories</a:t>
            </a:r>
            <a:endParaRPr lang="en-US" sz="950" dirty="0"/>
          </a:p>
        </p:txBody>
      </p:sp>
      <p:sp>
        <p:nvSpPr>
          <p:cNvPr id="8" name="Text 6"/>
          <p:cNvSpPr txBox="1"/>
          <p:nvPr/>
        </p:nvSpPr>
        <p:spPr>
          <a:xfrm>
            <a:off x="731520" y="1417320"/>
            <a:ext cx="3210458" cy="246888"/>
          </a:xfrm>
          <a:prstGeom prst="rect">
            <a:avLst/>
          </a:prstGeom>
          <a:noFill/>
          <a:ln/>
        </p:spPr>
        <p:txBody>
          <a:bodyPr wrap="square" lIns="0" tIns="0" rIns="0" bIns="0" rtlCol="0" anchor="t"/>
          <a:lstStyle/>
          <a:p>
            <a:pPr rtl="1" algn="r" indent="0" marL="0">
              <a:lnSpc>
                <a:spcPct val="110000"/>
              </a:lnSpc>
              <a:spcAft>
                <a:spcPts val="500"/>
              </a:spcAft>
              <a:buNone/>
            </a:pPr>
            <a:r>
              <a:rPr lang="ar-AE" altLang="en-US" sz="1050" b="1" dirty="0">
                <a:solidFill>
                  <a:srgbClr val="0A1628"/>
                </a:solidFill>
                <a:latin typeface="IBM Plex Sans Arabic" pitchFamily="34" charset="0"/>
                <a:ea typeface="IBM Plex Sans Arabic" pitchFamily="34" charset="-122"/>
                <a:cs typeface="IBM Plex Sans Arabic" pitchFamily="34" charset="-120"/>
              </a:rPr>
              <a:t>إكسسوارات السيارات الكهربائية</a:t>
            </a:r>
            <a:endParaRPr lang="ar-AE" sz="1050" dirty="0"/>
          </a:p>
        </p:txBody>
      </p:sp>
      <p:sp>
        <p:nvSpPr>
          <p:cNvPr id="9" name="Text 7"/>
          <p:cNvSpPr txBox="1"/>
          <p:nvPr/>
        </p:nvSpPr>
        <p:spPr>
          <a:xfrm>
            <a:off x="731520" y="1728216"/>
            <a:ext cx="3210458" cy="457200"/>
          </a:xfrm>
          <a:prstGeom prst="rect">
            <a:avLst/>
          </a:prstGeom>
          <a:noFill/>
          <a:ln/>
        </p:spPr>
        <p:txBody>
          <a:bodyPr wrap="square" lIns="0" tIns="0" rIns="0" bIns="0" rtlCol="0" anchor="t"/>
          <a:lstStyle/>
          <a:p>
            <a:pPr algn="l" indent="0" marL="0">
              <a:lnSpc>
                <a:spcPct val="110000"/>
              </a:lnSpc>
              <a:spcAft>
                <a:spcPts val="500"/>
              </a:spcAft>
              <a:buNone/>
            </a:pPr>
            <a:r>
              <a:rPr lang="en-US" altLang="en-US" sz="740" dirty="0">
                <a:solidFill>
                  <a:srgbClr val="2A3547"/>
                </a:solidFill>
                <a:latin typeface="Inter" pitchFamily="34" charset="0"/>
                <a:ea typeface="Inter" pitchFamily="34" charset="-122"/>
                <a:cs typeface="Inter" pitchFamily="34" charset="-120"/>
              </a:rPr>
              <a:t>A wide range of interior and exterior accessories designed to enhance comfort, protection, organization, and the overall ownership experience.</a:t>
            </a:r>
            <a:endParaRPr lang="en-US" sz="740" dirty="0"/>
          </a:p>
        </p:txBody>
      </p:sp>
      <p:sp>
        <p:nvSpPr>
          <p:cNvPr id="10" name="Text 8"/>
          <p:cNvSpPr txBox="1"/>
          <p:nvPr/>
        </p:nvSpPr>
        <p:spPr>
          <a:xfrm>
            <a:off x="731520" y="2130552"/>
            <a:ext cx="3210458" cy="594360"/>
          </a:xfrm>
          <a:prstGeom prst="rect">
            <a:avLst/>
          </a:prstGeom>
          <a:noFill/>
          <a:ln/>
        </p:spPr>
        <p:txBody>
          <a:bodyPr wrap="square" lIns="0" tIns="0" rIns="0" bIns="0" rtlCol="0" anchor="t"/>
          <a:lstStyle/>
          <a:p>
            <a:pPr rtl="1" algn="r" indent="0" marL="0">
              <a:lnSpc>
                <a:spcPct val="110000"/>
              </a:lnSpc>
              <a:spcAft>
                <a:spcPts val="500"/>
              </a:spcAft>
              <a:buNone/>
            </a:pPr>
            <a:r>
              <a:rPr lang="ar-AE" altLang="en-US" sz="800" dirty="0">
                <a:solidFill>
                  <a:srgbClr val="2A3547"/>
                </a:solidFill>
                <a:latin typeface="IBM Plex Sans Arabic" pitchFamily="34" charset="0"/>
                <a:ea typeface="IBM Plex Sans Arabic" pitchFamily="34" charset="-122"/>
                <a:cs typeface="IBM Plex Sans Arabic" pitchFamily="34" charset="-120"/>
              </a:rPr>
              <a:t>توفير مجموعة متنوعة من الإكسسوارات الداخلية والخارجية المصممة لتلبية احتياجات ملاك السيارات الكهربائية، بما يشمل الراحة والحماية والتنظيم والمظهر الجمالي.</a:t>
            </a:r>
            <a:endParaRPr lang="ar-AE" sz="800" dirty="0"/>
          </a:p>
        </p:txBody>
      </p:sp>
      <p:sp>
        <p:nvSpPr>
          <p:cNvPr id="11" name="EV Charging Solutions"/>
          <p:cNvSpPr/>
          <p:nvPr/>
        </p:nvSpPr>
        <p:spPr>
          <a:xfrm>
            <a:off x="4307738" y="868680"/>
            <a:ext cx="3576218" cy="1874520"/>
          </a:xfrm>
          <a:prstGeom prst="rect">
            <a:avLst/>
          </a:prstGeom>
          <a:solidFill>
            <a:srgbClr val="F4F6F9"/>
          </a:solidFill>
          <a:ln w="9525">
            <a:solidFill>
              <a:srgbClr val="E3E8EF"/>
            </a:solidFill>
            <a:prstDash val="solid"/>
          </a:ln>
        </p:spPr>
      </p:sp>
      <p:sp>
        <p:nvSpPr>
          <p:cNvPr id="12" name="Text 10"/>
          <p:cNvSpPr txBox="1"/>
          <p:nvPr/>
        </p:nvSpPr>
        <p:spPr>
          <a:xfrm>
            <a:off x="4490618" y="996696"/>
            <a:ext cx="457200" cy="228600"/>
          </a:xfrm>
          <a:prstGeom prst="rect">
            <a:avLst/>
          </a:prstGeom>
          <a:noFill/>
          <a:ln/>
        </p:spPr>
        <p:txBody>
          <a:bodyPr wrap="square" lIns="0" tIns="0" rIns="0" bIns="0" rtlCol="0" anchor="t"/>
          <a:lstStyle/>
          <a:p>
            <a:pPr algn="l" indent="0" marL="0">
              <a:lnSpc>
                <a:spcPct val="110000"/>
              </a:lnSpc>
              <a:spcAft>
                <a:spcPts val="500"/>
              </a:spcAft>
              <a:buNone/>
            </a:pPr>
            <a:r>
              <a:rPr lang="en-US" altLang="en-US" sz="1000" b="1" dirty="0">
                <a:solidFill>
                  <a:srgbClr val="3E9ACA"/>
                </a:solidFill>
                <a:latin typeface="Sora" pitchFamily="34" charset="0"/>
                <a:ea typeface="Sora" pitchFamily="34" charset="-122"/>
                <a:cs typeface="Sora" pitchFamily="34" charset="-120"/>
              </a:rPr>
              <a:t>02</a:t>
            </a:r>
            <a:endParaRPr lang="en-US" sz="1000" dirty="0"/>
          </a:p>
        </p:txBody>
      </p:sp>
      <p:sp>
        <p:nvSpPr>
          <p:cNvPr id="13" name="Text 11"/>
          <p:cNvSpPr txBox="1"/>
          <p:nvPr/>
        </p:nvSpPr>
        <p:spPr>
          <a:xfrm>
            <a:off x="4490618" y="1197864"/>
            <a:ext cx="3210458" cy="228600"/>
          </a:xfrm>
          <a:prstGeom prst="rect">
            <a:avLst/>
          </a:prstGeom>
          <a:noFill/>
          <a:ln/>
        </p:spPr>
        <p:txBody>
          <a:bodyPr wrap="square" lIns="0" tIns="0" rIns="0" bIns="0" rtlCol="0" anchor="t"/>
          <a:lstStyle/>
          <a:p>
            <a:pPr algn="l" indent="0" marL="0">
              <a:lnSpc>
                <a:spcPct val="110000"/>
              </a:lnSpc>
              <a:spcAft>
                <a:spcPts val="500"/>
              </a:spcAft>
              <a:buNone/>
            </a:pPr>
            <a:r>
              <a:rPr lang="en-US" altLang="en-US" sz="950" b="1" dirty="0">
                <a:solidFill>
                  <a:srgbClr val="0A1628"/>
                </a:solidFill>
                <a:latin typeface="Sora" pitchFamily="34" charset="0"/>
                <a:ea typeface="Sora" pitchFamily="34" charset="-122"/>
                <a:cs typeface="Sora" pitchFamily="34" charset="-120"/>
              </a:rPr>
              <a:t>EV Charging Solutions</a:t>
            </a:r>
            <a:endParaRPr lang="en-US" sz="950" dirty="0"/>
          </a:p>
        </p:txBody>
      </p:sp>
      <p:sp>
        <p:nvSpPr>
          <p:cNvPr id="14" name="Text 12"/>
          <p:cNvSpPr txBox="1"/>
          <p:nvPr/>
        </p:nvSpPr>
        <p:spPr>
          <a:xfrm>
            <a:off x="4490618" y="1417320"/>
            <a:ext cx="3210458" cy="246888"/>
          </a:xfrm>
          <a:prstGeom prst="rect">
            <a:avLst/>
          </a:prstGeom>
          <a:noFill/>
          <a:ln/>
        </p:spPr>
        <p:txBody>
          <a:bodyPr wrap="square" lIns="0" tIns="0" rIns="0" bIns="0" rtlCol="0" anchor="t"/>
          <a:lstStyle/>
          <a:p>
            <a:pPr rtl="1" algn="r" indent="0" marL="0">
              <a:lnSpc>
                <a:spcPct val="110000"/>
              </a:lnSpc>
              <a:spcAft>
                <a:spcPts val="500"/>
              </a:spcAft>
              <a:buNone/>
            </a:pPr>
            <a:r>
              <a:rPr lang="ar-AE" altLang="en-US" sz="1050" b="1" dirty="0">
                <a:solidFill>
                  <a:srgbClr val="0A1628"/>
                </a:solidFill>
                <a:latin typeface="IBM Plex Sans Arabic" pitchFamily="34" charset="0"/>
                <a:ea typeface="IBM Plex Sans Arabic" pitchFamily="34" charset="-122"/>
                <a:cs typeface="IBM Plex Sans Arabic" pitchFamily="34" charset="-120"/>
              </a:rPr>
              <a:t>شواحن السيارات الكهربائية</a:t>
            </a:r>
            <a:endParaRPr lang="ar-AE" sz="1050" dirty="0"/>
          </a:p>
        </p:txBody>
      </p:sp>
      <p:sp>
        <p:nvSpPr>
          <p:cNvPr id="15" name="Text 13"/>
          <p:cNvSpPr txBox="1"/>
          <p:nvPr/>
        </p:nvSpPr>
        <p:spPr>
          <a:xfrm>
            <a:off x="4490618" y="1728216"/>
            <a:ext cx="3210458" cy="457200"/>
          </a:xfrm>
          <a:prstGeom prst="rect">
            <a:avLst/>
          </a:prstGeom>
          <a:noFill/>
          <a:ln/>
        </p:spPr>
        <p:txBody>
          <a:bodyPr wrap="square" lIns="0" tIns="0" rIns="0" bIns="0" rtlCol="0" anchor="t"/>
          <a:lstStyle/>
          <a:p>
            <a:pPr algn="l" indent="0" marL="0">
              <a:lnSpc>
                <a:spcPct val="110000"/>
              </a:lnSpc>
              <a:spcAft>
                <a:spcPts val="500"/>
              </a:spcAft>
              <a:buNone/>
            </a:pPr>
            <a:r>
              <a:rPr lang="en-US" altLang="en-US" sz="740" dirty="0">
                <a:solidFill>
                  <a:srgbClr val="2A3547"/>
                </a:solidFill>
                <a:latin typeface="Inter" pitchFamily="34" charset="0"/>
                <a:ea typeface="Inter" pitchFamily="34" charset="-122"/>
                <a:cs typeface="Inter" pitchFamily="34" charset="-120"/>
              </a:rPr>
              <a:t>EV charging solutions suitable for residential, workplace, and other applicable locations, based on vehicle and electrical infrastructure requirements.</a:t>
            </a:r>
            <a:endParaRPr lang="en-US" sz="740" dirty="0"/>
          </a:p>
        </p:txBody>
      </p:sp>
      <p:sp>
        <p:nvSpPr>
          <p:cNvPr id="16" name="Text 14"/>
          <p:cNvSpPr txBox="1"/>
          <p:nvPr/>
        </p:nvSpPr>
        <p:spPr>
          <a:xfrm>
            <a:off x="4490618" y="2130552"/>
            <a:ext cx="3210458" cy="594360"/>
          </a:xfrm>
          <a:prstGeom prst="rect">
            <a:avLst/>
          </a:prstGeom>
          <a:noFill/>
          <a:ln/>
        </p:spPr>
        <p:txBody>
          <a:bodyPr wrap="square" lIns="0" tIns="0" rIns="0" bIns="0" rtlCol="0" anchor="t"/>
          <a:lstStyle/>
          <a:p>
            <a:pPr rtl="1" algn="r" indent="0" marL="0">
              <a:lnSpc>
                <a:spcPct val="110000"/>
              </a:lnSpc>
              <a:spcAft>
                <a:spcPts val="500"/>
              </a:spcAft>
              <a:buNone/>
            </a:pPr>
            <a:r>
              <a:rPr lang="ar-AE" altLang="en-US" sz="800" dirty="0">
                <a:solidFill>
                  <a:srgbClr val="2A3547"/>
                </a:solidFill>
                <a:latin typeface="IBM Plex Sans Arabic" pitchFamily="34" charset="0"/>
                <a:ea typeface="IBM Plex Sans Arabic" pitchFamily="34" charset="-122"/>
                <a:cs typeface="IBM Plex Sans Arabic" pitchFamily="34" charset="-120"/>
              </a:rPr>
              <a:t>توفير حلول شحن متنوعة تناسب الاستخدام المنزلي ومواقع العمل وغيرها من المواقع المناسبة، وفقاً لمتطلبات المركبة والبنية الكهربائية.</a:t>
            </a:r>
            <a:endParaRPr lang="ar-AE" sz="800" dirty="0"/>
          </a:p>
        </p:txBody>
      </p:sp>
      <p:sp>
        <p:nvSpPr>
          <p:cNvPr id="17" name="EV Charging Adapters"/>
          <p:cNvSpPr/>
          <p:nvPr/>
        </p:nvSpPr>
        <p:spPr>
          <a:xfrm>
            <a:off x="8066837" y="868680"/>
            <a:ext cx="3576218" cy="1874520"/>
          </a:xfrm>
          <a:prstGeom prst="rect">
            <a:avLst/>
          </a:prstGeom>
          <a:solidFill>
            <a:srgbClr val="F4F6F9"/>
          </a:solidFill>
          <a:ln w="9525">
            <a:solidFill>
              <a:srgbClr val="E3E8EF"/>
            </a:solidFill>
            <a:prstDash val="solid"/>
          </a:ln>
        </p:spPr>
      </p:sp>
      <p:sp>
        <p:nvSpPr>
          <p:cNvPr id="18" name="Text 16"/>
          <p:cNvSpPr txBox="1"/>
          <p:nvPr/>
        </p:nvSpPr>
        <p:spPr>
          <a:xfrm>
            <a:off x="8249717" y="996696"/>
            <a:ext cx="457200" cy="228600"/>
          </a:xfrm>
          <a:prstGeom prst="rect">
            <a:avLst/>
          </a:prstGeom>
          <a:noFill/>
          <a:ln/>
        </p:spPr>
        <p:txBody>
          <a:bodyPr wrap="square" lIns="0" tIns="0" rIns="0" bIns="0" rtlCol="0" anchor="t"/>
          <a:lstStyle/>
          <a:p>
            <a:pPr algn="l" indent="0" marL="0">
              <a:lnSpc>
                <a:spcPct val="110000"/>
              </a:lnSpc>
              <a:spcAft>
                <a:spcPts val="500"/>
              </a:spcAft>
              <a:buNone/>
            </a:pPr>
            <a:r>
              <a:rPr lang="en-US" altLang="en-US" sz="1000" b="1" dirty="0">
                <a:solidFill>
                  <a:srgbClr val="3E9ACA"/>
                </a:solidFill>
                <a:latin typeface="Sora" pitchFamily="34" charset="0"/>
                <a:ea typeface="Sora" pitchFamily="34" charset="-122"/>
                <a:cs typeface="Sora" pitchFamily="34" charset="-120"/>
              </a:rPr>
              <a:t>03</a:t>
            </a:r>
            <a:endParaRPr lang="en-US" sz="1000" dirty="0"/>
          </a:p>
        </p:txBody>
      </p:sp>
      <p:sp>
        <p:nvSpPr>
          <p:cNvPr id="19" name="Text 17"/>
          <p:cNvSpPr txBox="1"/>
          <p:nvPr/>
        </p:nvSpPr>
        <p:spPr>
          <a:xfrm>
            <a:off x="8249717" y="1197864"/>
            <a:ext cx="3210458" cy="228600"/>
          </a:xfrm>
          <a:prstGeom prst="rect">
            <a:avLst/>
          </a:prstGeom>
          <a:noFill/>
          <a:ln/>
        </p:spPr>
        <p:txBody>
          <a:bodyPr wrap="square" lIns="0" tIns="0" rIns="0" bIns="0" rtlCol="0" anchor="t"/>
          <a:lstStyle/>
          <a:p>
            <a:pPr algn="l" indent="0" marL="0">
              <a:lnSpc>
                <a:spcPct val="110000"/>
              </a:lnSpc>
              <a:spcAft>
                <a:spcPts val="500"/>
              </a:spcAft>
              <a:buNone/>
            </a:pPr>
            <a:r>
              <a:rPr lang="en-US" altLang="en-US" sz="950" b="1" dirty="0">
                <a:solidFill>
                  <a:srgbClr val="0A1628"/>
                </a:solidFill>
                <a:latin typeface="Sora" pitchFamily="34" charset="0"/>
                <a:ea typeface="Sora" pitchFamily="34" charset="-122"/>
                <a:cs typeface="Sora" pitchFamily="34" charset="-120"/>
              </a:rPr>
              <a:t>EV Charging Adapters</a:t>
            </a:r>
            <a:endParaRPr lang="en-US" sz="950" dirty="0"/>
          </a:p>
        </p:txBody>
      </p:sp>
      <p:sp>
        <p:nvSpPr>
          <p:cNvPr id="20" name="Text 18"/>
          <p:cNvSpPr txBox="1"/>
          <p:nvPr/>
        </p:nvSpPr>
        <p:spPr>
          <a:xfrm>
            <a:off x="8249717" y="1417320"/>
            <a:ext cx="3210458" cy="246888"/>
          </a:xfrm>
          <a:prstGeom prst="rect">
            <a:avLst/>
          </a:prstGeom>
          <a:noFill/>
          <a:ln/>
        </p:spPr>
        <p:txBody>
          <a:bodyPr wrap="square" lIns="0" tIns="0" rIns="0" bIns="0" rtlCol="0" anchor="t"/>
          <a:lstStyle/>
          <a:p>
            <a:pPr rtl="1" algn="r" indent="0" marL="0">
              <a:lnSpc>
                <a:spcPct val="110000"/>
              </a:lnSpc>
              <a:spcAft>
                <a:spcPts val="500"/>
              </a:spcAft>
              <a:buNone/>
            </a:pPr>
            <a:r>
              <a:rPr lang="ar-AE" altLang="en-US" sz="1050" b="1" dirty="0">
                <a:solidFill>
                  <a:srgbClr val="0A1628"/>
                </a:solidFill>
                <a:latin typeface="IBM Plex Sans Arabic" pitchFamily="34" charset="0"/>
                <a:ea typeface="IBM Plex Sans Arabic" pitchFamily="34" charset="-122"/>
                <a:cs typeface="IBM Plex Sans Arabic" pitchFamily="34" charset="-120"/>
              </a:rPr>
              <a:t>محولات الشحن</a:t>
            </a:r>
            <a:endParaRPr lang="ar-AE" sz="1050" dirty="0"/>
          </a:p>
        </p:txBody>
      </p:sp>
      <p:sp>
        <p:nvSpPr>
          <p:cNvPr id="21" name="Text 19"/>
          <p:cNvSpPr txBox="1"/>
          <p:nvPr/>
        </p:nvSpPr>
        <p:spPr>
          <a:xfrm>
            <a:off x="8249717" y="1728216"/>
            <a:ext cx="3210458" cy="457200"/>
          </a:xfrm>
          <a:prstGeom prst="rect">
            <a:avLst/>
          </a:prstGeom>
          <a:noFill/>
          <a:ln/>
        </p:spPr>
        <p:txBody>
          <a:bodyPr wrap="square" lIns="0" tIns="0" rIns="0" bIns="0" rtlCol="0" anchor="t"/>
          <a:lstStyle/>
          <a:p>
            <a:pPr algn="l" indent="0" marL="0">
              <a:lnSpc>
                <a:spcPct val="110000"/>
              </a:lnSpc>
              <a:spcAft>
                <a:spcPts val="500"/>
              </a:spcAft>
              <a:buNone/>
            </a:pPr>
            <a:r>
              <a:rPr lang="en-US" altLang="en-US" sz="740" dirty="0">
                <a:solidFill>
                  <a:srgbClr val="2A3547"/>
                </a:solidFill>
                <a:latin typeface="Inter" pitchFamily="34" charset="0"/>
                <a:ea typeface="Inter" pitchFamily="34" charset="-122"/>
                <a:cs typeface="Inter" pitchFamily="34" charset="-120"/>
              </a:rPr>
              <a:t>Specialized charging adapters designed to support compatibility between selected charging standards and vehicles, subject to product specifications.</a:t>
            </a:r>
            <a:endParaRPr lang="en-US" sz="740" dirty="0"/>
          </a:p>
        </p:txBody>
      </p:sp>
      <p:sp>
        <p:nvSpPr>
          <p:cNvPr id="22" name="Text 20"/>
          <p:cNvSpPr txBox="1"/>
          <p:nvPr/>
        </p:nvSpPr>
        <p:spPr>
          <a:xfrm>
            <a:off x="8249717" y="2130552"/>
            <a:ext cx="3210458" cy="594360"/>
          </a:xfrm>
          <a:prstGeom prst="rect">
            <a:avLst/>
          </a:prstGeom>
          <a:noFill/>
          <a:ln/>
        </p:spPr>
        <p:txBody>
          <a:bodyPr wrap="square" lIns="0" tIns="0" rIns="0" bIns="0" rtlCol="0" anchor="t"/>
          <a:lstStyle/>
          <a:p>
            <a:pPr rtl="1" algn="r" indent="0" marL="0">
              <a:lnSpc>
                <a:spcPct val="110000"/>
              </a:lnSpc>
              <a:spcAft>
                <a:spcPts val="500"/>
              </a:spcAft>
              <a:buNone/>
            </a:pPr>
            <a:r>
              <a:rPr lang="ar-AE" altLang="en-US" sz="800" dirty="0">
                <a:solidFill>
                  <a:srgbClr val="2A3547"/>
                </a:solidFill>
                <a:latin typeface="IBM Plex Sans Arabic" pitchFamily="34" charset="0"/>
                <a:ea typeface="IBM Plex Sans Arabic" pitchFamily="34" charset="-122"/>
                <a:cs typeface="IBM Plex Sans Arabic" pitchFamily="34" charset="-120"/>
              </a:rPr>
              <a:t>توفير محولات شحن متخصصة للمساعدة في التوافق بين بعض معايير الشحن والمركبات، وفقاً للمواصفات الفنية لكل منتج.</a:t>
            </a:r>
            <a:endParaRPr lang="ar-AE" sz="800" dirty="0"/>
          </a:p>
        </p:txBody>
      </p:sp>
      <p:sp>
        <p:nvSpPr>
          <p:cNvPr id="23" name="EV Charger Installation"/>
          <p:cNvSpPr/>
          <p:nvPr/>
        </p:nvSpPr>
        <p:spPr>
          <a:xfrm>
            <a:off x="548640" y="2852928"/>
            <a:ext cx="3576218" cy="1874520"/>
          </a:xfrm>
          <a:prstGeom prst="rect">
            <a:avLst/>
          </a:prstGeom>
          <a:solidFill>
            <a:srgbClr val="F4F6F9"/>
          </a:solidFill>
          <a:ln w="9525">
            <a:solidFill>
              <a:srgbClr val="E3E8EF"/>
            </a:solidFill>
            <a:prstDash val="solid"/>
          </a:ln>
        </p:spPr>
      </p:sp>
      <p:sp>
        <p:nvSpPr>
          <p:cNvPr id="24" name="Text 22"/>
          <p:cNvSpPr txBox="1"/>
          <p:nvPr/>
        </p:nvSpPr>
        <p:spPr>
          <a:xfrm>
            <a:off x="731520" y="2980944"/>
            <a:ext cx="457200" cy="228600"/>
          </a:xfrm>
          <a:prstGeom prst="rect">
            <a:avLst/>
          </a:prstGeom>
          <a:noFill/>
          <a:ln/>
        </p:spPr>
        <p:txBody>
          <a:bodyPr wrap="square" lIns="0" tIns="0" rIns="0" bIns="0" rtlCol="0" anchor="t"/>
          <a:lstStyle/>
          <a:p>
            <a:pPr algn="l" indent="0" marL="0">
              <a:lnSpc>
                <a:spcPct val="110000"/>
              </a:lnSpc>
              <a:spcAft>
                <a:spcPts val="500"/>
              </a:spcAft>
              <a:buNone/>
            </a:pPr>
            <a:r>
              <a:rPr lang="en-US" altLang="en-US" sz="1000" b="1" dirty="0">
                <a:solidFill>
                  <a:srgbClr val="3E9ACA"/>
                </a:solidFill>
                <a:latin typeface="Sora" pitchFamily="34" charset="0"/>
                <a:ea typeface="Sora" pitchFamily="34" charset="-122"/>
                <a:cs typeface="Sora" pitchFamily="34" charset="-120"/>
              </a:rPr>
              <a:t>04</a:t>
            </a:r>
            <a:endParaRPr lang="en-US" sz="1000" dirty="0"/>
          </a:p>
        </p:txBody>
      </p:sp>
      <p:sp>
        <p:nvSpPr>
          <p:cNvPr id="25" name="Text 23"/>
          <p:cNvSpPr txBox="1"/>
          <p:nvPr/>
        </p:nvSpPr>
        <p:spPr>
          <a:xfrm>
            <a:off x="731520" y="3182112"/>
            <a:ext cx="3210458" cy="228600"/>
          </a:xfrm>
          <a:prstGeom prst="rect">
            <a:avLst/>
          </a:prstGeom>
          <a:noFill/>
          <a:ln/>
        </p:spPr>
        <p:txBody>
          <a:bodyPr wrap="square" lIns="0" tIns="0" rIns="0" bIns="0" rtlCol="0" anchor="t"/>
          <a:lstStyle/>
          <a:p>
            <a:pPr algn="l" indent="0" marL="0">
              <a:lnSpc>
                <a:spcPct val="110000"/>
              </a:lnSpc>
              <a:spcAft>
                <a:spcPts val="500"/>
              </a:spcAft>
              <a:buNone/>
            </a:pPr>
            <a:r>
              <a:rPr lang="en-US" altLang="en-US" sz="950" b="1" dirty="0">
                <a:solidFill>
                  <a:srgbClr val="0A1628"/>
                </a:solidFill>
                <a:latin typeface="Sora" pitchFamily="34" charset="0"/>
                <a:ea typeface="Sora" pitchFamily="34" charset="-122"/>
                <a:cs typeface="Sora" pitchFamily="34" charset="-120"/>
              </a:rPr>
              <a:t>EV Charger Installation</a:t>
            </a:r>
            <a:endParaRPr lang="en-US" sz="950" dirty="0"/>
          </a:p>
        </p:txBody>
      </p:sp>
      <p:sp>
        <p:nvSpPr>
          <p:cNvPr id="26" name="Text 24"/>
          <p:cNvSpPr txBox="1"/>
          <p:nvPr/>
        </p:nvSpPr>
        <p:spPr>
          <a:xfrm>
            <a:off x="731520" y="3401568"/>
            <a:ext cx="3210458" cy="246888"/>
          </a:xfrm>
          <a:prstGeom prst="rect">
            <a:avLst/>
          </a:prstGeom>
          <a:noFill/>
          <a:ln/>
        </p:spPr>
        <p:txBody>
          <a:bodyPr wrap="square" lIns="0" tIns="0" rIns="0" bIns="0" rtlCol="0" anchor="t"/>
          <a:lstStyle/>
          <a:p>
            <a:pPr rtl="1" algn="r" indent="0" marL="0">
              <a:lnSpc>
                <a:spcPct val="110000"/>
              </a:lnSpc>
              <a:spcAft>
                <a:spcPts val="500"/>
              </a:spcAft>
              <a:buNone/>
            </a:pPr>
            <a:r>
              <a:rPr lang="ar-AE" altLang="en-US" sz="1050" b="1" dirty="0">
                <a:solidFill>
                  <a:srgbClr val="0A1628"/>
                </a:solidFill>
                <a:latin typeface="IBM Plex Sans Arabic" pitchFamily="34" charset="0"/>
                <a:ea typeface="IBM Plex Sans Arabic" pitchFamily="34" charset="-122"/>
                <a:cs typeface="IBM Plex Sans Arabic" pitchFamily="34" charset="-120"/>
              </a:rPr>
              <a:t>تركيب شواحن السيارات الكهربائية</a:t>
            </a:r>
            <a:endParaRPr lang="ar-AE" sz="1050" dirty="0"/>
          </a:p>
        </p:txBody>
      </p:sp>
      <p:sp>
        <p:nvSpPr>
          <p:cNvPr id="27" name="Text 25"/>
          <p:cNvSpPr txBox="1"/>
          <p:nvPr/>
        </p:nvSpPr>
        <p:spPr>
          <a:xfrm>
            <a:off x="731520" y="3712464"/>
            <a:ext cx="3210458" cy="457200"/>
          </a:xfrm>
          <a:prstGeom prst="rect">
            <a:avLst/>
          </a:prstGeom>
          <a:noFill/>
          <a:ln/>
        </p:spPr>
        <p:txBody>
          <a:bodyPr wrap="square" lIns="0" tIns="0" rIns="0" bIns="0" rtlCol="0" anchor="t"/>
          <a:lstStyle/>
          <a:p>
            <a:pPr algn="l" indent="0" marL="0">
              <a:lnSpc>
                <a:spcPct val="110000"/>
              </a:lnSpc>
              <a:spcAft>
                <a:spcPts val="500"/>
              </a:spcAft>
              <a:buNone/>
            </a:pPr>
            <a:r>
              <a:rPr lang="en-US" altLang="en-US" sz="740" dirty="0">
                <a:solidFill>
                  <a:srgbClr val="2A3547"/>
                </a:solidFill>
                <a:latin typeface="Inter" pitchFamily="34" charset="0"/>
                <a:ea typeface="Inter" pitchFamily="34" charset="-122"/>
                <a:cs typeface="Inter" pitchFamily="34" charset="-120"/>
              </a:rPr>
              <a:t>Professional EV charger installation by an in-house technical team, taking into account site requirements, technical specifications, and safety considerations.</a:t>
            </a:r>
            <a:endParaRPr lang="en-US" sz="740" dirty="0"/>
          </a:p>
        </p:txBody>
      </p:sp>
      <p:sp>
        <p:nvSpPr>
          <p:cNvPr id="28" name="Text 26"/>
          <p:cNvSpPr txBox="1"/>
          <p:nvPr/>
        </p:nvSpPr>
        <p:spPr>
          <a:xfrm>
            <a:off x="731520" y="4114800"/>
            <a:ext cx="3210458" cy="594360"/>
          </a:xfrm>
          <a:prstGeom prst="rect">
            <a:avLst/>
          </a:prstGeom>
          <a:noFill/>
          <a:ln/>
        </p:spPr>
        <p:txBody>
          <a:bodyPr wrap="square" lIns="0" tIns="0" rIns="0" bIns="0" rtlCol="0" anchor="t"/>
          <a:lstStyle/>
          <a:p>
            <a:pPr rtl="1" algn="r" indent="0" marL="0">
              <a:lnSpc>
                <a:spcPct val="110000"/>
              </a:lnSpc>
              <a:spcAft>
                <a:spcPts val="500"/>
              </a:spcAft>
              <a:buNone/>
            </a:pPr>
            <a:r>
              <a:rPr lang="ar-AE" altLang="en-US" sz="800" dirty="0">
                <a:solidFill>
                  <a:srgbClr val="2A3547"/>
                </a:solidFill>
                <a:latin typeface="IBM Plex Sans Arabic" pitchFamily="34" charset="0"/>
                <a:ea typeface="IBM Plex Sans Arabic" pitchFamily="34" charset="-122"/>
                <a:cs typeface="IBM Plex Sans Arabic" pitchFamily="34" charset="-120"/>
              </a:rPr>
              <a:t>خدمات تركيب شواحن السيارات الكهربائية بواسطة فريق فني تابع للشركة، مع مراعاة متطلبات الموقع والمواصفات الفنية والسلامة.</a:t>
            </a:r>
            <a:endParaRPr lang="ar-AE" sz="800" dirty="0"/>
          </a:p>
        </p:txBody>
      </p:sp>
      <p:sp>
        <p:nvSpPr>
          <p:cNvPr id="29" name="Accessory Sales &amp; Installation"/>
          <p:cNvSpPr/>
          <p:nvPr/>
        </p:nvSpPr>
        <p:spPr>
          <a:xfrm>
            <a:off x="4307738" y="2852928"/>
            <a:ext cx="3576218" cy="1874520"/>
          </a:xfrm>
          <a:prstGeom prst="rect">
            <a:avLst/>
          </a:prstGeom>
          <a:solidFill>
            <a:srgbClr val="F4F6F9"/>
          </a:solidFill>
          <a:ln w="9525">
            <a:solidFill>
              <a:srgbClr val="E3E8EF"/>
            </a:solidFill>
            <a:prstDash val="solid"/>
          </a:ln>
        </p:spPr>
      </p:sp>
      <p:sp>
        <p:nvSpPr>
          <p:cNvPr id="30" name="Text 28"/>
          <p:cNvSpPr txBox="1"/>
          <p:nvPr/>
        </p:nvSpPr>
        <p:spPr>
          <a:xfrm>
            <a:off x="4490618" y="2980944"/>
            <a:ext cx="457200" cy="228600"/>
          </a:xfrm>
          <a:prstGeom prst="rect">
            <a:avLst/>
          </a:prstGeom>
          <a:noFill/>
          <a:ln/>
        </p:spPr>
        <p:txBody>
          <a:bodyPr wrap="square" lIns="0" tIns="0" rIns="0" bIns="0" rtlCol="0" anchor="t"/>
          <a:lstStyle/>
          <a:p>
            <a:pPr algn="l" indent="0" marL="0">
              <a:lnSpc>
                <a:spcPct val="110000"/>
              </a:lnSpc>
              <a:spcAft>
                <a:spcPts val="500"/>
              </a:spcAft>
              <a:buNone/>
            </a:pPr>
            <a:r>
              <a:rPr lang="en-US" altLang="en-US" sz="1000" b="1" dirty="0">
                <a:solidFill>
                  <a:srgbClr val="3E9ACA"/>
                </a:solidFill>
                <a:latin typeface="Sora" pitchFamily="34" charset="0"/>
                <a:ea typeface="Sora" pitchFamily="34" charset="-122"/>
                <a:cs typeface="Sora" pitchFamily="34" charset="-120"/>
              </a:rPr>
              <a:t>05</a:t>
            </a:r>
            <a:endParaRPr lang="en-US" sz="1000" dirty="0"/>
          </a:p>
        </p:txBody>
      </p:sp>
      <p:sp>
        <p:nvSpPr>
          <p:cNvPr id="31" name="Text 29"/>
          <p:cNvSpPr txBox="1"/>
          <p:nvPr/>
        </p:nvSpPr>
        <p:spPr>
          <a:xfrm>
            <a:off x="4490618" y="3182112"/>
            <a:ext cx="3210458" cy="228600"/>
          </a:xfrm>
          <a:prstGeom prst="rect">
            <a:avLst/>
          </a:prstGeom>
          <a:noFill/>
          <a:ln/>
        </p:spPr>
        <p:txBody>
          <a:bodyPr wrap="square" lIns="0" tIns="0" rIns="0" bIns="0" rtlCol="0" anchor="t"/>
          <a:lstStyle/>
          <a:p>
            <a:pPr algn="l" indent="0" marL="0">
              <a:lnSpc>
                <a:spcPct val="110000"/>
              </a:lnSpc>
              <a:spcAft>
                <a:spcPts val="500"/>
              </a:spcAft>
              <a:buNone/>
            </a:pPr>
            <a:r>
              <a:rPr lang="en-US" altLang="en-US" sz="950" b="1" dirty="0">
                <a:solidFill>
                  <a:srgbClr val="0A1628"/>
                </a:solidFill>
                <a:latin typeface="Sora" pitchFamily="34" charset="0"/>
                <a:ea typeface="Sora" pitchFamily="34" charset="-122"/>
                <a:cs typeface="Sora" pitchFamily="34" charset="-120"/>
              </a:rPr>
              <a:t>Accessory Sales &amp; Installation</a:t>
            </a:r>
            <a:endParaRPr lang="en-US" sz="950" dirty="0"/>
          </a:p>
        </p:txBody>
      </p:sp>
      <p:sp>
        <p:nvSpPr>
          <p:cNvPr id="32" name="Text 30"/>
          <p:cNvSpPr txBox="1"/>
          <p:nvPr/>
        </p:nvSpPr>
        <p:spPr>
          <a:xfrm>
            <a:off x="4490618" y="3401568"/>
            <a:ext cx="3210458" cy="246888"/>
          </a:xfrm>
          <a:prstGeom prst="rect">
            <a:avLst/>
          </a:prstGeom>
          <a:noFill/>
          <a:ln/>
        </p:spPr>
        <p:txBody>
          <a:bodyPr wrap="square" lIns="0" tIns="0" rIns="0" bIns="0" rtlCol="0" anchor="t"/>
          <a:lstStyle/>
          <a:p>
            <a:pPr rtl="1" algn="r" indent="0" marL="0">
              <a:lnSpc>
                <a:spcPct val="110000"/>
              </a:lnSpc>
              <a:spcAft>
                <a:spcPts val="500"/>
              </a:spcAft>
              <a:buNone/>
            </a:pPr>
            <a:r>
              <a:rPr lang="ar-AE" altLang="en-US" sz="1050" b="1" dirty="0">
                <a:solidFill>
                  <a:srgbClr val="0A1628"/>
                </a:solidFill>
                <a:latin typeface="IBM Plex Sans Arabic" pitchFamily="34" charset="0"/>
                <a:ea typeface="IBM Plex Sans Arabic" pitchFamily="34" charset="-122"/>
                <a:cs typeface="IBM Plex Sans Arabic" pitchFamily="34" charset="-120"/>
              </a:rPr>
              <a:t>بيع وتركيب الإكسسوارات</a:t>
            </a:r>
            <a:endParaRPr lang="ar-AE" sz="1050" dirty="0"/>
          </a:p>
        </p:txBody>
      </p:sp>
      <p:sp>
        <p:nvSpPr>
          <p:cNvPr id="33" name="Text 31"/>
          <p:cNvSpPr txBox="1"/>
          <p:nvPr/>
        </p:nvSpPr>
        <p:spPr>
          <a:xfrm>
            <a:off x="4490618" y="3712464"/>
            <a:ext cx="3210458" cy="457200"/>
          </a:xfrm>
          <a:prstGeom prst="rect">
            <a:avLst/>
          </a:prstGeom>
          <a:noFill/>
          <a:ln/>
        </p:spPr>
        <p:txBody>
          <a:bodyPr wrap="square" lIns="0" tIns="0" rIns="0" bIns="0" rtlCol="0" anchor="t"/>
          <a:lstStyle/>
          <a:p>
            <a:pPr algn="l" indent="0" marL="0">
              <a:lnSpc>
                <a:spcPct val="110000"/>
              </a:lnSpc>
              <a:spcAft>
                <a:spcPts val="500"/>
              </a:spcAft>
              <a:buNone/>
            </a:pPr>
            <a:r>
              <a:rPr lang="en-US" altLang="en-US" sz="740" dirty="0">
                <a:solidFill>
                  <a:srgbClr val="2A3547"/>
                </a:solidFill>
                <a:latin typeface="Inter" pitchFamily="34" charset="0"/>
                <a:ea typeface="Inter" pitchFamily="34" charset="-122"/>
                <a:cs typeface="Inter" pitchFamily="34" charset="-120"/>
              </a:rPr>
              <a:t>Complimentary in-branch installation for eligible accessories purchased from EVCARS across its UAE and Oman branches.</a:t>
            </a:r>
            <a:endParaRPr lang="en-US" sz="740" dirty="0"/>
          </a:p>
        </p:txBody>
      </p:sp>
      <p:sp>
        <p:nvSpPr>
          <p:cNvPr id="34" name="Text 32"/>
          <p:cNvSpPr txBox="1"/>
          <p:nvPr/>
        </p:nvSpPr>
        <p:spPr>
          <a:xfrm>
            <a:off x="4490618" y="4114800"/>
            <a:ext cx="3210458" cy="594360"/>
          </a:xfrm>
          <a:prstGeom prst="rect">
            <a:avLst/>
          </a:prstGeom>
          <a:noFill/>
          <a:ln/>
        </p:spPr>
        <p:txBody>
          <a:bodyPr wrap="square" lIns="0" tIns="0" rIns="0" bIns="0" rtlCol="0" anchor="t"/>
          <a:lstStyle/>
          <a:p>
            <a:pPr rtl="1" algn="r" indent="0" marL="0">
              <a:lnSpc>
                <a:spcPct val="110000"/>
              </a:lnSpc>
              <a:spcAft>
                <a:spcPts val="500"/>
              </a:spcAft>
              <a:buNone/>
            </a:pPr>
            <a:r>
              <a:rPr lang="ar-AE" altLang="en-US" sz="800" dirty="0">
                <a:solidFill>
                  <a:srgbClr val="2A3547"/>
                </a:solidFill>
                <a:latin typeface="IBM Plex Sans Arabic" pitchFamily="34" charset="0"/>
                <a:ea typeface="IBM Plex Sans Arabic" pitchFamily="34" charset="-122"/>
                <a:cs typeface="IBM Plex Sans Arabic" pitchFamily="34" charset="-120"/>
              </a:rPr>
              <a:t>توفير خدمة تركيب مجانية للإكسسوارات المؤهلة التي يتم شراؤها من EVCARS داخل فروع الشركة في الإمارات وسلطنة عُمان.</a:t>
            </a:r>
            <a:endParaRPr lang="ar-AE" sz="800" dirty="0"/>
          </a:p>
        </p:txBody>
      </p:sp>
      <p:sp>
        <p:nvSpPr>
          <p:cNvPr id="35" name="Tesla Air-Conditioning Care"/>
          <p:cNvSpPr/>
          <p:nvPr/>
        </p:nvSpPr>
        <p:spPr>
          <a:xfrm>
            <a:off x="8066837" y="2852928"/>
            <a:ext cx="3576218" cy="1874520"/>
          </a:xfrm>
          <a:prstGeom prst="rect">
            <a:avLst/>
          </a:prstGeom>
          <a:solidFill>
            <a:srgbClr val="F4F6F9"/>
          </a:solidFill>
          <a:ln w="9525">
            <a:solidFill>
              <a:srgbClr val="E3E8EF"/>
            </a:solidFill>
            <a:prstDash val="solid"/>
          </a:ln>
        </p:spPr>
      </p:sp>
      <p:sp>
        <p:nvSpPr>
          <p:cNvPr id="36" name="Text 34"/>
          <p:cNvSpPr txBox="1"/>
          <p:nvPr/>
        </p:nvSpPr>
        <p:spPr>
          <a:xfrm>
            <a:off x="8249717" y="2980944"/>
            <a:ext cx="457200" cy="228600"/>
          </a:xfrm>
          <a:prstGeom prst="rect">
            <a:avLst/>
          </a:prstGeom>
          <a:noFill/>
          <a:ln/>
        </p:spPr>
        <p:txBody>
          <a:bodyPr wrap="square" lIns="0" tIns="0" rIns="0" bIns="0" rtlCol="0" anchor="t"/>
          <a:lstStyle/>
          <a:p>
            <a:pPr algn="l" indent="0" marL="0">
              <a:lnSpc>
                <a:spcPct val="110000"/>
              </a:lnSpc>
              <a:spcAft>
                <a:spcPts val="500"/>
              </a:spcAft>
              <a:buNone/>
            </a:pPr>
            <a:r>
              <a:rPr lang="en-US" altLang="en-US" sz="1000" b="1" dirty="0">
                <a:solidFill>
                  <a:srgbClr val="3E9ACA"/>
                </a:solidFill>
                <a:latin typeface="Sora" pitchFamily="34" charset="0"/>
                <a:ea typeface="Sora" pitchFamily="34" charset="-122"/>
                <a:cs typeface="Sora" pitchFamily="34" charset="-120"/>
              </a:rPr>
              <a:t>06</a:t>
            </a:r>
            <a:endParaRPr lang="en-US" sz="1000" dirty="0"/>
          </a:p>
        </p:txBody>
      </p:sp>
      <p:sp>
        <p:nvSpPr>
          <p:cNvPr id="37" name="Text 35"/>
          <p:cNvSpPr txBox="1"/>
          <p:nvPr/>
        </p:nvSpPr>
        <p:spPr>
          <a:xfrm>
            <a:off x="8249717" y="3182112"/>
            <a:ext cx="3210458" cy="228600"/>
          </a:xfrm>
          <a:prstGeom prst="rect">
            <a:avLst/>
          </a:prstGeom>
          <a:noFill/>
          <a:ln/>
        </p:spPr>
        <p:txBody>
          <a:bodyPr wrap="square" lIns="0" tIns="0" rIns="0" bIns="0" rtlCol="0" anchor="t"/>
          <a:lstStyle/>
          <a:p>
            <a:pPr algn="l" indent="0" marL="0">
              <a:lnSpc>
                <a:spcPct val="110000"/>
              </a:lnSpc>
              <a:spcAft>
                <a:spcPts val="500"/>
              </a:spcAft>
              <a:buNone/>
            </a:pPr>
            <a:r>
              <a:rPr lang="en-US" altLang="en-US" sz="950" b="1" dirty="0">
                <a:solidFill>
                  <a:srgbClr val="0A1628"/>
                </a:solidFill>
                <a:latin typeface="Sora" pitchFamily="34" charset="0"/>
                <a:ea typeface="Sora" pitchFamily="34" charset="-122"/>
                <a:cs typeface="Sora" pitchFamily="34" charset="-120"/>
              </a:rPr>
              <a:t>Tesla Air-Conditioning Care</a:t>
            </a:r>
            <a:endParaRPr lang="en-US" sz="950" dirty="0"/>
          </a:p>
        </p:txBody>
      </p:sp>
      <p:sp>
        <p:nvSpPr>
          <p:cNvPr id="38" name="Text 36"/>
          <p:cNvSpPr txBox="1"/>
          <p:nvPr/>
        </p:nvSpPr>
        <p:spPr>
          <a:xfrm>
            <a:off x="8249717" y="3401568"/>
            <a:ext cx="3210458" cy="246888"/>
          </a:xfrm>
          <a:prstGeom prst="rect">
            <a:avLst/>
          </a:prstGeom>
          <a:noFill/>
          <a:ln/>
        </p:spPr>
        <p:txBody>
          <a:bodyPr wrap="square" lIns="0" tIns="0" rIns="0" bIns="0" rtlCol="0" anchor="t"/>
          <a:lstStyle/>
          <a:p>
            <a:pPr rtl="1" algn="r" indent="0" marL="0">
              <a:lnSpc>
                <a:spcPct val="110000"/>
              </a:lnSpc>
              <a:spcAft>
                <a:spcPts val="500"/>
              </a:spcAft>
              <a:buNone/>
            </a:pPr>
            <a:r>
              <a:rPr lang="ar-AE" altLang="en-US" sz="1050" b="1" dirty="0">
                <a:solidFill>
                  <a:srgbClr val="0A1628"/>
                </a:solidFill>
                <a:latin typeface="IBM Plex Sans Arabic" pitchFamily="34" charset="0"/>
                <a:ea typeface="IBM Plex Sans Arabic" pitchFamily="34" charset="-122"/>
                <a:cs typeface="IBM Plex Sans Arabic" pitchFamily="34" charset="-120"/>
              </a:rPr>
              <a:t>خدمات تكييف سيارات تسلا</a:t>
            </a:r>
            <a:endParaRPr lang="ar-AE" sz="1050" dirty="0"/>
          </a:p>
        </p:txBody>
      </p:sp>
      <p:sp>
        <p:nvSpPr>
          <p:cNvPr id="39" name="Text 37"/>
          <p:cNvSpPr txBox="1"/>
          <p:nvPr/>
        </p:nvSpPr>
        <p:spPr>
          <a:xfrm>
            <a:off x="8249717" y="3712464"/>
            <a:ext cx="3210458" cy="457200"/>
          </a:xfrm>
          <a:prstGeom prst="rect">
            <a:avLst/>
          </a:prstGeom>
          <a:noFill/>
          <a:ln/>
        </p:spPr>
        <p:txBody>
          <a:bodyPr wrap="square" lIns="0" tIns="0" rIns="0" bIns="0" rtlCol="0" anchor="t"/>
          <a:lstStyle/>
          <a:p>
            <a:pPr algn="l" indent="0" marL="0">
              <a:lnSpc>
                <a:spcPct val="110000"/>
              </a:lnSpc>
              <a:spcAft>
                <a:spcPts val="500"/>
              </a:spcAft>
              <a:buNone/>
            </a:pPr>
            <a:r>
              <a:rPr lang="en-US" altLang="en-US" sz="740" dirty="0">
                <a:solidFill>
                  <a:srgbClr val="2A3547"/>
                </a:solidFill>
                <a:latin typeface="Inter" pitchFamily="34" charset="0"/>
                <a:ea typeface="Inter" pitchFamily="34" charset="-122"/>
                <a:cs typeface="Inter" pitchFamily="34" charset="-120"/>
              </a:rPr>
              <a:t>Specialized quick air-conditioning care for Tesla vehicles, including filter replacement, AC system cleaning, and cooling performance checks. Available at: Dubai, Sharjah, Al Ain.</a:t>
            </a:r>
            <a:endParaRPr lang="en-US" sz="740" dirty="0"/>
          </a:p>
        </p:txBody>
      </p:sp>
      <p:sp>
        <p:nvSpPr>
          <p:cNvPr id="40" name="Text 38"/>
          <p:cNvSpPr txBox="1"/>
          <p:nvPr/>
        </p:nvSpPr>
        <p:spPr>
          <a:xfrm>
            <a:off x="8249717" y="4114800"/>
            <a:ext cx="3210458" cy="594360"/>
          </a:xfrm>
          <a:prstGeom prst="rect">
            <a:avLst/>
          </a:prstGeom>
          <a:noFill/>
          <a:ln/>
        </p:spPr>
        <p:txBody>
          <a:bodyPr wrap="square" lIns="0" tIns="0" rIns="0" bIns="0" rtlCol="0" anchor="t"/>
          <a:lstStyle/>
          <a:p>
            <a:pPr rtl="1" algn="r" indent="0" marL="0">
              <a:lnSpc>
                <a:spcPct val="110000"/>
              </a:lnSpc>
              <a:spcAft>
                <a:spcPts val="500"/>
              </a:spcAft>
              <a:buNone/>
            </a:pPr>
            <a:r>
              <a:rPr lang="ar-AE" altLang="en-US" sz="800" dirty="0">
                <a:solidFill>
                  <a:srgbClr val="2A3547"/>
                </a:solidFill>
                <a:latin typeface="IBM Plex Sans Arabic" pitchFamily="34" charset="0"/>
                <a:ea typeface="IBM Plex Sans Arabic" pitchFamily="34" charset="-122"/>
                <a:cs typeface="IBM Plex Sans Arabic" pitchFamily="34" charset="-120"/>
              </a:rPr>
              <a:t>خدمات صيانة سريعة ومحددة لأنظمة تكييف سيارات تسلا، تشمل تبديل الفلاتر، وتنظيف أجزاء نظام التكييف، وفحص أداء التبريد. الفروع المتوفرة فيها الخدمة: دبي، الشارقة، العين.</a:t>
            </a:r>
            <a:endParaRPr lang="ar-AE" sz="800" dirty="0"/>
          </a:p>
        </p:txBody>
      </p:sp>
      <p:sp>
        <p:nvSpPr>
          <p:cNvPr id="41" name="Text 39"/>
          <p:cNvSpPr txBox="1"/>
          <p:nvPr/>
        </p:nvSpPr>
        <p:spPr>
          <a:xfrm>
            <a:off x="548640" y="4846320"/>
            <a:ext cx="5547208" cy="274320"/>
          </a:xfrm>
          <a:prstGeom prst="rect">
            <a:avLst/>
          </a:prstGeom>
          <a:noFill/>
          <a:ln/>
        </p:spPr>
        <p:txBody>
          <a:bodyPr wrap="square" lIns="0" tIns="0" rIns="0" bIns="0" rtlCol="0" anchor="t"/>
          <a:lstStyle/>
          <a:p>
            <a:pPr algn="l" indent="0" marL="0">
              <a:lnSpc>
                <a:spcPct val="110000"/>
              </a:lnSpc>
              <a:spcAft>
                <a:spcPts val="500"/>
              </a:spcAft>
              <a:buNone/>
            </a:pPr>
            <a:r>
              <a:rPr lang="en-US" altLang="en-US" sz="1000" b="1" dirty="0">
                <a:solidFill>
                  <a:srgbClr val="3E9ACA"/>
                </a:solidFill>
                <a:latin typeface="Sora" pitchFamily="34" charset="0"/>
                <a:ea typeface="Sora" pitchFamily="34" charset="-122"/>
                <a:cs typeface="Sora" pitchFamily="34" charset="-120"/>
              </a:rPr>
              <a:t>06</a:t>
            </a:r>
            <a:pPr algn="l" indent="0" marL="0">
              <a:lnSpc>
                <a:spcPct val="110000"/>
              </a:lnSpc>
              <a:spcAft>
                <a:spcPts val="500"/>
              </a:spcAft>
              <a:buNone/>
            </a:pPr>
            <a:r>
              <a:rPr lang="en-US" altLang="en-US" sz="1000" b="1" spc="200" kern="0" dirty="0">
                <a:solidFill>
                  <a:srgbClr val="0A1628"/>
                </a:solidFill>
                <a:latin typeface="Sora" pitchFamily="34" charset="0"/>
                <a:ea typeface="Sora" pitchFamily="34" charset="-122"/>
                <a:cs typeface="Sora" pitchFamily="34" charset="-120"/>
              </a:rPr>
              <a:t>  |  EV ACCESSORIES</a:t>
            </a:r>
            <a:endParaRPr lang="en-US" sz="1000" dirty="0"/>
          </a:p>
        </p:txBody>
      </p:sp>
      <p:sp>
        <p:nvSpPr>
          <p:cNvPr id="42" name="Text 40"/>
          <p:cNvSpPr txBox="1"/>
          <p:nvPr/>
        </p:nvSpPr>
        <p:spPr>
          <a:xfrm>
            <a:off x="6095848" y="4828032"/>
            <a:ext cx="5547208" cy="274320"/>
          </a:xfrm>
          <a:prstGeom prst="rect">
            <a:avLst/>
          </a:prstGeom>
          <a:noFill/>
          <a:ln/>
        </p:spPr>
        <p:txBody>
          <a:bodyPr wrap="square" lIns="0" tIns="0" rIns="0" bIns="0" rtlCol="0" anchor="t"/>
          <a:lstStyle/>
          <a:p>
            <a:pPr rtl="1" algn="r" indent="0" marL="0">
              <a:lnSpc>
                <a:spcPct val="110000"/>
              </a:lnSpc>
              <a:spcAft>
                <a:spcPts val="500"/>
              </a:spcAft>
              <a:buNone/>
            </a:pPr>
            <a:r>
              <a:rPr lang="ar-AE" altLang="en-US" sz="1200" b="1" dirty="0">
                <a:solidFill>
                  <a:srgbClr val="3E9ACA"/>
                </a:solidFill>
                <a:latin typeface="IBM Plex Sans Arabic" pitchFamily="34" charset="0"/>
                <a:ea typeface="IBM Plex Sans Arabic" pitchFamily="34" charset="-122"/>
                <a:cs typeface="IBM Plex Sans Arabic" pitchFamily="34" charset="-120"/>
              </a:rPr>
              <a:t>06</a:t>
            </a:r>
            <a:pPr algn="r" indent="0" marL="0">
              <a:lnSpc>
                <a:spcPct val="110000"/>
              </a:lnSpc>
              <a:spcAft>
                <a:spcPts val="500"/>
              </a:spcAft>
              <a:buNone/>
            </a:pPr>
            <a:r>
              <a:rPr lang="ar-AE" altLang="en-US" sz="1200" b="1" dirty="0">
                <a:solidFill>
                  <a:srgbClr val="0A1628"/>
                </a:solidFill>
                <a:latin typeface="IBM Plex Sans Arabic" pitchFamily="34" charset="0"/>
                <a:ea typeface="IBM Plex Sans Arabic" pitchFamily="34" charset="-122"/>
                <a:cs typeface="IBM Plex Sans Arabic" pitchFamily="34" charset="-120"/>
              </a:rPr>
              <a:t>  |  إكسسوارات السيارات الكهربائية</a:t>
            </a:r>
            <a:endParaRPr lang="ar-AE" sz="1200" dirty="0"/>
          </a:p>
        </p:txBody>
      </p:sp>
      <p:sp>
        <p:nvSpPr>
          <p:cNvPr id="43" name="Shape 41"/>
          <p:cNvSpPr/>
          <p:nvPr/>
        </p:nvSpPr>
        <p:spPr>
          <a:xfrm>
            <a:off x="548640" y="5157216"/>
            <a:ext cx="11094415" cy="0"/>
          </a:xfrm>
          <a:prstGeom prst="line">
            <a:avLst/>
          </a:prstGeom>
          <a:noFill/>
          <a:ln w="9525">
            <a:solidFill>
              <a:srgbClr val="E3E8EF"/>
            </a:solidFill>
            <a:prstDash val="solid"/>
          </a:ln>
        </p:spPr>
      </p:sp>
      <p:sp>
        <p:nvSpPr>
          <p:cNvPr id="44" name="Text 42"/>
          <p:cNvSpPr txBox="1"/>
          <p:nvPr/>
        </p:nvSpPr>
        <p:spPr>
          <a:xfrm>
            <a:off x="548640" y="5230368"/>
            <a:ext cx="5349240" cy="182880"/>
          </a:xfrm>
          <a:prstGeom prst="rect">
            <a:avLst/>
          </a:prstGeom>
          <a:noFill/>
          <a:ln/>
        </p:spPr>
        <p:txBody>
          <a:bodyPr wrap="square" lIns="0" tIns="0" rIns="0" bIns="0" rtlCol="0" anchor="t"/>
          <a:lstStyle/>
          <a:p>
            <a:pPr algn="l" indent="0" marL="0">
              <a:lnSpc>
                <a:spcPct val="110000"/>
              </a:lnSpc>
              <a:spcAft>
                <a:spcPts val="500"/>
              </a:spcAft>
              <a:buNone/>
            </a:pPr>
            <a:r>
              <a:rPr lang="en-US" altLang="en-US" sz="750" dirty="0">
                <a:solidFill>
                  <a:srgbClr val="5B6677"/>
                </a:solidFill>
                <a:latin typeface="Inter" pitchFamily="34" charset="0"/>
                <a:ea typeface="Inter" pitchFamily="34" charset="-122"/>
                <a:cs typeface="Inter" pitchFamily="34" charset="-120"/>
              </a:rPr>
              <a:t>EVCARS offers specialized accessories across multiple product categories for electric vehicle owners.</a:t>
            </a:r>
            <a:endParaRPr lang="en-US" sz="750" dirty="0"/>
          </a:p>
        </p:txBody>
      </p:sp>
      <p:sp>
        <p:nvSpPr>
          <p:cNvPr id="45" name="Text 43"/>
          <p:cNvSpPr txBox="1"/>
          <p:nvPr/>
        </p:nvSpPr>
        <p:spPr>
          <a:xfrm>
            <a:off x="6293815" y="5212080"/>
            <a:ext cx="5349240" cy="182880"/>
          </a:xfrm>
          <a:prstGeom prst="rect">
            <a:avLst/>
          </a:prstGeom>
          <a:noFill/>
          <a:ln/>
        </p:spPr>
        <p:txBody>
          <a:bodyPr wrap="square" lIns="0" tIns="0" rIns="0" bIns="0" rtlCol="0" anchor="t"/>
          <a:lstStyle/>
          <a:p>
            <a:pPr rtl="1" algn="r" indent="0" marL="0">
              <a:lnSpc>
                <a:spcPct val="110000"/>
              </a:lnSpc>
              <a:spcAft>
                <a:spcPts val="500"/>
              </a:spcAft>
              <a:buNone/>
            </a:pPr>
            <a:r>
              <a:rPr lang="ar-AE" altLang="en-US" sz="800" dirty="0">
                <a:solidFill>
                  <a:srgbClr val="5B6677"/>
                </a:solidFill>
                <a:latin typeface="IBM Plex Sans Arabic" pitchFamily="34" charset="0"/>
                <a:ea typeface="IBM Plex Sans Arabic" pitchFamily="34" charset="-122"/>
                <a:cs typeface="IBM Plex Sans Arabic" pitchFamily="34" charset="-120"/>
              </a:rPr>
              <a:t>توفر EVCARS منتجات متخصصة لملاك السيارات الكهربائية، تشمل فئات متعددة من الإكسسوارات.</a:t>
            </a:r>
            <a:endParaRPr lang="ar-AE" sz="800" dirty="0"/>
          </a:p>
        </p:txBody>
      </p:sp>
      <p:sp>
        <p:nvSpPr>
          <p:cNvPr id="46" name="Shape 44"/>
          <p:cNvSpPr/>
          <p:nvPr/>
        </p:nvSpPr>
        <p:spPr>
          <a:xfrm>
            <a:off x="548640" y="5468112"/>
            <a:ext cx="2691308" cy="329184"/>
          </a:xfrm>
          <a:prstGeom prst="rect">
            <a:avLst/>
          </a:prstGeom>
          <a:solidFill>
            <a:srgbClr val="FFFFFF"/>
          </a:solidFill>
          <a:ln w="9525">
            <a:solidFill>
              <a:srgbClr val="E3E8EF"/>
            </a:solidFill>
            <a:prstDash val="solid"/>
          </a:ln>
        </p:spPr>
      </p:sp>
      <p:sp>
        <p:nvSpPr>
          <p:cNvPr id="47" name="Text 45"/>
          <p:cNvSpPr txBox="1"/>
          <p:nvPr/>
        </p:nvSpPr>
        <p:spPr>
          <a:xfrm>
            <a:off x="640080" y="5495544"/>
            <a:ext cx="2508428" cy="137160"/>
          </a:xfrm>
          <a:prstGeom prst="rect">
            <a:avLst/>
          </a:prstGeom>
          <a:noFill/>
          <a:ln/>
        </p:spPr>
        <p:txBody>
          <a:bodyPr wrap="square" lIns="0" tIns="0" rIns="0" bIns="0" rtlCol="0" anchor="t"/>
          <a:lstStyle/>
          <a:p>
            <a:pPr algn="l" indent="0" marL="0">
              <a:lnSpc>
                <a:spcPct val="110000"/>
              </a:lnSpc>
              <a:spcAft>
                <a:spcPts val="500"/>
              </a:spcAft>
              <a:buNone/>
            </a:pPr>
            <a:r>
              <a:rPr lang="en-US" altLang="en-US" sz="680" b="1" dirty="0">
                <a:solidFill>
                  <a:srgbClr val="0A1628"/>
                </a:solidFill>
                <a:latin typeface="Inter" pitchFamily="34" charset="0"/>
                <a:ea typeface="Inter" pitchFamily="34" charset="-122"/>
                <a:cs typeface="Inter" pitchFamily="34" charset="-120"/>
              </a:rPr>
              <a:t>Interior Accessories</a:t>
            </a:r>
            <a:endParaRPr lang="en-US" sz="680" dirty="0"/>
          </a:p>
        </p:txBody>
      </p:sp>
      <p:sp>
        <p:nvSpPr>
          <p:cNvPr id="48" name="Text 46"/>
          <p:cNvSpPr txBox="1"/>
          <p:nvPr/>
        </p:nvSpPr>
        <p:spPr>
          <a:xfrm>
            <a:off x="640080" y="5623560"/>
            <a:ext cx="2508428" cy="137160"/>
          </a:xfrm>
          <a:prstGeom prst="rect">
            <a:avLst/>
          </a:prstGeom>
          <a:noFill/>
          <a:ln/>
        </p:spPr>
        <p:txBody>
          <a:bodyPr wrap="square" lIns="0" tIns="0" rIns="0" bIns="0" rtlCol="0" anchor="t"/>
          <a:lstStyle/>
          <a:p>
            <a:pPr rtl="1" algn="r" indent="0" marL="0">
              <a:lnSpc>
                <a:spcPct val="110000"/>
              </a:lnSpc>
              <a:spcAft>
                <a:spcPts val="500"/>
              </a:spcAft>
              <a:buNone/>
            </a:pPr>
            <a:r>
              <a:rPr lang="ar-AE" altLang="en-US" sz="700" dirty="0">
                <a:solidFill>
                  <a:srgbClr val="5B6677"/>
                </a:solidFill>
                <a:latin typeface="IBM Plex Sans Arabic" pitchFamily="34" charset="0"/>
                <a:ea typeface="IBM Plex Sans Arabic" pitchFamily="34" charset="-122"/>
                <a:cs typeface="IBM Plex Sans Arabic" pitchFamily="34" charset="-120"/>
              </a:rPr>
              <a:t>الإكسسوارات الداخلية</a:t>
            </a:r>
            <a:endParaRPr lang="ar-AE" sz="700" dirty="0"/>
          </a:p>
        </p:txBody>
      </p:sp>
      <p:sp>
        <p:nvSpPr>
          <p:cNvPr id="49" name="Shape 47"/>
          <p:cNvSpPr/>
          <p:nvPr/>
        </p:nvSpPr>
        <p:spPr>
          <a:xfrm>
            <a:off x="3349676" y="5468112"/>
            <a:ext cx="2691308" cy="329184"/>
          </a:xfrm>
          <a:prstGeom prst="rect">
            <a:avLst/>
          </a:prstGeom>
          <a:solidFill>
            <a:srgbClr val="FFFFFF"/>
          </a:solidFill>
          <a:ln w="9525">
            <a:solidFill>
              <a:srgbClr val="E3E8EF"/>
            </a:solidFill>
            <a:prstDash val="solid"/>
          </a:ln>
        </p:spPr>
      </p:sp>
      <p:sp>
        <p:nvSpPr>
          <p:cNvPr id="50" name="Text 48"/>
          <p:cNvSpPr txBox="1"/>
          <p:nvPr/>
        </p:nvSpPr>
        <p:spPr>
          <a:xfrm>
            <a:off x="3441116" y="5495544"/>
            <a:ext cx="2508428" cy="137160"/>
          </a:xfrm>
          <a:prstGeom prst="rect">
            <a:avLst/>
          </a:prstGeom>
          <a:noFill/>
          <a:ln/>
        </p:spPr>
        <p:txBody>
          <a:bodyPr wrap="square" lIns="0" tIns="0" rIns="0" bIns="0" rtlCol="0" anchor="t"/>
          <a:lstStyle/>
          <a:p>
            <a:pPr algn="l" indent="0" marL="0">
              <a:lnSpc>
                <a:spcPct val="110000"/>
              </a:lnSpc>
              <a:spcAft>
                <a:spcPts val="500"/>
              </a:spcAft>
              <a:buNone/>
            </a:pPr>
            <a:r>
              <a:rPr lang="en-US" altLang="en-US" sz="680" b="1" dirty="0">
                <a:solidFill>
                  <a:srgbClr val="0A1628"/>
                </a:solidFill>
                <a:latin typeface="Inter" pitchFamily="34" charset="0"/>
                <a:ea typeface="Inter" pitchFamily="34" charset="-122"/>
                <a:cs typeface="Inter" pitchFamily="34" charset="-120"/>
              </a:rPr>
              <a:t>Exterior Accessories</a:t>
            </a:r>
            <a:endParaRPr lang="en-US" sz="680" dirty="0"/>
          </a:p>
        </p:txBody>
      </p:sp>
      <p:sp>
        <p:nvSpPr>
          <p:cNvPr id="51" name="Text 49"/>
          <p:cNvSpPr txBox="1"/>
          <p:nvPr/>
        </p:nvSpPr>
        <p:spPr>
          <a:xfrm>
            <a:off x="3441116" y="5623560"/>
            <a:ext cx="2508428" cy="137160"/>
          </a:xfrm>
          <a:prstGeom prst="rect">
            <a:avLst/>
          </a:prstGeom>
          <a:noFill/>
          <a:ln/>
        </p:spPr>
        <p:txBody>
          <a:bodyPr wrap="square" lIns="0" tIns="0" rIns="0" bIns="0" rtlCol="0" anchor="t"/>
          <a:lstStyle/>
          <a:p>
            <a:pPr rtl="1" algn="r" indent="0" marL="0">
              <a:lnSpc>
                <a:spcPct val="110000"/>
              </a:lnSpc>
              <a:spcAft>
                <a:spcPts val="500"/>
              </a:spcAft>
              <a:buNone/>
            </a:pPr>
            <a:r>
              <a:rPr lang="ar-AE" altLang="en-US" sz="700" dirty="0">
                <a:solidFill>
                  <a:srgbClr val="5B6677"/>
                </a:solidFill>
                <a:latin typeface="IBM Plex Sans Arabic" pitchFamily="34" charset="0"/>
                <a:ea typeface="IBM Plex Sans Arabic" pitchFamily="34" charset="-122"/>
                <a:cs typeface="IBM Plex Sans Arabic" pitchFamily="34" charset="-120"/>
              </a:rPr>
              <a:t>الإكسسوارات الخارجية</a:t>
            </a:r>
            <a:endParaRPr lang="ar-AE" sz="700" dirty="0"/>
          </a:p>
        </p:txBody>
      </p:sp>
      <p:sp>
        <p:nvSpPr>
          <p:cNvPr id="52" name="Shape 50"/>
          <p:cNvSpPr/>
          <p:nvPr/>
        </p:nvSpPr>
        <p:spPr>
          <a:xfrm>
            <a:off x="6150712" y="5468112"/>
            <a:ext cx="2691308" cy="329184"/>
          </a:xfrm>
          <a:prstGeom prst="rect">
            <a:avLst/>
          </a:prstGeom>
          <a:solidFill>
            <a:srgbClr val="FFFFFF"/>
          </a:solidFill>
          <a:ln w="9525">
            <a:solidFill>
              <a:srgbClr val="E3E8EF"/>
            </a:solidFill>
            <a:prstDash val="solid"/>
          </a:ln>
        </p:spPr>
      </p:sp>
      <p:sp>
        <p:nvSpPr>
          <p:cNvPr id="53" name="Text 51"/>
          <p:cNvSpPr txBox="1"/>
          <p:nvPr/>
        </p:nvSpPr>
        <p:spPr>
          <a:xfrm>
            <a:off x="6242152" y="5495544"/>
            <a:ext cx="2508428" cy="137160"/>
          </a:xfrm>
          <a:prstGeom prst="rect">
            <a:avLst/>
          </a:prstGeom>
          <a:noFill/>
          <a:ln/>
        </p:spPr>
        <p:txBody>
          <a:bodyPr wrap="square" lIns="0" tIns="0" rIns="0" bIns="0" rtlCol="0" anchor="t"/>
          <a:lstStyle/>
          <a:p>
            <a:pPr algn="l" indent="0" marL="0">
              <a:lnSpc>
                <a:spcPct val="110000"/>
              </a:lnSpc>
              <a:spcAft>
                <a:spcPts val="500"/>
              </a:spcAft>
              <a:buNone/>
            </a:pPr>
            <a:r>
              <a:rPr lang="en-US" altLang="en-US" sz="680" b="1" dirty="0">
                <a:solidFill>
                  <a:srgbClr val="0A1628"/>
                </a:solidFill>
                <a:latin typeface="Inter" pitchFamily="34" charset="0"/>
                <a:ea typeface="Inter" pitchFamily="34" charset="-122"/>
                <a:cs typeface="Inter" pitchFamily="34" charset="-120"/>
              </a:rPr>
              <a:t>Protection &amp; Organization</a:t>
            </a:r>
            <a:endParaRPr lang="en-US" sz="680" dirty="0"/>
          </a:p>
        </p:txBody>
      </p:sp>
      <p:sp>
        <p:nvSpPr>
          <p:cNvPr id="54" name="Text 52"/>
          <p:cNvSpPr txBox="1"/>
          <p:nvPr/>
        </p:nvSpPr>
        <p:spPr>
          <a:xfrm>
            <a:off x="6242152" y="5623560"/>
            <a:ext cx="2508428" cy="137160"/>
          </a:xfrm>
          <a:prstGeom prst="rect">
            <a:avLst/>
          </a:prstGeom>
          <a:noFill/>
          <a:ln/>
        </p:spPr>
        <p:txBody>
          <a:bodyPr wrap="square" lIns="0" tIns="0" rIns="0" bIns="0" rtlCol="0" anchor="t"/>
          <a:lstStyle/>
          <a:p>
            <a:pPr rtl="1" algn="r" indent="0" marL="0">
              <a:lnSpc>
                <a:spcPct val="110000"/>
              </a:lnSpc>
              <a:spcAft>
                <a:spcPts val="500"/>
              </a:spcAft>
              <a:buNone/>
            </a:pPr>
            <a:r>
              <a:rPr lang="ar-AE" altLang="en-US" sz="700" dirty="0">
                <a:solidFill>
                  <a:srgbClr val="5B6677"/>
                </a:solidFill>
                <a:latin typeface="IBM Plex Sans Arabic" pitchFamily="34" charset="0"/>
                <a:ea typeface="IBM Plex Sans Arabic" pitchFamily="34" charset="-122"/>
                <a:cs typeface="IBM Plex Sans Arabic" pitchFamily="34" charset="-120"/>
              </a:rPr>
              <a:t>الحماية والتنظيم</a:t>
            </a:r>
            <a:endParaRPr lang="ar-AE" sz="700" dirty="0"/>
          </a:p>
        </p:txBody>
      </p:sp>
      <p:sp>
        <p:nvSpPr>
          <p:cNvPr id="55" name="Shape 53"/>
          <p:cNvSpPr/>
          <p:nvPr/>
        </p:nvSpPr>
        <p:spPr>
          <a:xfrm>
            <a:off x="8951747" y="5468112"/>
            <a:ext cx="2691308" cy="329184"/>
          </a:xfrm>
          <a:prstGeom prst="rect">
            <a:avLst/>
          </a:prstGeom>
          <a:solidFill>
            <a:srgbClr val="FFFFFF"/>
          </a:solidFill>
          <a:ln w="9525">
            <a:solidFill>
              <a:srgbClr val="E3E8EF"/>
            </a:solidFill>
            <a:prstDash val="solid"/>
          </a:ln>
        </p:spPr>
      </p:sp>
      <p:sp>
        <p:nvSpPr>
          <p:cNvPr id="56" name="Text 54"/>
          <p:cNvSpPr txBox="1"/>
          <p:nvPr/>
        </p:nvSpPr>
        <p:spPr>
          <a:xfrm>
            <a:off x="9043187" y="5495544"/>
            <a:ext cx="2508428" cy="137160"/>
          </a:xfrm>
          <a:prstGeom prst="rect">
            <a:avLst/>
          </a:prstGeom>
          <a:noFill/>
          <a:ln/>
        </p:spPr>
        <p:txBody>
          <a:bodyPr wrap="square" lIns="0" tIns="0" rIns="0" bIns="0" rtlCol="0" anchor="t"/>
          <a:lstStyle/>
          <a:p>
            <a:pPr algn="l" indent="0" marL="0">
              <a:lnSpc>
                <a:spcPct val="110000"/>
              </a:lnSpc>
              <a:spcAft>
                <a:spcPts val="500"/>
              </a:spcAft>
              <a:buNone/>
            </a:pPr>
            <a:r>
              <a:rPr lang="en-US" altLang="en-US" sz="680" b="1" dirty="0">
                <a:solidFill>
                  <a:srgbClr val="0A1628"/>
                </a:solidFill>
                <a:latin typeface="Inter" pitchFamily="34" charset="0"/>
                <a:ea typeface="Inter" pitchFamily="34" charset="-122"/>
                <a:cs typeface="Inter" pitchFamily="34" charset="-120"/>
              </a:rPr>
              <a:t>Sunshades &amp; Heat Protection</a:t>
            </a:r>
            <a:endParaRPr lang="en-US" sz="680" dirty="0"/>
          </a:p>
        </p:txBody>
      </p:sp>
      <p:sp>
        <p:nvSpPr>
          <p:cNvPr id="57" name="Text 55"/>
          <p:cNvSpPr txBox="1"/>
          <p:nvPr/>
        </p:nvSpPr>
        <p:spPr>
          <a:xfrm>
            <a:off x="9043187" y="5623560"/>
            <a:ext cx="2508428" cy="137160"/>
          </a:xfrm>
          <a:prstGeom prst="rect">
            <a:avLst/>
          </a:prstGeom>
          <a:noFill/>
          <a:ln/>
        </p:spPr>
        <p:txBody>
          <a:bodyPr wrap="square" lIns="0" tIns="0" rIns="0" bIns="0" rtlCol="0" anchor="t"/>
          <a:lstStyle/>
          <a:p>
            <a:pPr rtl="1" algn="r" indent="0" marL="0">
              <a:lnSpc>
                <a:spcPct val="110000"/>
              </a:lnSpc>
              <a:spcAft>
                <a:spcPts val="500"/>
              </a:spcAft>
              <a:buNone/>
            </a:pPr>
            <a:r>
              <a:rPr lang="ar-AE" altLang="en-US" sz="700" dirty="0">
                <a:solidFill>
                  <a:srgbClr val="5B6677"/>
                </a:solidFill>
                <a:latin typeface="IBM Plex Sans Arabic" pitchFamily="34" charset="0"/>
                <a:ea typeface="IBM Plex Sans Arabic" pitchFamily="34" charset="-122"/>
                <a:cs typeface="IBM Plex Sans Arabic" pitchFamily="34" charset="-120"/>
              </a:rPr>
              <a:t>المظلات والعوازل</a:t>
            </a:r>
            <a:endParaRPr lang="ar-AE" sz="700" dirty="0"/>
          </a:p>
        </p:txBody>
      </p:sp>
      <p:sp>
        <p:nvSpPr>
          <p:cNvPr id="58" name="Shape 56"/>
          <p:cNvSpPr/>
          <p:nvPr/>
        </p:nvSpPr>
        <p:spPr>
          <a:xfrm>
            <a:off x="548640" y="5870448"/>
            <a:ext cx="2691308" cy="329184"/>
          </a:xfrm>
          <a:prstGeom prst="rect">
            <a:avLst/>
          </a:prstGeom>
          <a:solidFill>
            <a:srgbClr val="FFFFFF"/>
          </a:solidFill>
          <a:ln w="9525">
            <a:solidFill>
              <a:srgbClr val="E3E8EF"/>
            </a:solidFill>
            <a:prstDash val="solid"/>
          </a:ln>
        </p:spPr>
      </p:sp>
      <p:sp>
        <p:nvSpPr>
          <p:cNvPr id="59" name="Text 57"/>
          <p:cNvSpPr txBox="1"/>
          <p:nvPr/>
        </p:nvSpPr>
        <p:spPr>
          <a:xfrm>
            <a:off x="640080" y="5897880"/>
            <a:ext cx="2508428" cy="137160"/>
          </a:xfrm>
          <a:prstGeom prst="rect">
            <a:avLst/>
          </a:prstGeom>
          <a:noFill/>
          <a:ln/>
        </p:spPr>
        <p:txBody>
          <a:bodyPr wrap="square" lIns="0" tIns="0" rIns="0" bIns="0" rtlCol="0" anchor="t"/>
          <a:lstStyle/>
          <a:p>
            <a:pPr algn="l" indent="0" marL="0">
              <a:lnSpc>
                <a:spcPct val="110000"/>
              </a:lnSpc>
              <a:spcAft>
                <a:spcPts val="500"/>
              </a:spcAft>
              <a:buNone/>
            </a:pPr>
            <a:r>
              <a:rPr lang="en-US" altLang="en-US" sz="680" b="1" dirty="0">
                <a:solidFill>
                  <a:srgbClr val="0A1628"/>
                </a:solidFill>
                <a:latin typeface="Inter" pitchFamily="34" charset="0"/>
                <a:ea typeface="Inter" pitchFamily="34" charset="-122"/>
                <a:cs typeface="Inter" pitchFamily="34" charset="-120"/>
              </a:rPr>
              <a:t>Floor Mats &amp; Interior Protection</a:t>
            </a:r>
            <a:endParaRPr lang="en-US" sz="680" dirty="0"/>
          </a:p>
        </p:txBody>
      </p:sp>
      <p:sp>
        <p:nvSpPr>
          <p:cNvPr id="60" name="Text 58"/>
          <p:cNvSpPr txBox="1"/>
          <p:nvPr/>
        </p:nvSpPr>
        <p:spPr>
          <a:xfrm>
            <a:off x="640080" y="6025896"/>
            <a:ext cx="2508428" cy="137160"/>
          </a:xfrm>
          <a:prstGeom prst="rect">
            <a:avLst/>
          </a:prstGeom>
          <a:noFill/>
          <a:ln/>
        </p:spPr>
        <p:txBody>
          <a:bodyPr wrap="square" lIns="0" tIns="0" rIns="0" bIns="0" rtlCol="0" anchor="t"/>
          <a:lstStyle/>
          <a:p>
            <a:pPr rtl="1" algn="r" indent="0" marL="0">
              <a:lnSpc>
                <a:spcPct val="110000"/>
              </a:lnSpc>
              <a:spcAft>
                <a:spcPts val="500"/>
              </a:spcAft>
              <a:buNone/>
            </a:pPr>
            <a:r>
              <a:rPr lang="ar-AE" altLang="en-US" sz="700" dirty="0">
                <a:solidFill>
                  <a:srgbClr val="5B6677"/>
                </a:solidFill>
                <a:latin typeface="IBM Plex Sans Arabic" pitchFamily="34" charset="0"/>
                <a:ea typeface="IBM Plex Sans Arabic" pitchFamily="34" charset="-122"/>
                <a:cs typeface="IBM Plex Sans Arabic" pitchFamily="34" charset="-120"/>
              </a:rPr>
              <a:t>الفرش والأرضيات</a:t>
            </a:r>
            <a:endParaRPr lang="ar-AE" sz="700" dirty="0"/>
          </a:p>
        </p:txBody>
      </p:sp>
      <p:sp>
        <p:nvSpPr>
          <p:cNvPr id="61" name="Shape 59"/>
          <p:cNvSpPr/>
          <p:nvPr/>
        </p:nvSpPr>
        <p:spPr>
          <a:xfrm>
            <a:off x="3349676" y="5870448"/>
            <a:ext cx="2691308" cy="329184"/>
          </a:xfrm>
          <a:prstGeom prst="rect">
            <a:avLst/>
          </a:prstGeom>
          <a:solidFill>
            <a:srgbClr val="FFFFFF"/>
          </a:solidFill>
          <a:ln w="9525">
            <a:solidFill>
              <a:srgbClr val="E3E8EF"/>
            </a:solidFill>
            <a:prstDash val="solid"/>
          </a:ln>
        </p:spPr>
      </p:sp>
      <p:sp>
        <p:nvSpPr>
          <p:cNvPr id="62" name="Text 60"/>
          <p:cNvSpPr txBox="1"/>
          <p:nvPr/>
        </p:nvSpPr>
        <p:spPr>
          <a:xfrm>
            <a:off x="3441116" y="5897880"/>
            <a:ext cx="2508428" cy="137160"/>
          </a:xfrm>
          <a:prstGeom prst="rect">
            <a:avLst/>
          </a:prstGeom>
          <a:noFill/>
          <a:ln/>
        </p:spPr>
        <p:txBody>
          <a:bodyPr wrap="square" lIns="0" tIns="0" rIns="0" bIns="0" rtlCol="0" anchor="t"/>
          <a:lstStyle/>
          <a:p>
            <a:pPr algn="l" indent="0" marL="0">
              <a:lnSpc>
                <a:spcPct val="110000"/>
              </a:lnSpc>
              <a:spcAft>
                <a:spcPts val="500"/>
              </a:spcAft>
              <a:buNone/>
            </a:pPr>
            <a:r>
              <a:rPr lang="en-US" altLang="en-US" sz="680" b="1" dirty="0">
                <a:solidFill>
                  <a:srgbClr val="0A1628"/>
                </a:solidFill>
                <a:latin typeface="Inter" pitchFamily="34" charset="0"/>
                <a:ea typeface="Inter" pitchFamily="34" charset="-122"/>
                <a:cs typeface="Inter" pitchFamily="34" charset="-120"/>
              </a:rPr>
              <a:t>Wheel Covers &amp; Exterior Enhancements</a:t>
            </a:r>
            <a:endParaRPr lang="en-US" sz="680" dirty="0"/>
          </a:p>
        </p:txBody>
      </p:sp>
      <p:sp>
        <p:nvSpPr>
          <p:cNvPr id="63" name="Text 61"/>
          <p:cNvSpPr txBox="1"/>
          <p:nvPr/>
        </p:nvSpPr>
        <p:spPr>
          <a:xfrm>
            <a:off x="3441116" y="6025896"/>
            <a:ext cx="2508428" cy="137160"/>
          </a:xfrm>
          <a:prstGeom prst="rect">
            <a:avLst/>
          </a:prstGeom>
          <a:noFill/>
          <a:ln/>
        </p:spPr>
        <p:txBody>
          <a:bodyPr wrap="square" lIns="0" tIns="0" rIns="0" bIns="0" rtlCol="0" anchor="t"/>
          <a:lstStyle/>
          <a:p>
            <a:pPr rtl="1" algn="r" indent="0" marL="0">
              <a:lnSpc>
                <a:spcPct val="110000"/>
              </a:lnSpc>
              <a:spcAft>
                <a:spcPts val="500"/>
              </a:spcAft>
              <a:buNone/>
            </a:pPr>
            <a:r>
              <a:rPr lang="ar-AE" altLang="en-US" sz="700" dirty="0">
                <a:solidFill>
                  <a:srgbClr val="5B6677"/>
                </a:solidFill>
                <a:latin typeface="IBM Plex Sans Arabic" pitchFamily="34" charset="0"/>
                <a:ea typeface="IBM Plex Sans Arabic" pitchFamily="34" charset="-122"/>
                <a:cs typeface="IBM Plex Sans Arabic" pitchFamily="34" charset="-120"/>
              </a:rPr>
              <a:t>أغطية العجلات والإضافات الخارجية</a:t>
            </a:r>
            <a:endParaRPr lang="ar-AE" sz="700" dirty="0"/>
          </a:p>
        </p:txBody>
      </p:sp>
      <p:sp>
        <p:nvSpPr>
          <p:cNvPr id="64" name="Shape 62"/>
          <p:cNvSpPr/>
          <p:nvPr/>
        </p:nvSpPr>
        <p:spPr>
          <a:xfrm>
            <a:off x="6150712" y="5870448"/>
            <a:ext cx="2691308" cy="329184"/>
          </a:xfrm>
          <a:prstGeom prst="rect">
            <a:avLst/>
          </a:prstGeom>
          <a:solidFill>
            <a:srgbClr val="FFFFFF"/>
          </a:solidFill>
          <a:ln w="9525">
            <a:solidFill>
              <a:srgbClr val="E3E8EF"/>
            </a:solidFill>
            <a:prstDash val="solid"/>
          </a:ln>
        </p:spPr>
      </p:sp>
      <p:sp>
        <p:nvSpPr>
          <p:cNvPr id="65" name="Text 63"/>
          <p:cNvSpPr txBox="1"/>
          <p:nvPr/>
        </p:nvSpPr>
        <p:spPr>
          <a:xfrm>
            <a:off x="6242152" y="5897880"/>
            <a:ext cx="2508428" cy="137160"/>
          </a:xfrm>
          <a:prstGeom prst="rect">
            <a:avLst/>
          </a:prstGeom>
          <a:noFill/>
          <a:ln/>
        </p:spPr>
        <p:txBody>
          <a:bodyPr wrap="square" lIns="0" tIns="0" rIns="0" bIns="0" rtlCol="0" anchor="t"/>
          <a:lstStyle/>
          <a:p>
            <a:pPr algn="l" indent="0" marL="0">
              <a:lnSpc>
                <a:spcPct val="110000"/>
              </a:lnSpc>
              <a:spcAft>
                <a:spcPts val="500"/>
              </a:spcAft>
              <a:buNone/>
            </a:pPr>
            <a:r>
              <a:rPr lang="en-US" altLang="en-US" sz="680" b="1" dirty="0">
                <a:solidFill>
                  <a:srgbClr val="0A1628"/>
                </a:solidFill>
                <a:latin typeface="Inter" pitchFamily="34" charset="0"/>
                <a:ea typeface="Inter" pitchFamily="34" charset="-122"/>
                <a:cs typeface="Inter" pitchFamily="34" charset="-120"/>
              </a:rPr>
              <a:t>Cabin Air Filters</a:t>
            </a:r>
            <a:endParaRPr lang="en-US" sz="680" dirty="0"/>
          </a:p>
        </p:txBody>
      </p:sp>
      <p:sp>
        <p:nvSpPr>
          <p:cNvPr id="66" name="Text 64"/>
          <p:cNvSpPr txBox="1"/>
          <p:nvPr/>
        </p:nvSpPr>
        <p:spPr>
          <a:xfrm>
            <a:off x="6242152" y="6025896"/>
            <a:ext cx="2508428" cy="137160"/>
          </a:xfrm>
          <a:prstGeom prst="rect">
            <a:avLst/>
          </a:prstGeom>
          <a:noFill/>
          <a:ln/>
        </p:spPr>
        <p:txBody>
          <a:bodyPr wrap="square" lIns="0" tIns="0" rIns="0" bIns="0" rtlCol="0" anchor="t"/>
          <a:lstStyle/>
          <a:p>
            <a:pPr rtl="1" algn="r" indent="0" marL="0">
              <a:lnSpc>
                <a:spcPct val="110000"/>
              </a:lnSpc>
              <a:spcAft>
                <a:spcPts val="500"/>
              </a:spcAft>
              <a:buNone/>
            </a:pPr>
            <a:r>
              <a:rPr lang="ar-AE" altLang="en-US" sz="700" dirty="0">
                <a:solidFill>
                  <a:srgbClr val="5B6677"/>
                </a:solidFill>
                <a:latin typeface="IBM Plex Sans Arabic" pitchFamily="34" charset="0"/>
                <a:ea typeface="IBM Plex Sans Arabic" pitchFamily="34" charset="-122"/>
                <a:cs typeface="IBM Plex Sans Arabic" pitchFamily="34" charset="-120"/>
              </a:rPr>
              <a:t>فلاتر المقصورة</a:t>
            </a:r>
            <a:endParaRPr lang="ar-AE" sz="700" dirty="0"/>
          </a:p>
        </p:txBody>
      </p:sp>
      <p:sp>
        <p:nvSpPr>
          <p:cNvPr id="67" name="Shape 65"/>
          <p:cNvSpPr/>
          <p:nvPr/>
        </p:nvSpPr>
        <p:spPr>
          <a:xfrm>
            <a:off x="8951747" y="5870448"/>
            <a:ext cx="2691308" cy="329184"/>
          </a:xfrm>
          <a:prstGeom prst="rect">
            <a:avLst/>
          </a:prstGeom>
          <a:solidFill>
            <a:srgbClr val="FFFFFF"/>
          </a:solidFill>
          <a:ln w="9525">
            <a:solidFill>
              <a:srgbClr val="E3E8EF"/>
            </a:solidFill>
            <a:prstDash val="solid"/>
          </a:ln>
        </p:spPr>
      </p:sp>
      <p:sp>
        <p:nvSpPr>
          <p:cNvPr id="68" name="Text 66"/>
          <p:cNvSpPr txBox="1"/>
          <p:nvPr/>
        </p:nvSpPr>
        <p:spPr>
          <a:xfrm>
            <a:off x="9043187" y="5897880"/>
            <a:ext cx="2508428" cy="137160"/>
          </a:xfrm>
          <a:prstGeom prst="rect">
            <a:avLst/>
          </a:prstGeom>
          <a:noFill/>
          <a:ln/>
        </p:spPr>
        <p:txBody>
          <a:bodyPr wrap="square" lIns="0" tIns="0" rIns="0" bIns="0" rtlCol="0" anchor="t"/>
          <a:lstStyle/>
          <a:p>
            <a:pPr algn="l" indent="0" marL="0">
              <a:lnSpc>
                <a:spcPct val="110000"/>
              </a:lnSpc>
              <a:spcAft>
                <a:spcPts val="500"/>
              </a:spcAft>
              <a:buNone/>
            </a:pPr>
            <a:r>
              <a:rPr lang="en-US" altLang="en-US" sz="680" b="1" dirty="0">
                <a:solidFill>
                  <a:srgbClr val="0A1628"/>
                </a:solidFill>
                <a:latin typeface="Inter" pitchFamily="34" charset="0"/>
                <a:ea typeface="Inter" pitchFamily="34" charset="-122"/>
                <a:cs typeface="Inter" pitchFamily="34" charset="-120"/>
              </a:rPr>
              <a:t>Smart &amp; Functional Accessories</a:t>
            </a:r>
            <a:endParaRPr lang="en-US" sz="680" dirty="0"/>
          </a:p>
        </p:txBody>
      </p:sp>
      <p:sp>
        <p:nvSpPr>
          <p:cNvPr id="69" name="Text 67"/>
          <p:cNvSpPr txBox="1"/>
          <p:nvPr/>
        </p:nvSpPr>
        <p:spPr>
          <a:xfrm>
            <a:off x="9043187" y="6025896"/>
            <a:ext cx="2508428" cy="137160"/>
          </a:xfrm>
          <a:prstGeom prst="rect">
            <a:avLst/>
          </a:prstGeom>
          <a:noFill/>
          <a:ln/>
        </p:spPr>
        <p:txBody>
          <a:bodyPr wrap="square" lIns="0" tIns="0" rIns="0" bIns="0" rtlCol="0" anchor="t"/>
          <a:lstStyle/>
          <a:p>
            <a:pPr rtl="1" algn="r" indent="0" marL="0">
              <a:lnSpc>
                <a:spcPct val="110000"/>
              </a:lnSpc>
              <a:spcAft>
                <a:spcPts val="500"/>
              </a:spcAft>
              <a:buNone/>
            </a:pPr>
            <a:r>
              <a:rPr lang="ar-AE" altLang="en-US" sz="700" dirty="0">
                <a:solidFill>
                  <a:srgbClr val="5B6677"/>
                </a:solidFill>
                <a:latin typeface="IBM Plex Sans Arabic" pitchFamily="34" charset="0"/>
                <a:ea typeface="IBM Plex Sans Arabic" pitchFamily="34" charset="-122"/>
                <a:cs typeface="IBM Plex Sans Arabic" pitchFamily="34" charset="-120"/>
              </a:rPr>
              <a:t>المنتجات الذكية والعملية</a:t>
            </a:r>
            <a:endParaRPr lang="ar-AE" sz="700" dirty="0"/>
          </a:p>
        </p:txBody>
      </p:sp>
      <p:sp>
        <p:nvSpPr>
          <p:cNvPr id="70" name="Shape 68"/>
          <p:cNvSpPr/>
          <p:nvPr/>
        </p:nvSpPr>
        <p:spPr>
          <a:xfrm>
            <a:off x="548640" y="6428232"/>
            <a:ext cx="11094415" cy="0"/>
          </a:xfrm>
          <a:prstGeom prst="line">
            <a:avLst/>
          </a:prstGeom>
          <a:noFill/>
          <a:ln w="9525">
            <a:solidFill>
              <a:srgbClr val="E3E8EF"/>
            </a:solidFill>
            <a:prstDash val="solid"/>
          </a:ln>
        </p:spPr>
      </p:sp>
      <p:pic>
        <p:nvPicPr>
          <p:cNvPr id="71" name="Image 0" descr="EVCARS logo">
            <a:hlinkClick r:id="rId2" tooltip="Back to cover" action="ppaction://hlinksldjump"/>
          </p:cNvPr>
          <p:cNvPicPr>
            <a:picLocks noChangeAspect="1"/>
          </p:cNvPicPr>
          <p:nvPr/>
        </p:nvPicPr>
        <p:blipFill>
          <a:blip r:embed="rId1"/>
          <a:stretch>
            <a:fillRect/>
          </a:stretch>
        </p:blipFill>
        <p:spPr>
          <a:xfrm>
            <a:off x="548640" y="6510528"/>
            <a:ext cx="833104" cy="155448"/>
          </a:xfrm>
          <a:prstGeom prst="rect">
            <a:avLst/>
          </a:prstGeom>
        </p:spPr>
      </p:pic>
      <p:sp>
        <p:nvSpPr>
          <p:cNvPr id="72" name="Text 69">
            <a:hlinkClick r:id="rId3" tooltip="www.evcars.me"/>
          </p:cNvPr>
          <p:cNvSpPr txBox="1"/>
          <p:nvPr/>
        </p:nvSpPr>
        <p:spPr>
          <a:xfrm>
            <a:off x="1600200" y="6492240"/>
            <a:ext cx="1463040" cy="201168"/>
          </a:xfrm>
          <a:prstGeom prst="rect">
            <a:avLst/>
          </a:prstGeom>
          <a:noFill/>
          <a:ln/>
        </p:spPr>
        <p:txBody>
          <a:bodyPr wrap="square" lIns="0" tIns="0" rIns="0" bIns="0" rtlCol="0" anchor="ctr"/>
          <a:lstStyle/>
          <a:p>
            <a:pPr indent="0" marL="0">
              <a:buNone/>
            </a:pPr>
            <a:r>
              <a:rPr lang="en-US" sz="800" u="sng" dirty="0">
                <a:solidFill>
                  <a:srgbClr val="3E9ACA"/>
                </a:solidFill>
                <a:latin typeface="Inter" pitchFamily="34" charset="0"/>
                <a:ea typeface="Inter" pitchFamily="34" charset="-122"/>
                <a:cs typeface="Inter" pitchFamily="34" charset="-120"/>
                <a:hlinkClick r:id="rId3" invalidUrl="" action="" tgtFrame="" tooltip="www.evcars.me" history="1" highlightClick="0" endSnd="0">
                  <a:extLst>
                    <a:ext uri="{A12FA001-AC4F-418D-AE19-62706E023703}">
                      <ahyp:hlinkClr xmlns:ahyp="http://schemas.microsoft.com/office/drawing/2018/hyperlinkcolor" val="tx"/>
                    </a:ext>
                  </a:extLst>
                </a:hlinkClick>
              </a:rPr>
              <a:t>www.evcars.me</a:t>
            </a:r>
            <a:endParaRPr lang="en-US" sz="800" dirty="0"/>
          </a:p>
        </p:txBody>
      </p:sp>
      <p:sp>
        <p:nvSpPr>
          <p:cNvPr id="73" name="Text 70">
            <a:hlinkClick r:id="rId4" tooltip="Page 1" action="ppaction://hlinksldjump"/>
          </p:cNvPr>
          <p:cNvSpPr txBox="1"/>
          <p:nvPr/>
        </p:nvSpPr>
        <p:spPr>
          <a:xfrm>
            <a:off x="834847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4" action="ppaction://hlinksldjump" tooltip="Page 1">
                  <a:extLst>
                    <a:ext uri="{A12FA001-AC4F-418D-AE19-62706E023703}">
                      <ahyp:hlinkClr xmlns:ahyp="http://schemas.microsoft.com/office/drawing/2018/hyperlinkcolor" val="tx"/>
                    </a:ext>
                  </a:extLst>
                </a:hlinkClick>
              </a:rPr>
              <a:t>1</a:t>
            </a:r>
            <a:endParaRPr lang="en-US" sz="750" dirty="0"/>
          </a:p>
        </p:txBody>
      </p:sp>
      <p:sp>
        <p:nvSpPr>
          <p:cNvPr id="74" name="Text 71">
            <a:hlinkClick r:id="rId5" tooltip="Page 2" action="ppaction://hlinksldjump"/>
          </p:cNvPr>
          <p:cNvSpPr txBox="1"/>
          <p:nvPr/>
        </p:nvSpPr>
        <p:spPr>
          <a:xfrm>
            <a:off x="862279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5" action="ppaction://hlinksldjump" tooltip="Page 2">
                  <a:extLst>
                    <a:ext uri="{A12FA001-AC4F-418D-AE19-62706E023703}">
                      <ahyp:hlinkClr xmlns:ahyp="http://schemas.microsoft.com/office/drawing/2018/hyperlinkcolor" val="tx"/>
                    </a:ext>
                  </a:extLst>
                </a:hlinkClick>
              </a:rPr>
              <a:t>2</a:t>
            </a:r>
            <a:endParaRPr lang="en-US" sz="750" dirty="0"/>
          </a:p>
        </p:txBody>
      </p:sp>
      <p:sp>
        <p:nvSpPr>
          <p:cNvPr id="75" name="Text 72">
            <a:hlinkClick r:id="rId6" tooltip="Page 3" action="ppaction://hlinksldjump"/>
          </p:cNvPr>
          <p:cNvSpPr txBox="1"/>
          <p:nvPr/>
        </p:nvSpPr>
        <p:spPr>
          <a:xfrm>
            <a:off x="889711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6" action="ppaction://hlinksldjump" tooltip="Page 3">
                  <a:extLst>
                    <a:ext uri="{A12FA001-AC4F-418D-AE19-62706E023703}">
                      <ahyp:hlinkClr xmlns:ahyp="http://schemas.microsoft.com/office/drawing/2018/hyperlinkcolor" val="tx"/>
                    </a:ext>
                  </a:extLst>
                </a:hlinkClick>
              </a:rPr>
              <a:t>3</a:t>
            </a:r>
            <a:endParaRPr lang="en-US" sz="750" dirty="0"/>
          </a:p>
        </p:txBody>
      </p:sp>
      <p:sp>
        <p:nvSpPr>
          <p:cNvPr id="76" name="Text 73">
            <a:hlinkClick r:id="rId7" tooltip="Page 4" action="ppaction://hlinksldjump"/>
          </p:cNvPr>
          <p:cNvSpPr txBox="1"/>
          <p:nvPr/>
        </p:nvSpPr>
        <p:spPr>
          <a:xfrm>
            <a:off x="917143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7" action="ppaction://hlinksldjump" tooltip="Page 4">
                  <a:extLst>
                    <a:ext uri="{A12FA001-AC4F-418D-AE19-62706E023703}">
                      <ahyp:hlinkClr xmlns:ahyp="http://schemas.microsoft.com/office/drawing/2018/hyperlinkcolor" val="tx"/>
                    </a:ext>
                  </a:extLst>
                </a:hlinkClick>
              </a:rPr>
              <a:t>4</a:t>
            </a:r>
            <a:endParaRPr lang="en-US" sz="750" dirty="0"/>
          </a:p>
        </p:txBody>
      </p:sp>
      <p:sp>
        <p:nvSpPr>
          <p:cNvPr id="77" name="Text 74">
            <a:hlinkClick r:id="rId8" tooltip="Page 5" action="ppaction://hlinksldjump"/>
          </p:cNvPr>
          <p:cNvSpPr txBox="1"/>
          <p:nvPr/>
        </p:nvSpPr>
        <p:spPr>
          <a:xfrm>
            <a:off x="9445752" y="6492240"/>
            <a:ext cx="274320" cy="201168"/>
          </a:xfrm>
          <a:prstGeom prst="rect">
            <a:avLst/>
          </a:prstGeom>
          <a:noFill/>
          <a:ln/>
        </p:spPr>
        <p:txBody>
          <a:bodyPr wrap="square" lIns="0" tIns="0" rIns="0" bIns="0" rtlCol="0" anchor="ctr"/>
          <a:lstStyle/>
          <a:p>
            <a:pPr algn="ctr" indent="0" marL="0">
              <a:buNone/>
            </a:pPr>
            <a:r>
              <a:rPr lang="en-US" sz="750" b="1" u="sng" dirty="0">
                <a:solidFill>
                  <a:srgbClr val="3E9ACA"/>
                </a:solidFill>
                <a:latin typeface="Inter" pitchFamily="34" charset="0"/>
                <a:ea typeface="Inter" pitchFamily="34" charset="-122"/>
                <a:cs typeface="Inter" pitchFamily="34" charset="-120"/>
                <a:hlinkClick r:id="rId8" action="ppaction://hlinksldjump" tooltip="Page 5">
                  <a:extLst>
                    <a:ext uri="{A12FA001-AC4F-418D-AE19-62706E023703}">
                      <ahyp:hlinkClr xmlns:ahyp="http://schemas.microsoft.com/office/drawing/2018/hyperlinkcolor" val="tx"/>
                    </a:ext>
                  </a:extLst>
                </a:hlinkClick>
              </a:rPr>
              <a:t>5</a:t>
            </a:r>
            <a:endParaRPr lang="en-US" sz="750" dirty="0"/>
          </a:p>
        </p:txBody>
      </p:sp>
      <p:sp>
        <p:nvSpPr>
          <p:cNvPr id="78" name="Text 75">
            <a:hlinkClick r:id="rId9" tooltip="Page 6" action="ppaction://hlinksldjump"/>
          </p:cNvPr>
          <p:cNvSpPr txBox="1"/>
          <p:nvPr/>
        </p:nvSpPr>
        <p:spPr>
          <a:xfrm>
            <a:off x="972007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9" action="ppaction://hlinksldjump" tooltip="Page 6">
                  <a:extLst>
                    <a:ext uri="{A12FA001-AC4F-418D-AE19-62706E023703}">
                      <ahyp:hlinkClr xmlns:ahyp="http://schemas.microsoft.com/office/drawing/2018/hyperlinkcolor" val="tx"/>
                    </a:ext>
                  </a:extLst>
                </a:hlinkClick>
              </a:rPr>
              <a:t>6</a:t>
            </a:r>
            <a:endParaRPr lang="en-US" sz="750" dirty="0"/>
          </a:p>
        </p:txBody>
      </p:sp>
      <p:sp>
        <p:nvSpPr>
          <p:cNvPr id="79" name="Text 76">
            <a:hlinkClick r:id="rId10" tooltip="Page 7" action="ppaction://hlinksldjump"/>
          </p:cNvPr>
          <p:cNvSpPr txBox="1"/>
          <p:nvPr/>
        </p:nvSpPr>
        <p:spPr>
          <a:xfrm>
            <a:off x="999439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0" action="ppaction://hlinksldjump" tooltip="Page 7">
                  <a:extLst>
                    <a:ext uri="{A12FA001-AC4F-418D-AE19-62706E023703}">
                      <ahyp:hlinkClr xmlns:ahyp="http://schemas.microsoft.com/office/drawing/2018/hyperlinkcolor" val="tx"/>
                    </a:ext>
                  </a:extLst>
                </a:hlinkClick>
              </a:rPr>
              <a:t>7</a:t>
            </a:r>
            <a:endParaRPr lang="en-US" sz="750" dirty="0"/>
          </a:p>
        </p:txBody>
      </p:sp>
      <p:sp>
        <p:nvSpPr>
          <p:cNvPr id="80" name="Text 77">
            <a:hlinkClick r:id="rId11" tooltip="Page 8" action="ppaction://hlinksldjump"/>
          </p:cNvPr>
          <p:cNvSpPr txBox="1"/>
          <p:nvPr/>
        </p:nvSpPr>
        <p:spPr>
          <a:xfrm>
            <a:off x="1026871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1" action="ppaction://hlinksldjump" tooltip="Page 8">
                  <a:extLst>
                    <a:ext uri="{A12FA001-AC4F-418D-AE19-62706E023703}">
                      <ahyp:hlinkClr xmlns:ahyp="http://schemas.microsoft.com/office/drawing/2018/hyperlinkcolor" val="tx"/>
                    </a:ext>
                  </a:extLst>
                </a:hlinkClick>
              </a:rPr>
              <a:t>8</a:t>
            </a:r>
            <a:endParaRPr lang="en-US" sz="750" dirty="0"/>
          </a:p>
        </p:txBody>
      </p:sp>
      <p:sp>
        <p:nvSpPr>
          <p:cNvPr id="81" name="Text 78">
            <a:hlinkClick r:id="rId12" tooltip="Page 9" action="ppaction://hlinksldjump"/>
          </p:cNvPr>
          <p:cNvSpPr txBox="1"/>
          <p:nvPr/>
        </p:nvSpPr>
        <p:spPr>
          <a:xfrm>
            <a:off x="1054303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2" action="ppaction://hlinksldjump" tooltip="Page 9">
                  <a:extLst>
                    <a:ext uri="{A12FA001-AC4F-418D-AE19-62706E023703}">
                      <ahyp:hlinkClr xmlns:ahyp="http://schemas.microsoft.com/office/drawing/2018/hyperlinkcolor" val="tx"/>
                    </a:ext>
                  </a:extLst>
                </a:hlinkClick>
              </a:rPr>
              <a:t>9</a:t>
            </a:r>
            <a:endParaRPr lang="en-US" sz="750" dirty="0"/>
          </a:p>
        </p:txBody>
      </p:sp>
      <p:sp>
        <p:nvSpPr>
          <p:cNvPr id="82" name="Text 79">
            <a:hlinkClick r:id="rId13" tooltip="Page 10" action="ppaction://hlinksldjump"/>
          </p:cNvPr>
          <p:cNvSpPr txBox="1"/>
          <p:nvPr/>
        </p:nvSpPr>
        <p:spPr>
          <a:xfrm>
            <a:off x="1081735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3" action="ppaction://hlinksldjump" tooltip="Page 10">
                  <a:extLst>
                    <a:ext uri="{A12FA001-AC4F-418D-AE19-62706E023703}">
                      <ahyp:hlinkClr xmlns:ahyp="http://schemas.microsoft.com/office/drawing/2018/hyperlinkcolor" val="tx"/>
                    </a:ext>
                  </a:extLst>
                </a:hlinkClick>
              </a:rPr>
              <a:t>10</a:t>
            </a:r>
            <a:endParaRPr lang="en-US" sz="750" dirty="0"/>
          </a:p>
        </p:txBody>
      </p:sp>
      <p:sp>
        <p:nvSpPr>
          <p:cNvPr id="83" name="Text 80">
            <a:hlinkClick r:id="rId14" tooltip="Page 11" action="ppaction://hlinksldjump"/>
          </p:cNvPr>
          <p:cNvSpPr txBox="1"/>
          <p:nvPr/>
        </p:nvSpPr>
        <p:spPr>
          <a:xfrm>
            <a:off x="1109167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4" action="ppaction://hlinksldjump" tooltip="Page 11">
                  <a:extLst>
                    <a:ext uri="{A12FA001-AC4F-418D-AE19-62706E023703}">
                      <ahyp:hlinkClr xmlns:ahyp="http://schemas.microsoft.com/office/drawing/2018/hyperlinkcolor" val="tx"/>
                    </a:ext>
                  </a:extLst>
                </a:hlinkClick>
              </a:rPr>
              <a:t>11</a:t>
            </a:r>
            <a:endParaRPr lang="en-US" sz="750" dirty="0"/>
          </a:p>
        </p:txBody>
      </p:sp>
      <p:sp>
        <p:nvSpPr>
          <p:cNvPr id="84" name="Text 81">
            <a:hlinkClick r:id="rId15" tooltip="Page 12" action="ppaction://hlinksldjump"/>
          </p:cNvPr>
          <p:cNvSpPr txBox="1"/>
          <p:nvPr/>
        </p:nvSpPr>
        <p:spPr>
          <a:xfrm>
            <a:off x="1136599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5" action="ppaction://hlinksldjump" tooltip="Page 12">
                  <a:extLst>
                    <a:ext uri="{A12FA001-AC4F-418D-AE19-62706E023703}">
                      <ahyp:hlinkClr xmlns:ahyp="http://schemas.microsoft.com/office/drawing/2018/hyperlinkcolor" val="tx"/>
                    </a:ext>
                  </a:extLst>
                </a:hlinkClick>
              </a:rPr>
              <a:t>12</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65760"/>
            <a:ext cx="5547208" cy="274320"/>
          </a:xfrm>
          <a:prstGeom prst="rect">
            <a:avLst/>
          </a:prstGeom>
          <a:noFill/>
          <a:ln/>
        </p:spPr>
        <p:txBody>
          <a:bodyPr wrap="square" lIns="0" tIns="0" rIns="0" bIns="0" rtlCol="0" anchor="t"/>
          <a:lstStyle/>
          <a:p>
            <a:pPr algn="l" indent="0" marL="0">
              <a:lnSpc>
                <a:spcPct val="110000"/>
              </a:lnSpc>
              <a:spcAft>
                <a:spcPts val="500"/>
              </a:spcAft>
              <a:buNone/>
            </a:pPr>
            <a:r>
              <a:rPr lang="en-US" altLang="en-US" sz="1000" b="1" dirty="0">
                <a:solidFill>
                  <a:srgbClr val="3E9ACA"/>
                </a:solidFill>
                <a:latin typeface="Sora" pitchFamily="34" charset="0"/>
                <a:ea typeface="Sora" pitchFamily="34" charset="-122"/>
                <a:cs typeface="Sora" pitchFamily="34" charset="-120"/>
              </a:rPr>
              <a:t>07</a:t>
            </a:r>
            <a:pPr algn="l" indent="0" marL="0">
              <a:lnSpc>
                <a:spcPct val="110000"/>
              </a:lnSpc>
              <a:spcAft>
                <a:spcPts val="500"/>
              </a:spcAft>
              <a:buNone/>
            </a:pPr>
            <a:r>
              <a:rPr lang="en-US" altLang="en-US" sz="1000" b="1" spc="200" kern="0" dirty="0">
                <a:solidFill>
                  <a:srgbClr val="0A1628"/>
                </a:solidFill>
                <a:latin typeface="Sora" pitchFamily="34" charset="0"/>
                <a:ea typeface="Sora" pitchFamily="34" charset="-122"/>
                <a:cs typeface="Sora" pitchFamily="34" charset="-120"/>
              </a:rPr>
              <a:t>  |  EV CHARGING SOLUTIONS</a:t>
            </a:r>
            <a:endParaRPr lang="en-US" sz="1000" dirty="0"/>
          </a:p>
        </p:txBody>
      </p:sp>
      <p:sp>
        <p:nvSpPr>
          <p:cNvPr id="3" name="Text 1"/>
          <p:cNvSpPr txBox="1"/>
          <p:nvPr/>
        </p:nvSpPr>
        <p:spPr>
          <a:xfrm>
            <a:off x="6095848" y="347472"/>
            <a:ext cx="5547208" cy="274320"/>
          </a:xfrm>
          <a:prstGeom prst="rect">
            <a:avLst/>
          </a:prstGeom>
          <a:noFill/>
          <a:ln/>
        </p:spPr>
        <p:txBody>
          <a:bodyPr wrap="square" lIns="0" tIns="0" rIns="0" bIns="0" rtlCol="0" anchor="t"/>
          <a:lstStyle/>
          <a:p>
            <a:pPr rtl="1" algn="r" indent="0" marL="0">
              <a:lnSpc>
                <a:spcPct val="110000"/>
              </a:lnSpc>
              <a:spcAft>
                <a:spcPts val="500"/>
              </a:spcAft>
              <a:buNone/>
            </a:pPr>
            <a:r>
              <a:rPr lang="ar-AE" altLang="en-US" sz="1200" b="1" dirty="0">
                <a:solidFill>
                  <a:srgbClr val="3E9ACA"/>
                </a:solidFill>
                <a:latin typeface="IBM Plex Sans Arabic" pitchFamily="34" charset="0"/>
                <a:ea typeface="IBM Plex Sans Arabic" pitchFamily="34" charset="-122"/>
                <a:cs typeface="IBM Plex Sans Arabic" pitchFamily="34" charset="-120"/>
              </a:rPr>
              <a:t>07</a:t>
            </a:r>
            <a:pPr algn="r" indent="0" marL="0">
              <a:lnSpc>
                <a:spcPct val="110000"/>
              </a:lnSpc>
              <a:spcAft>
                <a:spcPts val="500"/>
              </a:spcAft>
              <a:buNone/>
            </a:pPr>
            <a:r>
              <a:rPr lang="ar-AE" altLang="en-US" sz="1200" b="1" dirty="0">
                <a:solidFill>
                  <a:srgbClr val="0A1628"/>
                </a:solidFill>
                <a:latin typeface="IBM Plex Sans Arabic" pitchFamily="34" charset="0"/>
                <a:ea typeface="IBM Plex Sans Arabic" pitchFamily="34" charset="-122"/>
                <a:cs typeface="IBM Plex Sans Arabic" pitchFamily="34" charset="-120"/>
              </a:rPr>
              <a:t>  |  حلول الشحن</a:t>
            </a:r>
            <a:endParaRPr lang="ar-AE" sz="1200" dirty="0"/>
          </a:p>
        </p:txBody>
      </p:sp>
      <p:sp>
        <p:nvSpPr>
          <p:cNvPr id="4" name="Shape 2"/>
          <p:cNvSpPr/>
          <p:nvPr/>
        </p:nvSpPr>
        <p:spPr>
          <a:xfrm>
            <a:off x="548640" y="676656"/>
            <a:ext cx="11094415" cy="0"/>
          </a:xfrm>
          <a:prstGeom prst="line">
            <a:avLst/>
          </a:prstGeom>
          <a:noFill/>
          <a:ln w="9525">
            <a:solidFill>
              <a:srgbClr val="E3E8EF"/>
            </a:solidFill>
            <a:prstDash val="solid"/>
          </a:ln>
        </p:spPr>
      </p:sp>
      <p:sp>
        <p:nvSpPr>
          <p:cNvPr id="5" name="Text 3"/>
          <p:cNvSpPr txBox="1"/>
          <p:nvPr/>
        </p:nvSpPr>
        <p:spPr>
          <a:xfrm>
            <a:off x="548640" y="868680"/>
            <a:ext cx="5349240" cy="1463040"/>
          </a:xfrm>
          <a:prstGeom prst="rect">
            <a:avLst/>
          </a:prstGeom>
          <a:noFill/>
          <a:ln/>
        </p:spPr>
        <p:txBody>
          <a:bodyPr wrap="square" lIns="0" tIns="0" rIns="0" bIns="0" rtlCol="0" anchor="t"/>
          <a:lstStyle/>
          <a:p>
            <a:pPr algn="l" indent="0" marL="0">
              <a:lnSpc>
                <a:spcPct val="110000"/>
              </a:lnSpc>
              <a:spcAft>
                <a:spcPts val="500"/>
              </a:spcAft>
              <a:buNone/>
            </a:pPr>
            <a:r>
              <a:rPr lang="en-US" altLang="en-US" sz="900" dirty="0">
                <a:solidFill>
                  <a:srgbClr val="0A1628"/>
                </a:solidFill>
                <a:latin typeface="Inter" pitchFamily="34" charset="0"/>
                <a:ea typeface="Inter" pitchFamily="34" charset="-122"/>
                <a:cs typeface="Inter" pitchFamily="34" charset="-120"/>
              </a:rPr>
              <a:t>EVCARS provides specialized electric vehicle charging solutions, including charging equipment, adapters, and professional installation services.</a:t>
            </a:r>
            <a:endParaRPr lang="en-US" sz="900" dirty="0"/>
          </a:p>
          <a:p>
            <a:pPr algn="l" indent="0" marL="0">
              <a:lnSpc>
                <a:spcPct val="110000"/>
              </a:lnSpc>
              <a:spcAft>
                <a:spcPts val="500"/>
              </a:spcAft>
              <a:buNone/>
            </a:pPr>
            <a:r>
              <a:rPr lang="en-US" altLang="en-US" sz="900" dirty="0">
                <a:solidFill>
                  <a:srgbClr val="0A1628"/>
                </a:solidFill>
                <a:latin typeface="Inter" pitchFamily="34" charset="0"/>
                <a:ea typeface="Inter" pitchFamily="34" charset="-122"/>
                <a:cs typeface="Inter" pitchFamily="34" charset="-120"/>
              </a:rPr>
              <a:t>The company helps customers select suitable charging solutions based on vehicle compatibility, usage requirements, and technical specifications.</a:t>
            </a:r>
            <a:endParaRPr lang="en-US" sz="900" dirty="0"/>
          </a:p>
          <a:p>
            <a:pPr algn="l" indent="0" marL="0">
              <a:lnSpc>
                <a:spcPct val="110000"/>
              </a:lnSpc>
              <a:spcAft>
                <a:spcPts val="500"/>
              </a:spcAft>
              <a:buNone/>
            </a:pPr>
            <a:r>
              <a:rPr lang="en-US" altLang="en-US" sz="900" dirty="0">
                <a:solidFill>
                  <a:srgbClr val="0A1628"/>
                </a:solidFill>
                <a:latin typeface="Inter" pitchFamily="34" charset="0"/>
                <a:ea typeface="Inter" pitchFamily="34" charset="-122"/>
                <a:cs typeface="Inter" pitchFamily="34" charset="-120"/>
              </a:rPr>
              <a:t>A dedicated technical team performs charger installations, supported by an installation warranty in accordance with the applicable terms and conditions.</a:t>
            </a:r>
            <a:endParaRPr lang="en-US" sz="900" dirty="0"/>
          </a:p>
        </p:txBody>
      </p:sp>
      <p:sp>
        <p:nvSpPr>
          <p:cNvPr id="6" name="Text 4"/>
          <p:cNvSpPr txBox="1"/>
          <p:nvPr/>
        </p:nvSpPr>
        <p:spPr>
          <a:xfrm>
            <a:off x="6293815" y="868680"/>
            <a:ext cx="5349240" cy="1463040"/>
          </a:xfrm>
          <a:prstGeom prst="rect">
            <a:avLst/>
          </a:prstGeom>
          <a:noFill/>
          <a:ln/>
        </p:spPr>
        <p:txBody>
          <a:bodyPr wrap="square" lIns="0" tIns="0" rIns="0" bIns="0" rtlCol="0" anchor="t"/>
          <a:lstStyle/>
          <a:p>
            <a:pPr rtl="1" algn="r" indent="0" marL="0">
              <a:lnSpc>
                <a:spcPct val="110000"/>
              </a:lnSpc>
              <a:spcAft>
                <a:spcPts val="500"/>
              </a:spcAft>
              <a:buNone/>
            </a:pPr>
            <a:r>
              <a:rPr lang="ar-AE" altLang="en-US" sz="980" dirty="0">
                <a:solidFill>
                  <a:srgbClr val="0A1628"/>
                </a:solidFill>
                <a:latin typeface="IBM Plex Sans Arabic" pitchFamily="34" charset="0"/>
                <a:ea typeface="IBM Plex Sans Arabic" pitchFamily="34" charset="-122"/>
                <a:cs typeface="IBM Plex Sans Arabic" pitchFamily="34" charset="-120"/>
              </a:rPr>
              <a:t>توفر EVCARS حلولاً متخصصة لشحن السيارات الكهربائية، تشمل الشواحن ومحولات الشحن والخدمات الفنية المرتبطة بالتركيب.</a:t>
            </a:r>
            <a:endParaRPr lang="ar-AE" sz="980" dirty="0"/>
          </a:p>
          <a:p>
            <a:pPr rtl="1" algn="r" indent="0" marL="0">
              <a:lnSpc>
                <a:spcPct val="110000"/>
              </a:lnSpc>
              <a:spcAft>
                <a:spcPts val="500"/>
              </a:spcAft>
              <a:buNone/>
            </a:pPr>
            <a:r>
              <a:rPr lang="ar-AE" altLang="en-US" sz="980" dirty="0">
                <a:solidFill>
                  <a:srgbClr val="0A1628"/>
                </a:solidFill>
                <a:latin typeface="IBM Plex Sans Arabic" pitchFamily="34" charset="0"/>
                <a:ea typeface="IBM Plex Sans Arabic" pitchFamily="34" charset="-122"/>
                <a:cs typeface="IBM Plex Sans Arabic" pitchFamily="34" charset="-120"/>
              </a:rPr>
              <a:t>تعمل الشركة على مساعدة العملاء في اختيار حلول الشحن المناسبة بناءً على نوع المركبة ومتطلبات الاستخدام والمواصفات الفنية.</a:t>
            </a:r>
            <a:endParaRPr lang="ar-AE" sz="980" dirty="0"/>
          </a:p>
          <a:p>
            <a:pPr rtl="1" algn="r" indent="0" marL="0">
              <a:lnSpc>
                <a:spcPct val="110000"/>
              </a:lnSpc>
              <a:spcAft>
                <a:spcPts val="500"/>
              </a:spcAft>
              <a:buNone/>
            </a:pPr>
            <a:r>
              <a:rPr lang="ar-AE" altLang="en-US" sz="980" dirty="0">
                <a:solidFill>
                  <a:srgbClr val="0A1628"/>
                </a:solidFill>
                <a:latin typeface="IBM Plex Sans Arabic" pitchFamily="34" charset="0"/>
                <a:ea typeface="IBM Plex Sans Arabic" pitchFamily="34" charset="-122"/>
                <a:cs typeface="IBM Plex Sans Arabic" pitchFamily="34" charset="-120"/>
              </a:rPr>
              <a:t>كما يتولى فريق فني متخصص أعمال تركيب الشواحن، مع توفير ضمان على خدمات التركيب وفقاً للشروط المعتمدة.</a:t>
            </a:r>
            <a:endParaRPr lang="ar-AE" sz="980" dirty="0"/>
          </a:p>
        </p:txBody>
      </p:sp>
      <p:sp>
        <p:nvSpPr>
          <p:cNvPr id="7" name="Shape 5"/>
          <p:cNvSpPr/>
          <p:nvPr/>
        </p:nvSpPr>
        <p:spPr>
          <a:xfrm>
            <a:off x="6096305" y="914400"/>
            <a:ext cx="0" cy="1280160"/>
          </a:xfrm>
          <a:prstGeom prst="line">
            <a:avLst/>
          </a:prstGeom>
          <a:noFill/>
          <a:ln w="9525">
            <a:solidFill>
              <a:srgbClr val="E3E8EF"/>
            </a:solidFill>
            <a:prstDash val="solid"/>
          </a:ln>
        </p:spPr>
      </p:sp>
      <p:sp>
        <p:nvSpPr>
          <p:cNvPr id="8" name="Photo placeholder"/>
          <p:cNvSpPr/>
          <p:nvPr/>
        </p:nvSpPr>
        <p:spPr>
          <a:xfrm>
            <a:off x="548640" y="2423160"/>
            <a:ext cx="3576218" cy="1234440"/>
          </a:xfrm>
          <a:prstGeom prst="rect">
            <a:avLst/>
          </a:prstGeom>
          <a:solidFill>
            <a:srgbClr val="F4F6F9"/>
          </a:solidFill>
          <a:ln w="9525">
            <a:solidFill>
              <a:srgbClr val="E3E8EF"/>
            </a:solidFill>
            <a:prstDash val="solid"/>
          </a:ln>
        </p:spPr>
      </p:sp>
      <p:sp>
        <p:nvSpPr>
          <p:cNvPr id="9" name="Text 7"/>
          <p:cNvSpPr txBox="1"/>
          <p:nvPr/>
        </p:nvSpPr>
        <p:spPr>
          <a:xfrm>
            <a:off x="548640" y="2423160"/>
            <a:ext cx="3576218" cy="1234440"/>
          </a:xfrm>
          <a:prstGeom prst="rect">
            <a:avLst/>
          </a:prstGeom>
          <a:noFill/>
          <a:ln/>
        </p:spPr>
        <p:txBody>
          <a:bodyPr wrap="square" lIns="0" tIns="0" rIns="0" bIns="0" rtlCol="0" anchor="ctr"/>
          <a:lstStyle/>
          <a:p>
            <a:pPr algn="ctr" indent="0" marL="0">
              <a:lnSpc>
                <a:spcPct val="110000"/>
              </a:lnSpc>
              <a:spcAft>
                <a:spcPts val="500"/>
              </a:spcAft>
              <a:buNone/>
            </a:pPr>
            <a:r>
              <a:rPr lang="en-US" altLang="en-US" sz="700" spc="100" kern="0" dirty="0">
                <a:solidFill>
                  <a:srgbClr val="8A94A6"/>
                </a:solidFill>
                <a:latin typeface="Inter" pitchFamily="34" charset="0"/>
                <a:ea typeface="Inter" pitchFamily="34" charset="-122"/>
                <a:cs typeface="Inter" pitchFamily="34" charset="-120"/>
              </a:rPr>
              <a:t>PHOTO  ·  EVSPACE chargers</a:t>
            </a:r>
            <a:endParaRPr lang="en-US" sz="700" dirty="0"/>
          </a:p>
        </p:txBody>
      </p:sp>
      <p:sp>
        <p:nvSpPr>
          <p:cNvPr id="10" name="Photo placeholder"/>
          <p:cNvSpPr/>
          <p:nvPr/>
        </p:nvSpPr>
        <p:spPr>
          <a:xfrm>
            <a:off x="4307738" y="2423160"/>
            <a:ext cx="3576218" cy="1234440"/>
          </a:xfrm>
          <a:prstGeom prst="rect">
            <a:avLst/>
          </a:prstGeom>
          <a:solidFill>
            <a:srgbClr val="F4F6F9"/>
          </a:solidFill>
          <a:ln w="9525">
            <a:solidFill>
              <a:srgbClr val="E3E8EF"/>
            </a:solidFill>
            <a:prstDash val="solid"/>
          </a:ln>
        </p:spPr>
      </p:sp>
      <p:sp>
        <p:nvSpPr>
          <p:cNvPr id="11" name="Text 9"/>
          <p:cNvSpPr txBox="1"/>
          <p:nvPr/>
        </p:nvSpPr>
        <p:spPr>
          <a:xfrm>
            <a:off x="4307738" y="2423160"/>
            <a:ext cx="3576218" cy="1234440"/>
          </a:xfrm>
          <a:prstGeom prst="rect">
            <a:avLst/>
          </a:prstGeom>
          <a:noFill/>
          <a:ln/>
        </p:spPr>
        <p:txBody>
          <a:bodyPr wrap="square" lIns="0" tIns="0" rIns="0" bIns="0" rtlCol="0" anchor="ctr"/>
          <a:lstStyle/>
          <a:p>
            <a:pPr algn="ctr" indent="0" marL="0">
              <a:lnSpc>
                <a:spcPct val="110000"/>
              </a:lnSpc>
              <a:spcAft>
                <a:spcPts val="500"/>
              </a:spcAft>
              <a:buNone/>
            </a:pPr>
            <a:r>
              <a:rPr lang="en-US" altLang="en-US" sz="700" spc="100" kern="0" dirty="0">
                <a:solidFill>
                  <a:srgbClr val="8A94A6"/>
                </a:solidFill>
                <a:latin typeface="Inter" pitchFamily="34" charset="0"/>
                <a:ea typeface="Inter" pitchFamily="34" charset="-122"/>
                <a:cs typeface="Inter" pitchFamily="34" charset="-120"/>
              </a:rPr>
              <a:t>PHOTO  ·  Charging adapters</a:t>
            </a:r>
            <a:endParaRPr lang="en-US" sz="700" dirty="0"/>
          </a:p>
        </p:txBody>
      </p:sp>
      <p:sp>
        <p:nvSpPr>
          <p:cNvPr id="12" name="Photo placeholder"/>
          <p:cNvSpPr/>
          <p:nvPr/>
        </p:nvSpPr>
        <p:spPr>
          <a:xfrm>
            <a:off x="8066837" y="2423160"/>
            <a:ext cx="3576218" cy="1234440"/>
          </a:xfrm>
          <a:prstGeom prst="rect">
            <a:avLst/>
          </a:prstGeom>
          <a:solidFill>
            <a:srgbClr val="F4F6F9"/>
          </a:solidFill>
          <a:ln w="9525">
            <a:solidFill>
              <a:srgbClr val="E3E8EF"/>
            </a:solidFill>
            <a:prstDash val="solid"/>
          </a:ln>
        </p:spPr>
      </p:sp>
      <p:sp>
        <p:nvSpPr>
          <p:cNvPr id="13" name="Text 11"/>
          <p:cNvSpPr txBox="1"/>
          <p:nvPr/>
        </p:nvSpPr>
        <p:spPr>
          <a:xfrm>
            <a:off x="8066837" y="2423160"/>
            <a:ext cx="3576218" cy="1234440"/>
          </a:xfrm>
          <a:prstGeom prst="rect">
            <a:avLst/>
          </a:prstGeom>
          <a:noFill/>
          <a:ln/>
        </p:spPr>
        <p:txBody>
          <a:bodyPr wrap="square" lIns="0" tIns="0" rIns="0" bIns="0" rtlCol="0" anchor="ctr"/>
          <a:lstStyle/>
          <a:p>
            <a:pPr algn="ctr" indent="0" marL="0">
              <a:lnSpc>
                <a:spcPct val="110000"/>
              </a:lnSpc>
              <a:spcAft>
                <a:spcPts val="500"/>
              </a:spcAft>
              <a:buNone/>
            </a:pPr>
            <a:r>
              <a:rPr lang="en-US" altLang="en-US" sz="700" spc="100" kern="0" dirty="0">
                <a:solidFill>
                  <a:srgbClr val="8A94A6"/>
                </a:solidFill>
                <a:latin typeface="Inter" pitchFamily="34" charset="0"/>
                <a:ea typeface="Inter" pitchFamily="34" charset="-122"/>
                <a:cs typeface="Inter" pitchFamily="34" charset="-120"/>
              </a:rPr>
              <a:t>PHOTO  ·  Installation in progress</a:t>
            </a:r>
            <a:endParaRPr lang="en-US" sz="700" dirty="0"/>
          </a:p>
        </p:txBody>
      </p:sp>
      <p:sp>
        <p:nvSpPr>
          <p:cNvPr id="14" name="Text 12"/>
          <p:cNvSpPr txBox="1"/>
          <p:nvPr/>
        </p:nvSpPr>
        <p:spPr>
          <a:xfrm>
            <a:off x="548640" y="3840480"/>
            <a:ext cx="5547208" cy="274320"/>
          </a:xfrm>
          <a:prstGeom prst="rect">
            <a:avLst/>
          </a:prstGeom>
          <a:noFill/>
          <a:ln/>
        </p:spPr>
        <p:txBody>
          <a:bodyPr wrap="square" lIns="0" tIns="0" rIns="0" bIns="0" rtlCol="0" anchor="t"/>
          <a:lstStyle/>
          <a:p>
            <a:pPr algn="l" indent="0" marL="0">
              <a:lnSpc>
                <a:spcPct val="110000"/>
              </a:lnSpc>
              <a:spcAft>
                <a:spcPts val="500"/>
              </a:spcAft>
              <a:buNone/>
            </a:pPr>
            <a:r>
              <a:rPr lang="en-US" altLang="en-US" sz="1000" b="1" dirty="0">
                <a:solidFill>
                  <a:srgbClr val="3E9ACA"/>
                </a:solidFill>
                <a:latin typeface="Sora" pitchFamily="34" charset="0"/>
                <a:ea typeface="Sora" pitchFamily="34" charset="-122"/>
                <a:cs typeface="Sora" pitchFamily="34" charset="-120"/>
              </a:rPr>
              <a:t>08</a:t>
            </a:r>
            <a:pPr algn="l" indent="0" marL="0">
              <a:lnSpc>
                <a:spcPct val="110000"/>
              </a:lnSpc>
              <a:spcAft>
                <a:spcPts val="500"/>
              </a:spcAft>
              <a:buNone/>
            </a:pPr>
            <a:r>
              <a:rPr lang="en-US" altLang="en-US" sz="1000" b="1" spc="200" kern="0" dirty="0">
                <a:solidFill>
                  <a:srgbClr val="0A1628"/>
                </a:solidFill>
                <a:latin typeface="Sora" pitchFamily="34" charset="0"/>
                <a:ea typeface="Sora" pitchFamily="34" charset="-122"/>
                <a:cs typeface="Sora" pitchFamily="34" charset="-120"/>
              </a:rPr>
              <a:t>  |  OUR TECHNICAL SERVICES</a:t>
            </a:r>
            <a:endParaRPr lang="en-US" sz="1000" dirty="0"/>
          </a:p>
        </p:txBody>
      </p:sp>
      <p:sp>
        <p:nvSpPr>
          <p:cNvPr id="15" name="Text 13"/>
          <p:cNvSpPr txBox="1"/>
          <p:nvPr/>
        </p:nvSpPr>
        <p:spPr>
          <a:xfrm>
            <a:off x="6095848" y="3822192"/>
            <a:ext cx="5547208" cy="274320"/>
          </a:xfrm>
          <a:prstGeom prst="rect">
            <a:avLst/>
          </a:prstGeom>
          <a:noFill/>
          <a:ln/>
        </p:spPr>
        <p:txBody>
          <a:bodyPr wrap="square" lIns="0" tIns="0" rIns="0" bIns="0" rtlCol="0" anchor="t"/>
          <a:lstStyle/>
          <a:p>
            <a:pPr rtl="1" algn="r" indent="0" marL="0">
              <a:lnSpc>
                <a:spcPct val="110000"/>
              </a:lnSpc>
              <a:spcAft>
                <a:spcPts val="500"/>
              </a:spcAft>
              <a:buNone/>
            </a:pPr>
            <a:r>
              <a:rPr lang="ar-AE" altLang="en-US" sz="1200" b="1" dirty="0">
                <a:solidFill>
                  <a:srgbClr val="3E9ACA"/>
                </a:solidFill>
                <a:latin typeface="IBM Plex Sans Arabic" pitchFamily="34" charset="0"/>
                <a:ea typeface="IBM Plex Sans Arabic" pitchFamily="34" charset="-122"/>
                <a:cs typeface="IBM Plex Sans Arabic" pitchFamily="34" charset="-120"/>
              </a:rPr>
              <a:t>08</a:t>
            </a:r>
            <a:pPr algn="r" indent="0" marL="0">
              <a:lnSpc>
                <a:spcPct val="110000"/>
              </a:lnSpc>
              <a:spcAft>
                <a:spcPts val="500"/>
              </a:spcAft>
              <a:buNone/>
            </a:pPr>
            <a:r>
              <a:rPr lang="ar-AE" altLang="en-US" sz="1200" b="1" dirty="0">
                <a:solidFill>
                  <a:srgbClr val="0A1628"/>
                </a:solidFill>
                <a:latin typeface="IBM Plex Sans Arabic" pitchFamily="34" charset="0"/>
                <a:ea typeface="IBM Plex Sans Arabic" pitchFamily="34" charset="-122"/>
                <a:cs typeface="IBM Plex Sans Arabic" pitchFamily="34" charset="-120"/>
              </a:rPr>
              <a:t>  |  خدماتنا الفنية</a:t>
            </a:r>
            <a:endParaRPr lang="ar-AE" sz="1200" dirty="0"/>
          </a:p>
        </p:txBody>
      </p:sp>
      <p:sp>
        <p:nvSpPr>
          <p:cNvPr id="16" name="Shape 14"/>
          <p:cNvSpPr/>
          <p:nvPr/>
        </p:nvSpPr>
        <p:spPr>
          <a:xfrm>
            <a:off x="548640" y="4151376"/>
            <a:ext cx="11094415" cy="0"/>
          </a:xfrm>
          <a:prstGeom prst="line">
            <a:avLst/>
          </a:prstGeom>
          <a:noFill/>
          <a:ln w="9525">
            <a:solidFill>
              <a:srgbClr val="E3E8EF"/>
            </a:solidFill>
            <a:prstDash val="solid"/>
          </a:ln>
        </p:spPr>
      </p:sp>
      <p:sp>
        <p:nvSpPr>
          <p:cNvPr id="17" name="Charger Installation"/>
          <p:cNvSpPr/>
          <p:nvPr/>
        </p:nvSpPr>
        <p:spPr>
          <a:xfrm>
            <a:off x="548640" y="4297680"/>
            <a:ext cx="3576218" cy="2011680"/>
          </a:xfrm>
          <a:prstGeom prst="rect">
            <a:avLst/>
          </a:prstGeom>
          <a:solidFill>
            <a:srgbClr val="F4F6F9"/>
          </a:solidFill>
          <a:ln w="9525">
            <a:solidFill>
              <a:srgbClr val="E3E8EF"/>
            </a:solidFill>
            <a:prstDash val="solid"/>
          </a:ln>
        </p:spPr>
      </p:sp>
      <p:sp>
        <p:nvSpPr>
          <p:cNvPr id="18" name="Shape 16"/>
          <p:cNvSpPr/>
          <p:nvPr/>
        </p:nvSpPr>
        <p:spPr>
          <a:xfrm>
            <a:off x="548640" y="4297680"/>
            <a:ext cx="3576218" cy="45720"/>
          </a:xfrm>
          <a:prstGeom prst="rect">
            <a:avLst/>
          </a:prstGeom>
          <a:solidFill>
            <a:srgbClr val="3E9ACA"/>
          </a:solidFill>
          <a:ln w="12700">
            <a:solidFill>
              <a:srgbClr val="3E9ACA"/>
            </a:solidFill>
            <a:prstDash val="solid"/>
          </a:ln>
        </p:spPr>
      </p:sp>
      <p:sp>
        <p:nvSpPr>
          <p:cNvPr id="19" name="Text 17"/>
          <p:cNvSpPr txBox="1"/>
          <p:nvPr/>
        </p:nvSpPr>
        <p:spPr>
          <a:xfrm>
            <a:off x="749808" y="4480560"/>
            <a:ext cx="3173882" cy="256032"/>
          </a:xfrm>
          <a:prstGeom prst="rect">
            <a:avLst/>
          </a:prstGeom>
          <a:noFill/>
          <a:ln/>
        </p:spPr>
        <p:txBody>
          <a:bodyPr wrap="square" lIns="0" tIns="0" rIns="0" bIns="0" rtlCol="0" anchor="t"/>
          <a:lstStyle/>
          <a:p>
            <a:pPr algn="l" indent="0" marL="0">
              <a:lnSpc>
                <a:spcPct val="110000"/>
              </a:lnSpc>
              <a:spcAft>
                <a:spcPts val="500"/>
              </a:spcAft>
              <a:buNone/>
            </a:pPr>
            <a:r>
              <a:rPr lang="en-US" altLang="en-US" sz="1050" b="1" dirty="0">
                <a:solidFill>
                  <a:srgbClr val="0A1628"/>
                </a:solidFill>
                <a:latin typeface="Sora" pitchFamily="34" charset="0"/>
                <a:ea typeface="Sora" pitchFamily="34" charset="-122"/>
                <a:cs typeface="Sora" pitchFamily="34" charset="-120"/>
              </a:rPr>
              <a:t>Charger Installation</a:t>
            </a:r>
            <a:endParaRPr lang="en-US" sz="1050" dirty="0"/>
          </a:p>
        </p:txBody>
      </p:sp>
      <p:sp>
        <p:nvSpPr>
          <p:cNvPr id="20" name="Text 18"/>
          <p:cNvSpPr txBox="1"/>
          <p:nvPr/>
        </p:nvSpPr>
        <p:spPr>
          <a:xfrm>
            <a:off x="749808" y="4736592"/>
            <a:ext cx="3173882" cy="256032"/>
          </a:xfrm>
          <a:prstGeom prst="rect">
            <a:avLst/>
          </a:prstGeom>
          <a:noFill/>
          <a:ln/>
        </p:spPr>
        <p:txBody>
          <a:bodyPr wrap="square" lIns="0" tIns="0" rIns="0" bIns="0" rtlCol="0" anchor="t"/>
          <a:lstStyle/>
          <a:p>
            <a:pPr rtl="1" algn="r" indent="0" marL="0">
              <a:lnSpc>
                <a:spcPct val="110000"/>
              </a:lnSpc>
              <a:spcAft>
                <a:spcPts val="500"/>
              </a:spcAft>
              <a:buNone/>
            </a:pPr>
            <a:r>
              <a:rPr lang="ar-AE" altLang="en-US" sz="1150" b="1" dirty="0">
                <a:solidFill>
                  <a:srgbClr val="0A1628"/>
                </a:solidFill>
                <a:latin typeface="IBM Plex Sans Arabic" pitchFamily="34" charset="0"/>
                <a:ea typeface="IBM Plex Sans Arabic" pitchFamily="34" charset="-122"/>
                <a:cs typeface="IBM Plex Sans Arabic" pitchFamily="34" charset="-120"/>
              </a:rPr>
              <a:t>تركيب الشواحن</a:t>
            </a:r>
            <a:endParaRPr lang="ar-AE" sz="1150" dirty="0"/>
          </a:p>
        </p:txBody>
      </p:sp>
      <p:sp>
        <p:nvSpPr>
          <p:cNvPr id="21" name="Text 19"/>
          <p:cNvSpPr txBox="1"/>
          <p:nvPr/>
        </p:nvSpPr>
        <p:spPr>
          <a:xfrm>
            <a:off x="749808" y="5074920"/>
            <a:ext cx="3173882" cy="548640"/>
          </a:xfrm>
          <a:prstGeom prst="rect">
            <a:avLst/>
          </a:prstGeom>
          <a:noFill/>
          <a:ln/>
        </p:spPr>
        <p:txBody>
          <a:bodyPr wrap="square" lIns="0" tIns="0" rIns="0" bIns="0" rtlCol="0" anchor="t"/>
          <a:lstStyle/>
          <a:p>
            <a:pPr algn="l" indent="0" marL="0">
              <a:lnSpc>
                <a:spcPct val="110000"/>
              </a:lnSpc>
              <a:spcAft>
                <a:spcPts val="500"/>
              </a:spcAft>
              <a:buNone/>
            </a:pPr>
            <a:r>
              <a:rPr lang="en-US" altLang="en-US" sz="820" dirty="0">
                <a:solidFill>
                  <a:srgbClr val="2A3547"/>
                </a:solidFill>
                <a:latin typeface="Inter" pitchFamily="34" charset="0"/>
                <a:ea typeface="Inter" pitchFamily="34" charset="-122"/>
                <a:cs typeface="Inter" pitchFamily="34" charset="-120"/>
              </a:rPr>
              <a:t>EV charger installations are carried out by EVCARS’ dedicated technical team, following an assessment of applicable installation requirements.</a:t>
            </a:r>
            <a:endParaRPr lang="en-US" sz="820" dirty="0"/>
          </a:p>
        </p:txBody>
      </p:sp>
      <p:sp>
        <p:nvSpPr>
          <p:cNvPr id="22" name="Text 20"/>
          <p:cNvSpPr txBox="1"/>
          <p:nvPr/>
        </p:nvSpPr>
        <p:spPr>
          <a:xfrm>
            <a:off x="749808" y="5623560"/>
            <a:ext cx="3173882" cy="640080"/>
          </a:xfrm>
          <a:prstGeom prst="rect">
            <a:avLst/>
          </a:prstGeom>
          <a:noFill/>
          <a:ln/>
        </p:spPr>
        <p:txBody>
          <a:bodyPr wrap="square" lIns="0" tIns="0" rIns="0" bIns="0" rtlCol="0" anchor="t"/>
          <a:lstStyle/>
          <a:p>
            <a:pPr rtl="1" algn="r" indent="0" marL="0">
              <a:lnSpc>
                <a:spcPct val="110000"/>
              </a:lnSpc>
              <a:spcAft>
                <a:spcPts val="500"/>
              </a:spcAft>
              <a:buNone/>
            </a:pPr>
            <a:r>
              <a:rPr lang="ar-AE" altLang="en-US" sz="880" dirty="0">
                <a:solidFill>
                  <a:srgbClr val="2A3547"/>
                </a:solidFill>
                <a:latin typeface="IBM Plex Sans Arabic" pitchFamily="34" charset="0"/>
                <a:ea typeface="IBM Plex Sans Arabic" pitchFamily="34" charset="-122"/>
                <a:cs typeface="IBM Plex Sans Arabic" pitchFamily="34" charset="-120"/>
              </a:rPr>
              <a:t>تتم أعمال تركيب الشواحن بواسطة فريق فني متخصص تابع لـ EVCARS، لخدمة العملاء في المواقع المناسبة بعد تقييم متطلبات التركيب.</a:t>
            </a:r>
            <a:endParaRPr lang="ar-AE" sz="880" dirty="0"/>
          </a:p>
        </p:txBody>
      </p:sp>
      <p:sp>
        <p:nvSpPr>
          <p:cNvPr id="23" name="Accessory Installation"/>
          <p:cNvSpPr/>
          <p:nvPr/>
        </p:nvSpPr>
        <p:spPr>
          <a:xfrm>
            <a:off x="4307738" y="4297680"/>
            <a:ext cx="3576218" cy="2011680"/>
          </a:xfrm>
          <a:prstGeom prst="rect">
            <a:avLst/>
          </a:prstGeom>
          <a:solidFill>
            <a:srgbClr val="F4F6F9"/>
          </a:solidFill>
          <a:ln w="9525">
            <a:solidFill>
              <a:srgbClr val="E3E8EF"/>
            </a:solidFill>
            <a:prstDash val="solid"/>
          </a:ln>
        </p:spPr>
      </p:sp>
      <p:sp>
        <p:nvSpPr>
          <p:cNvPr id="24" name="Shape 22"/>
          <p:cNvSpPr/>
          <p:nvPr/>
        </p:nvSpPr>
        <p:spPr>
          <a:xfrm>
            <a:off x="4307738" y="4297680"/>
            <a:ext cx="3576218" cy="45720"/>
          </a:xfrm>
          <a:prstGeom prst="rect">
            <a:avLst/>
          </a:prstGeom>
          <a:solidFill>
            <a:srgbClr val="3E9ACA"/>
          </a:solidFill>
          <a:ln w="12700">
            <a:solidFill>
              <a:srgbClr val="3E9ACA"/>
            </a:solidFill>
            <a:prstDash val="solid"/>
          </a:ln>
        </p:spPr>
      </p:sp>
      <p:sp>
        <p:nvSpPr>
          <p:cNvPr id="25" name="Text 23"/>
          <p:cNvSpPr txBox="1"/>
          <p:nvPr/>
        </p:nvSpPr>
        <p:spPr>
          <a:xfrm>
            <a:off x="4508906" y="4480560"/>
            <a:ext cx="3173882" cy="256032"/>
          </a:xfrm>
          <a:prstGeom prst="rect">
            <a:avLst/>
          </a:prstGeom>
          <a:noFill/>
          <a:ln/>
        </p:spPr>
        <p:txBody>
          <a:bodyPr wrap="square" lIns="0" tIns="0" rIns="0" bIns="0" rtlCol="0" anchor="t"/>
          <a:lstStyle/>
          <a:p>
            <a:pPr algn="l" indent="0" marL="0">
              <a:lnSpc>
                <a:spcPct val="110000"/>
              </a:lnSpc>
              <a:spcAft>
                <a:spcPts val="500"/>
              </a:spcAft>
              <a:buNone/>
            </a:pPr>
            <a:r>
              <a:rPr lang="en-US" altLang="en-US" sz="1050" b="1" dirty="0">
                <a:solidFill>
                  <a:srgbClr val="0A1628"/>
                </a:solidFill>
                <a:latin typeface="Sora" pitchFamily="34" charset="0"/>
                <a:ea typeface="Sora" pitchFamily="34" charset="-122"/>
                <a:cs typeface="Sora" pitchFamily="34" charset="-120"/>
              </a:rPr>
              <a:t>Accessory Installation</a:t>
            </a:r>
            <a:endParaRPr lang="en-US" sz="1050" dirty="0"/>
          </a:p>
        </p:txBody>
      </p:sp>
      <p:sp>
        <p:nvSpPr>
          <p:cNvPr id="26" name="Text 24"/>
          <p:cNvSpPr txBox="1"/>
          <p:nvPr/>
        </p:nvSpPr>
        <p:spPr>
          <a:xfrm>
            <a:off x="4508906" y="4736592"/>
            <a:ext cx="3173882" cy="256032"/>
          </a:xfrm>
          <a:prstGeom prst="rect">
            <a:avLst/>
          </a:prstGeom>
          <a:noFill/>
          <a:ln/>
        </p:spPr>
        <p:txBody>
          <a:bodyPr wrap="square" lIns="0" tIns="0" rIns="0" bIns="0" rtlCol="0" anchor="t"/>
          <a:lstStyle/>
          <a:p>
            <a:pPr rtl="1" algn="r" indent="0" marL="0">
              <a:lnSpc>
                <a:spcPct val="110000"/>
              </a:lnSpc>
              <a:spcAft>
                <a:spcPts val="500"/>
              </a:spcAft>
              <a:buNone/>
            </a:pPr>
            <a:r>
              <a:rPr lang="ar-AE" altLang="en-US" sz="1150" b="1" dirty="0">
                <a:solidFill>
                  <a:srgbClr val="0A1628"/>
                </a:solidFill>
                <a:latin typeface="IBM Plex Sans Arabic" pitchFamily="34" charset="0"/>
                <a:ea typeface="IBM Plex Sans Arabic" pitchFamily="34" charset="-122"/>
                <a:cs typeface="IBM Plex Sans Arabic" pitchFamily="34" charset="-120"/>
              </a:rPr>
              <a:t>تركيب الإكسسوارات</a:t>
            </a:r>
            <a:endParaRPr lang="ar-AE" sz="1150" dirty="0"/>
          </a:p>
        </p:txBody>
      </p:sp>
      <p:sp>
        <p:nvSpPr>
          <p:cNvPr id="27" name="Text 25"/>
          <p:cNvSpPr txBox="1"/>
          <p:nvPr/>
        </p:nvSpPr>
        <p:spPr>
          <a:xfrm>
            <a:off x="4508906" y="5074920"/>
            <a:ext cx="3173882" cy="548640"/>
          </a:xfrm>
          <a:prstGeom prst="rect">
            <a:avLst/>
          </a:prstGeom>
          <a:noFill/>
          <a:ln/>
        </p:spPr>
        <p:txBody>
          <a:bodyPr wrap="square" lIns="0" tIns="0" rIns="0" bIns="0" rtlCol="0" anchor="t"/>
          <a:lstStyle/>
          <a:p>
            <a:pPr algn="l" indent="0" marL="0">
              <a:lnSpc>
                <a:spcPct val="110000"/>
              </a:lnSpc>
              <a:spcAft>
                <a:spcPts val="500"/>
              </a:spcAft>
              <a:buNone/>
            </a:pPr>
            <a:r>
              <a:rPr lang="en-US" altLang="en-US" sz="820" dirty="0">
                <a:solidFill>
                  <a:srgbClr val="2A3547"/>
                </a:solidFill>
                <a:latin typeface="Inter" pitchFamily="34" charset="0"/>
                <a:ea typeface="Inter" pitchFamily="34" charset="-122"/>
                <a:cs typeface="Inter" pitchFamily="34" charset="-120"/>
              </a:rPr>
              <a:t>EVCARS offers complimentary in-branch installation for eligible accessories purchased from the company.</a:t>
            </a:r>
            <a:endParaRPr lang="en-US" sz="820" dirty="0"/>
          </a:p>
        </p:txBody>
      </p:sp>
      <p:sp>
        <p:nvSpPr>
          <p:cNvPr id="28" name="Text 26"/>
          <p:cNvSpPr txBox="1"/>
          <p:nvPr/>
        </p:nvSpPr>
        <p:spPr>
          <a:xfrm>
            <a:off x="4508906" y="5623560"/>
            <a:ext cx="3173882" cy="640080"/>
          </a:xfrm>
          <a:prstGeom prst="rect">
            <a:avLst/>
          </a:prstGeom>
          <a:noFill/>
          <a:ln/>
        </p:spPr>
        <p:txBody>
          <a:bodyPr wrap="square" lIns="0" tIns="0" rIns="0" bIns="0" rtlCol="0" anchor="t"/>
          <a:lstStyle/>
          <a:p>
            <a:pPr rtl="1" algn="r" indent="0" marL="0">
              <a:lnSpc>
                <a:spcPct val="110000"/>
              </a:lnSpc>
              <a:spcAft>
                <a:spcPts val="500"/>
              </a:spcAft>
              <a:buNone/>
            </a:pPr>
            <a:r>
              <a:rPr lang="ar-AE" altLang="en-US" sz="880" dirty="0">
                <a:solidFill>
                  <a:srgbClr val="2A3547"/>
                </a:solidFill>
                <a:latin typeface="IBM Plex Sans Arabic" pitchFamily="34" charset="0"/>
                <a:ea typeface="IBM Plex Sans Arabic" pitchFamily="34" charset="-122"/>
                <a:cs typeface="IBM Plex Sans Arabic" pitchFamily="34" charset="-120"/>
              </a:rPr>
              <a:t>تقدم EVCARS خدمة التركيب المجاني داخل الفروع للإكسسوارات المؤهلة التي يتم شراؤها من الشركة.</a:t>
            </a:r>
            <a:endParaRPr lang="ar-AE" sz="880" dirty="0"/>
          </a:p>
        </p:txBody>
      </p:sp>
      <p:sp>
        <p:nvSpPr>
          <p:cNvPr id="29" name="Tesla AC Care"/>
          <p:cNvSpPr/>
          <p:nvPr/>
        </p:nvSpPr>
        <p:spPr>
          <a:xfrm>
            <a:off x="8066837" y="4297680"/>
            <a:ext cx="3576218" cy="2011680"/>
          </a:xfrm>
          <a:prstGeom prst="rect">
            <a:avLst/>
          </a:prstGeom>
          <a:solidFill>
            <a:srgbClr val="F4F6F9"/>
          </a:solidFill>
          <a:ln w="9525">
            <a:solidFill>
              <a:srgbClr val="E3E8EF"/>
            </a:solidFill>
            <a:prstDash val="solid"/>
          </a:ln>
        </p:spPr>
      </p:sp>
      <p:sp>
        <p:nvSpPr>
          <p:cNvPr id="30" name="Shape 28"/>
          <p:cNvSpPr/>
          <p:nvPr/>
        </p:nvSpPr>
        <p:spPr>
          <a:xfrm>
            <a:off x="8066837" y="4297680"/>
            <a:ext cx="3576218" cy="45720"/>
          </a:xfrm>
          <a:prstGeom prst="rect">
            <a:avLst/>
          </a:prstGeom>
          <a:solidFill>
            <a:srgbClr val="B1D479"/>
          </a:solidFill>
          <a:ln w="12700">
            <a:solidFill>
              <a:srgbClr val="B1D479"/>
            </a:solidFill>
            <a:prstDash val="solid"/>
          </a:ln>
        </p:spPr>
      </p:sp>
      <p:sp>
        <p:nvSpPr>
          <p:cNvPr id="31" name="Text 29"/>
          <p:cNvSpPr txBox="1"/>
          <p:nvPr/>
        </p:nvSpPr>
        <p:spPr>
          <a:xfrm>
            <a:off x="8268005" y="4480560"/>
            <a:ext cx="3173882" cy="256032"/>
          </a:xfrm>
          <a:prstGeom prst="rect">
            <a:avLst/>
          </a:prstGeom>
          <a:noFill/>
          <a:ln/>
        </p:spPr>
        <p:txBody>
          <a:bodyPr wrap="square" lIns="0" tIns="0" rIns="0" bIns="0" rtlCol="0" anchor="t"/>
          <a:lstStyle/>
          <a:p>
            <a:pPr algn="l" indent="0" marL="0">
              <a:lnSpc>
                <a:spcPct val="110000"/>
              </a:lnSpc>
              <a:spcAft>
                <a:spcPts val="500"/>
              </a:spcAft>
              <a:buNone/>
            </a:pPr>
            <a:r>
              <a:rPr lang="en-US" altLang="en-US" sz="1050" b="1" dirty="0">
                <a:solidFill>
                  <a:srgbClr val="0A1628"/>
                </a:solidFill>
                <a:latin typeface="Sora" pitchFamily="34" charset="0"/>
                <a:ea typeface="Sora" pitchFamily="34" charset="-122"/>
                <a:cs typeface="Sora" pitchFamily="34" charset="-120"/>
              </a:rPr>
              <a:t>Tesla AC Care</a:t>
            </a:r>
            <a:endParaRPr lang="en-US" sz="1050" dirty="0"/>
          </a:p>
        </p:txBody>
      </p:sp>
      <p:sp>
        <p:nvSpPr>
          <p:cNvPr id="32" name="Text 30"/>
          <p:cNvSpPr txBox="1"/>
          <p:nvPr/>
        </p:nvSpPr>
        <p:spPr>
          <a:xfrm>
            <a:off x="8268005" y="4736592"/>
            <a:ext cx="3173882" cy="256032"/>
          </a:xfrm>
          <a:prstGeom prst="rect">
            <a:avLst/>
          </a:prstGeom>
          <a:noFill/>
          <a:ln/>
        </p:spPr>
        <p:txBody>
          <a:bodyPr wrap="square" lIns="0" tIns="0" rIns="0" bIns="0" rtlCol="0" anchor="t"/>
          <a:lstStyle/>
          <a:p>
            <a:pPr rtl="1" algn="r" indent="0" marL="0">
              <a:lnSpc>
                <a:spcPct val="110000"/>
              </a:lnSpc>
              <a:spcAft>
                <a:spcPts val="500"/>
              </a:spcAft>
              <a:buNone/>
            </a:pPr>
            <a:r>
              <a:rPr lang="ar-AE" altLang="en-US" sz="1150" b="1" dirty="0">
                <a:solidFill>
                  <a:srgbClr val="0A1628"/>
                </a:solidFill>
                <a:latin typeface="IBM Plex Sans Arabic" pitchFamily="34" charset="0"/>
                <a:ea typeface="IBM Plex Sans Arabic" pitchFamily="34" charset="-122"/>
                <a:cs typeface="IBM Plex Sans Arabic" pitchFamily="34" charset="-120"/>
              </a:rPr>
              <a:t>العناية بتكييف تسلا</a:t>
            </a:r>
            <a:endParaRPr lang="ar-AE" sz="1150" dirty="0"/>
          </a:p>
        </p:txBody>
      </p:sp>
      <p:sp>
        <p:nvSpPr>
          <p:cNvPr id="33" name="Text 31"/>
          <p:cNvSpPr txBox="1"/>
          <p:nvPr/>
        </p:nvSpPr>
        <p:spPr>
          <a:xfrm>
            <a:off x="8268005" y="5074920"/>
            <a:ext cx="3173882" cy="548640"/>
          </a:xfrm>
          <a:prstGeom prst="rect">
            <a:avLst/>
          </a:prstGeom>
          <a:noFill/>
          <a:ln/>
        </p:spPr>
        <p:txBody>
          <a:bodyPr wrap="square" lIns="0" tIns="0" rIns="0" bIns="0" rtlCol="0" anchor="t"/>
          <a:lstStyle/>
          <a:p>
            <a:pPr algn="l" indent="0" marL="0">
              <a:lnSpc>
                <a:spcPct val="110000"/>
              </a:lnSpc>
              <a:spcAft>
                <a:spcPts val="500"/>
              </a:spcAft>
              <a:buNone/>
            </a:pPr>
            <a:r>
              <a:rPr lang="en-US" altLang="en-US" sz="820" dirty="0">
                <a:solidFill>
                  <a:srgbClr val="2A3547"/>
                </a:solidFill>
                <a:latin typeface="Inter" pitchFamily="34" charset="0"/>
                <a:ea typeface="Inter" pitchFamily="34" charset="-122"/>
                <a:cs typeface="Inter" pitchFamily="34" charset="-120"/>
              </a:rPr>
              <a:t>The company provides selected quick Tesla air-conditioning care services at its Dubai, Sharjah, and Al Ain branches.</a:t>
            </a:r>
            <a:endParaRPr lang="en-US" sz="820" dirty="0"/>
          </a:p>
        </p:txBody>
      </p:sp>
      <p:sp>
        <p:nvSpPr>
          <p:cNvPr id="34" name="Text 32"/>
          <p:cNvSpPr txBox="1"/>
          <p:nvPr/>
        </p:nvSpPr>
        <p:spPr>
          <a:xfrm>
            <a:off x="8268005" y="5623560"/>
            <a:ext cx="3173882" cy="640080"/>
          </a:xfrm>
          <a:prstGeom prst="rect">
            <a:avLst/>
          </a:prstGeom>
          <a:noFill/>
          <a:ln/>
        </p:spPr>
        <p:txBody>
          <a:bodyPr wrap="square" lIns="0" tIns="0" rIns="0" bIns="0" rtlCol="0" anchor="t"/>
          <a:lstStyle/>
          <a:p>
            <a:pPr rtl="1" algn="r" indent="0" marL="0">
              <a:lnSpc>
                <a:spcPct val="110000"/>
              </a:lnSpc>
              <a:spcAft>
                <a:spcPts val="500"/>
              </a:spcAft>
              <a:buNone/>
            </a:pPr>
            <a:r>
              <a:rPr lang="ar-AE" altLang="en-US" sz="880" dirty="0">
                <a:solidFill>
                  <a:srgbClr val="2A3547"/>
                </a:solidFill>
                <a:latin typeface="IBM Plex Sans Arabic" pitchFamily="34" charset="0"/>
                <a:ea typeface="IBM Plex Sans Arabic" pitchFamily="34" charset="-122"/>
                <a:cs typeface="IBM Plex Sans Arabic" pitchFamily="34" charset="-120"/>
              </a:rPr>
              <a:t>تقدم الشركة خدمات فنية سريعة ومحددة للعناية بأنظمة تكييف سيارات تسلا في فروع دبي والشارقة والعين.</a:t>
            </a:r>
            <a:endParaRPr lang="ar-AE" sz="880" dirty="0"/>
          </a:p>
        </p:txBody>
      </p:sp>
      <p:sp>
        <p:nvSpPr>
          <p:cNvPr id="35" name="Shape 33"/>
          <p:cNvSpPr/>
          <p:nvPr/>
        </p:nvSpPr>
        <p:spPr>
          <a:xfrm>
            <a:off x="548640" y="6428232"/>
            <a:ext cx="11094415" cy="0"/>
          </a:xfrm>
          <a:prstGeom prst="line">
            <a:avLst/>
          </a:prstGeom>
          <a:noFill/>
          <a:ln w="9525">
            <a:solidFill>
              <a:srgbClr val="E3E8EF"/>
            </a:solidFill>
            <a:prstDash val="solid"/>
          </a:ln>
        </p:spPr>
      </p:sp>
      <p:pic>
        <p:nvPicPr>
          <p:cNvPr id="36" name="Image 0" descr="EVCARS logo">
            <a:hlinkClick r:id="rId2" tooltip="Back to cover" action="ppaction://hlinksldjump"/>
          </p:cNvPr>
          <p:cNvPicPr>
            <a:picLocks noChangeAspect="1"/>
          </p:cNvPicPr>
          <p:nvPr/>
        </p:nvPicPr>
        <p:blipFill>
          <a:blip r:embed="rId1"/>
          <a:stretch>
            <a:fillRect/>
          </a:stretch>
        </p:blipFill>
        <p:spPr>
          <a:xfrm>
            <a:off x="548640" y="6510528"/>
            <a:ext cx="833104" cy="155448"/>
          </a:xfrm>
          <a:prstGeom prst="rect">
            <a:avLst/>
          </a:prstGeom>
        </p:spPr>
      </p:pic>
      <p:sp>
        <p:nvSpPr>
          <p:cNvPr id="37" name="Text 34">
            <a:hlinkClick r:id="rId3" tooltip="www.evcars.me"/>
          </p:cNvPr>
          <p:cNvSpPr txBox="1"/>
          <p:nvPr/>
        </p:nvSpPr>
        <p:spPr>
          <a:xfrm>
            <a:off x="1600200" y="6492240"/>
            <a:ext cx="1463040" cy="201168"/>
          </a:xfrm>
          <a:prstGeom prst="rect">
            <a:avLst/>
          </a:prstGeom>
          <a:noFill/>
          <a:ln/>
        </p:spPr>
        <p:txBody>
          <a:bodyPr wrap="square" lIns="0" tIns="0" rIns="0" bIns="0" rtlCol="0" anchor="ctr"/>
          <a:lstStyle/>
          <a:p>
            <a:pPr indent="0" marL="0">
              <a:buNone/>
            </a:pPr>
            <a:r>
              <a:rPr lang="en-US" sz="800" u="sng" dirty="0">
                <a:solidFill>
                  <a:srgbClr val="3E9ACA"/>
                </a:solidFill>
                <a:latin typeface="Inter" pitchFamily="34" charset="0"/>
                <a:ea typeface="Inter" pitchFamily="34" charset="-122"/>
                <a:cs typeface="Inter" pitchFamily="34" charset="-120"/>
                <a:hlinkClick r:id="rId3" invalidUrl="" action="" tgtFrame="" tooltip="www.evcars.me" history="1" highlightClick="0" endSnd="0">
                  <a:extLst>
                    <a:ext uri="{A12FA001-AC4F-418D-AE19-62706E023703}">
                      <ahyp:hlinkClr xmlns:ahyp="http://schemas.microsoft.com/office/drawing/2018/hyperlinkcolor" val="tx"/>
                    </a:ext>
                  </a:extLst>
                </a:hlinkClick>
              </a:rPr>
              <a:t>www.evcars.me</a:t>
            </a:r>
            <a:endParaRPr lang="en-US" sz="800" dirty="0"/>
          </a:p>
        </p:txBody>
      </p:sp>
      <p:sp>
        <p:nvSpPr>
          <p:cNvPr id="38" name="Text 35">
            <a:hlinkClick r:id="rId4" tooltip="Page 1" action="ppaction://hlinksldjump"/>
          </p:cNvPr>
          <p:cNvSpPr txBox="1"/>
          <p:nvPr/>
        </p:nvSpPr>
        <p:spPr>
          <a:xfrm>
            <a:off x="834847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4" action="ppaction://hlinksldjump" tooltip="Page 1">
                  <a:extLst>
                    <a:ext uri="{A12FA001-AC4F-418D-AE19-62706E023703}">
                      <ahyp:hlinkClr xmlns:ahyp="http://schemas.microsoft.com/office/drawing/2018/hyperlinkcolor" val="tx"/>
                    </a:ext>
                  </a:extLst>
                </a:hlinkClick>
              </a:rPr>
              <a:t>1</a:t>
            </a:r>
            <a:endParaRPr lang="en-US" sz="750" dirty="0"/>
          </a:p>
        </p:txBody>
      </p:sp>
      <p:sp>
        <p:nvSpPr>
          <p:cNvPr id="39" name="Text 36">
            <a:hlinkClick r:id="rId5" tooltip="Page 2" action="ppaction://hlinksldjump"/>
          </p:cNvPr>
          <p:cNvSpPr txBox="1"/>
          <p:nvPr/>
        </p:nvSpPr>
        <p:spPr>
          <a:xfrm>
            <a:off x="862279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5" action="ppaction://hlinksldjump" tooltip="Page 2">
                  <a:extLst>
                    <a:ext uri="{A12FA001-AC4F-418D-AE19-62706E023703}">
                      <ahyp:hlinkClr xmlns:ahyp="http://schemas.microsoft.com/office/drawing/2018/hyperlinkcolor" val="tx"/>
                    </a:ext>
                  </a:extLst>
                </a:hlinkClick>
              </a:rPr>
              <a:t>2</a:t>
            </a:r>
            <a:endParaRPr lang="en-US" sz="750" dirty="0"/>
          </a:p>
        </p:txBody>
      </p:sp>
      <p:sp>
        <p:nvSpPr>
          <p:cNvPr id="40" name="Text 37">
            <a:hlinkClick r:id="rId6" tooltip="Page 3" action="ppaction://hlinksldjump"/>
          </p:cNvPr>
          <p:cNvSpPr txBox="1"/>
          <p:nvPr/>
        </p:nvSpPr>
        <p:spPr>
          <a:xfrm>
            <a:off x="889711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6" action="ppaction://hlinksldjump" tooltip="Page 3">
                  <a:extLst>
                    <a:ext uri="{A12FA001-AC4F-418D-AE19-62706E023703}">
                      <ahyp:hlinkClr xmlns:ahyp="http://schemas.microsoft.com/office/drawing/2018/hyperlinkcolor" val="tx"/>
                    </a:ext>
                  </a:extLst>
                </a:hlinkClick>
              </a:rPr>
              <a:t>3</a:t>
            </a:r>
            <a:endParaRPr lang="en-US" sz="750" dirty="0"/>
          </a:p>
        </p:txBody>
      </p:sp>
      <p:sp>
        <p:nvSpPr>
          <p:cNvPr id="41" name="Text 38">
            <a:hlinkClick r:id="rId7" tooltip="Page 4" action="ppaction://hlinksldjump"/>
          </p:cNvPr>
          <p:cNvSpPr txBox="1"/>
          <p:nvPr/>
        </p:nvSpPr>
        <p:spPr>
          <a:xfrm>
            <a:off x="917143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7" action="ppaction://hlinksldjump" tooltip="Page 4">
                  <a:extLst>
                    <a:ext uri="{A12FA001-AC4F-418D-AE19-62706E023703}">
                      <ahyp:hlinkClr xmlns:ahyp="http://schemas.microsoft.com/office/drawing/2018/hyperlinkcolor" val="tx"/>
                    </a:ext>
                  </a:extLst>
                </a:hlinkClick>
              </a:rPr>
              <a:t>4</a:t>
            </a:r>
            <a:endParaRPr lang="en-US" sz="750" dirty="0"/>
          </a:p>
        </p:txBody>
      </p:sp>
      <p:sp>
        <p:nvSpPr>
          <p:cNvPr id="42" name="Text 39">
            <a:hlinkClick r:id="rId8" tooltip="Page 5" action="ppaction://hlinksldjump"/>
          </p:cNvPr>
          <p:cNvSpPr txBox="1"/>
          <p:nvPr/>
        </p:nvSpPr>
        <p:spPr>
          <a:xfrm>
            <a:off x="944575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8" action="ppaction://hlinksldjump" tooltip="Page 5">
                  <a:extLst>
                    <a:ext uri="{A12FA001-AC4F-418D-AE19-62706E023703}">
                      <ahyp:hlinkClr xmlns:ahyp="http://schemas.microsoft.com/office/drawing/2018/hyperlinkcolor" val="tx"/>
                    </a:ext>
                  </a:extLst>
                </a:hlinkClick>
              </a:rPr>
              <a:t>5</a:t>
            </a:r>
            <a:endParaRPr lang="en-US" sz="750" dirty="0"/>
          </a:p>
        </p:txBody>
      </p:sp>
      <p:sp>
        <p:nvSpPr>
          <p:cNvPr id="43" name="Text 40">
            <a:hlinkClick r:id="rId9" tooltip="Page 6" action="ppaction://hlinksldjump"/>
          </p:cNvPr>
          <p:cNvSpPr txBox="1"/>
          <p:nvPr/>
        </p:nvSpPr>
        <p:spPr>
          <a:xfrm>
            <a:off x="9720072" y="6492240"/>
            <a:ext cx="274320" cy="201168"/>
          </a:xfrm>
          <a:prstGeom prst="rect">
            <a:avLst/>
          </a:prstGeom>
          <a:noFill/>
          <a:ln/>
        </p:spPr>
        <p:txBody>
          <a:bodyPr wrap="square" lIns="0" tIns="0" rIns="0" bIns="0" rtlCol="0" anchor="ctr"/>
          <a:lstStyle/>
          <a:p>
            <a:pPr algn="ctr" indent="0" marL="0">
              <a:buNone/>
            </a:pPr>
            <a:r>
              <a:rPr lang="en-US" sz="750" b="1" u="sng" dirty="0">
                <a:solidFill>
                  <a:srgbClr val="3E9ACA"/>
                </a:solidFill>
                <a:latin typeface="Inter" pitchFamily="34" charset="0"/>
                <a:ea typeface="Inter" pitchFamily="34" charset="-122"/>
                <a:cs typeface="Inter" pitchFamily="34" charset="-120"/>
                <a:hlinkClick r:id="rId9" action="ppaction://hlinksldjump" tooltip="Page 6">
                  <a:extLst>
                    <a:ext uri="{A12FA001-AC4F-418D-AE19-62706E023703}">
                      <ahyp:hlinkClr xmlns:ahyp="http://schemas.microsoft.com/office/drawing/2018/hyperlinkcolor" val="tx"/>
                    </a:ext>
                  </a:extLst>
                </a:hlinkClick>
              </a:rPr>
              <a:t>6</a:t>
            </a:r>
            <a:endParaRPr lang="en-US" sz="750" dirty="0"/>
          </a:p>
        </p:txBody>
      </p:sp>
      <p:sp>
        <p:nvSpPr>
          <p:cNvPr id="44" name="Text 41">
            <a:hlinkClick r:id="rId10" tooltip="Page 7" action="ppaction://hlinksldjump"/>
          </p:cNvPr>
          <p:cNvSpPr txBox="1"/>
          <p:nvPr/>
        </p:nvSpPr>
        <p:spPr>
          <a:xfrm>
            <a:off x="999439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0" action="ppaction://hlinksldjump" tooltip="Page 7">
                  <a:extLst>
                    <a:ext uri="{A12FA001-AC4F-418D-AE19-62706E023703}">
                      <ahyp:hlinkClr xmlns:ahyp="http://schemas.microsoft.com/office/drawing/2018/hyperlinkcolor" val="tx"/>
                    </a:ext>
                  </a:extLst>
                </a:hlinkClick>
              </a:rPr>
              <a:t>7</a:t>
            </a:r>
            <a:endParaRPr lang="en-US" sz="750" dirty="0"/>
          </a:p>
        </p:txBody>
      </p:sp>
      <p:sp>
        <p:nvSpPr>
          <p:cNvPr id="45" name="Text 42">
            <a:hlinkClick r:id="rId11" tooltip="Page 8" action="ppaction://hlinksldjump"/>
          </p:cNvPr>
          <p:cNvSpPr txBox="1"/>
          <p:nvPr/>
        </p:nvSpPr>
        <p:spPr>
          <a:xfrm>
            <a:off x="1026871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1" action="ppaction://hlinksldjump" tooltip="Page 8">
                  <a:extLst>
                    <a:ext uri="{A12FA001-AC4F-418D-AE19-62706E023703}">
                      <ahyp:hlinkClr xmlns:ahyp="http://schemas.microsoft.com/office/drawing/2018/hyperlinkcolor" val="tx"/>
                    </a:ext>
                  </a:extLst>
                </a:hlinkClick>
              </a:rPr>
              <a:t>8</a:t>
            </a:r>
            <a:endParaRPr lang="en-US" sz="750" dirty="0"/>
          </a:p>
        </p:txBody>
      </p:sp>
      <p:sp>
        <p:nvSpPr>
          <p:cNvPr id="46" name="Text 43">
            <a:hlinkClick r:id="rId12" tooltip="Page 9" action="ppaction://hlinksldjump"/>
          </p:cNvPr>
          <p:cNvSpPr txBox="1"/>
          <p:nvPr/>
        </p:nvSpPr>
        <p:spPr>
          <a:xfrm>
            <a:off x="1054303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2" action="ppaction://hlinksldjump" tooltip="Page 9">
                  <a:extLst>
                    <a:ext uri="{A12FA001-AC4F-418D-AE19-62706E023703}">
                      <ahyp:hlinkClr xmlns:ahyp="http://schemas.microsoft.com/office/drawing/2018/hyperlinkcolor" val="tx"/>
                    </a:ext>
                  </a:extLst>
                </a:hlinkClick>
              </a:rPr>
              <a:t>9</a:t>
            </a:r>
            <a:endParaRPr lang="en-US" sz="750" dirty="0"/>
          </a:p>
        </p:txBody>
      </p:sp>
      <p:sp>
        <p:nvSpPr>
          <p:cNvPr id="47" name="Text 44">
            <a:hlinkClick r:id="rId13" tooltip="Page 10" action="ppaction://hlinksldjump"/>
          </p:cNvPr>
          <p:cNvSpPr txBox="1"/>
          <p:nvPr/>
        </p:nvSpPr>
        <p:spPr>
          <a:xfrm>
            <a:off x="1081735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3" action="ppaction://hlinksldjump" tooltip="Page 10">
                  <a:extLst>
                    <a:ext uri="{A12FA001-AC4F-418D-AE19-62706E023703}">
                      <ahyp:hlinkClr xmlns:ahyp="http://schemas.microsoft.com/office/drawing/2018/hyperlinkcolor" val="tx"/>
                    </a:ext>
                  </a:extLst>
                </a:hlinkClick>
              </a:rPr>
              <a:t>10</a:t>
            </a:r>
            <a:endParaRPr lang="en-US" sz="750" dirty="0"/>
          </a:p>
        </p:txBody>
      </p:sp>
      <p:sp>
        <p:nvSpPr>
          <p:cNvPr id="48" name="Text 45">
            <a:hlinkClick r:id="rId14" tooltip="Page 11" action="ppaction://hlinksldjump"/>
          </p:cNvPr>
          <p:cNvSpPr txBox="1"/>
          <p:nvPr/>
        </p:nvSpPr>
        <p:spPr>
          <a:xfrm>
            <a:off x="1109167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4" action="ppaction://hlinksldjump" tooltip="Page 11">
                  <a:extLst>
                    <a:ext uri="{A12FA001-AC4F-418D-AE19-62706E023703}">
                      <ahyp:hlinkClr xmlns:ahyp="http://schemas.microsoft.com/office/drawing/2018/hyperlinkcolor" val="tx"/>
                    </a:ext>
                  </a:extLst>
                </a:hlinkClick>
              </a:rPr>
              <a:t>11</a:t>
            </a:r>
            <a:endParaRPr lang="en-US" sz="750" dirty="0"/>
          </a:p>
        </p:txBody>
      </p:sp>
      <p:sp>
        <p:nvSpPr>
          <p:cNvPr id="49" name="Text 46">
            <a:hlinkClick r:id="rId15" tooltip="Page 12" action="ppaction://hlinksldjump"/>
          </p:cNvPr>
          <p:cNvSpPr txBox="1"/>
          <p:nvPr/>
        </p:nvSpPr>
        <p:spPr>
          <a:xfrm>
            <a:off x="1136599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5" action="ppaction://hlinksldjump" tooltip="Page 12">
                  <a:extLst>
                    <a:ext uri="{A12FA001-AC4F-418D-AE19-62706E023703}">
                      <ahyp:hlinkClr xmlns:ahyp="http://schemas.microsoft.com/office/drawing/2018/hyperlinkcolor" val="tx"/>
                    </a:ext>
                  </a:extLst>
                </a:hlinkClick>
              </a:rPr>
              <a:t>12</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65760"/>
            <a:ext cx="5547208" cy="274320"/>
          </a:xfrm>
          <a:prstGeom prst="rect">
            <a:avLst/>
          </a:prstGeom>
          <a:noFill/>
          <a:ln/>
        </p:spPr>
        <p:txBody>
          <a:bodyPr wrap="square" lIns="0" tIns="0" rIns="0" bIns="0" rtlCol="0" anchor="t"/>
          <a:lstStyle/>
          <a:p>
            <a:pPr algn="l" indent="0" marL="0">
              <a:lnSpc>
                <a:spcPct val="110000"/>
              </a:lnSpc>
              <a:spcAft>
                <a:spcPts val="500"/>
              </a:spcAft>
              <a:buNone/>
            </a:pPr>
            <a:r>
              <a:rPr lang="en-US" altLang="en-US" sz="1000" b="1" dirty="0">
                <a:solidFill>
                  <a:srgbClr val="3E9ACA"/>
                </a:solidFill>
                <a:latin typeface="Sora" pitchFamily="34" charset="0"/>
                <a:ea typeface="Sora" pitchFamily="34" charset="-122"/>
                <a:cs typeface="Sora" pitchFamily="34" charset="-120"/>
              </a:rPr>
              <a:t>09</a:t>
            </a:r>
            <a:pPr algn="l" indent="0" marL="0">
              <a:lnSpc>
                <a:spcPct val="110000"/>
              </a:lnSpc>
              <a:spcAft>
                <a:spcPts val="500"/>
              </a:spcAft>
              <a:buNone/>
            </a:pPr>
            <a:r>
              <a:rPr lang="en-US" altLang="en-US" sz="1000" b="1" spc="200" kern="0" dirty="0">
                <a:solidFill>
                  <a:srgbClr val="0A1628"/>
                </a:solidFill>
                <a:latin typeface="Sora" pitchFamily="34" charset="0"/>
                <a:ea typeface="Sora" pitchFamily="34" charset="-122"/>
                <a:cs typeface="Sora" pitchFamily="34" charset="-120"/>
              </a:rPr>
              <a:t>  |  VEHICLE BRANDS WE SERVE</a:t>
            </a:r>
            <a:endParaRPr lang="en-US" sz="1000" dirty="0"/>
          </a:p>
        </p:txBody>
      </p:sp>
      <p:sp>
        <p:nvSpPr>
          <p:cNvPr id="3" name="Text 1"/>
          <p:cNvSpPr txBox="1"/>
          <p:nvPr/>
        </p:nvSpPr>
        <p:spPr>
          <a:xfrm>
            <a:off x="6095848" y="347472"/>
            <a:ext cx="5547208" cy="274320"/>
          </a:xfrm>
          <a:prstGeom prst="rect">
            <a:avLst/>
          </a:prstGeom>
          <a:noFill/>
          <a:ln/>
        </p:spPr>
        <p:txBody>
          <a:bodyPr wrap="square" lIns="0" tIns="0" rIns="0" bIns="0" rtlCol="0" anchor="t"/>
          <a:lstStyle/>
          <a:p>
            <a:pPr rtl="1" algn="r" indent="0" marL="0">
              <a:lnSpc>
                <a:spcPct val="110000"/>
              </a:lnSpc>
              <a:spcAft>
                <a:spcPts val="500"/>
              </a:spcAft>
              <a:buNone/>
            </a:pPr>
            <a:r>
              <a:rPr lang="ar-AE" altLang="en-US" sz="1200" b="1" dirty="0">
                <a:solidFill>
                  <a:srgbClr val="3E9ACA"/>
                </a:solidFill>
                <a:latin typeface="IBM Plex Sans Arabic" pitchFamily="34" charset="0"/>
                <a:ea typeface="IBM Plex Sans Arabic" pitchFamily="34" charset="-122"/>
                <a:cs typeface="IBM Plex Sans Arabic" pitchFamily="34" charset="-120"/>
              </a:rPr>
              <a:t>09</a:t>
            </a:r>
            <a:pPr algn="r" indent="0" marL="0">
              <a:lnSpc>
                <a:spcPct val="110000"/>
              </a:lnSpc>
              <a:spcAft>
                <a:spcPts val="500"/>
              </a:spcAft>
              <a:buNone/>
            </a:pPr>
            <a:r>
              <a:rPr lang="ar-AE" altLang="en-US" sz="1200" b="1" dirty="0">
                <a:solidFill>
                  <a:srgbClr val="0A1628"/>
                </a:solidFill>
                <a:latin typeface="IBM Plex Sans Arabic" pitchFamily="34" charset="0"/>
                <a:ea typeface="IBM Plex Sans Arabic" pitchFamily="34" charset="-122"/>
                <a:cs typeface="IBM Plex Sans Arabic" pitchFamily="34" charset="-120"/>
              </a:rPr>
              <a:t>  |  السيارات التي نخدمها</a:t>
            </a:r>
            <a:endParaRPr lang="ar-AE" sz="1200" dirty="0"/>
          </a:p>
        </p:txBody>
      </p:sp>
      <p:sp>
        <p:nvSpPr>
          <p:cNvPr id="4" name="Shape 2"/>
          <p:cNvSpPr/>
          <p:nvPr/>
        </p:nvSpPr>
        <p:spPr>
          <a:xfrm>
            <a:off x="548640" y="676656"/>
            <a:ext cx="11094415" cy="0"/>
          </a:xfrm>
          <a:prstGeom prst="line">
            <a:avLst/>
          </a:prstGeom>
          <a:noFill/>
          <a:ln w="9525">
            <a:solidFill>
              <a:srgbClr val="E3E8EF"/>
            </a:solidFill>
            <a:prstDash val="solid"/>
          </a:ln>
        </p:spPr>
      </p:sp>
      <p:sp>
        <p:nvSpPr>
          <p:cNvPr id="5" name="Text 3"/>
          <p:cNvSpPr txBox="1"/>
          <p:nvPr/>
        </p:nvSpPr>
        <p:spPr>
          <a:xfrm>
            <a:off x="548640" y="841248"/>
            <a:ext cx="5349240" cy="365760"/>
          </a:xfrm>
          <a:prstGeom prst="rect">
            <a:avLst/>
          </a:prstGeom>
          <a:noFill/>
          <a:ln/>
        </p:spPr>
        <p:txBody>
          <a:bodyPr wrap="square" lIns="0" tIns="0" rIns="0" bIns="0" rtlCol="0" anchor="t"/>
          <a:lstStyle/>
          <a:p>
            <a:pPr algn="l" indent="0" marL="0">
              <a:lnSpc>
                <a:spcPct val="110000"/>
              </a:lnSpc>
              <a:spcAft>
                <a:spcPts val="500"/>
              </a:spcAft>
              <a:buNone/>
            </a:pPr>
            <a:r>
              <a:rPr lang="en-US" altLang="en-US" sz="880" dirty="0">
                <a:solidFill>
                  <a:srgbClr val="0A1628"/>
                </a:solidFill>
                <a:latin typeface="Inter" pitchFamily="34" charset="0"/>
                <a:ea typeface="Inter" pitchFamily="34" charset="-122"/>
                <a:cs typeface="Inter" pitchFamily="34" charset="-120"/>
              </a:rPr>
              <a:t>EVCARS provides selected accessories and solutions for electric vehicles, with a focus on the following brands:</a:t>
            </a:r>
            <a:endParaRPr lang="en-US" sz="880" dirty="0"/>
          </a:p>
        </p:txBody>
      </p:sp>
      <p:sp>
        <p:nvSpPr>
          <p:cNvPr id="6" name="Text 4"/>
          <p:cNvSpPr txBox="1"/>
          <p:nvPr/>
        </p:nvSpPr>
        <p:spPr>
          <a:xfrm>
            <a:off x="6293815" y="822960"/>
            <a:ext cx="5349240" cy="365760"/>
          </a:xfrm>
          <a:prstGeom prst="rect">
            <a:avLst/>
          </a:prstGeom>
          <a:noFill/>
          <a:ln/>
        </p:spPr>
        <p:txBody>
          <a:bodyPr wrap="square" lIns="0" tIns="0" rIns="0" bIns="0" rtlCol="0" anchor="t"/>
          <a:lstStyle/>
          <a:p>
            <a:pPr rtl="1" algn="r" indent="0" marL="0">
              <a:lnSpc>
                <a:spcPct val="110000"/>
              </a:lnSpc>
              <a:spcAft>
                <a:spcPts val="500"/>
              </a:spcAft>
              <a:buNone/>
            </a:pPr>
            <a:r>
              <a:rPr lang="ar-AE" altLang="en-US" sz="950" dirty="0">
                <a:solidFill>
                  <a:srgbClr val="0A1628"/>
                </a:solidFill>
                <a:latin typeface="IBM Plex Sans Arabic" pitchFamily="34" charset="0"/>
                <a:ea typeface="IBM Plex Sans Arabic" pitchFamily="34" charset="-122"/>
                <a:cs typeface="IBM Plex Sans Arabic" pitchFamily="34" charset="-120"/>
              </a:rPr>
              <a:t>تقدم EVCARS إكسسوارات وحلولاً مختارة لمجموعة من السيارات الكهربائية، مع التركيز على العلامات التالية:</a:t>
            </a:r>
            <a:endParaRPr lang="ar-AE" sz="950" dirty="0"/>
          </a:p>
        </p:txBody>
      </p:sp>
      <p:sp>
        <p:nvSpPr>
          <p:cNvPr id="7" name="TESLA"/>
          <p:cNvSpPr/>
          <p:nvPr/>
        </p:nvSpPr>
        <p:spPr>
          <a:xfrm>
            <a:off x="548640" y="1280160"/>
            <a:ext cx="3576218" cy="1920240"/>
          </a:xfrm>
          <a:prstGeom prst="rect">
            <a:avLst/>
          </a:prstGeom>
          <a:solidFill>
            <a:srgbClr val="0A1628"/>
          </a:solidFill>
          <a:ln w="12700">
            <a:solidFill>
              <a:srgbClr val="0A1628"/>
            </a:solidFill>
            <a:prstDash val="solid"/>
          </a:ln>
        </p:spPr>
      </p:sp>
      <p:sp>
        <p:nvSpPr>
          <p:cNvPr id="8" name="Shape 6"/>
          <p:cNvSpPr/>
          <p:nvPr/>
        </p:nvSpPr>
        <p:spPr>
          <a:xfrm>
            <a:off x="548640" y="1280160"/>
            <a:ext cx="3576218" cy="45720"/>
          </a:xfrm>
          <a:prstGeom prst="rect">
            <a:avLst/>
          </a:prstGeom>
          <a:solidFill>
            <a:srgbClr val="3E9ACA"/>
          </a:solidFill>
          <a:ln w="12700">
            <a:solidFill>
              <a:srgbClr val="3E9ACA"/>
            </a:solidFill>
            <a:prstDash val="solid"/>
          </a:ln>
        </p:spPr>
      </p:sp>
      <p:sp>
        <p:nvSpPr>
          <p:cNvPr id="9" name="Text 7"/>
          <p:cNvSpPr txBox="1"/>
          <p:nvPr/>
        </p:nvSpPr>
        <p:spPr>
          <a:xfrm>
            <a:off x="777240" y="1463040"/>
            <a:ext cx="3119018" cy="411480"/>
          </a:xfrm>
          <a:prstGeom prst="rect">
            <a:avLst/>
          </a:prstGeom>
          <a:noFill/>
          <a:ln/>
        </p:spPr>
        <p:txBody>
          <a:bodyPr wrap="square" lIns="0" tIns="0" rIns="0" bIns="0" rtlCol="0" anchor="t"/>
          <a:lstStyle/>
          <a:p>
            <a:pPr algn="l" indent="0" marL="0">
              <a:lnSpc>
                <a:spcPct val="110000"/>
              </a:lnSpc>
              <a:spcAft>
                <a:spcPts val="500"/>
              </a:spcAft>
              <a:buNone/>
            </a:pPr>
            <a:r>
              <a:rPr lang="en-US" altLang="en-US" sz="2000" b="1" spc="300" kern="0" dirty="0">
                <a:solidFill>
                  <a:srgbClr val="FFFFFF"/>
                </a:solidFill>
                <a:latin typeface="Sora" pitchFamily="34" charset="0"/>
                <a:ea typeface="Sora" pitchFamily="34" charset="-122"/>
                <a:cs typeface="Sora" pitchFamily="34" charset="-120"/>
              </a:rPr>
              <a:t>TESLA</a:t>
            </a:r>
            <a:endParaRPr lang="en-US" sz="2000" dirty="0"/>
          </a:p>
        </p:txBody>
      </p:sp>
      <p:sp>
        <p:nvSpPr>
          <p:cNvPr id="10" name="Text 8"/>
          <p:cNvSpPr txBox="1"/>
          <p:nvPr/>
        </p:nvSpPr>
        <p:spPr>
          <a:xfrm>
            <a:off x="777240" y="2011680"/>
            <a:ext cx="3119018" cy="457200"/>
          </a:xfrm>
          <a:prstGeom prst="rect">
            <a:avLst/>
          </a:prstGeom>
          <a:noFill/>
          <a:ln/>
        </p:spPr>
        <p:txBody>
          <a:bodyPr wrap="square" lIns="0" tIns="0" rIns="0" bIns="0" rtlCol="0" anchor="t"/>
          <a:lstStyle/>
          <a:p>
            <a:pPr algn="l" indent="0" marL="0">
              <a:lnSpc>
                <a:spcPct val="110000"/>
              </a:lnSpc>
              <a:spcAft>
                <a:spcPts val="500"/>
              </a:spcAft>
              <a:buNone/>
            </a:pPr>
            <a:r>
              <a:rPr lang="en-US" altLang="en-US" sz="850" dirty="0">
                <a:solidFill>
                  <a:srgbClr val="C9D6E8"/>
                </a:solidFill>
                <a:latin typeface="Inter" pitchFamily="34" charset="0"/>
                <a:ea typeface="Inter" pitchFamily="34" charset="-122"/>
                <a:cs typeface="Inter" pitchFamily="34" charset="-120"/>
              </a:rPr>
              <a:t>Interior and exterior accessories, charging solutions, and specialized products and services.</a:t>
            </a:r>
            <a:endParaRPr lang="en-US" sz="850" dirty="0"/>
          </a:p>
        </p:txBody>
      </p:sp>
      <p:sp>
        <p:nvSpPr>
          <p:cNvPr id="11" name="Text 9"/>
          <p:cNvSpPr txBox="1"/>
          <p:nvPr/>
        </p:nvSpPr>
        <p:spPr>
          <a:xfrm>
            <a:off x="777240" y="2560320"/>
            <a:ext cx="3119018" cy="457200"/>
          </a:xfrm>
          <a:prstGeom prst="rect">
            <a:avLst/>
          </a:prstGeom>
          <a:noFill/>
          <a:ln/>
        </p:spPr>
        <p:txBody>
          <a:bodyPr wrap="square" lIns="0" tIns="0" rIns="0" bIns="0" rtlCol="0" anchor="t"/>
          <a:lstStyle/>
          <a:p>
            <a:pPr rtl="1" algn="r" indent="0" marL="0">
              <a:lnSpc>
                <a:spcPct val="110000"/>
              </a:lnSpc>
              <a:spcAft>
                <a:spcPts val="500"/>
              </a:spcAft>
              <a:buNone/>
            </a:pPr>
            <a:r>
              <a:rPr lang="ar-AE" altLang="en-US" sz="930" dirty="0">
                <a:solidFill>
                  <a:srgbClr val="C9D6E8"/>
                </a:solidFill>
                <a:latin typeface="IBM Plex Sans Arabic" pitchFamily="34" charset="0"/>
                <a:ea typeface="IBM Plex Sans Arabic" pitchFamily="34" charset="-122"/>
                <a:cs typeface="IBM Plex Sans Arabic" pitchFamily="34" charset="-120"/>
              </a:rPr>
              <a:t>إكسسوارات داخلية وخارجية، حلول شحن، ومنتجات وخدمات متخصصة.</a:t>
            </a:r>
            <a:endParaRPr lang="ar-AE" sz="930" dirty="0"/>
          </a:p>
        </p:txBody>
      </p:sp>
      <p:sp>
        <p:nvSpPr>
          <p:cNvPr id="12" name="ROX"/>
          <p:cNvSpPr/>
          <p:nvPr/>
        </p:nvSpPr>
        <p:spPr>
          <a:xfrm>
            <a:off x="4307738" y="1280160"/>
            <a:ext cx="3576218" cy="1920240"/>
          </a:xfrm>
          <a:prstGeom prst="rect">
            <a:avLst/>
          </a:prstGeom>
          <a:solidFill>
            <a:srgbClr val="0A1628"/>
          </a:solidFill>
          <a:ln w="12700">
            <a:solidFill>
              <a:srgbClr val="0A1628"/>
            </a:solidFill>
            <a:prstDash val="solid"/>
          </a:ln>
        </p:spPr>
      </p:sp>
      <p:sp>
        <p:nvSpPr>
          <p:cNvPr id="13" name="Shape 11"/>
          <p:cNvSpPr/>
          <p:nvPr/>
        </p:nvSpPr>
        <p:spPr>
          <a:xfrm>
            <a:off x="4307738" y="1280160"/>
            <a:ext cx="3576218" cy="45720"/>
          </a:xfrm>
          <a:prstGeom prst="rect">
            <a:avLst/>
          </a:prstGeom>
          <a:solidFill>
            <a:srgbClr val="B1D479"/>
          </a:solidFill>
          <a:ln w="12700">
            <a:solidFill>
              <a:srgbClr val="B1D479"/>
            </a:solidFill>
            <a:prstDash val="solid"/>
          </a:ln>
        </p:spPr>
      </p:sp>
      <p:sp>
        <p:nvSpPr>
          <p:cNvPr id="14" name="Text 12"/>
          <p:cNvSpPr txBox="1"/>
          <p:nvPr/>
        </p:nvSpPr>
        <p:spPr>
          <a:xfrm>
            <a:off x="4536338" y="1463040"/>
            <a:ext cx="3119018" cy="411480"/>
          </a:xfrm>
          <a:prstGeom prst="rect">
            <a:avLst/>
          </a:prstGeom>
          <a:noFill/>
          <a:ln/>
        </p:spPr>
        <p:txBody>
          <a:bodyPr wrap="square" lIns="0" tIns="0" rIns="0" bIns="0" rtlCol="0" anchor="t"/>
          <a:lstStyle/>
          <a:p>
            <a:pPr algn="l" indent="0" marL="0">
              <a:lnSpc>
                <a:spcPct val="110000"/>
              </a:lnSpc>
              <a:spcAft>
                <a:spcPts val="500"/>
              </a:spcAft>
              <a:buNone/>
            </a:pPr>
            <a:r>
              <a:rPr lang="en-US" altLang="en-US" sz="2000" b="1" spc="300" kern="0" dirty="0">
                <a:solidFill>
                  <a:srgbClr val="FFFFFF"/>
                </a:solidFill>
                <a:latin typeface="Sora" pitchFamily="34" charset="0"/>
                <a:ea typeface="Sora" pitchFamily="34" charset="-122"/>
                <a:cs typeface="Sora" pitchFamily="34" charset="-120"/>
              </a:rPr>
              <a:t>ROX</a:t>
            </a:r>
            <a:endParaRPr lang="en-US" sz="2000" dirty="0"/>
          </a:p>
        </p:txBody>
      </p:sp>
      <p:sp>
        <p:nvSpPr>
          <p:cNvPr id="15" name="Text 13"/>
          <p:cNvSpPr txBox="1"/>
          <p:nvPr/>
        </p:nvSpPr>
        <p:spPr>
          <a:xfrm>
            <a:off x="4536338" y="2011680"/>
            <a:ext cx="3119018" cy="457200"/>
          </a:xfrm>
          <a:prstGeom prst="rect">
            <a:avLst/>
          </a:prstGeom>
          <a:noFill/>
          <a:ln/>
        </p:spPr>
        <p:txBody>
          <a:bodyPr wrap="square" lIns="0" tIns="0" rIns="0" bIns="0" rtlCol="0" anchor="t"/>
          <a:lstStyle/>
          <a:p>
            <a:pPr algn="l" indent="0" marL="0">
              <a:lnSpc>
                <a:spcPct val="110000"/>
              </a:lnSpc>
              <a:spcAft>
                <a:spcPts val="500"/>
              </a:spcAft>
              <a:buNone/>
            </a:pPr>
            <a:r>
              <a:rPr lang="en-US" altLang="en-US" sz="850" dirty="0">
                <a:solidFill>
                  <a:srgbClr val="C9D6E8"/>
                </a:solidFill>
                <a:latin typeface="Inter" pitchFamily="34" charset="0"/>
                <a:ea typeface="Inter" pitchFamily="34" charset="-122"/>
                <a:cs typeface="Inter" pitchFamily="34" charset="-120"/>
              </a:rPr>
              <a:t>Specialized accessories and products for selected ROX models.</a:t>
            </a:r>
            <a:endParaRPr lang="en-US" sz="850" dirty="0"/>
          </a:p>
        </p:txBody>
      </p:sp>
      <p:sp>
        <p:nvSpPr>
          <p:cNvPr id="16" name="Text 14"/>
          <p:cNvSpPr txBox="1"/>
          <p:nvPr/>
        </p:nvSpPr>
        <p:spPr>
          <a:xfrm>
            <a:off x="4536338" y="2560320"/>
            <a:ext cx="3119018" cy="457200"/>
          </a:xfrm>
          <a:prstGeom prst="rect">
            <a:avLst/>
          </a:prstGeom>
          <a:noFill/>
          <a:ln/>
        </p:spPr>
        <p:txBody>
          <a:bodyPr wrap="square" lIns="0" tIns="0" rIns="0" bIns="0" rtlCol="0" anchor="t"/>
          <a:lstStyle/>
          <a:p>
            <a:pPr rtl="1" algn="r" indent="0" marL="0">
              <a:lnSpc>
                <a:spcPct val="110000"/>
              </a:lnSpc>
              <a:spcAft>
                <a:spcPts val="500"/>
              </a:spcAft>
              <a:buNone/>
            </a:pPr>
            <a:r>
              <a:rPr lang="ar-AE" altLang="en-US" sz="930" dirty="0">
                <a:solidFill>
                  <a:srgbClr val="C9D6E8"/>
                </a:solidFill>
                <a:latin typeface="IBM Plex Sans Arabic" pitchFamily="34" charset="0"/>
                <a:ea typeface="IBM Plex Sans Arabic" pitchFamily="34" charset="-122"/>
                <a:cs typeface="IBM Plex Sans Arabic" pitchFamily="34" charset="-120"/>
              </a:rPr>
              <a:t>إكسسوارات ومنتجات متخصصة تناسب طرازات مختارة من سيارات ROX.</a:t>
            </a:r>
            <a:endParaRPr lang="ar-AE" sz="930" dirty="0"/>
          </a:p>
        </p:txBody>
      </p:sp>
      <p:sp>
        <p:nvSpPr>
          <p:cNvPr id="17" name="LEOPARD"/>
          <p:cNvSpPr/>
          <p:nvPr/>
        </p:nvSpPr>
        <p:spPr>
          <a:xfrm>
            <a:off x="8066837" y="1280160"/>
            <a:ext cx="3576218" cy="1920240"/>
          </a:xfrm>
          <a:prstGeom prst="rect">
            <a:avLst/>
          </a:prstGeom>
          <a:solidFill>
            <a:srgbClr val="0A1628"/>
          </a:solidFill>
          <a:ln w="12700">
            <a:solidFill>
              <a:srgbClr val="0A1628"/>
            </a:solidFill>
            <a:prstDash val="solid"/>
          </a:ln>
        </p:spPr>
      </p:sp>
      <p:sp>
        <p:nvSpPr>
          <p:cNvPr id="18" name="Shape 16"/>
          <p:cNvSpPr/>
          <p:nvPr/>
        </p:nvSpPr>
        <p:spPr>
          <a:xfrm>
            <a:off x="8066837" y="1280160"/>
            <a:ext cx="3576218" cy="45720"/>
          </a:xfrm>
          <a:prstGeom prst="rect">
            <a:avLst/>
          </a:prstGeom>
          <a:solidFill>
            <a:srgbClr val="3E9ACA"/>
          </a:solidFill>
          <a:ln w="12700">
            <a:solidFill>
              <a:srgbClr val="3E9ACA"/>
            </a:solidFill>
            <a:prstDash val="solid"/>
          </a:ln>
        </p:spPr>
      </p:sp>
      <p:sp>
        <p:nvSpPr>
          <p:cNvPr id="19" name="Text 17"/>
          <p:cNvSpPr txBox="1"/>
          <p:nvPr/>
        </p:nvSpPr>
        <p:spPr>
          <a:xfrm>
            <a:off x="8295437" y="1463040"/>
            <a:ext cx="3119018" cy="411480"/>
          </a:xfrm>
          <a:prstGeom prst="rect">
            <a:avLst/>
          </a:prstGeom>
          <a:noFill/>
          <a:ln/>
        </p:spPr>
        <p:txBody>
          <a:bodyPr wrap="square" lIns="0" tIns="0" rIns="0" bIns="0" rtlCol="0" anchor="t"/>
          <a:lstStyle/>
          <a:p>
            <a:pPr algn="l" indent="0" marL="0">
              <a:lnSpc>
                <a:spcPct val="110000"/>
              </a:lnSpc>
              <a:spcAft>
                <a:spcPts val="500"/>
              </a:spcAft>
              <a:buNone/>
            </a:pPr>
            <a:r>
              <a:rPr lang="en-US" altLang="en-US" sz="2000" b="1" spc="300" kern="0" dirty="0">
                <a:solidFill>
                  <a:srgbClr val="FFFFFF"/>
                </a:solidFill>
                <a:latin typeface="Sora" pitchFamily="34" charset="0"/>
                <a:ea typeface="Sora" pitchFamily="34" charset="-122"/>
                <a:cs typeface="Sora" pitchFamily="34" charset="-120"/>
              </a:rPr>
              <a:t>LEOPARD</a:t>
            </a:r>
            <a:endParaRPr lang="en-US" sz="2000" dirty="0"/>
          </a:p>
        </p:txBody>
      </p:sp>
      <p:sp>
        <p:nvSpPr>
          <p:cNvPr id="20" name="Text 18"/>
          <p:cNvSpPr txBox="1"/>
          <p:nvPr/>
        </p:nvSpPr>
        <p:spPr>
          <a:xfrm>
            <a:off x="8295437" y="2011680"/>
            <a:ext cx="3119018" cy="457200"/>
          </a:xfrm>
          <a:prstGeom prst="rect">
            <a:avLst/>
          </a:prstGeom>
          <a:noFill/>
          <a:ln/>
        </p:spPr>
        <p:txBody>
          <a:bodyPr wrap="square" lIns="0" tIns="0" rIns="0" bIns="0" rtlCol="0" anchor="t"/>
          <a:lstStyle/>
          <a:p>
            <a:pPr algn="l" indent="0" marL="0">
              <a:lnSpc>
                <a:spcPct val="110000"/>
              </a:lnSpc>
              <a:spcAft>
                <a:spcPts val="500"/>
              </a:spcAft>
              <a:buNone/>
            </a:pPr>
            <a:r>
              <a:rPr lang="en-US" altLang="en-US" sz="850" dirty="0">
                <a:solidFill>
                  <a:srgbClr val="C9D6E8"/>
                </a:solidFill>
                <a:latin typeface="Inter" pitchFamily="34" charset="0"/>
                <a:ea typeface="Inter" pitchFamily="34" charset="-122"/>
                <a:cs typeface="Inter" pitchFamily="34" charset="-120"/>
              </a:rPr>
              <a:t>Selected accessories and enhancements for Leopard models.</a:t>
            </a:r>
            <a:endParaRPr lang="en-US" sz="850" dirty="0"/>
          </a:p>
        </p:txBody>
      </p:sp>
      <p:sp>
        <p:nvSpPr>
          <p:cNvPr id="21" name="Text 19"/>
          <p:cNvSpPr txBox="1"/>
          <p:nvPr/>
        </p:nvSpPr>
        <p:spPr>
          <a:xfrm>
            <a:off x="8295437" y="2560320"/>
            <a:ext cx="3119018" cy="457200"/>
          </a:xfrm>
          <a:prstGeom prst="rect">
            <a:avLst/>
          </a:prstGeom>
          <a:noFill/>
          <a:ln/>
        </p:spPr>
        <p:txBody>
          <a:bodyPr wrap="square" lIns="0" tIns="0" rIns="0" bIns="0" rtlCol="0" anchor="t"/>
          <a:lstStyle/>
          <a:p>
            <a:pPr rtl="1" algn="r" indent="0" marL="0">
              <a:lnSpc>
                <a:spcPct val="110000"/>
              </a:lnSpc>
              <a:spcAft>
                <a:spcPts val="500"/>
              </a:spcAft>
              <a:buNone/>
            </a:pPr>
            <a:r>
              <a:rPr lang="ar-AE" altLang="en-US" sz="930" dirty="0">
                <a:solidFill>
                  <a:srgbClr val="C9D6E8"/>
                </a:solidFill>
                <a:latin typeface="IBM Plex Sans Arabic" pitchFamily="34" charset="0"/>
                <a:ea typeface="IBM Plex Sans Arabic" pitchFamily="34" charset="-122"/>
                <a:cs typeface="IBM Plex Sans Arabic" pitchFamily="34" charset="-120"/>
              </a:rPr>
              <a:t>مجموعة مختارة من الإكسسوارات والإضافات الخاصة بطرازات Leopard.</a:t>
            </a:r>
            <a:endParaRPr lang="ar-AE" sz="930" dirty="0"/>
          </a:p>
        </p:txBody>
      </p:sp>
      <p:sp>
        <p:nvSpPr>
          <p:cNvPr id="22" name="Text 20"/>
          <p:cNvSpPr txBox="1"/>
          <p:nvPr/>
        </p:nvSpPr>
        <p:spPr>
          <a:xfrm>
            <a:off x="548640" y="3310128"/>
            <a:ext cx="5349240" cy="320040"/>
          </a:xfrm>
          <a:prstGeom prst="rect">
            <a:avLst/>
          </a:prstGeom>
          <a:noFill/>
          <a:ln/>
        </p:spPr>
        <p:txBody>
          <a:bodyPr wrap="square" lIns="0" tIns="0" rIns="0" bIns="0" rtlCol="0" anchor="t"/>
          <a:lstStyle/>
          <a:p>
            <a:pPr algn="l" indent="0" marL="0">
              <a:lnSpc>
                <a:spcPct val="110000"/>
              </a:lnSpc>
              <a:spcAft>
                <a:spcPts val="500"/>
              </a:spcAft>
              <a:buNone/>
            </a:pPr>
            <a:r>
              <a:rPr lang="en-US" altLang="en-US" sz="720" dirty="0">
                <a:solidFill>
                  <a:srgbClr val="5B6677"/>
                </a:solidFill>
                <a:latin typeface="Inter" pitchFamily="34" charset="0"/>
                <a:ea typeface="Inter" pitchFamily="34" charset="-122"/>
                <a:cs typeface="Inter" pitchFamily="34" charset="-120"/>
              </a:rPr>
              <a:t>Vehicle brands are listed to identify compatible product categories and do not imply official manufacturer authorization or dealership status.</a:t>
            </a:r>
            <a:endParaRPr lang="en-US" sz="720" dirty="0"/>
          </a:p>
        </p:txBody>
      </p:sp>
      <p:sp>
        <p:nvSpPr>
          <p:cNvPr id="23" name="Text 21"/>
          <p:cNvSpPr txBox="1"/>
          <p:nvPr/>
        </p:nvSpPr>
        <p:spPr>
          <a:xfrm>
            <a:off x="6293815" y="3291840"/>
            <a:ext cx="5349240" cy="365760"/>
          </a:xfrm>
          <a:prstGeom prst="rect">
            <a:avLst/>
          </a:prstGeom>
          <a:noFill/>
          <a:ln/>
        </p:spPr>
        <p:txBody>
          <a:bodyPr wrap="square" lIns="0" tIns="0" rIns="0" bIns="0" rtlCol="0" anchor="t"/>
          <a:lstStyle/>
          <a:p>
            <a:pPr rtl="1" algn="r" indent="0" marL="0">
              <a:lnSpc>
                <a:spcPct val="110000"/>
              </a:lnSpc>
              <a:spcAft>
                <a:spcPts val="500"/>
              </a:spcAft>
              <a:buNone/>
            </a:pPr>
            <a:r>
              <a:rPr lang="ar-AE" altLang="en-US" sz="780" dirty="0">
                <a:solidFill>
                  <a:srgbClr val="5B6677"/>
                </a:solidFill>
                <a:latin typeface="IBM Plex Sans Arabic" pitchFamily="34" charset="0"/>
                <a:ea typeface="IBM Plex Sans Arabic" pitchFamily="34" charset="-122"/>
                <a:cs typeface="IBM Plex Sans Arabic" pitchFamily="34" charset="-120"/>
              </a:rPr>
              <a:t>ملاحظة: العلامات المذكورة هي علامات المركبات التي تخدمها EVCARS، ولا يعني إدراجها وجود اعتماد أو وكالة رسمية من مصنّعي المركبات.</a:t>
            </a:r>
            <a:endParaRPr lang="ar-AE" sz="780" dirty="0"/>
          </a:p>
        </p:txBody>
      </p:sp>
      <p:sp>
        <p:nvSpPr>
          <p:cNvPr id="24" name="Text 22"/>
          <p:cNvSpPr txBox="1"/>
          <p:nvPr/>
        </p:nvSpPr>
        <p:spPr>
          <a:xfrm>
            <a:off x="548640" y="3840480"/>
            <a:ext cx="5547208" cy="274320"/>
          </a:xfrm>
          <a:prstGeom prst="rect">
            <a:avLst/>
          </a:prstGeom>
          <a:noFill/>
          <a:ln/>
        </p:spPr>
        <p:txBody>
          <a:bodyPr wrap="square" lIns="0" tIns="0" rIns="0" bIns="0" rtlCol="0" anchor="t"/>
          <a:lstStyle/>
          <a:p>
            <a:pPr algn="l" indent="0" marL="0">
              <a:lnSpc>
                <a:spcPct val="110000"/>
              </a:lnSpc>
              <a:spcAft>
                <a:spcPts val="500"/>
              </a:spcAft>
              <a:buNone/>
            </a:pPr>
            <a:r>
              <a:rPr lang="en-US" altLang="en-US" sz="1000" b="1" dirty="0">
                <a:solidFill>
                  <a:srgbClr val="3E9ACA"/>
                </a:solidFill>
                <a:latin typeface="Sora" pitchFamily="34" charset="0"/>
                <a:ea typeface="Sora" pitchFamily="34" charset="-122"/>
                <a:cs typeface="Sora" pitchFamily="34" charset="-120"/>
              </a:rPr>
              <a:t>10</a:t>
            </a:r>
            <a:pPr algn="l" indent="0" marL="0">
              <a:lnSpc>
                <a:spcPct val="110000"/>
              </a:lnSpc>
              <a:spcAft>
                <a:spcPts val="500"/>
              </a:spcAft>
              <a:buNone/>
            </a:pPr>
            <a:r>
              <a:rPr lang="en-US" altLang="en-US" sz="1000" b="1" spc="200" kern="0" dirty="0">
                <a:solidFill>
                  <a:srgbClr val="0A1628"/>
                </a:solidFill>
                <a:latin typeface="Sora" pitchFamily="34" charset="0"/>
                <a:ea typeface="Sora" pitchFamily="34" charset="-122"/>
                <a:cs typeface="Sora" pitchFamily="34" charset="-120"/>
              </a:rPr>
              <a:t>  |  BRANDS WE WORK WITH</a:t>
            </a:r>
            <a:endParaRPr lang="en-US" sz="1000" dirty="0"/>
          </a:p>
        </p:txBody>
      </p:sp>
      <p:sp>
        <p:nvSpPr>
          <p:cNvPr id="25" name="Text 23"/>
          <p:cNvSpPr txBox="1"/>
          <p:nvPr/>
        </p:nvSpPr>
        <p:spPr>
          <a:xfrm>
            <a:off x="6095848" y="3822192"/>
            <a:ext cx="5547208" cy="274320"/>
          </a:xfrm>
          <a:prstGeom prst="rect">
            <a:avLst/>
          </a:prstGeom>
          <a:noFill/>
          <a:ln/>
        </p:spPr>
        <p:txBody>
          <a:bodyPr wrap="square" lIns="0" tIns="0" rIns="0" bIns="0" rtlCol="0" anchor="t"/>
          <a:lstStyle/>
          <a:p>
            <a:pPr rtl="1" algn="r" indent="0" marL="0">
              <a:lnSpc>
                <a:spcPct val="110000"/>
              </a:lnSpc>
              <a:spcAft>
                <a:spcPts val="500"/>
              </a:spcAft>
              <a:buNone/>
            </a:pPr>
            <a:r>
              <a:rPr lang="ar-AE" altLang="en-US" sz="1200" b="1" dirty="0">
                <a:solidFill>
                  <a:srgbClr val="3E9ACA"/>
                </a:solidFill>
                <a:latin typeface="IBM Plex Sans Arabic" pitchFamily="34" charset="0"/>
                <a:ea typeface="IBM Plex Sans Arabic" pitchFamily="34" charset="-122"/>
                <a:cs typeface="IBM Plex Sans Arabic" pitchFamily="34" charset="-120"/>
              </a:rPr>
              <a:t>10</a:t>
            </a:r>
            <a:pPr algn="r" indent="0" marL="0">
              <a:lnSpc>
                <a:spcPct val="110000"/>
              </a:lnSpc>
              <a:spcAft>
                <a:spcPts val="500"/>
              </a:spcAft>
              <a:buNone/>
            </a:pPr>
            <a:r>
              <a:rPr lang="ar-AE" altLang="en-US" sz="1200" b="1" dirty="0">
                <a:solidFill>
                  <a:srgbClr val="0A1628"/>
                </a:solidFill>
                <a:latin typeface="IBM Plex Sans Arabic" pitchFamily="34" charset="0"/>
                <a:ea typeface="IBM Plex Sans Arabic" pitchFamily="34" charset="-122"/>
                <a:cs typeface="IBM Plex Sans Arabic" pitchFamily="34" charset="-120"/>
              </a:rPr>
              <a:t>  |  العلامات التجارية والشركات التي نعمل معها</a:t>
            </a:r>
            <a:endParaRPr lang="ar-AE" sz="1200" dirty="0"/>
          </a:p>
        </p:txBody>
      </p:sp>
      <p:sp>
        <p:nvSpPr>
          <p:cNvPr id="26" name="Shape 24"/>
          <p:cNvSpPr/>
          <p:nvPr/>
        </p:nvSpPr>
        <p:spPr>
          <a:xfrm>
            <a:off x="548640" y="4151376"/>
            <a:ext cx="11094415" cy="0"/>
          </a:xfrm>
          <a:prstGeom prst="line">
            <a:avLst/>
          </a:prstGeom>
          <a:noFill/>
          <a:ln w="9525">
            <a:solidFill>
              <a:srgbClr val="E3E8EF"/>
            </a:solidFill>
            <a:prstDash val="solid"/>
          </a:ln>
        </p:spPr>
      </p:sp>
      <p:sp>
        <p:nvSpPr>
          <p:cNvPr id="27" name="Text 25"/>
          <p:cNvSpPr txBox="1"/>
          <p:nvPr/>
        </p:nvSpPr>
        <p:spPr>
          <a:xfrm>
            <a:off x="548640" y="4297680"/>
            <a:ext cx="5349240" cy="365760"/>
          </a:xfrm>
          <a:prstGeom prst="rect">
            <a:avLst/>
          </a:prstGeom>
          <a:noFill/>
          <a:ln/>
        </p:spPr>
        <p:txBody>
          <a:bodyPr wrap="square" lIns="0" tIns="0" rIns="0" bIns="0" rtlCol="0" anchor="t"/>
          <a:lstStyle/>
          <a:p>
            <a:pPr algn="l" indent="0" marL="0">
              <a:lnSpc>
                <a:spcPct val="110000"/>
              </a:lnSpc>
              <a:spcAft>
                <a:spcPts val="500"/>
              </a:spcAft>
              <a:buNone/>
            </a:pPr>
            <a:r>
              <a:rPr lang="en-US" altLang="en-US" sz="850" dirty="0">
                <a:solidFill>
                  <a:srgbClr val="0A1628"/>
                </a:solidFill>
                <a:latin typeface="Inter" pitchFamily="34" charset="0"/>
                <a:ea typeface="Inter" pitchFamily="34" charset="-122"/>
                <a:cs typeface="Inter" pitchFamily="34" charset="-120"/>
              </a:rPr>
              <a:t>EVCARS works with a range of brands and companies across the electric vehicle accessories, charging solutions, and related services sectors.</a:t>
            </a:r>
            <a:endParaRPr lang="en-US" sz="850" dirty="0"/>
          </a:p>
        </p:txBody>
      </p:sp>
      <p:sp>
        <p:nvSpPr>
          <p:cNvPr id="28" name="Text 26"/>
          <p:cNvSpPr txBox="1"/>
          <p:nvPr/>
        </p:nvSpPr>
        <p:spPr>
          <a:xfrm>
            <a:off x="6293815" y="4279392"/>
            <a:ext cx="5349240" cy="365760"/>
          </a:xfrm>
          <a:prstGeom prst="rect">
            <a:avLst/>
          </a:prstGeom>
          <a:noFill/>
          <a:ln/>
        </p:spPr>
        <p:txBody>
          <a:bodyPr wrap="square" lIns="0" tIns="0" rIns="0" bIns="0" rtlCol="0" anchor="t"/>
          <a:lstStyle/>
          <a:p>
            <a:pPr rtl="1" algn="r" indent="0" marL="0">
              <a:lnSpc>
                <a:spcPct val="110000"/>
              </a:lnSpc>
              <a:spcAft>
                <a:spcPts val="500"/>
              </a:spcAft>
              <a:buNone/>
            </a:pPr>
            <a:r>
              <a:rPr lang="ar-AE" altLang="en-US" sz="900" dirty="0">
                <a:solidFill>
                  <a:srgbClr val="0A1628"/>
                </a:solidFill>
                <a:latin typeface="IBM Plex Sans Arabic" pitchFamily="34" charset="0"/>
                <a:ea typeface="IBM Plex Sans Arabic" pitchFamily="34" charset="-122"/>
                <a:cs typeface="IBM Plex Sans Arabic" pitchFamily="34" charset="-120"/>
              </a:rPr>
              <a:t>تعمل EVCARS مع مجموعة من العلامات التجارية والشركات في قطاع السيارات الكهربائية والإكسسوارات وحلول الشحن والخدمات المرتبطة بها.</a:t>
            </a:r>
            <a:endParaRPr lang="ar-AE" sz="900" dirty="0"/>
          </a:p>
        </p:txBody>
      </p:sp>
      <p:sp>
        <p:nvSpPr>
          <p:cNvPr id="29" name="HALOBLK"/>
          <p:cNvSpPr/>
          <p:nvPr/>
        </p:nvSpPr>
        <p:spPr>
          <a:xfrm>
            <a:off x="548640" y="4846320"/>
            <a:ext cx="2116470" cy="713232"/>
          </a:xfrm>
          <a:prstGeom prst="rect">
            <a:avLst/>
          </a:prstGeom>
          <a:solidFill>
            <a:srgbClr val="F4F6F9"/>
          </a:solidFill>
          <a:ln w="9525">
            <a:solidFill>
              <a:srgbClr val="E3E8EF"/>
            </a:solidFill>
            <a:prstDash val="solid"/>
          </a:ln>
        </p:spPr>
      </p:sp>
      <p:sp>
        <p:nvSpPr>
          <p:cNvPr id="30" name="Text 28"/>
          <p:cNvSpPr txBox="1"/>
          <p:nvPr/>
        </p:nvSpPr>
        <p:spPr>
          <a:xfrm>
            <a:off x="640080" y="4846320"/>
            <a:ext cx="1933590" cy="713232"/>
          </a:xfrm>
          <a:prstGeom prst="rect">
            <a:avLst/>
          </a:prstGeom>
          <a:noFill/>
          <a:ln/>
        </p:spPr>
        <p:txBody>
          <a:bodyPr wrap="square" lIns="0" tIns="0" rIns="0" bIns="0" rtlCol="0" anchor="ctr"/>
          <a:lstStyle/>
          <a:p>
            <a:pPr algn="ctr" indent="0" marL="0">
              <a:lnSpc>
                <a:spcPct val="110000"/>
              </a:lnSpc>
              <a:spcAft>
                <a:spcPts val="500"/>
              </a:spcAft>
              <a:buNone/>
            </a:pPr>
            <a:r>
              <a:rPr lang="en-US" altLang="en-US" sz="1000" b="1" dirty="0">
                <a:solidFill>
                  <a:srgbClr val="0A1628"/>
                </a:solidFill>
                <a:latin typeface="Sora" pitchFamily="34" charset="0"/>
                <a:ea typeface="Sora" pitchFamily="34" charset="-122"/>
                <a:cs typeface="Sora" pitchFamily="34" charset="-120"/>
              </a:rPr>
              <a:t>HALOBLK</a:t>
            </a:r>
            <a:endParaRPr lang="en-US" sz="1000" dirty="0"/>
          </a:p>
        </p:txBody>
      </p:sp>
      <p:sp>
        <p:nvSpPr>
          <p:cNvPr id="31" name="EVSPACE"/>
          <p:cNvSpPr/>
          <p:nvPr/>
        </p:nvSpPr>
        <p:spPr>
          <a:xfrm>
            <a:off x="2793126" y="4846320"/>
            <a:ext cx="2116470" cy="713232"/>
          </a:xfrm>
          <a:prstGeom prst="rect">
            <a:avLst/>
          </a:prstGeom>
          <a:solidFill>
            <a:srgbClr val="F4F6F9"/>
          </a:solidFill>
          <a:ln w="9525">
            <a:solidFill>
              <a:srgbClr val="E3E8EF"/>
            </a:solidFill>
            <a:prstDash val="solid"/>
          </a:ln>
        </p:spPr>
      </p:sp>
      <p:sp>
        <p:nvSpPr>
          <p:cNvPr id="32" name="Text 30"/>
          <p:cNvSpPr txBox="1"/>
          <p:nvPr/>
        </p:nvSpPr>
        <p:spPr>
          <a:xfrm>
            <a:off x="2884566" y="4846320"/>
            <a:ext cx="1933590" cy="713232"/>
          </a:xfrm>
          <a:prstGeom prst="rect">
            <a:avLst/>
          </a:prstGeom>
          <a:noFill/>
          <a:ln/>
        </p:spPr>
        <p:txBody>
          <a:bodyPr wrap="square" lIns="0" tIns="0" rIns="0" bIns="0" rtlCol="0" anchor="ctr"/>
          <a:lstStyle/>
          <a:p>
            <a:pPr algn="ctr" indent="0" marL="0">
              <a:lnSpc>
                <a:spcPct val="110000"/>
              </a:lnSpc>
              <a:spcAft>
                <a:spcPts val="500"/>
              </a:spcAft>
              <a:buNone/>
            </a:pPr>
            <a:r>
              <a:rPr lang="en-US" altLang="en-US" sz="1000" b="1" dirty="0">
                <a:solidFill>
                  <a:srgbClr val="0A1628"/>
                </a:solidFill>
                <a:latin typeface="Sora" pitchFamily="34" charset="0"/>
                <a:ea typeface="Sora" pitchFamily="34" charset="-122"/>
                <a:cs typeface="Sora" pitchFamily="34" charset="-120"/>
              </a:rPr>
              <a:t>EVSPACE</a:t>
            </a:r>
            <a:endParaRPr lang="en-US" sz="1000" dirty="0"/>
          </a:p>
        </p:txBody>
      </p:sp>
      <p:sp>
        <p:nvSpPr>
          <p:cNvPr id="33" name="EVS for Electric Vehicles Services"/>
          <p:cNvSpPr/>
          <p:nvPr/>
        </p:nvSpPr>
        <p:spPr>
          <a:xfrm>
            <a:off x="5037612" y="4846320"/>
            <a:ext cx="2116470" cy="713232"/>
          </a:xfrm>
          <a:prstGeom prst="rect">
            <a:avLst/>
          </a:prstGeom>
          <a:solidFill>
            <a:srgbClr val="F4F6F9"/>
          </a:solidFill>
          <a:ln w="9525">
            <a:solidFill>
              <a:srgbClr val="E3E8EF"/>
            </a:solidFill>
            <a:prstDash val="solid"/>
          </a:ln>
        </p:spPr>
      </p:sp>
      <p:sp>
        <p:nvSpPr>
          <p:cNvPr id="34" name="Text 32"/>
          <p:cNvSpPr txBox="1"/>
          <p:nvPr/>
        </p:nvSpPr>
        <p:spPr>
          <a:xfrm>
            <a:off x="5129052" y="4846320"/>
            <a:ext cx="1933590" cy="713232"/>
          </a:xfrm>
          <a:prstGeom prst="rect">
            <a:avLst/>
          </a:prstGeom>
          <a:noFill/>
          <a:ln/>
        </p:spPr>
        <p:txBody>
          <a:bodyPr wrap="square" lIns="0" tIns="0" rIns="0" bIns="0" rtlCol="0" anchor="ctr"/>
          <a:lstStyle/>
          <a:p>
            <a:pPr algn="ctr" indent="0" marL="0">
              <a:lnSpc>
                <a:spcPct val="110000"/>
              </a:lnSpc>
              <a:spcAft>
                <a:spcPts val="500"/>
              </a:spcAft>
              <a:buNone/>
            </a:pPr>
            <a:r>
              <a:rPr lang="en-US" altLang="en-US" sz="720" b="1" dirty="0">
                <a:solidFill>
                  <a:srgbClr val="0A1628"/>
                </a:solidFill>
                <a:latin typeface="Sora" pitchFamily="34" charset="0"/>
                <a:ea typeface="Sora" pitchFamily="34" charset="-122"/>
                <a:cs typeface="Sora" pitchFamily="34" charset="-120"/>
              </a:rPr>
              <a:t>EVS for Electric Vehicles Services</a:t>
            </a:r>
            <a:endParaRPr lang="en-US" sz="720" dirty="0"/>
          </a:p>
        </p:txBody>
      </p:sp>
      <p:sp>
        <p:nvSpPr>
          <p:cNvPr id="35" name="Al Atlalah Al Shamikha for Electric Cars Spare Parts"/>
          <p:cNvSpPr/>
          <p:nvPr/>
        </p:nvSpPr>
        <p:spPr>
          <a:xfrm>
            <a:off x="7282099" y="4846320"/>
            <a:ext cx="2116470" cy="713232"/>
          </a:xfrm>
          <a:prstGeom prst="rect">
            <a:avLst/>
          </a:prstGeom>
          <a:solidFill>
            <a:srgbClr val="F4F6F9"/>
          </a:solidFill>
          <a:ln w="9525">
            <a:solidFill>
              <a:srgbClr val="E3E8EF"/>
            </a:solidFill>
            <a:prstDash val="solid"/>
          </a:ln>
        </p:spPr>
      </p:sp>
      <p:sp>
        <p:nvSpPr>
          <p:cNvPr id="36" name="Text 34"/>
          <p:cNvSpPr txBox="1"/>
          <p:nvPr/>
        </p:nvSpPr>
        <p:spPr>
          <a:xfrm>
            <a:off x="7373539" y="4846320"/>
            <a:ext cx="1933590" cy="713232"/>
          </a:xfrm>
          <a:prstGeom prst="rect">
            <a:avLst/>
          </a:prstGeom>
          <a:noFill/>
          <a:ln/>
        </p:spPr>
        <p:txBody>
          <a:bodyPr wrap="square" lIns="0" tIns="0" rIns="0" bIns="0" rtlCol="0" anchor="ctr"/>
          <a:lstStyle/>
          <a:p>
            <a:pPr algn="ctr" indent="0" marL="0">
              <a:lnSpc>
                <a:spcPct val="110000"/>
              </a:lnSpc>
              <a:spcAft>
                <a:spcPts val="500"/>
              </a:spcAft>
              <a:buNone/>
            </a:pPr>
            <a:r>
              <a:rPr lang="en-US" altLang="en-US" sz="720" b="1" dirty="0">
                <a:solidFill>
                  <a:srgbClr val="0A1628"/>
                </a:solidFill>
                <a:latin typeface="Sora" pitchFamily="34" charset="0"/>
                <a:ea typeface="Sora" pitchFamily="34" charset="-122"/>
                <a:cs typeface="Sora" pitchFamily="34" charset="-120"/>
              </a:rPr>
              <a:t>Al Atlalah Al Shamikha for Electric Cars Spare Parts</a:t>
            </a:r>
            <a:endParaRPr lang="en-US" sz="720" dirty="0"/>
          </a:p>
        </p:txBody>
      </p:sp>
      <p:sp>
        <p:nvSpPr>
          <p:cNvPr id="37" name="IGUANA Premium Auto Care"/>
          <p:cNvSpPr/>
          <p:nvPr/>
        </p:nvSpPr>
        <p:spPr>
          <a:xfrm>
            <a:off x="9526585" y="4846320"/>
            <a:ext cx="2116470" cy="713232"/>
          </a:xfrm>
          <a:prstGeom prst="rect">
            <a:avLst/>
          </a:prstGeom>
          <a:solidFill>
            <a:srgbClr val="F4F6F9"/>
          </a:solidFill>
          <a:ln w="9525">
            <a:solidFill>
              <a:srgbClr val="E3E8EF"/>
            </a:solidFill>
            <a:prstDash val="solid"/>
          </a:ln>
        </p:spPr>
      </p:sp>
      <p:sp>
        <p:nvSpPr>
          <p:cNvPr id="38" name="Text 36"/>
          <p:cNvSpPr txBox="1"/>
          <p:nvPr/>
        </p:nvSpPr>
        <p:spPr>
          <a:xfrm>
            <a:off x="9618025" y="4846320"/>
            <a:ext cx="1933590" cy="713232"/>
          </a:xfrm>
          <a:prstGeom prst="rect">
            <a:avLst/>
          </a:prstGeom>
          <a:noFill/>
          <a:ln/>
        </p:spPr>
        <p:txBody>
          <a:bodyPr wrap="square" lIns="0" tIns="0" rIns="0" bIns="0" rtlCol="0" anchor="ctr"/>
          <a:lstStyle/>
          <a:p>
            <a:pPr algn="ctr" indent="0" marL="0">
              <a:lnSpc>
                <a:spcPct val="110000"/>
              </a:lnSpc>
              <a:spcAft>
                <a:spcPts val="500"/>
              </a:spcAft>
              <a:buNone/>
            </a:pPr>
            <a:r>
              <a:rPr lang="en-US" altLang="en-US" sz="720" b="1" dirty="0">
                <a:solidFill>
                  <a:srgbClr val="0A1628"/>
                </a:solidFill>
                <a:latin typeface="Sora" pitchFamily="34" charset="0"/>
                <a:ea typeface="Sora" pitchFamily="34" charset="-122"/>
                <a:cs typeface="Sora" pitchFamily="34" charset="-120"/>
              </a:rPr>
              <a:t>IGUANA Premium Auto Care</a:t>
            </a:r>
            <a:endParaRPr lang="en-US" sz="720" dirty="0"/>
          </a:p>
        </p:txBody>
      </p:sp>
      <p:sp>
        <p:nvSpPr>
          <p:cNvPr id="39" name="Enhance Automotive"/>
          <p:cNvSpPr/>
          <p:nvPr/>
        </p:nvSpPr>
        <p:spPr>
          <a:xfrm>
            <a:off x="1670883" y="5687568"/>
            <a:ext cx="2116470" cy="713232"/>
          </a:xfrm>
          <a:prstGeom prst="rect">
            <a:avLst/>
          </a:prstGeom>
          <a:solidFill>
            <a:srgbClr val="F4F6F9"/>
          </a:solidFill>
          <a:ln w="9525">
            <a:solidFill>
              <a:srgbClr val="E3E8EF"/>
            </a:solidFill>
            <a:prstDash val="solid"/>
          </a:ln>
        </p:spPr>
      </p:sp>
      <p:sp>
        <p:nvSpPr>
          <p:cNvPr id="40" name="Text 38"/>
          <p:cNvSpPr txBox="1"/>
          <p:nvPr/>
        </p:nvSpPr>
        <p:spPr>
          <a:xfrm>
            <a:off x="1762323" y="5687568"/>
            <a:ext cx="1933590" cy="713232"/>
          </a:xfrm>
          <a:prstGeom prst="rect">
            <a:avLst/>
          </a:prstGeom>
          <a:noFill/>
          <a:ln/>
        </p:spPr>
        <p:txBody>
          <a:bodyPr wrap="square" lIns="0" tIns="0" rIns="0" bIns="0" rtlCol="0" anchor="ctr"/>
          <a:lstStyle/>
          <a:p>
            <a:pPr algn="ctr" indent="0" marL="0">
              <a:lnSpc>
                <a:spcPct val="110000"/>
              </a:lnSpc>
              <a:spcAft>
                <a:spcPts val="500"/>
              </a:spcAft>
              <a:buNone/>
            </a:pPr>
            <a:r>
              <a:rPr lang="en-US" altLang="en-US" sz="1000" b="1" dirty="0">
                <a:solidFill>
                  <a:srgbClr val="0A1628"/>
                </a:solidFill>
                <a:latin typeface="Sora" pitchFamily="34" charset="0"/>
                <a:ea typeface="Sora" pitchFamily="34" charset="-122"/>
                <a:cs typeface="Sora" pitchFamily="34" charset="-120"/>
              </a:rPr>
              <a:t>Enhance Automotive</a:t>
            </a:r>
            <a:endParaRPr lang="en-US" sz="1000" dirty="0"/>
          </a:p>
        </p:txBody>
      </p:sp>
      <p:sp>
        <p:nvSpPr>
          <p:cNvPr id="41" name="مؤسسة النحلة التجارية"/>
          <p:cNvSpPr/>
          <p:nvPr/>
        </p:nvSpPr>
        <p:spPr>
          <a:xfrm>
            <a:off x="3915369" y="5687568"/>
            <a:ext cx="2116470" cy="713232"/>
          </a:xfrm>
          <a:prstGeom prst="rect">
            <a:avLst/>
          </a:prstGeom>
          <a:solidFill>
            <a:srgbClr val="F4F6F9"/>
          </a:solidFill>
          <a:ln w="9525">
            <a:solidFill>
              <a:srgbClr val="E3E8EF"/>
            </a:solidFill>
            <a:prstDash val="solid"/>
          </a:ln>
        </p:spPr>
      </p:sp>
      <p:sp>
        <p:nvSpPr>
          <p:cNvPr id="42" name="Text 40"/>
          <p:cNvSpPr txBox="1"/>
          <p:nvPr/>
        </p:nvSpPr>
        <p:spPr>
          <a:xfrm>
            <a:off x="4006809" y="5687568"/>
            <a:ext cx="1933590" cy="713232"/>
          </a:xfrm>
          <a:prstGeom prst="rect">
            <a:avLst/>
          </a:prstGeom>
          <a:noFill/>
          <a:ln/>
        </p:spPr>
        <p:txBody>
          <a:bodyPr wrap="square" lIns="0" tIns="0" rIns="0" bIns="0" rtlCol="0" anchor="ctr"/>
          <a:lstStyle/>
          <a:p>
            <a:pPr rtl="1" algn="ctr" indent="0" marL="0">
              <a:lnSpc>
                <a:spcPct val="110000"/>
              </a:lnSpc>
              <a:spcAft>
                <a:spcPts val="500"/>
              </a:spcAft>
              <a:buNone/>
            </a:pPr>
            <a:r>
              <a:rPr lang="ar-AE" altLang="en-US" sz="1000" b="1" dirty="0">
                <a:solidFill>
                  <a:srgbClr val="0A1628"/>
                </a:solidFill>
                <a:latin typeface="IBM Plex Sans Arabic" pitchFamily="34" charset="0"/>
                <a:ea typeface="IBM Plex Sans Arabic" pitchFamily="34" charset="-122"/>
                <a:cs typeface="IBM Plex Sans Arabic" pitchFamily="34" charset="-120"/>
              </a:rPr>
              <a:t>مؤسسة النحلة التجارية</a:t>
            </a:r>
            <a:endParaRPr lang="ar-AE" sz="1000" dirty="0"/>
          </a:p>
        </p:txBody>
      </p:sp>
      <p:sp>
        <p:nvSpPr>
          <p:cNvPr id="43" name="Best Store"/>
          <p:cNvSpPr/>
          <p:nvPr/>
        </p:nvSpPr>
        <p:spPr>
          <a:xfrm>
            <a:off x="6159856" y="5687568"/>
            <a:ext cx="2116470" cy="713232"/>
          </a:xfrm>
          <a:prstGeom prst="rect">
            <a:avLst/>
          </a:prstGeom>
          <a:solidFill>
            <a:srgbClr val="F4F6F9"/>
          </a:solidFill>
          <a:ln w="9525">
            <a:solidFill>
              <a:srgbClr val="E3E8EF"/>
            </a:solidFill>
            <a:prstDash val="solid"/>
          </a:ln>
        </p:spPr>
      </p:sp>
      <p:sp>
        <p:nvSpPr>
          <p:cNvPr id="44" name="Text 42"/>
          <p:cNvSpPr txBox="1"/>
          <p:nvPr/>
        </p:nvSpPr>
        <p:spPr>
          <a:xfrm>
            <a:off x="6251296" y="5687568"/>
            <a:ext cx="1933590" cy="713232"/>
          </a:xfrm>
          <a:prstGeom prst="rect">
            <a:avLst/>
          </a:prstGeom>
          <a:noFill/>
          <a:ln/>
        </p:spPr>
        <p:txBody>
          <a:bodyPr wrap="square" lIns="0" tIns="0" rIns="0" bIns="0" rtlCol="0" anchor="ctr"/>
          <a:lstStyle/>
          <a:p>
            <a:pPr algn="ctr" indent="0" marL="0">
              <a:lnSpc>
                <a:spcPct val="110000"/>
              </a:lnSpc>
              <a:spcAft>
                <a:spcPts val="500"/>
              </a:spcAft>
              <a:buNone/>
            </a:pPr>
            <a:r>
              <a:rPr lang="en-US" altLang="en-US" sz="1000" b="1" dirty="0">
                <a:solidFill>
                  <a:srgbClr val="0A1628"/>
                </a:solidFill>
                <a:latin typeface="Sora" pitchFamily="34" charset="0"/>
                <a:ea typeface="Sora" pitchFamily="34" charset="-122"/>
                <a:cs typeface="Sora" pitchFamily="34" charset="-120"/>
              </a:rPr>
              <a:t>Best Store</a:t>
            </a:r>
            <a:endParaRPr lang="en-US" sz="1000" dirty="0"/>
          </a:p>
        </p:txBody>
      </p:sp>
      <p:sp>
        <p:nvSpPr>
          <p:cNvPr id="45" name="EV BSGT"/>
          <p:cNvSpPr/>
          <p:nvPr/>
        </p:nvSpPr>
        <p:spPr>
          <a:xfrm>
            <a:off x="8404342" y="5687568"/>
            <a:ext cx="2116470" cy="713232"/>
          </a:xfrm>
          <a:prstGeom prst="rect">
            <a:avLst/>
          </a:prstGeom>
          <a:solidFill>
            <a:srgbClr val="F4F6F9"/>
          </a:solidFill>
          <a:ln w="9525">
            <a:solidFill>
              <a:srgbClr val="E3E8EF"/>
            </a:solidFill>
            <a:prstDash val="solid"/>
          </a:ln>
        </p:spPr>
      </p:sp>
      <p:sp>
        <p:nvSpPr>
          <p:cNvPr id="46" name="Text 44"/>
          <p:cNvSpPr txBox="1"/>
          <p:nvPr/>
        </p:nvSpPr>
        <p:spPr>
          <a:xfrm>
            <a:off x="8495782" y="5687568"/>
            <a:ext cx="1933590" cy="713232"/>
          </a:xfrm>
          <a:prstGeom prst="rect">
            <a:avLst/>
          </a:prstGeom>
          <a:noFill/>
          <a:ln/>
        </p:spPr>
        <p:txBody>
          <a:bodyPr wrap="square" lIns="0" tIns="0" rIns="0" bIns="0" rtlCol="0" anchor="ctr"/>
          <a:lstStyle/>
          <a:p>
            <a:pPr algn="ctr" indent="0" marL="0">
              <a:lnSpc>
                <a:spcPct val="110000"/>
              </a:lnSpc>
              <a:spcAft>
                <a:spcPts val="500"/>
              </a:spcAft>
              <a:buNone/>
            </a:pPr>
            <a:r>
              <a:rPr lang="en-US" altLang="en-US" sz="1000" b="1" dirty="0">
                <a:solidFill>
                  <a:srgbClr val="0A1628"/>
                </a:solidFill>
                <a:latin typeface="Sora" pitchFamily="34" charset="0"/>
                <a:ea typeface="Sora" pitchFamily="34" charset="-122"/>
                <a:cs typeface="Sora" pitchFamily="34" charset="-120"/>
              </a:rPr>
              <a:t>EV BSGT</a:t>
            </a:r>
            <a:endParaRPr lang="en-US" sz="1000" dirty="0"/>
          </a:p>
        </p:txBody>
      </p:sp>
      <p:sp>
        <p:nvSpPr>
          <p:cNvPr id="47" name="Shape 45"/>
          <p:cNvSpPr/>
          <p:nvPr/>
        </p:nvSpPr>
        <p:spPr>
          <a:xfrm>
            <a:off x="548640" y="6428232"/>
            <a:ext cx="11094415" cy="0"/>
          </a:xfrm>
          <a:prstGeom prst="line">
            <a:avLst/>
          </a:prstGeom>
          <a:noFill/>
          <a:ln w="9525">
            <a:solidFill>
              <a:srgbClr val="E3E8EF"/>
            </a:solidFill>
            <a:prstDash val="solid"/>
          </a:ln>
        </p:spPr>
      </p:sp>
      <p:pic>
        <p:nvPicPr>
          <p:cNvPr id="48" name="Image 0" descr="EVCARS logo">
            <a:hlinkClick r:id="rId2" tooltip="Back to cover" action="ppaction://hlinksldjump"/>
          </p:cNvPr>
          <p:cNvPicPr>
            <a:picLocks noChangeAspect="1"/>
          </p:cNvPicPr>
          <p:nvPr/>
        </p:nvPicPr>
        <p:blipFill>
          <a:blip r:embed="rId1"/>
          <a:stretch>
            <a:fillRect/>
          </a:stretch>
        </p:blipFill>
        <p:spPr>
          <a:xfrm>
            <a:off x="548640" y="6510528"/>
            <a:ext cx="833104" cy="155448"/>
          </a:xfrm>
          <a:prstGeom prst="rect">
            <a:avLst/>
          </a:prstGeom>
        </p:spPr>
      </p:pic>
      <p:sp>
        <p:nvSpPr>
          <p:cNvPr id="49" name="Text 46">
            <a:hlinkClick r:id="rId3" tooltip="www.evcars.me"/>
          </p:cNvPr>
          <p:cNvSpPr txBox="1"/>
          <p:nvPr/>
        </p:nvSpPr>
        <p:spPr>
          <a:xfrm>
            <a:off x="1600200" y="6492240"/>
            <a:ext cx="1463040" cy="201168"/>
          </a:xfrm>
          <a:prstGeom prst="rect">
            <a:avLst/>
          </a:prstGeom>
          <a:noFill/>
          <a:ln/>
        </p:spPr>
        <p:txBody>
          <a:bodyPr wrap="square" lIns="0" tIns="0" rIns="0" bIns="0" rtlCol="0" anchor="ctr"/>
          <a:lstStyle/>
          <a:p>
            <a:pPr indent="0" marL="0">
              <a:buNone/>
            </a:pPr>
            <a:r>
              <a:rPr lang="en-US" sz="800" u="sng" dirty="0">
                <a:solidFill>
                  <a:srgbClr val="3E9ACA"/>
                </a:solidFill>
                <a:latin typeface="Inter" pitchFamily="34" charset="0"/>
                <a:ea typeface="Inter" pitchFamily="34" charset="-122"/>
                <a:cs typeface="Inter" pitchFamily="34" charset="-120"/>
                <a:hlinkClick r:id="rId3" invalidUrl="" action="" tgtFrame="" tooltip="www.evcars.me" history="1" highlightClick="0" endSnd="0">
                  <a:extLst>
                    <a:ext uri="{A12FA001-AC4F-418D-AE19-62706E023703}">
                      <ahyp:hlinkClr xmlns:ahyp="http://schemas.microsoft.com/office/drawing/2018/hyperlinkcolor" val="tx"/>
                    </a:ext>
                  </a:extLst>
                </a:hlinkClick>
              </a:rPr>
              <a:t>www.evcars.me</a:t>
            </a:r>
            <a:endParaRPr lang="en-US" sz="800" dirty="0"/>
          </a:p>
        </p:txBody>
      </p:sp>
      <p:sp>
        <p:nvSpPr>
          <p:cNvPr id="50" name="Text 47">
            <a:hlinkClick r:id="rId4" tooltip="Page 1" action="ppaction://hlinksldjump"/>
          </p:cNvPr>
          <p:cNvSpPr txBox="1"/>
          <p:nvPr/>
        </p:nvSpPr>
        <p:spPr>
          <a:xfrm>
            <a:off x="834847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4" action="ppaction://hlinksldjump" tooltip="Page 1">
                  <a:extLst>
                    <a:ext uri="{A12FA001-AC4F-418D-AE19-62706E023703}">
                      <ahyp:hlinkClr xmlns:ahyp="http://schemas.microsoft.com/office/drawing/2018/hyperlinkcolor" val="tx"/>
                    </a:ext>
                  </a:extLst>
                </a:hlinkClick>
              </a:rPr>
              <a:t>1</a:t>
            </a:r>
            <a:endParaRPr lang="en-US" sz="750" dirty="0"/>
          </a:p>
        </p:txBody>
      </p:sp>
      <p:sp>
        <p:nvSpPr>
          <p:cNvPr id="51" name="Text 48">
            <a:hlinkClick r:id="rId5" tooltip="Page 2" action="ppaction://hlinksldjump"/>
          </p:cNvPr>
          <p:cNvSpPr txBox="1"/>
          <p:nvPr/>
        </p:nvSpPr>
        <p:spPr>
          <a:xfrm>
            <a:off x="862279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5" action="ppaction://hlinksldjump" tooltip="Page 2">
                  <a:extLst>
                    <a:ext uri="{A12FA001-AC4F-418D-AE19-62706E023703}">
                      <ahyp:hlinkClr xmlns:ahyp="http://schemas.microsoft.com/office/drawing/2018/hyperlinkcolor" val="tx"/>
                    </a:ext>
                  </a:extLst>
                </a:hlinkClick>
              </a:rPr>
              <a:t>2</a:t>
            </a:r>
            <a:endParaRPr lang="en-US" sz="750" dirty="0"/>
          </a:p>
        </p:txBody>
      </p:sp>
      <p:sp>
        <p:nvSpPr>
          <p:cNvPr id="52" name="Text 49">
            <a:hlinkClick r:id="rId6" tooltip="Page 3" action="ppaction://hlinksldjump"/>
          </p:cNvPr>
          <p:cNvSpPr txBox="1"/>
          <p:nvPr/>
        </p:nvSpPr>
        <p:spPr>
          <a:xfrm>
            <a:off x="889711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6" action="ppaction://hlinksldjump" tooltip="Page 3">
                  <a:extLst>
                    <a:ext uri="{A12FA001-AC4F-418D-AE19-62706E023703}">
                      <ahyp:hlinkClr xmlns:ahyp="http://schemas.microsoft.com/office/drawing/2018/hyperlinkcolor" val="tx"/>
                    </a:ext>
                  </a:extLst>
                </a:hlinkClick>
              </a:rPr>
              <a:t>3</a:t>
            </a:r>
            <a:endParaRPr lang="en-US" sz="750" dirty="0"/>
          </a:p>
        </p:txBody>
      </p:sp>
      <p:sp>
        <p:nvSpPr>
          <p:cNvPr id="53" name="Text 50">
            <a:hlinkClick r:id="rId7" tooltip="Page 4" action="ppaction://hlinksldjump"/>
          </p:cNvPr>
          <p:cNvSpPr txBox="1"/>
          <p:nvPr/>
        </p:nvSpPr>
        <p:spPr>
          <a:xfrm>
            <a:off x="917143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7" action="ppaction://hlinksldjump" tooltip="Page 4">
                  <a:extLst>
                    <a:ext uri="{A12FA001-AC4F-418D-AE19-62706E023703}">
                      <ahyp:hlinkClr xmlns:ahyp="http://schemas.microsoft.com/office/drawing/2018/hyperlinkcolor" val="tx"/>
                    </a:ext>
                  </a:extLst>
                </a:hlinkClick>
              </a:rPr>
              <a:t>4</a:t>
            </a:r>
            <a:endParaRPr lang="en-US" sz="750" dirty="0"/>
          </a:p>
        </p:txBody>
      </p:sp>
      <p:sp>
        <p:nvSpPr>
          <p:cNvPr id="54" name="Text 51">
            <a:hlinkClick r:id="rId8" tooltip="Page 5" action="ppaction://hlinksldjump"/>
          </p:cNvPr>
          <p:cNvSpPr txBox="1"/>
          <p:nvPr/>
        </p:nvSpPr>
        <p:spPr>
          <a:xfrm>
            <a:off x="944575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8" action="ppaction://hlinksldjump" tooltip="Page 5">
                  <a:extLst>
                    <a:ext uri="{A12FA001-AC4F-418D-AE19-62706E023703}">
                      <ahyp:hlinkClr xmlns:ahyp="http://schemas.microsoft.com/office/drawing/2018/hyperlinkcolor" val="tx"/>
                    </a:ext>
                  </a:extLst>
                </a:hlinkClick>
              </a:rPr>
              <a:t>5</a:t>
            </a:r>
            <a:endParaRPr lang="en-US" sz="750" dirty="0"/>
          </a:p>
        </p:txBody>
      </p:sp>
      <p:sp>
        <p:nvSpPr>
          <p:cNvPr id="55" name="Text 52">
            <a:hlinkClick r:id="rId9" tooltip="Page 6" action="ppaction://hlinksldjump"/>
          </p:cNvPr>
          <p:cNvSpPr txBox="1"/>
          <p:nvPr/>
        </p:nvSpPr>
        <p:spPr>
          <a:xfrm>
            <a:off x="972007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9" action="ppaction://hlinksldjump" tooltip="Page 6">
                  <a:extLst>
                    <a:ext uri="{A12FA001-AC4F-418D-AE19-62706E023703}">
                      <ahyp:hlinkClr xmlns:ahyp="http://schemas.microsoft.com/office/drawing/2018/hyperlinkcolor" val="tx"/>
                    </a:ext>
                  </a:extLst>
                </a:hlinkClick>
              </a:rPr>
              <a:t>6</a:t>
            </a:r>
            <a:endParaRPr lang="en-US" sz="750" dirty="0"/>
          </a:p>
        </p:txBody>
      </p:sp>
      <p:sp>
        <p:nvSpPr>
          <p:cNvPr id="56" name="Text 53">
            <a:hlinkClick r:id="rId10" tooltip="Page 7" action="ppaction://hlinksldjump"/>
          </p:cNvPr>
          <p:cNvSpPr txBox="1"/>
          <p:nvPr/>
        </p:nvSpPr>
        <p:spPr>
          <a:xfrm>
            <a:off x="9994392" y="6492240"/>
            <a:ext cx="274320" cy="201168"/>
          </a:xfrm>
          <a:prstGeom prst="rect">
            <a:avLst/>
          </a:prstGeom>
          <a:noFill/>
          <a:ln/>
        </p:spPr>
        <p:txBody>
          <a:bodyPr wrap="square" lIns="0" tIns="0" rIns="0" bIns="0" rtlCol="0" anchor="ctr"/>
          <a:lstStyle/>
          <a:p>
            <a:pPr algn="ctr" indent="0" marL="0">
              <a:buNone/>
            </a:pPr>
            <a:r>
              <a:rPr lang="en-US" sz="750" b="1" u="sng" dirty="0">
                <a:solidFill>
                  <a:srgbClr val="3E9ACA"/>
                </a:solidFill>
                <a:latin typeface="Inter" pitchFamily="34" charset="0"/>
                <a:ea typeface="Inter" pitchFamily="34" charset="-122"/>
                <a:cs typeface="Inter" pitchFamily="34" charset="-120"/>
                <a:hlinkClick r:id="rId10" action="ppaction://hlinksldjump" tooltip="Page 7">
                  <a:extLst>
                    <a:ext uri="{A12FA001-AC4F-418D-AE19-62706E023703}">
                      <ahyp:hlinkClr xmlns:ahyp="http://schemas.microsoft.com/office/drawing/2018/hyperlinkcolor" val="tx"/>
                    </a:ext>
                  </a:extLst>
                </a:hlinkClick>
              </a:rPr>
              <a:t>7</a:t>
            </a:r>
            <a:endParaRPr lang="en-US" sz="750" dirty="0"/>
          </a:p>
        </p:txBody>
      </p:sp>
      <p:sp>
        <p:nvSpPr>
          <p:cNvPr id="57" name="Text 54">
            <a:hlinkClick r:id="rId11" tooltip="Page 8" action="ppaction://hlinksldjump"/>
          </p:cNvPr>
          <p:cNvSpPr txBox="1"/>
          <p:nvPr/>
        </p:nvSpPr>
        <p:spPr>
          <a:xfrm>
            <a:off x="1026871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1" action="ppaction://hlinksldjump" tooltip="Page 8">
                  <a:extLst>
                    <a:ext uri="{A12FA001-AC4F-418D-AE19-62706E023703}">
                      <ahyp:hlinkClr xmlns:ahyp="http://schemas.microsoft.com/office/drawing/2018/hyperlinkcolor" val="tx"/>
                    </a:ext>
                  </a:extLst>
                </a:hlinkClick>
              </a:rPr>
              <a:t>8</a:t>
            </a:r>
            <a:endParaRPr lang="en-US" sz="750" dirty="0"/>
          </a:p>
        </p:txBody>
      </p:sp>
      <p:sp>
        <p:nvSpPr>
          <p:cNvPr id="58" name="Text 55">
            <a:hlinkClick r:id="rId12" tooltip="Page 9" action="ppaction://hlinksldjump"/>
          </p:cNvPr>
          <p:cNvSpPr txBox="1"/>
          <p:nvPr/>
        </p:nvSpPr>
        <p:spPr>
          <a:xfrm>
            <a:off x="1054303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2" action="ppaction://hlinksldjump" tooltip="Page 9">
                  <a:extLst>
                    <a:ext uri="{A12FA001-AC4F-418D-AE19-62706E023703}">
                      <ahyp:hlinkClr xmlns:ahyp="http://schemas.microsoft.com/office/drawing/2018/hyperlinkcolor" val="tx"/>
                    </a:ext>
                  </a:extLst>
                </a:hlinkClick>
              </a:rPr>
              <a:t>9</a:t>
            </a:r>
            <a:endParaRPr lang="en-US" sz="750" dirty="0"/>
          </a:p>
        </p:txBody>
      </p:sp>
      <p:sp>
        <p:nvSpPr>
          <p:cNvPr id="59" name="Text 56">
            <a:hlinkClick r:id="rId13" tooltip="Page 10" action="ppaction://hlinksldjump"/>
          </p:cNvPr>
          <p:cNvSpPr txBox="1"/>
          <p:nvPr/>
        </p:nvSpPr>
        <p:spPr>
          <a:xfrm>
            <a:off x="1081735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3" action="ppaction://hlinksldjump" tooltip="Page 10">
                  <a:extLst>
                    <a:ext uri="{A12FA001-AC4F-418D-AE19-62706E023703}">
                      <ahyp:hlinkClr xmlns:ahyp="http://schemas.microsoft.com/office/drawing/2018/hyperlinkcolor" val="tx"/>
                    </a:ext>
                  </a:extLst>
                </a:hlinkClick>
              </a:rPr>
              <a:t>10</a:t>
            </a:r>
            <a:endParaRPr lang="en-US" sz="750" dirty="0"/>
          </a:p>
        </p:txBody>
      </p:sp>
      <p:sp>
        <p:nvSpPr>
          <p:cNvPr id="60" name="Text 57">
            <a:hlinkClick r:id="rId14" tooltip="Page 11" action="ppaction://hlinksldjump"/>
          </p:cNvPr>
          <p:cNvSpPr txBox="1"/>
          <p:nvPr/>
        </p:nvSpPr>
        <p:spPr>
          <a:xfrm>
            <a:off x="1109167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4" action="ppaction://hlinksldjump" tooltip="Page 11">
                  <a:extLst>
                    <a:ext uri="{A12FA001-AC4F-418D-AE19-62706E023703}">
                      <ahyp:hlinkClr xmlns:ahyp="http://schemas.microsoft.com/office/drawing/2018/hyperlinkcolor" val="tx"/>
                    </a:ext>
                  </a:extLst>
                </a:hlinkClick>
              </a:rPr>
              <a:t>11</a:t>
            </a:r>
            <a:endParaRPr lang="en-US" sz="750" dirty="0"/>
          </a:p>
        </p:txBody>
      </p:sp>
      <p:sp>
        <p:nvSpPr>
          <p:cNvPr id="61" name="Text 58">
            <a:hlinkClick r:id="rId15" tooltip="Page 12" action="ppaction://hlinksldjump"/>
          </p:cNvPr>
          <p:cNvSpPr txBox="1"/>
          <p:nvPr/>
        </p:nvSpPr>
        <p:spPr>
          <a:xfrm>
            <a:off x="1136599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5" action="ppaction://hlinksldjump" tooltip="Page 12">
                  <a:extLst>
                    <a:ext uri="{A12FA001-AC4F-418D-AE19-62706E023703}">
                      <ahyp:hlinkClr xmlns:ahyp="http://schemas.microsoft.com/office/drawing/2018/hyperlinkcolor" val="tx"/>
                    </a:ext>
                  </a:extLst>
                </a:hlinkClick>
              </a:rPr>
              <a:t>12</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65760"/>
            <a:ext cx="5547208" cy="274320"/>
          </a:xfrm>
          <a:prstGeom prst="rect">
            <a:avLst/>
          </a:prstGeom>
          <a:noFill/>
          <a:ln/>
        </p:spPr>
        <p:txBody>
          <a:bodyPr wrap="square" lIns="0" tIns="0" rIns="0" bIns="0" rtlCol="0" anchor="t"/>
          <a:lstStyle/>
          <a:p>
            <a:pPr algn="l" indent="0" marL="0">
              <a:lnSpc>
                <a:spcPct val="110000"/>
              </a:lnSpc>
              <a:spcAft>
                <a:spcPts val="500"/>
              </a:spcAft>
              <a:buNone/>
            </a:pPr>
            <a:r>
              <a:rPr lang="en-US" altLang="en-US" sz="1000" b="1" dirty="0">
                <a:solidFill>
                  <a:srgbClr val="3E9ACA"/>
                </a:solidFill>
                <a:latin typeface="Sora" pitchFamily="34" charset="0"/>
                <a:ea typeface="Sora" pitchFamily="34" charset="-122"/>
                <a:cs typeface="Sora" pitchFamily="34" charset="-120"/>
              </a:rPr>
              <a:t>11</a:t>
            </a:r>
            <a:pPr algn="l" indent="0" marL="0">
              <a:lnSpc>
                <a:spcPct val="110000"/>
              </a:lnSpc>
              <a:spcAft>
                <a:spcPts val="500"/>
              </a:spcAft>
              <a:buNone/>
            </a:pPr>
            <a:r>
              <a:rPr lang="en-US" altLang="en-US" sz="1000" b="1" spc="200" kern="0" dirty="0">
                <a:solidFill>
                  <a:srgbClr val="0A1628"/>
                </a:solidFill>
                <a:latin typeface="Sora" pitchFamily="34" charset="0"/>
                <a:ea typeface="Sora" pitchFamily="34" charset="-122"/>
                <a:cs typeface="Sora" pitchFamily="34" charset="-120"/>
              </a:rPr>
              <a:t>  |  OUR BRANCH NETWORK</a:t>
            </a:r>
            <a:endParaRPr lang="en-US" sz="1000" dirty="0"/>
          </a:p>
        </p:txBody>
      </p:sp>
      <p:sp>
        <p:nvSpPr>
          <p:cNvPr id="3" name="Text 1"/>
          <p:cNvSpPr txBox="1"/>
          <p:nvPr/>
        </p:nvSpPr>
        <p:spPr>
          <a:xfrm>
            <a:off x="6095848" y="347472"/>
            <a:ext cx="5547208" cy="274320"/>
          </a:xfrm>
          <a:prstGeom prst="rect">
            <a:avLst/>
          </a:prstGeom>
          <a:noFill/>
          <a:ln/>
        </p:spPr>
        <p:txBody>
          <a:bodyPr wrap="square" lIns="0" tIns="0" rIns="0" bIns="0" rtlCol="0" anchor="t"/>
          <a:lstStyle/>
          <a:p>
            <a:pPr rtl="1" algn="r" indent="0" marL="0">
              <a:lnSpc>
                <a:spcPct val="110000"/>
              </a:lnSpc>
              <a:spcAft>
                <a:spcPts val="500"/>
              </a:spcAft>
              <a:buNone/>
            </a:pPr>
            <a:r>
              <a:rPr lang="ar-AE" altLang="en-US" sz="1200" b="1" dirty="0">
                <a:solidFill>
                  <a:srgbClr val="3E9ACA"/>
                </a:solidFill>
                <a:latin typeface="IBM Plex Sans Arabic" pitchFamily="34" charset="0"/>
                <a:ea typeface="IBM Plex Sans Arabic" pitchFamily="34" charset="-122"/>
                <a:cs typeface="IBM Plex Sans Arabic" pitchFamily="34" charset="-120"/>
              </a:rPr>
              <a:t>11</a:t>
            </a:r>
            <a:pPr algn="r" indent="0" marL="0">
              <a:lnSpc>
                <a:spcPct val="110000"/>
              </a:lnSpc>
              <a:spcAft>
                <a:spcPts val="500"/>
              </a:spcAft>
              <a:buNone/>
            </a:pPr>
            <a:r>
              <a:rPr lang="ar-AE" altLang="en-US" sz="1200" b="1" dirty="0">
                <a:solidFill>
                  <a:srgbClr val="0A1628"/>
                </a:solidFill>
                <a:latin typeface="IBM Plex Sans Arabic" pitchFamily="34" charset="0"/>
                <a:ea typeface="IBM Plex Sans Arabic" pitchFamily="34" charset="-122"/>
                <a:cs typeface="IBM Plex Sans Arabic" pitchFamily="34" charset="-120"/>
              </a:rPr>
              <a:t>  |  شبكة فروعنا</a:t>
            </a:r>
            <a:endParaRPr lang="ar-AE" sz="1200" dirty="0"/>
          </a:p>
        </p:txBody>
      </p:sp>
      <p:sp>
        <p:nvSpPr>
          <p:cNvPr id="4" name="Shape 2"/>
          <p:cNvSpPr/>
          <p:nvPr/>
        </p:nvSpPr>
        <p:spPr>
          <a:xfrm>
            <a:off x="548640" y="676656"/>
            <a:ext cx="11094415" cy="0"/>
          </a:xfrm>
          <a:prstGeom prst="line">
            <a:avLst/>
          </a:prstGeom>
          <a:noFill/>
          <a:ln w="9525">
            <a:solidFill>
              <a:srgbClr val="E3E8EF"/>
            </a:solidFill>
            <a:prstDash val="solid"/>
          </a:ln>
        </p:spPr>
      </p:sp>
      <p:sp>
        <p:nvSpPr>
          <p:cNvPr id="5" name="Text 3"/>
          <p:cNvSpPr txBox="1"/>
          <p:nvPr/>
        </p:nvSpPr>
        <p:spPr>
          <a:xfrm>
            <a:off x="548640" y="841248"/>
            <a:ext cx="5349240" cy="320040"/>
          </a:xfrm>
          <a:prstGeom prst="rect">
            <a:avLst/>
          </a:prstGeom>
          <a:noFill/>
          <a:ln/>
        </p:spPr>
        <p:txBody>
          <a:bodyPr wrap="square" lIns="0" tIns="0" rIns="0" bIns="0" rtlCol="0" anchor="t"/>
          <a:lstStyle/>
          <a:p>
            <a:pPr algn="l" indent="0" marL="0">
              <a:lnSpc>
                <a:spcPct val="110000"/>
              </a:lnSpc>
              <a:spcAft>
                <a:spcPts val="500"/>
              </a:spcAft>
              <a:buNone/>
            </a:pPr>
            <a:r>
              <a:rPr lang="en-US" altLang="en-US" sz="880" dirty="0">
                <a:solidFill>
                  <a:srgbClr val="0A1628"/>
                </a:solidFill>
                <a:latin typeface="Inter" pitchFamily="34" charset="0"/>
                <a:ea typeface="Inter" pitchFamily="34" charset="-122"/>
                <a:cs typeface="Inter" pitchFamily="34" charset="-120"/>
              </a:rPr>
              <a:t>EVCARS serves its customers through a network of five branches across the United Arab Emirates and the Sultanate of Oman.</a:t>
            </a:r>
            <a:endParaRPr lang="en-US" sz="880" dirty="0"/>
          </a:p>
        </p:txBody>
      </p:sp>
      <p:sp>
        <p:nvSpPr>
          <p:cNvPr id="6" name="Text 4"/>
          <p:cNvSpPr txBox="1"/>
          <p:nvPr/>
        </p:nvSpPr>
        <p:spPr>
          <a:xfrm>
            <a:off x="6293815" y="822960"/>
            <a:ext cx="5349240" cy="320040"/>
          </a:xfrm>
          <a:prstGeom prst="rect">
            <a:avLst/>
          </a:prstGeom>
          <a:noFill/>
          <a:ln/>
        </p:spPr>
        <p:txBody>
          <a:bodyPr wrap="square" lIns="0" tIns="0" rIns="0" bIns="0" rtlCol="0" anchor="t"/>
          <a:lstStyle/>
          <a:p>
            <a:pPr rtl="1" algn="r" indent="0" marL="0">
              <a:lnSpc>
                <a:spcPct val="110000"/>
              </a:lnSpc>
              <a:spcAft>
                <a:spcPts val="500"/>
              </a:spcAft>
              <a:buNone/>
            </a:pPr>
            <a:r>
              <a:rPr lang="ar-AE" altLang="en-US" sz="950" dirty="0">
                <a:solidFill>
                  <a:srgbClr val="0A1628"/>
                </a:solidFill>
                <a:latin typeface="IBM Plex Sans Arabic" pitchFamily="34" charset="0"/>
                <a:ea typeface="IBM Plex Sans Arabic" pitchFamily="34" charset="-122"/>
                <a:cs typeface="IBM Plex Sans Arabic" pitchFamily="34" charset="-120"/>
              </a:rPr>
              <a:t>تخدم EVCARS عملاءها من خلال شبكة تضم خمسة فروع في دولة الإمارات العربية المتحدة وسلطنة عُمان.</a:t>
            </a:r>
            <a:endParaRPr lang="ar-AE" sz="950" dirty="0"/>
          </a:p>
        </p:txBody>
      </p:sp>
      <p:sp>
        <p:nvSpPr>
          <p:cNvPr id="7" name="Dubai"/>
          <p:cNvSpPr/>
          <p:nvPr/>
        </p:nvSpPr>
        <p:spPr>
          <a:xfrm>
            <a:off x="548640" y="1280160"/>
            <a:ext cx="2116470" cy="4160520"/>
          </a:xfrm>
          <a:prstGeom prst="rect">
            <a:avLst/>
          </a:prstGeom>
          <a:solidFill>
            <a:srgbClr val="FFFFFF"/>
          </a:solidFill>
          <a:ln w="9525">
            <a:solidFill>
              <a:srgbClr val="E3E8EF"/>
            </a:solidFill>
            <a:prstDash val="solid"/>
          </a:ln>
        </p:spPr>
      </p:sp>
      <p:sp>
        <p:nvSpPr>
          <p:cNvPr id="8" name="Photo placeholder"/>
          <p:cNvSpPr/>
          <p:nvPr/>
        </p:nvSpPr>
        <p:spPr>
          <a:xfrm>
            <a:off x="548640" y="1280160"/>
            <a:ext cx="2116470" cy="1005840"/>
          </a:xfrm>
          <a:prstGeom prst="rect">
            <a:avLst/>
          </a:prstGeom>
          <a:solidFill>
            <a:srgbClr val="F4F6F9"/>
          </a:solidFill>
          <a:ln w="9525">
            <a:solidFill>
              <a:srgbClr val="E3E8EF"/>
            </a:solidFill>
            <a:prstDash val="solid"/>
          </a:ln>
        </p:spPr>
      </p:sp>
      <p:sp>
        <p:nvSpPr>
          <p:cNvPr id="9" name="Text 7"/>
          <p:cNvSpPr txBox="1"/>
          <p:nvPr/>
        </p:nvSpPr>
        <p:spPr>
          <a:xfrm>
            <a:off x="548640" y="1280160"/>
            <a:ext cx="2116470" cy="1005840"/>
          </a:xfrm>
          <a:prstGeom prst="rect">
            <a:avLst/>
          </a:prstGeom>
          <a:noFill/>
          <a:ln/>
        </p:spPr>
        <p:txBody>
          <a:bodyPr wrap="square" lIns="0" tIns="0" rIns="0" bIns="0" rtlCol="0" anchor="ctr"/>
          <a:lstStyle/>
          <a:p>
            <a:pPr algn="ctr" indent="0" marL="0">
              <a:lnSpc>
                <a:spcPct val="110000"/>
              </a:lnSpc>
              <a:spcAft>
                <a:spcPts val="500"/>
              </a:spcAft>
              <a:buNone/>
            </a:pPr>
            <a:r>
              <a:rPr lang="en-US" altLang="en-US" sz="700" spc="100" kern="0" dirty="0">
                <a:solidFill>
                  <a:srgbClr val="8A94A6"/>
                </a:solidFill>
                <a:latin typeface="Inter" pitchFamily="34" charset="0"/>
                <a:ea typeface="Inter" pitchFamily="34" charset="-122"/>
                <a:cs typeface="Inter" pitchFamily="34" charset="-120"/>
              </a:rPr>
              <a:t>PHOTO  ·  Dubai branch</a:t>
            </a:r>
            <a:endParaRPr lang="en-US" sz="700" dirty="0"/>
          </a:p>
        </p:txBody>
      </p:sp>
      <p:sp>
        <p:nvSpPr>
          <p:cNvPr id="10" name="Text 8"/>
          <p:cNvSpPr txBox="1"/>
          <p:nvPr/>
        </p:nvSpPr>
        <p:spPr>
          <a:xfrm>
            <a:off x="685800" y="2377440"/>
            <a:ext cx="1842150" cy="164592"/>
          </a:xfrm>
          <a:prstGeom prst="rect">
            <a:avLst/>
          </a:prstGeom>
          <a:noFill/>
          <a:ln/>
        </p:spPr>
        <p:txBody>
          <a:bodyPr wrap="square" lIns="0" tIns="0" rIns="0" bIns="0" rtlCol="0" anchor="t"/>
          <a:lstStyle/>
          <a:p>
            <a:pPr algn="l" indent="0" marL="0">
              <a:lnSpc>
                <a:spcPct val="110000"/>
              </a:lnSpc>
              <a:spcAft>
                <a:spcPts val="500"/>
              </a:spcAft>
              <a:buNone/>
            </a:pPr>
            <a:r>
              <a:rPr lang="en-US" altLang="en-US" sz="650" b="1" spc="200" kern="0" dirty="0">
                <a:solidFill>
                  <a:srgbClr val="3E9ACA"/>
                </a:solidFill>
                <a:latin typeface="Inter" pitchFamily="34" charset="0"/>
                <a:ea typeface="Inter" pitchFamily="34" charset="-122"/>
                <a:cs typeface="Inter" pitchFamily="34" charset="-120"/>
              </a:rPr>
              <a:t>UAE</a:t>
            </a:r>
            <a:endParaRPr lang="en-US" sz="650" dirty="0"/>
          </a:p>
        </p:txBody>
      </p:sp>
      <p:sp>
        <p:nvSpPr>
          <p:cNvPr id="11" name="Text 9"/>
          <p:cNvSpPr txBox="1"/>
          <p:nvPr/>
        </p:nvSpPr>
        <p:spPr>
          <a:xfrm>
            <a:off x="685800" y="2560320"/>
            <a:ext cx="1842150" cy="182880"/>
          </a:xfrm>
          <a:prstGeom prst="rect">
            <a:avLst/>
          </a:prstGeom>
          <a:noFill/>
          <a:ln/>
        </p:spPr>
        <p:txBody>
          <a:bodyPr wrap="square" lIns="0" tIns="0" rIns="0" bIns="0" rtlCol="0" anchor="t"/>
          <a:lstStyle/>
          <a:p>
            <a:pPr algn="l" indent="0" marL="0">
              <a:lnSpc>
                <a:spcPct val="110000"/>
              </a:lnSpc>
              <a:spcAft>
                <a:spcPts val="500"/>
              </a:spcAft>
              <a:buNone/>
            </a:pPr>
            <a:r>
              <a:rPr lang="en-US" altLang="en-US" sz="1050" b="1" dirty="0">
                <a:solidFill>
                  <a:srgbClr val="0A1628"/>
                </a:solidFill>
                <a:latin typeface="Sora" pitchFamily="34" charset="0"/>
                <a:ea typeface="Sora" pitchFamily="34" charset="-122"/>
                <a:cs typeface="Sora" pitchFamily="34" charset="-120"/>
              </a:rPr>
              <a:t>Dubai</a:t>
            </a:r>
            <a:endParaRPr lang="en-US" sz="1050" dirty="0"/>
          </a:p>
        </p:txBody>
      </p:sp>
      <p:sp>
        <p:nvSpPr>
          <p:cNvPr id="12" name="Text 10"/>
          <p:cNvSpPr txBox="1"/>
          <p:nvPr/>
        </p:nvSpPr>
        <p:spPr>
          <a:xfrm>
            <a:off x="685800" y="2788920"/>
            <a:ext cx="1842150" cy="201168"/>
          </a:xfrm>
          <a:prstGeom prst="rect">
            <a:avLst/>
          </a:prstGeom>
          <a:noFill/>
          <a:ln/>
        </p:spPr>
        <p:txBody>
          <a:bodyPr wrap="square" lIns="0" tIns="0" rIns="0" bIns="0" rtlCol="0" anchor="t"/>
          <a:lstStyle/>
          <a:p>
            <a:pPr rtl="1" algn="r" indent="0" marL="0">
              <a:lnSpc>
                <a:spcPct val="110000"/>
              </a:lnSpc>
              <a:spcAft>
                <a:spcPts val="500"/>
              </a:spcAft>
              <a:buNone/>
            </a:pPr>
            <a:r>
              <a:rPr lang="ar-AE" altLang="en-US" sz="1050" b="1" dirty="0">
                <a:solidFill>
                  <a:srgbClr val="0A1628"/>
                </a:solidFill>
                <a:latin typeface="IBM Plex Sans Arabic" pitchFamily="34" charset="0"/>
                <a:ea typeface="IBM Plex Sans Arabic" pitchFamily="34" charset="-122"/>
                <a:cs typeface="IBM Plex Sans Arabic" pitchFamily="34" charset="-120"/>
              </a:rPr>
              <a:t>دبي</a:t>
            </a:r>
            <a:endParaRPr lang="ar-AE" sz="1050" dirty="0"/>
          </a:p>
        </p:txBody>
      </p:sp>
      <p:sp>
        <p:nvSpPr>
          <p:cNvPr id="13" name="Text 11"/>
          <p:cNvSpPr txBox="1"/>
          <p:nvPr/>
        </p:nvSpPr>
        <p:spPr>
          <a:xfrm>
            <a:off x="685800" y="3081528"/>
            <a:ext cx="1842150" cy="548640"/>
          </a:xfrm>
          <a:prstGeom prst="rect">
            <a:avLst/>
          </a:prstGeom>
          <a:noFill/>
          <a:ln/>
        </p:spPr>
        <p:txBody>
          <a:bodyPr wrap="square" lIns="0" tIns="0" rIns="0" bIns="0" rtlCol="0" anchor="t"/>
          <a:lstStyle/>
          <a:p>
            <a:pPr algn="l" indent="0" marL="0">
              <a:lnSpc>
                <a:spcPct val="110000"/>
              </a:lnSpc>
              <a:spcAft>
                <a:spcPts val="500"/>
              </a:spcAft>
              <a:buNone/>
            </a:pPr>
            <a:r>
              <a:rPr lang="en-US" altLang="en-US" sz="700" dirty="0">
                <a:solidFill>
                  <a:srgbClr val="2A3547"/>
                </a:solidFill>
                <a:latin typeface="Inter" pitchFamily="34" charset="0"/>
                <a:ea typeface="Inter" pitchFamily="34" charset="-122"/>
                <a:cs typeface="Inter" pitchFamily="34" charset="-120"/>
              </a:rPr>
              <a:t>EVCARS Dubai branch provides EV accessories, charging solutions, and related customer services.</a:t>
            </a:r>
            <a:endParaRPr lang="en-US" sz="700" dirty="0"/>
          </a:p>
        </p:txBody>
      </p:sp>
      <p:sp>
        <p:nvSpPr>
          <p:cNvPr id="14" name="Text 12"/>
          <p:cNvSpPr txBox="1"/>
          <p:nvPr/>
        </p:nvSpPr>
        <p:spPr>
          <a:xfrm>
            <a:off x="685800" y="3630168"/>
            <a:ext cx="1842150" cy="658368"/>
          </a:xfrm>
          <a:prstGeom prst="rect">
            <a:avLst/>
          </a:prstGeom>
          <a:noFill/>
          <a:ln/>
        </p:spPr>
        <p:txBody>
          <a:bodyPr wrap="square" lIns="0" tIns="0" rIns="0" bIns="0" rtlCol="0" anchor="t"/>
          <a:lstStyle/>
          <a:p>
            <a:pPr rtl="1" algn="r" indent="0" marL="0">
              <a:lnSpc>
                <a:spcPct val="110000"/>
              </a:lnSpc>
              <a:spcAft>
                <a:spcPts val="500"/>
              </a:spcAft>
              <a:buNone/>
            </a:pPr>
            <a:r>
              <a:rPr lang="ar-AE" altLang="en-US" sz="760" dirty="0">
                <a:solidFill>
                  <a:srgbClr val="2A3547"/>
                </a:solidFill>
                <a:latin typeface="IBM Plex Sans Arabic" pitchFamily="34" charset="0"/>
                <a:ea typeface="IBM Plex Sans Arabic" pitchFamily="34" charset="-122"/>
                <a:cs typeface="IBM Plex Sans Arabic" pitchFamily="34" charset="-120"/>
              </a:rPr>
              <a:t>فرع EVCARS في دبي لخدمة العملاء وتوفير إكسسوارات السيارات الكهربائية وحلول الشحن والخدمات المرتبطة بها.</a:t>
            </a:r>
            <a:endParaRPr lang="ar-AE" sz="760" dirty="0"/>
          </a:p>
        </p:txBody>
      </p:sp>
      <p:sp>
        <p:nvSpPr>
          <p:cNvPr id="15" name="Text 13"/>
          <p:cNvSpPr txBox="1"/>
          <p:nvPr/>
        </p:nvSpPr>
        <p:spPr>
          <a:xfrm>
            <a:off x="685800" y="4315968"/>
            <a:ext cx="1842150" cy="128016"/>
          </a:xfrm>
          <a:prstGeom prst="rect">
            <a:avLst/>
          </a:prstGeom>
          <a:noFill/>
          <a:ln/>
        </p:spPr>
        <p:txBody>
          <a:bodyPr wrap="square" lIns="0" tIns="0" rIns="0" bIns="0" rtlCol="0" anchor="t"/>
          <a:lstStyle/>
          <a:p>
            <a:pPr algn="l" indent="0" marL="0">
              <a:lnSpc>
                <a:spcPct val="110000"/>
              </a:lnSpc>
              <a:spcAft>
                <a:spcPts val="500"/>
              </a:spcAft>
              <a:buNone/>
            </a:pPr>
            <a:r>
              <a:rPr lang="en-US" altLang="en-US" sz="630" dirty="0">
                <a:solidFill>
                  <a:srgbClr val="8A94A6"/>
                </a:solidFill>
                <a:latin typeface="Inter" pitchFamily="34" charset="0"/>
                <a:ea typeface="Inter" pitchFamily="34" charset="-122"/>
                <a:cs typeface="Inter" pitchFamily="34" charset="-120"/>
              </a:rPr>
              <a:t>Address · to be confirmed</a:t>
            </a:r>
            <a:endParaRPr lang="en-US" sz="630" dirty="0"/>
          </a:p>
        </p:txBody>
      </p:sp>
      <p:sp>
        <p:nvSpPr>
          <p:cNvPr id="16" name="Text 14"/>
          <p:cNvSpPr txBox="1"/>
          <p:nvPr/>
        </p:nvSpPr>
        <p:spPr>
          <a:xfrm>
            <a:off x="685800" y="4443984"/>
            <a:ext cx="1842150" cy="146304"/>
          </a:xfrm>
          <a:prstGeom prst="rect">
            <a:avLst/>
          </a:prstGeom>
          <a:noFill/>
          <a:ln/>
        </p:spPr>
        <p:txBody>
          <a:bodyPr wrap="square" lIns="0" tIns="0" rIns="0" bIns="0" rtlCol="0" anchor="t"/>
          <a:lstStyle/>
          <a:p>
            <a:pPr rtl="1" algn="r" indent="0" marL="0">
              <a:lnSpc>
                <a:spcPct val="110000"/>
              </a:lnSpc>
              <a:spcAft>
                <a:spcPts val="500"/>
              </a:spcAft>
              <a:buNone/>
            </a:pPr>
            <a:r>
              <a:rPr lang="ar-AE" altLang="en-US" sz="680" dirty="0">
                <a:solidFill>
                  <a:srgbClr val="8A94A6"/>
                </a:solidFill>
                <a:latin typeface="IBM Plex Sans Arabic" pitchFamily="34" charset="0"/>
                <a:ea typeface="IBM Plex Sans Arabic" pitchFamily="34" charset="-122"/>
                <a:cs typeface="IBM Plex Sans Arabic" pitchFamily="34" charset="-120"/>
              </a:rPr>
              <a:t>العنوان · يُضاف بعد الاعتماد</a:t>
            </a:r>
            <a:endParaRPr lang="ar-AE" sz="680" dirty="0"/>
          </a:p>
        </p:txBody>
      </p:sp>
      <p:sp>
        <p:nvSpPr>
          <p:cNvPr id="17" name="QR placeholder"/>
          <p:cNvSpPr/>
          <p:nvPr/>
        </p:nvSpPr>
        <p:spPr>
          <a:xfrm>
            <a:off x="685800" y="4636008"/>
            <a:ext cx="658368" cy="658368"/>
          </a:xfrm>
          <a:prstGeom prst="rect">
            <a:avLst/>
          </a:prstGeom>
          <a:solidFill>
            <a:srgbClr val="F4F6F9"/>
          </a:solidFill>
          <a:ln w="9525">
            <a:solidFill>
              <a:srgbClr val="E3E8EF"/>
            </a:solidFill>
            <a:prstDash val="solid"/>
          </a:ln>
        </p:spPr>
      </p:sp>
      <p:sp>
        <p:nvSpPr>
          <p:cNvPr id="18" name="Text 16"/>
          <p:cNvSpPr txBox="1"/>
          <p:nvPr/>
        </p:nvSpPr>
        <p:spPr>
          <a:xfrm>
            <a:off x="685800" y="4636008"/>
            <a:ext cx="658368" cy="658368"/>
          </a:xfrm>
          <a:prstGeom prst="rect">
            <a:avLst/>
          </a:prstGeom>
          <a:noFill/>
          <a:ln/>
        </p:spPr>
        <p:txBody>
          <a:bodyPr wrap="square" lIns="0" tIns="0" rIns="0" bIns="0" rtlCol="0" anchor="ctr"/>
          <a:lstStyle/>
          <a:p>
            <a:pPr algn="ctr" indent="0" marL="0">
              <a:lnSpc>
                <a:spcPct val="110000"/>
              </a:lnSpc>
              <a:spcAft>
                <a:spcPts val="500"/>
              </a:spcAft>
              <a:buNone/>
            </a:pPr>
            <a:r>
              <a:rPr lang="en-US" altLang="en-US" sz="600" dirty="0">
                <a:solidFill>
                  <a:srgbClr val="8A94A6"/>
                </a:solidFill>
                <a:latin typeface="Inter" pitchFamily="34" charset="0"/>
                <a:ea typeface="Inter" pitchFamily="34" charset="-122"/>
                <a:cs typeface="Inter" pitchFamily="34" charset="-120"/>
              </a:rPr>
              <a:t>QR</a:t>
            </a:r>
            <a:endParaRPr lang="en-US" sz="600" dirty="0"/>
          </a:p>
          <a:p>
            <a:pPr algn="ctr" indent="0" marL="0">
              <a:lnSpc>
                <a:spcPct val="110000"/>
              </a:lnSpc>
              <a:spcAft>
                <a:spcPts val="500"/>
              </a:spcAft>
              <a:buNone/>
            </a:pPr>
            <a:r>
              <a:rPr lang="en-US" altLang="en-US" sz="600" dirty="0">
                <a:solidFill>
                  <a:srgbClr val="8A94A6"/>
                </a:solidFill>
                <a:latin typeface="Inter" pitchFamily="34" charset="0"/>
                <a:ea typeface="Inter" pitchFamily="34" charset="-122"/>
                <a:cs typeface="Inter" pitchFamily="34" charset="-120"/>
              </a:rPr>
              <a:t>Google Maps</a:t>
            </a:r>
            <a:endParaRPr lang="en-US" sz="600" dirty="0"/>
          </a:p>
        </p:txBody>
      </p:sp>
      <p:sp>
        <p:nvSpPr>
          <p:cNvPr id="19" name="Text 17"/>
          <p:cNvSpPr txBox="1"/>
          <p:nvPr/>
        </p:nvSpPr>
        <p:spPr>
          <a:xfrm>
            <a:off x="1417320" y="4754880"/>
            <a:ext cx="1110630" cy="411480"/>
          </a:xfrm>
          <a:prstGeom prst="rect">
            <a:avLst/>
          </a:prstGeom>
          <a:noFill/>
          <a:ln/>
        </p:spPr>
        <p:txBody>
          <a:bodyPr wrap="square" lIns="0" tIns="0" rIns="0" bIns="0" rtlCol="0" anchor="ctr"/>
          <a:lstStyle/>
          <a:p>
            <a:pPr algn="l" indent="0" marL="0">
              <a:lnSpc>
                <a:spcPct val="110000"/>
              </a:lnSpc>
              <a:spcAft>
                <a:spcPts val="500"/>
              </a:spcAft>
              <a:buNone/>
            </a:pPr>
            <a:r>
              <a:rPr lang="en-US" altLang="en-US" sz="650" dirty="0">
                <a:solidFill>
                  <a:srgbClr val="5B6677"/>
                </a:solidFill>
                <a:latin typeface="Inter" pitchFamily="34" charset="0"/>
                <a:ea typeface="Inter" pitchFamily="34" charset="-122"/>
                <a:cs typeface="Inter" pitchFamily="34" charset="-120"/>
              </a:rPr>
              <a:t>Open in Maps</a:t>
            </a:r>
            <a:endParaRPr lang="en-US" sz="650" dirty="0"/>
          </a:p>
          <a:p>
            <a:pPr rtl="1" algn="l" indent="0" marL="0">
              <a:lnSpc>
                <a:spcPct val="110000"/>
              </a:lnSpc>
              <a:spcAft>
                <a:spcPts val="500"/>
              </a:spcAft>
              <a:buNone/>
            </a:pPr>
            <a:r>
              <a:rPr lang="en-US" altLang="en-US" sz="650" dirty="0">
                <a:solidFill>
                  <a:srgbClr val="5B6677"/>
                </a:solidFill>
                <a:latin typeface="Inter" pitchFamily="34" charset="0"/>
                <a:ea typeface="Inter" pitchFamily="34" charset="-122"/>
                <a:cs typeface="Inter" pitchFamily="34" charset="-120"/>
              </a:rPr>
              <a:t>افتح في الخرائط</a:t>
            </a:r>
            <a:endParaRPr lang="en-US" sz="650" dirty="0"/>
          </a:p>
        </p:txBody>
      </p:sp>
      <p:sp>
        <p:nvSpPr>
          <p:cNvPr id="20" name="Sharjah"/>
          <p:cNvSpPr/>
          <p:nvPr/>
        </p:nvSpPr>
        <p:spPr>
          <a:xfrm>
            <a:off x="2793126" y="1280160"/>
            <a:ext cx="2116470" cy="4160520"/>
          </a:xfrm>
          <a:prstGeom prst="rect">
            <a:avLst/>
          </a:prstGeom>
          <a:solidFill>
            <a:srgbClr val="FFFFFF"/>
          </a:solidFill>
          <a:ln w="9525">
            <a:solidFill>
              <a:srgbClr val="E3E8EF"/>
            </a:solidFill>
            <a:prstDash val="solid"/>
          </a:ln>
        </p:spPr>
      </p:sp>
      <p:sp>
        <p:nvSpPr>
          <p:cNvPr id="21" name="Photo placeholder"/>
          <p:cNvSpPr/>
          <p:nvPr/>
        </p:nvSpPr>
        <p:spPr>
          <a:xfrm>
            <a:off x="2793126" y="1280160"/>
            <a:ext cx="2116470" cy="1005840"/>
          </a:xfrm>
          <a:prstGeom prst="rect">
            <a:avLst/>
          </a:prstGeom>
          <a:solidFill>
            <a:srgbClr val="F4F6F9"/>
          </a:solidFill>
          <a:ln w="9525">
            <a:solidFill>
              <a:srgbClr val="E3E8EF"/>
            </a:solidFill>
            <a:prstDash val="solid"/>
          </a:ln>
        </p:spPr>
      </p:sp>
      <p:sp>
        <p:nvSpPr>
          <p:cNvPr id="22" name="Text 20"/>
          <p:cNvSpPr txBox="1"/>
          <p:nvPr/>
        </p:nvSpPr>
        <p:spPr>
          <a:xfrm>
            <a:off x="2793126" y="1280160"/>
            <a:ext cx="2116470" cy="1005840"/>
          </a:xfrm>
          <a:prstGeom prst="rect">
            <a:avLst/>
          </a:prstGeom>
          <a:noFill/>
          <a:ln/>
        </p:spPr>
        <p:txBody>
          <a:bodyPr wrap="square" lIns="0" tIns="0" rIns="0" bIns="0" rtlCol="0" anchor="ctr"/>
          <a:lstStyle/>
          <a:p>
            <a:pPr algn="ctr" indent="0" marL="0">
              <a:lnSpc>
                <a:spcPct val="110000"/>
              </a:lnSpc>
              <a:spcAft>
                <a:spcPts val="500"/>
              </a:spcAft>
              <a:buNone/>
            </a:pPr>
            <a:r>
              <a:rPr lang="en-US" altLang="en-US" sz="700" spc="100" kern="0" dirty="0">
                <a:solidFill>
                  <a:srgbClr val="8A94A6"/>
                </a:solidFill>
                <a:latin typeface="Inter" pitchFamily="34" charset="0"/>
                <a:ea typeface="Inter" pitchFamily="34" charset="-122"/>
                <a:cs typeface="Inter" pitchFamily="34" charset="-120"/>
              </a:rPr>
              <a:t>PHOTO  ·  Sharjah branch</a:t>
            </a:r>
            <a:endParaRPr lang="en-US" sz="700" dirty="0"/>
          </a:p>
        </p:txBody>
      </p:sp>
      <p:sp>
        <p:nvSpPr>
          <p:cNvPr id="23" name="Text 21"/>
          <p:cNvSpPr txBox="1"/>
          <p:nvPr/>
        </p:nvSpPr>
        <p:spPr>
          <a:xfrm>
            <a:off x="2930286" y="2377440"/>
            <a:ext cx="1842150" cy="164592"/>
          </a:xfrm>
          <a:prstGeom prst="rect">
            <a:avLst/>
          </a:prstGeom>
          <a:noFill/>
          <a:ln/>
        </p:spPr>
        <p:txBody>
          <a:bodyPr wrap="square" lIns="0" tIns="0" rIns="0" bIns="0" rtlCol="0" anchor="t"/>
          <a:lstStyle/>
          <a:p>
            <a:pPr algn="l" indent="0" marL="0">
              <a:lnSpc>
                <a:spcPct val="110000"/>
              </a:lnSpc>
              <a:spcAft>
                <a:spcPts val="500"/>
              </a:spcAft>
              <a:buNone/>
            </a:pPr>
            <a:r>
              <a:rPr lang="en-US" altLang="en-US" sz="650" b="1" spc="200" kern="0" dirty="0">
                <a:solidFill>
                  <a:srgbClr val="3E9ACA"/>
                </a:solidFill>
                <a:latin typeface="Inter" pitchFamily="34" charset="0"/>
                <a:ea typeface="Inter" pitchFamily="34" charset="-122"/>
                <a:cs typeface="Inter" pitchFamily="34" charset="-120"/>
              </a:rPr>
              <a:t>UAE</a:t>
            </a:r>
            <a:endParaRPr lang="en-US" sz="650" dirty="0"/>
          </a:p>
        </p:txBody>
      </p:sp>
      <p:sp>
        <p:nvSpPr>
          <p:cNvPr id="24" name="Text 22"/>
          <p:cNvSpPr txBox="1"/>
          <p:nvPr/>
        </p:nvSpPr>
        <p:spPr>
          <a:xfrm>
            <a:off x="2930286" y="2560320"/>
            <a:ext cx="1842150" cy="182880"/>
          </a:xfrm>
          <a:prstGeom prst="rect">
            <a:avLst/>
          </a:prstGeom>
          <a:noFill/>
          <a:ln/>
        </p:spPr>
        <p:txBody>
          <a:bodyPr wrap="square" lIns="0" tIns="0" rIns="0" bIns="0" rtlCol="0" anchor="t"/>
          <a:lstStyle/>
          <a:p>
            <a:pPr algn="l" indent="0" marL="0">
              <a:lnSpc>
                <a:spcPct val="110000"/>
              </a:lnSpc>
              <a:spcAft>
                <a:spcPts val="500"/>
              </a:spcAft>
              <a:buNone/>
            </a:pPr>
            <a:r>
              <a:rPr lang="en-US" altLang="en-US" sz="1050" b="1" dirty="0">
                <a:solidFill>
                  <a:srgbClr val="0A1628"/>
                </a:solidFill>
                <a:latin typeface="Sora" pitchFamily="34" charset="0"/>
                <a:ea typeface="Sora" pitchFamily="34" charset="-122"/>
                <a:cs typeface="Sora" pitchFamily="34" charset="-120"/>
              </a:rPr>
              <a:t>Sharjah</a:t>
            </a:r>
            <a:endParaRPr lang="en-US" sz="1050" dirty="0"/>
          </a:p>
        </p:txBody>
      </p:sp>
      <p:sp>
        <p:nvSpPr>
          <p:cNvPr id="25" name="Text 23"/>
          <p:cNvSpPr txBox="1"/>
          <p:nvPr/>
        </p:nvSpPr>
        <p:spPr>
          <a:xfrm>
            <a:off x="2930286" y="2788920"/>
            <a:ext cx="1842150" cy="201168"/>
          </a:xfrm>
          <a:prstGeom prst="rect">
            <a:avLst/>
          </a:prstGeom>
          <a:noFill/>
          <a:ln/>
        </p:spPr>
        <p:txBody>
          <a:bodyPr wrap="square" lIns="0" tIns="0" rIns="0" bIns="0" rtlCol="0" anchor="t"/>
          <a:lstStyle/>
          <a:p>
            <a:pPr rtl="1" algn="r" indent="0" marL="0">
              <a:lnSpc>
                <a:spcPct val="110000"/>
              </a:lnSpc>
              <a:spcAft>
                <a:spcPts val="500"/>
              </a:spcAft>
              <a:buNone/>
            </a:pPr>
            <a:r>
              <a:rPr lang="ar-AE" altLang="en-US" sz="1050" b="1" dirty="0">
                <a:solidFill>
                  <a:srgbClr val="0A1628"/>
                </a:solidFill>
                <a:latin typeface="IBM Plex Sans Arabic" pitchFamily="34" charset="0"/>
                <a:ea typeface="IBM Plex Sans Arabic" pitchFamily="34" charset="-122"/>
                <a:cs typeface="IBM Plex Sans Arabic" pitchFamily="34" charset="-120"/>
              </a:rPr>
              <a:t>الشارقة</a:t>
            </a:r>
            <a:endParaRPr lang="ar-AE" sz="1050" dirty="0"/>
          </a:p>
        </p:txBody>
      </p:sp>
      <p:sp>
        <p:nvSpPr>
          <p:cNvPr id="26" name="Text 24"/>
          <p:cNvSpPr txBox="1"/>
          <p:nvPr/>
        </p:nvSpPr>
        <p:spPr>
          <a:xfrm>
            <a:off x="2930286" y="3081528"/>
            <a:ext cx="1842150" cy="548640"/>
          </a:xfrm>
          <a:prstGeom prst="rect">
            <a:avLst/>
          </a:prstGeom>
          <a:noFill/>
          <a:ln/>
        </p:spPr>
        <p:txBody>
          <a:bodyPr wrap="square" lIns="0" tIns="0" rIns="0" bIns="0" rtlCol="0" anchor="t"/>
          <a:lstStyle/>
          <a:p>
            <a:pPr algn="l" indent="0" marL="0">
              <a:lnSpc>
                <a:spcPct val="110000"/>
              </a:lnSpc>
              <a:spcAft>
                <a:spcPts val="500"/>
              </a:spcAft>
              <a:buNone/>
            </a:pPr>
            <a:r>
              <a:rPr lang="en-US" altLang="en-US" sz="700" dirty="0">
                <a:solidFill>
                  <a:srgbClr val="2A3547"/>
                </a:solidFill>
                <a:latin typeface="Inter" pitchFamily="34" charset="0"/>
                <a:ea typeface="Inter" pitchFamily="34" charset="-122"/>
                <a:cs typeface="Inter" pitchFamily="34" charset="-120"/>
              </a:rPr>
              <a:t>EVCARS Sharjah branch serves electric vehicle owners with specialized products and services.</a:t>
            </a:r>
            <a:endParaRPr lang="en-US" sz="700" dirty="0"/>
          </a:p>
        </p:txBody>
      </p:sp>
      <p:sp>
        <p:nvSpPr>
          <p:cNvPr id="27" name="Text 25"/>
          <p:cNvSpPr txBox="1"/>
          <p:nvPr/>
        </p:nvSpPr>
        <p:spPr>
          <a:xfrm>
            <a:off x="2930286" y="3630168"/>
            <a:ext cx="1842150" cy="658368"/>
          </a:xfrm>
          <a:prstGeom prst="rect">
            <a:avLst/>
          </a:prstGeom>
          <a:noFill/>
          <a:ln/>
        </p:spPr>
        <p:txBody>
          <a:bodyPr wrap="square" lIns="0" tIns="0" rIns="0" bIns="0" rtlCol="0" anchor="t"/>
          <a:lstStyle/>
          <a:p>
            <a:pPr rtl="1" algn="r" indent="0" marL="0">
              <a:lnSpc>
                <a:spcPct val="110000"/>
              </a:lnSpc>
              <a:spcAft>
                <a:spcPts val="500"/>
              </a:spcAft>
              <a:buNone/>
            </a:pPr>
            <a:r>
              <a:rPr lang="ar-AE" altLang="en-US" sz="760" dirty="0">
                <a:solidFill>
                  <a:srgbClr val="2A3547"/>
                </a:solidFill>
                <a:latin typeface="IBM Plex Sans Arabic" pitchFamily="34" charset="0"/>
                <a:ea typeface="IBM Plex Sans Arabic" pitchFamily="34" charset="-122"/>
                <a:cs typeface="IBM Plex Sans Arabic" pitchFamily="34" charset="-120"/>
              </a:rPr>
              <a:t>فرع EVCARS في الشارقة لخدمة ملاك السيارات الكهربائية وتوفير المنتجات والخدمات المتخصصة.</a:t>
            </a:r>
            <a:endParaRPr lang="ar-AE" sz="760" dirty="0"/>
          </a:p>
        </p:txBody>
      </p:sp>
      <p:sp>
        <p:nvSpPr>
          <p:cNvPr id="28" name="Text 26"/>
          <p:cNvSpPr txBox="1"/>
          <p:nvPr/>
        </p:nvSpPr>
        <p:spPr>
          <a:xfrm>
            <a:off x="2930286" y="4315968"/>
            <a:ext cx="1842150" cy="128016"/>
          </a:xfrm>
          <a:prstGeom prst="rect">
            <a:avLst/>
          </a:prstGeom>
          <a:noFill/>
          <a:ln/>
        </p:spPr>
        <p:txBody>
          <a:bodyPr wrap="square" lIns="0" tIns="0" rIns="0" bIns="0" rtlCol="0" anchor="t"/>
          <a:lstStyle/>
          <a:p>
            <a:pPr algn="l" indent="0" marL="0">
              <a:lnSpc>
                <a:spcPct val="110000"/>
              </a:lnSpc>
              <a:spcAft>
                <a:spcPts val="500"/>
              </a:spcAft>
              <a:buNone/>
            </a:pPr>
            <a:r>
              <a:rPr lang="en-US" altLang="en-US" sz="630" dirty="0">
                <a:solidFill>
                  <a:srgbClr val="8A94A6"/>
                </a:solidFill>
                <a:latin typeface="Inter" pitchFamily="34" charset="0"/>
                <a:ea typeface="Inter" pitchFamily="34" charset="-122"/>
                <a:cs typeface="Inter" pitchFamily="34" charset="-120"/>
              </a:rPr>
              <a:t>Address · to be confirmed</a:t>
            </a:r>
            <a:endParaRPr lang="en-US" sz="630" dirty="0"/>
          </a:p>
        </p:txBody>
      </p:sp>
      <p:sp>
        <p:nvSpPr>
          <p:cNvPr id="29" name="Text 27"/>
          <p:cNvSpPr txBox="1"/>
          <p:nvPr/>
        </p:nvSpPr>
        <p:spPr>
          <a:xfrm>
            <a:off x="2930286" y="4443984"/>
            <a:ext cx="1842150" cy="146304"/>
          </a:xfrm>
          <a:prstGeom prst="rect">
            <a:avLst/>
          </a:prstGeom>
          <a:noFill/>
          <a:ln/>
        </p:spPr>
        <p:txBody>
          <a:bodyPr wrap="square" lIns="0" tIns="0" rIns="0" bIns="0" rtlCol="0" anchor="t"/>
          <a:lstStyle/>
          <a:p>
            <a:pPr rtl="1" algn="r" indent="0" marL="0">
              <a:lnSpc>
                <a:spcPct val="110000"/>
              </a:lnSpc>
              <a:spcAft>
                <a:spcPts val="500"/>
              </a:spcAft>
              <a:buNone/>
            </a:pPr>
            <a:r>
              <a:rPr lang="ar-AE" altLang="en-US" sz="680" dirty="0">
                <a:solidFill>
                  <a:srgbClr val="8A94A6"/>
                </a:solidFill>
                <a:latin typeface="IBM Plex Sans Arabic" pitchFamily="34" charset="0"/>
                <a:ea typeface="IBM Plex Sans Arabic" pitchFamily="34" charset="-122"/>
                <a:cs typeface="IBM Plex Sans Arabic" pitchFamily="34" charset="-120"/>
              </a:rPr>
              <a:t>العنوان · يُضاف بعد الاعتماد</a:t>
            </a:r>
            <a:endParaRPr lang="ar-AE" sz="680" dirty="0"/>
          </a:p>
        </p:txBody>
      </p:sp>
      <p:sp>
        <p:nvSpPr>
          <p:cNvPr id="30" name="QR placeholder"/>
          <p:cNvSpPr/>
          <p:nvPr/>
        </p:nvSpPr>
        <p:spPr>
          <a:xfrm>
            <a:off x="2930286" y="4636008"/>
            <a:ext cx="658368" cy="658368"/>
          </a:xfrm>
          <a:prstGeom prst="rect">
            <a:avLst/>
          </a:prstGeom>
          <a:solidFill>
            <a:srgbClr val="F4F6F9"/>
          </a:solidFill>
          <a:ln w="9525">
            <a:solidFill>
              <a:srgbClr val="E3E8EF"/>
            </a:solidFill>
            <a:prstDash val="solid"/>
          </a:ln>
        </p:spPr>
      </p:sp>
      <p:sp>
        <p:nvSpPr>
          <p:cNvPr id="31" name="Text 29"/>
          <p:cNvSpPr txBox="1"/>
          <p:nvPr/>
        </p:nvSpPr>
        <p:spPr>
          <a:xfrm>
            <a:off x="2930286" y="4636008"/>
            <a:ext cx="658368" cy="658368"/>
          </a:xfrm>
          <a:prstGeom prst="rect">
            <a:avLst/>
          </a:prstGeom>
          <a:noFill/>
          <a:ln/>
        </p:spPr>
        <p:txBody>
          <a:bodyPr wrap="square" lIns="0" tIns="0" rIns="0" bIns="0" rtlCol="0" anchor="ctr"/>
          <a:lstStyle/>
          <a:p>
            <a:pPr algn="ctr" indent="0" marL="0">
              <a:lnSpc>
                <a:spcPct val="110000"/>
              </a:lnSpc>
              <a:spcAft>
                <a:spcPts val="500"/>
              </a:spcAft>
              <a:buNone/>
            </a:pPr>
            <a:r>
              <a:rPr lang="en-US" altLang="en-US" sz="600" dirty="0">
                <a:solidFill>
                  <a:srgbClr val="8A94A6"/>
                </a:solidFill>
                <a:latin typeface="Inter" pitchFamily="34" charset="0"/>
                <a:ea typeface="Inter" pitchFamily="34" charset="-122"/>
                <a:cs typeface="Inter" pitchFamily="34" charset="-120"/>
              </a:rPr>
              <a:t>QR</a:t>
            </a:r>
            <a:endParaRPr lang="en-US" sz="600" dirty="0"/>
          </a:p>
          <a:p>
            <a:pPr algn="ctr" indent="0" marL="0">
              <a:lnSpc>
                <a:spcPct val="110000"/>
              </a:lnSpc>
              <a:spcAft>
                <a:spcPts val="500"/>
              </a:spcAft>
              <a:buNone/>
            </a:pPr>
            <a:r>
              <a:rPr lang="en-US" altLang="en-US" sz="600" dirty="0">
                <a:solidFill>
                  <a:srgbClr val="8A94A6"/>
                </a:solidFill>
                <a:latin typeface="Inter" pitchFamily="34" charset="0"/>
                <a:ea typeface="Inter" pitchFamily="34" charset="-122"/>
                <a:cs typeface="Inter" pitchFamily="34" charset="-120"/>
              </a:rPr>
              <a:t>Google Maps</a:t>
            </a:r>
            <a:endParaRPr lang="en-US" sz="600" dirty="0"/>
          </a:p>
        </p:txBody>
      </p:sp>
      <p:sp>
        <p:nvSpPr>
          <p:cNvPr id="32" name="Text 30"/>
          <p:cNvSpPr txBox="1"/>
          <p:nvPr/>
        </p:nvSpPr>
        <p:spPr>
          <a:xfrm>
            <a:off x="3661806" y="4754880"/>
            <a:ext cx="1110630" cy="411480"/>
          </a:xfrm>
          <a:prstGeom prst="rect">
            <a:avLst/>
          </a:prstGeom>
          <a:noFill/>
          <a:ln/>
        </p:spPr>
        <p:txBody>
          <a:bodyPr wrap="square" lIns="0" tIns="0" rIns="0" bIns="0" rtlCol="0" anchor="ctr"/>
          <a:lstStyle/>
          <a:p>
            <a:pPr algn="l" indent="0" marL="0">
              <a:lnSpc>
                <a:spcPct val="110000"/>
              </a:lnSpc>
              <a:spcAft>
                <a:spcPts val="500"/>
              </a:spcAft>
              <a:buNone/>
            </a:pPr>
            <a:r>
              <a:rPr lang="en-US" altLang="en-US" sz="650" dirty="0">
                <a:solidFill>
                  <a:srgbClr val="5B6677"/>
                </a:solidFill>
                <a:latin typeface="Inter" pitchFamily="34" charset="0"/>
                <a:ea typeface="Inter" pitchFamily="34" charset="-122"/>
                <a:cs typeface="Inter" pitchFamily="34" charset="-120"/>
              </a:rPr>
              <a:t>Open in Maps</a:t>
            </a:r>
            <a:endParaRPr lang="en-US" sz="650" dirty="0"/>
          </a:p>
          <a:p>
            <a:pPr rtl="1" algn="l" indent="0" marL="0">
              <a:lnSpc>
                <a:spcPct val="110000"/>
              </a:lnSpc>
              <a:spcAft>
                <a:spcPts val="500"/>
              </a:spcAft>
              <a:buNone/>
            </a:pPr>
            <a:r>
              <a:rPr lang="en-US" altLang="en-US" sz="650" dirty="0">
                <a:solidFill>
                  <a:srgbClr val="5B6677"/>
                </a:solidFill>
                <a:latin typeface="Inter" pitchFamily="34" charset="0"/>
                <a:ea typeface="Inter" pitchFamily="34" charset="-122"/>
                <a:cs typeface="Inter" pitchFamily="34" charset="-120"/>
              </a:rPr>
              <a:t>افتح في الخرائط</a:t>
            </a:r>
            <a:endParaRPr lang="en-US" sz="650" dirty="0"/>
          </a:p>
        </p:txBody>
      </p:sp>
      <p:sp>
        <p:nvSpPr>
          <p:cNvPr id="33" name="Al Ain"/>
          <p:cNvSpPr/>
          <p:nvPr/>
        </p:nvSpPr>
        <p:spPr>
          <a:xfrm>
            <a:off x="5037612" y="1280160"/>
            <a:ext cx="2116470" cy="4160520"/>
          </a:xfrm>
          <a:prstGeom prst="rect">
            <a:avLst/>
          </a:prstGeom>
          <a:solidFill>
            <a:srgbClr val="FFFFFF"/>
          </a:solidFill>
          <a:ln w="9525">
            <a:solidFill>
              <a:srgbClr val="E3E8EF"/>
            </a:solidFill>
            <a:prstDash val="solid"/>
          </a:ln>
        </p:spPr>
      </p:sp>
      <p:sp>
        <p:nvSpPr>
          <p:cNvPr id="34" name="Photo placeholder"/>
          <p:cNvSpPr/>
          <p:nvPr/>
        </p:nvSpPr>
        <p:spPr>
          <a:xfrm>
            <a:off x="5037612" y="1280160"/>
            <a:ext cx="2116470" cy="1005840"/>
          </a:xfrm>
          <a:prstGeom prst="rect">
            <a:avLst/>
          </a:prstGeom>
          <a:solidFill>
            <a:srgbClr val="F4F6F9"/>
          </a:solidFill>
          <a:ln w="9525">
            <a:solidFill>
              <a:srgbClr val="E3E8EF"/>
            </a:solidFill>
            <a:prstDash val="solid"/>
          </a:ln>
        </p:spPr>
      </p:sp>
      <p:sp>
        <p:nvSpPr>
          <p:cNvPr id="35" name="Text 33"/>
          <p:cNvSpPr txBox="1"/>
          <p:nvPr/>
        </p:nvSpPr>
        <p:spPr>
          <a:xfrm>
            <a:off x="5037612" y="1280160"/>
            <a:ext cx="2116470" cy="1005840"/>
          </a:xfrm>
          <a:prstGeom prst="rect">
            <a:avLst/>
          </a:prstGeom>
          <a:noFill/>
          <a:ln/>
        </p:spPr>
        <p:txBody>
          <a:bodyPr wrap="square" lIns="0" tIns="0" rIns="0" bIns="0" rtlCol="0" anchor="ctr"/>
          <a:lstStyle/>
          <a:p>
            <a:pPr algn="ctr" indent="0" marL="0">
              <a:lnSpc>
                <a:spcPct val="110000"/>
              </a:lnSpc>
              <a:spcAft>
                <a:spcPts val="500"/>
              </a:spcAft>
              <a:buNone/>
            </a:pPr>
            <a:r>
              <a:rPr lang="en-US" altLang="en-US" sz="700" spc="100" kern="0" dirty="0">
                <a:solidFill>
                  <a:srgbClr val="8A94A6"/>
                </a:solidFill>
                <a:latin typeface="Inter" pitchFamily="34" charset="0"/>
                <a:ea typeface="Inter" pitchFamily="34" charset="-122"/>
                <a:cs typeface="Inter" pitchFamily="34" charset="-120"/>
              </a:rPr>
              <a:t>PHOTO  ·  Al Ain branch</a:t>
            </a:r>
            <a:endParaRPr lang="en-US" sz="700" dirty="0"/>
          </a:p>
        </p:txBody>
      </p:sp>
      <p:sp>
        <p:nvSpPr>
          <p:cNvPr id="36" name="Text 34"/>
          <p:cNvSpPr txBox="1"/>
          <p:nvPr/>
        </p:nvSpPr>
        <p:spPr>
          <a:xfrm>
            <a:off x="5174772" y="2377440"/>
            <a:ext cx="1842150" cy="164592"/>
          </a:xfrm>
          <a:prstGeom prst="rect">
            <a:avLst/>
          </a:prstGeom>
          <a:noFill/>
          <a:ln/>
        </p:spPr>
        <p:txBody>
          <a:bodyPr wrap="square" lIns="0" tIns="0" rIns="0" bIns="0" rtlCol="0" anchor="t"/>
          <a:lstStyle/>
          <a:p>
            <a:pPr algn="l" indent="0" marL="0">
              <a:lnSpc>
                <a:spcPct val="110000"/>
              </a:lnSpc>
              <a:spcAft>
                <a:spcPts val="500"/>
              </a:spcAft>
              <a:buNone/>
            </a:pPr>
            <a:r>
              <a:rPr lang="en-US" altLang="en-US" sz="650" b="1" spc="200" kern="0" dirty="0">
                <a:solidFill>
                  <a:srgbClr val="3E9ACA"/>
                </a:solidFill>
                <a:latin typeface="Inter" pitchFamily="34" charset="0"/>
                <a:ea typeface="Inter" pitchFamily="34" charset="-122"/>
                <a:cs typeface="Inter" pitchFamily="34" charset="-120"/>
              </a:rPr>
              <a:t>UAE</a:t>
            </a:r>
            <a:endParaRPr lang="en-US" sz="650" dirty="0"/>
          </a:p>
        </p:txBody>
      </p:sp>
      <p:sp>
        <p:nvSpPr>
          <p:cNvPr id="37" name="Text 35"/>
          <p:cNvSpPr txBox="1"/>
          <p:nvPr/>
        </p:nvSpPr>
        <p:spPr>
          <a:xfrm>
            <a:off x="5174772" y="2560320"/>
            <a:ext cx="1842150" cy="182880"/>
          </a:xfrm>
          <a:prstGeom prst="rect">
            <a:avLst/>
          </a:prstGeom>
          <a:noFill/>
          <a:ln/>
        </p:spPr>
        <p:txBody>
          <a:bodyPr wrap="square" lIns="0" tIns="0" rIns="0" bIns="0" rtlCol="0" anchor="t"/>
          <a:lstStyle/>
          <a:p>
            <a:pPr algn="l" indent="0" marL="0">
              <a:lnSpc>
                <a:spcPct val="110000"/>
              </a:lnSpc>
              <a:spcAft>
                <a:spcPts val="500"/>
              </a:spcAft>
              <a:buNone/>
            </a:pPr>
            <a:r>
              <a:rPr lang="en-US" altLang="en-US" sz="1050" b="1" dirty="0">
                <a:solidFill>
                  <a:srgbClr val="0A1628"/>
                </a:solidFill>
                <a:latin typeface="Sora" pitchFamily="34" charset="0"/>
                <a:ea typeface="Sora" pitchFamily="34" charset="-122"/>
                <a:cs typeface="Sora" pitchFamily="34" charset="-120"/>
              </a:rPr>
              <a:t>Al Ain</a:t>
            </a:r>
            <a:endParaRPr lang="en-US" sz="1050" dirty="0"/>
          </a:p>
        </p:txBody>
      </p:sp>
      <p:sp>
        <p:nvSpPr>
          <p:cNvPr id="38" name="Text 36"/>
          <p:cNvSpPr txBox="1"/>
          <p:nvPr/>
        </p:nvSpPr>
        <p:spPr>
          <a:xfrm>
            <a:off x="5174772" y="2788920"/>
            <a:ext cx="1842150" cy="201168"/>
          </a:xfrm>
          <a:prstGeom prst="rect">
            <a:avLst/>
          </a:prstGeom>
          <a:noFill/>
          <a:ln/>
        </p:spPr>
        <p:txBody>
          <a:bodyPr wrap="square" lIns="0" tIns="0" rIns="0" bIns="0" rtlCol="0" anchor="t"/>
          <a:lstStyle/>
          <a:p>
            <a:pPr rtl="1" algn="r" indent="0" marL="0">
              <a:lnSpc>
                <a:spcPct val="110000"/>
              </a:lnSpc>
              <a:spcAft>
                <a:spcPts val="500"/>
              </a:spcAft>
              <a:buNone/>
            </a:pPr>
            <a:r>
              <a:rPr lang="ar-AE" altLang="en-US" sz="1050" b="1" dirty="0">
                <a:solidFill>
                  <a:srgbClr val="0A1628"/>
                </a:solidFill>
                <a:latin typeface="IBM Plex Sans Arabic" pitchFamily="34" charset="0"/>
                <a:ea typeface="IBM Plex Sans Arabic" pitchFamily="34" charset="-122"/>
                <a:cs typeface="IBM Plex Sans Arabic" pitchFamily="34" charset="-120"/>
              </a:rPr>
              <a:t>العين</a:t>
            </a:r>
            <a:endParaRPr lang="ar-AE" sz="1050" dirty="0"/>
          </a:p>
        </p:txBody>
      </p:sp>
      <p:sp>
        <p:nvSpPr>
          <p:cNvPr id="39" name="Text 37"/>
          <p:cNvSpPr txBox="1"/>
          <p:nvPr/>
        </p:nvSpPr>
        <p:spPr>
          <a:xfrm>
            <a:off x="5174772" y="3081528"/>
            <a:ext cx="1842150" cy="548640"/>
          </a:xfrm>
          <a:prstGeom prst="rect">
            <a:avLst/>
          </a:prstGeom>
          <a:noFill/>
          <a:ln/>
        </p:spPr>
        <p:txBody>
          <a:bodyPr wrap="square" lIns="0" tIns="0" rIns="0" bIns="0" rtlCol="0" anchor="t"/>
          <a:lstStyle/>
          <a:p>
            <a:pPr algn="l" indent="0" marL="0">
              <a:lnSpc>
                <a:spcPct val="110000"/>
              </a:lnSpc>
              <a:spcAft>
                <a:spcPts val="500"/>
              </a:spcAft>
              <a:buNone/>
            </a:pPr>
            <a:r>
              <a:rPr lang="en-US" altLang="en-US" sz="700" dirty="0">
                <a:solidFill>
                  <a:srgbClr val="2A3547"/>
                </a:solidFill>
                <a:latin typeface="Inter" pitchFamily="34" charset="0"/>
                <a:ea typeface="Inter" pitchFamily="34" charset="-122"/>
                <a:cs typeface="Inter" pitchFamily="34" charset="-120"/>
              </a:rPr>
              <a:t>EVCARS Al Ain branch offers electric vehicle accessories and related services.</a:t>
            </a:r>
            <a:endParaRPr lang="en-US" sz="700" dirty="0"/>
          </a:p>
        </p:txBody>
      </p:sp>
      <p:sp>
        <p:nvSpPr>
          <p:cNvPr id="40" name="Text 38"/>
          <p:cNvSpPr txBox="1"/>
          <p:nvPr/>
        </p:nvSpPr>
        <p:spPr>
          <a:xfrm>
            <a:off x="5174772" y="3630168"/>
            <a:ext cx="1842150" cy="658368"/>
          </a:xfrm>
          <a:prstGeom prst="rect">
            <a:avLst/>
          </a:prstGeom>
          <a:noFill/>
          <a:ln/>
        </p:spPr>
        <p:txBody>
          <a:bodyPr wrap="square" lIns="0" tIns="0" rIns="0" bIns="0" rtlCol="0" anchor="t"/>
          <a:lstStyle/>
          <a:p>
            <a:pPr rtl="1" algn="r" indent="0" marL="0">
              <a:lnSpc>
                <a:spcPct val="110000"/>
              </a:lnSpc>
              <a:spcAft>
                <a:spcPts val="500"/>
              </a:spcAft>
              <a:buNone/>
            </a:pPr>
            <a:r>
              <a:rPr lang="ar-AE" altLang="en-US" sz="760" dirty="0">
                <a:solidFill>
                  <a:srgbClr val="2A3547"/>
                </a:solidFill>
                <a:latin typeface="IBM Plex Sans Arabic" pitchFamily="34" charset="0"/>
                <a:ea typeface="IBM Plex Sans Arabic" pitchFamily="34" charset="-122"/>
                <a:cs typeface="IBM Plex Sans Arabic" pitchFamily="34" charset="-120"/>
              </a:rPr>
              <a:t>فرع EVCARS في مدينة العين، لتوفير إكسسوارات السيارات الكهربائية والخدمات المرتبطة بها.</a:t>
            </a:r>
            <a:endParaRPr lang="ar-AE" sz="760" dirty="0"/>
          </a:p>
        </p:txBody>
      </p:sp>
      <p:sp>
        <p:nvSpPr>
          <p:cNvPr id="41" name="Text 39"/>
          <p:cNvSpPr txBox="1"/>
          <p:nvPr/>
        </p:nvSpPr>
        <p:spPr>
          <a:xfrm>
            <a:off x="5174772" y="4315968"/>
            <a:ext cx="1842150" cy="128016"/>
          </a:xfrm>
          <a:prstGeom prst="rect">
            <a:avLst/>
          </a:prstGeom>
          <a:noFill/>
          <a:ln/>
        </p:spPr>
        <p:txBody>
          <a:bodyPr wrap="square" lIns="0" tIns="0" rIns="0" bIns="0" rtlCol="0" anchor="t"/>
          <a:lstStyle/>
          <a:p>
            <a:pPr algn="l" indent="0" marL="0">
              <a:lnSpc>
                <a:spcPct val="110000"/>
              </a:lnSpc>
              <a:spcAft>
                <a:spcPts val="500"/>
              </a:spcAft>
              <a:buNone/>
            </a:pPr>
            <a:r>
              <a:rPr lang="en-US" altLang="en-US" sz="630" dirty="0">
                <a:solidFill>
                  <a:srgbClr val="8A94A6"/>
                </a:solidFill>
                <a:latin typeface="Inter" pitchFamily="34" charset="0"/>
                <a:ea typeface="Inter" pitchFamily="34" charset="-122"/>
                <a:cs typeface="Inter" pitchFamily="34" charset="-120"/>
              </a:rPr>
              <a:t>Address · to be confirmed</a:t>
            </a:r>
            <a:endParaRPr lang="en-US" sz="630" dirty="0"/>
          </a:p>
        </p:txBody>
      </p:sp>
      <p:sp>
        <p:nvSpPr>
          <p:cNvPr id="42" name="Text 40"/>
          <p:cNvSpPr txBox="1"/>
          <p:nvPr/>
        </p:nvSpPr>
        <p:spPr>
          <a:xfrm>
            <a:off x="5174772" y="4443984"/>
            <a:ext cx="1842150" cy="146304"/>
          </a:xfrm>
          <a:prstGeom prst="rect">
            <a:avLst/>
          </a:prstGeom>
          <a:noFill/>
          <a:ln/>
        </p:spPr>
        <p:txBody>
          <a:bodyPr wrap="square" lIns="0" tIns="0" rIns="0" bIns="0" rtlCol="0" anchor="t"/>
          <a:lstStyle/>
          <a:p>
            <a:pPr rtl="1" algn="r" indent="0" marL="0">
              <a:lnSpc>
                <a:spcPct val="110000"/>
              </a:lnSpc>
              <a:spcAft>
                <a:spcPts val="500"/>
              </a:spcAft>
              <a:buNone/>
            </a:pPr>
            <a:r>
              <a:rPr lang="ar-AE" altLang="en-US" sz="680" dirty="0">
                <a:solidFill>
                  <a:srgbClr val="8A94A6"/>
                </a:solidFill>
                <a:latin typeface="IBM Plex Sans Arabic" pitchFamily="34" charset="0"/>
                <a:ea typeface="IBM Plex Sans Arabic" pitchFamily="34" charset="-122"/>
                <a:cs typeface="IBM Plex Sans Arabic" pitchFamily="34" charset="-120"/>
              </a:rPr>
              <a:t>العنوان · يُضاف بعد الاعتماد</a:t>
            </a:r>
            <a:endParaRPr lang="ar-AE" sz="680" dirty="0"/>
          </a:p>
        </p:txBody>
      </p:sp>
      <p:sp>
        <p:nvSpPr>
          <p:cNvPr id="43" name="QR placeholder"/>
          <p:cNvSpPr/>
          <p:nvPr/>
        </p:nvSpPr>
        <p:spPr>
          <a:xfrm>
            <a:off x="5174772" y="4636008"/>
            <a:ext cx="658368" cy="658368"/>
          </a:xfrm>
          <a:prstGeom prst="rect">
            <a:avLst/>
          </a:prstGeom>
          <a:solidFill>
            <a:srgbClr val="F4F6F9"/>
          </a:solidFill>
          <a:ln w="9525">
            <a:solidFill>
              <a:srgbClr val="E3E8EF"/>
            </a:solidFill>
            <a:prstDash val="solid"/>
          </a:ln>
        </p:spPr>
      </p:sp>
      <p:sp>
        <p:nvSpPr>
          <p:cNvPr id="44" name="Text 42"/>
          <p:cNvSpPr txBox="1"/>
          <p:nvPr/>
        </p:nvSpPr>
        <p:spPr>
          <a:xfrm>
            <a:off x="5174772" y="4636008"/>
            <a:ext cx="658368" cy="658368"/>
          </a:xfrm>
          <a:prstGeom prst="rect">
            <a:avLst/>
          </a:prstGeom>
          <a:noFill/>
          <a:ln/>
        </p:spPr>
        <p:txBody>
          <a:bodyPr wrap="square" lIns="0" tIns="0" rIns="0" bIns="0" rtlCol="0" anchor="ctr"/>
          <a:lstStyle/>
          <a:p>
            <a:pPr algn="ctr" indent="0" marL="0">
              <a:lnSpc>
                <a:spcPct val="110000"/>
              </a:lnSpc>
              <a:spcAft>
                <a:spcPts val="500"/>
              </a:spcAft>
              <a:buNone/>
            </a:pPr>
            <a:r>
              <a:rPr lang="en-US" altLang="en-US" sz="600" dirty="0">
                <a:solidFill>
                  <a:srgbClr val="8A94A6"/>
                </a:solidFill>
                <a:latin typeface="Inter" pitchFamily="34" charset="0"/>
                <a:ea typeface="Inter" pitchFamily="34" charset="-122"/>
                <a:cs typeface="Inter" pitchFamily="34" charset="-120"/>
              </a:rPr>
              <a:t>QR</a:t>
            </a:r>
            <a:endParaRPr lang="en-US" sz="600" dirty="0"/>
          </a:p>
          <a:p>
            <a:pPr algn="ctr" indent="0" marL="0">
              <a:lnSpc>
                <a:spcPct val="110000"/>
              </a:lnSpc>
              <a:spcAft>
                <a:spcPts val="500"/>
              </a:spcAft>
              <a:buNone/>
            </a:pPr>
            <a:r>
              <a:rPr lang="en-US" altLang="en-US" sz="600" dirty="0">
                <a:solidFill>
                  <a:srgbClr val="8A94A6"/>
                </a:solidFill>
                <a:latin typeface="Inter" pitchFamily="34" charset="0"/>
                <a:ea typeface="Inter" pitchFamily="34" charset="-122"/>
                <a:cs typeface="Inter" pitchFamily="34" charset="-120"/>
              </a:rPr>
              <a:t>Google Maps</a:t>
            </a:r>
            <a:endParaRPr lang="en-US" sz="600" dirty="0"/>
          </a:p>
        </p:txBody>
      </p:sp>
      <p:sp>
        <p:nvSpPr>
          <p:cNvPr id="45" name="Text 43"/>
          <p:cNvSpPr txBox="1"/>
          <p:nvPr/>
        </p:nvSpPr>
        <p:spPr>
          <a:xfrm>
            <a:off x="5906292" y="4754880"/>
            <a:ext cx="1110630" cy="411480"/>
          </a:xfrm>
          <a:prstGeom prst="rect">
            <a:avLst/>
          </a:prstGeom>
          <a:noFill/>
          <a:ln/>
        </p:spPr>
        <p:txBody>
          <a:bodyPr wrap="square" lIns="0" tIns="0" rIns="0" bIns="0" rtlCol="0" anchor="ctr"/>
          <a:lstStyle/>
          <a:p>
            <a:pPr algn="l" indent="0" marL="0">
              <a:lnSpc>
                <a:spcPct val="110000"/>
              </a:lnSpc>
              <a:spcAft>
                <a:spcPts val="500"/>
              </a:spcAft>
              <a:buNone/>
            </a:pPr>
            <a:r>
              <a:rPr lang="en-US" altLang="en-US" sz="650" dirty="0">
                <a:solidFill>
                  <a:srgbClr val="5B6677"/>
                </a:solidFill>
                <a:latin typeface="Inter" pitchFamily="34" charset="0"/>
                <a:ea typeface="Inter" pitchFamily="34" charset="-122"/>
                <a:cs typeface="Inter" pitchFamily="34" charset="-120"/>
              </a:rPr>
              <a:t>Open in Maps</a:t>
            </a:r>
            <a:endParaRPr lang="en-US" sz="650" dirty="0"/>
          </a:p>
          <a:p>
            <a:pPr rtl="1" algn="l" indent="0" marL="0">
              <a:lnSpc>
                <a:spcPct val="110000"/>
              </a:lnSpc>
              <a:spcAft>
                <a:spcPts val="500"/>
              </a:spcAft>
              <a:buNone/>
            </a:pPr>
            <a:r>
              <a:rPr lang="en-US" altLang="en-US" sz="650" dirty="0">
                <a:solidFill>
                  <a:srgbClr val="5B6677"/>
                </a:solidFill>
                <a:latin typeface="Inter" pitchFamily="34" charset="0"/>
                <a:ea typeface="Inter" pitchFamily="34" charset="-122"/>
                <a:cs typeface="Inter" pitchFamily="34" charset="-120"/>
              </a:rPr>
              <a:t>افتح في الخرائط</a:t>
            </a:r>
            <a:endParaRPr lang="en-US" sz="650" dirty="0"/>
          </a:p>
        </p:txBody>
      </p:sp>
      <p:sp>
        <p:nvSpPr>
          <p:cNvPr id="46" name="Muscat"/>
          <p:cNvSpPr/>
          <p:nvPr/>
        </p:nvSpPr>
        <p:spPr>
          <a:xfrm>
            <a:off x="7282099" y="1280160"/>
            <a:ext cx="2116470" cy="4160520"/>
          </a:xfrm>
          <a:prstGeom prst="rect">
            <a:avLst/>
          </a:prstGeom>
          <a:solidFill>
            <a:srgbClr val="FFFFFF"/>
          </a:solidFill>
          <a:ln w="9525">
            <a:solidFill>
              <a:srgbClr val="E3E8EF"/>
            </a:solidFill>
            <a:prstDash val="solid"/>
          </a:ln>
        </p:spPr>
      </p:sp>
      <p:sp>
        <p:nvSpPr>
          <p:cNvPr id="47" name="Photo placeholder"/>
          <p:cNvSpPr/>
          <p:nvPr/>
        </p:nvSpPr>
        <p:spPr>
          <a:xfrm>
            <a:off x="7282099" y="1280160"/>
            <a:ext cx="2116470" cy="1005840"/>
          </a:xfrm>
          <a:prstGeom prst="rect">
            <a:avLst/>
          </a:prstGeom>
          <a:solidFill>
            <a:srgbClr val="F4F6F9"/>
          </a:solidFill>
          <a:ln w="9525">
            <a:solidFill>
              <a:srgbClr val="E3E8EF"/>
            </a:solidFill>
            <a:prstDash val="solid"/>
          </a:ln>
        </p:spPr>
      </p:sp>
      <p:sp>
        <p:nvSpPr>
          <p:cNvPr id="48" name="Text 46"/>
          <p:cNvSpPr txBox="1"/>
          <p:nvPr/>
        </p:nvSpPr>
        <p:spPr>
          <a:xfrm>
            <a:off x="7282099" y="1280160"/>
            <a:ext cx="2116470" cy="1005840"/>
          </a:xfrm>
          <a:prstGeom prst="rect">
            <a:avLst/>
          </a:prstGeom>
          <a:noFill/>
          <a:ln/>
        </p:spPr>
        <p:txBody>
          <a:bodyPr wrap="square" lIns="0" tIns="0" rIns="0" bIns="0" rtlCol="0" anchor="ctr"/>
          <a:lstStyle/>
          <a:p>
            <a:pPr algn="ctr" indent="0" marL="0">
              <a:lnSpc>
                <a:spcPct val="110000"/>
              </a:lnSpc>
              <a:spcAft>
                <a:spcPts val="500"/>
              </a:spcAft>
              <a:buNone/>
            </a:pPr>
            <a:r>
              <a:rPr lang="en-US" altLang="en-US" sz="700" spc="100" kern="0" dirty="0">
                <a:solidFill>
                  <a:srgbClr val="8A94A6"/>
                </a:solidFill>
                <a:latin typeface="Inter" pitchFamily="34" charset="0"/>
                <a:ea typeface="Inter" pitchFamily="34" charset="-122"/>
                <a:cs typeface="Inter" pitchFamily="34" charset="-120"/>
              </a:rPr>
              <a:t>PHOTO  ·  Muscat branch</a:t>
            </a:r>
            <a:endParaRPr lang="en-US" sz="700" dirty="0"/>
          </a:p>
        </p:txBody>
      </p:sp>
      <p:sp>
        <p:nvSpPr>
          <p:cNvPr id="49" name="Text 47"/>
          <p:cNvSpPr txBox="1"/>
          <p:nvPr/>
        </p:nvSpPr>
        <p:spPr>
          <a:xfrm>
            <a:off x="7419259" y="2377440"/>
            <a:ext cx="1842150" cy="164592"/>
          </a:xfrm>
          <a:prstGeom prst="rect">
            <a:avLst/>
          </a:prstGeom>
          <a:noFill/>
          <a:ln/>
        </p:spPr>
        <p:txBody>
          <a:bodyPr wrap="square" lIns="0" tIns="0" rIns="0" bIns="0" rtlCol="0" anchor="t"/>
          <a:lstStyle/>
          <a:p>
            <a:pPr algn="l" indent="0" marL="0">
              <a:lnSpc>
                <a:spcPct val="110000"/>
              </a:lnSpc>
              <a:spcAft>
                <a:spcPts val="500"/>
              </a:spcAft>
              <a:buNone/>
            </a:pPr>
            <a:r>
              <a:rPr lang="en-US" altLang="en-US" sz="650" b="1" spc="200" kern="0" dirty="0">
                <a:solidFill>
                  <a:srgbClr val="7FA83F"/>
                </a:solidFill>
                <a:latin typeface="Inter" pitchFamily="34" charset="0"/>
                <a:ea typeface="Inter" pitchFamily="34" charset="-122"/>
                <a:cs typeface="Inter" pitchFamily="34" charset="-120"/>
              </a:rPr>
              <a:t>OMAN</a:t>
            </a:r>
            <a:endParaRPr lang="en-US" sz="650" dirty="0"/>
          </a:p>
        </p:txBody>
      </p:sp>
      <p:sp>
        <p:nvSpPr>
          <p:cNvPr id="50" name="Text 48"/>
          <p:cNvSpPr txBox="1"/>
          <p:nvPr/>
        </p:nvSpPr>
        <p:spPr>
          <a:xfrm>
            <a:off x="7419259" y="2560320"/>
            <a:ext cx="1842150" cy="182880"/>
          </a:xfrm>
          <a:prstGeom prst="rect">
            <a:avLst/>
          </a:prstGeom>
          <a:noFill/>
          <a:ln/>
        </p:spPr>
        <p:txBody>
          <a:bodyPr wrap="square" lIns="0" tIns="0" rIns="0" bIns="0" rtlCol="0" anchor="t"/>
          <a:lstStyle/>
          <a:p>
            <a:pPr algn="l" indent="0" marL="0">
              <a:lnSpc>
                <a:spcPct val="110000"/>
              </a:lnSpc>
              <a:spcAft>
                <a:spcPts val="500"/>
              </a:spcAft>
              <a:buNone/>
            </a:pPr>
            <a:r>
              <a:rPr lang="en-US" altLang="en-US" sz="1050" b="1" dirty="0">
                <a:solidFill>
                  <a:srgbClr val="0A1628"/>
                </a:solidFill>
                <a:latin typeface="Sora" pitchFamily="34" charset="0"/>
                <a:ea typeface="Sora" pitchFamily="34" charset="-122"/>
                <a:cs typeface="Sora" pitchFamily="34" charset="-120"/>
              </a:rPr>
              <a:t>Muscat</a:t>
            </a:r>
            <a:endParaRPr lang="en-US" sz="1050" dirty="0"/>
          </a:p>
        </p:txBody>
      </p:sp>
      <p:sp>
        <p:nvSpPr>
          <p:cNvPr id="51" name="Text 49"/>
          <p:cNvSpPr txBox="1"/>
          <p:nvPr/>
        </p:nvSpPr>
        <p:spPr>
          <a:xfrm>
            <a:off x="7419259" y="2788920"/>
            <a:ext cx="1842150" cy="201168"/>
          </a:xfrm>
          <a:prstGeom prst="rect">
            <a:avLst/>
          </a:prstGeom>
          <a:noFill/>
          <a:ln/>
        </p:spPr>
        <p:txBody>
          <a:bodyPr wrap="square" lIns="0" tIns="0" rIns="0" bIns="0" rtlCol="0" anchor="t"/>
          <a:lstStyle/>
          <a:p>
            <a:pPr rtl="1" algn="r" indent="0" marL="0">
              <a:lnSpc>
                <a:spcPct val="110000"/>
              </a:lnSpc>
              <a:spcAft>
                <a:spcPts val="500"/>
              </a:spcAft>
              <a:buNone/>
            </a:pPr>
            <a:r>
              <a:rPr lang="ar-AE" altLang="en-US" sz="1050" b="1" dirty="0">
                <a:solidFill>
                  <a:srgbClr val="0A1628"/>
                </a:solidFill>
                <a:latin typeface="IBM Plex Sans Arabic" pitchFamily="34" charset="0"/>
                <a:ea typeface="IBM Plex Sans Arabic" pitchFamily="34" charset="-122"/>
                <a:cs typeface="IBM Plex Sans Arabic" pitchFamily="34" charset="-120"/>
              </a:rPr>
              <a:t>مسقط</a:t>
            </a:r>
            <a:endParaRPr lang="ar-AE" sz="1050" dirty="0"/>
          </a:p>
        </p:txBody>
      </p:sp>
      <p:sp>
        <p:nvSpPr>
          <p:cNvPr id="52" name="Text 50"/>
          <p:cNvSpPr txBox="1"/>
          <p:nvPr/>
        </p:nvSpPr>
        <p:spPr>
          <a:xfrm>
            <a:off x="7419259" y="3081528"/>
            <a:ext cx="1842150" cy="548640"/>
          </a:xfrm>
          <a:prstGeom prst="rect">
            <a:avLst/>
          </a:prstGeom>
          <a:noFill/>
          <a:ln/>
        </p:spPr>
        <p:txBody>
          <a:bodyPr wrap="square" lIns="0" tIns="0" rIns="0" bIns="0" rtlCol="0" anchor="t"/>
          <a:lstStyle/>
          <a:p>
            <a:pPr algn="l" indent="0" marL="0">
              <a:lnSpc>
                <a:spcPct val="110000"/>
              </a:lnSpc>
              <a:spcAft>
                <a:spcPts val="500"/>
              </a:spcAft>
              <a:buNone/>
            </a:pPr>
            <a:r>
              <a:rPr lang="en-US" altLang="en-US" sz="700" dirty="0">
                <a:solidFill>
                  <a:srgbClr val="2A3547"/>
                </a:solidFill>
                <a:latin typeface="Inter" pitchFamily="34" charset="0"/>
                <a:ea typeface="Inter" pitchFamily="34" charset="-122"/>
                <a:cs typeface="Inter" pitchFamily="34" charset="-120"/>
              </a:rPr>
              <a:t>EVCARS Muscat branch provides specialized products and services for electric vehicle owners in Oman.</a:t>
            </a:r>
            <a:endParaRPr lang="en-US" sz="700" dirty="0"/>
          </a:p>
        </p:txBody>
      </p:sp>
      <p:sp>
        <p:nvSpPr>
          <p:cNvPr id="53" name="Text 51"/>
          <p:cNvSpPr txBox="1"/>
          <p:nvPr/>
        </p:nvSpPr>
        <p:spPr>
          <a:xfrm>
            <a:off x="7419259" y="3630168"/>
            <a:ext cx="1842150" cy="658368"/>
          </a:xfrm>
          <a:prstGeom prst="rect">
            <a:avLst/>
          </a:prstGeom>
          <a:noFill/>
          <a:ln/>
        </p:spPr>
        <p:txBody>
          <a:bodyPr wrap="square" lIns="0" tIns="0" rIns="0" bIns="0" rtlCol="0" anchor="t"/>
          <a:lstStyle/>
          <a:p>
            <a:pPr rtl="1" algn="r" indent="0" marL="0">
              <a:lnSpc>
                <a:spcPct val="110000"/>
              </a:lnSpc>
              <a:spcAft>
                <a:spcPts val="500"/>
              </a:spcAft>
              <a:buNone/>
            </a:pPr>
            <a:r>
              <a:rPr lang="ar-AE" altLang="en-US" sz="760" dirty="0">
                <a:solidFill>
                  <a:srgbClr val="2A3547"/>
                </a:solidFill>
                <a:latin typeface="IBM Plex Sans Arabic" pitchFamily="34" charset="0"/>
                <a:ea typeface="IBM Plex Sans Arabic" pitchFamily="34" charset="-122"/>
                <a:cs typeface="IBM Plex Sans Arabic" pitchFamily="34" charset="-120"/>
              </a:rPr>
              <a:t>فرع EVCARS في مسقط لتوفير المنتجات والخدمات المتخصصة لملاك السيارات الكهربائية في سلطنة عُمان.</a:t>
            </a:r>
            <a:endParaRPr lang="ar-AE" sz="760" dirty="0"/>
          </a:p>
        </p:txBody>
      </p:sp>
      <p:sp>
        <p:nvSpPr>
          <p:cNvPr id="54" name="Text 52"/>
          <p:cNvSpPr txBox="1"/>
          <p:nvPr/>
        </p:nvSpPr>
        <p:spPr>
          <a:xfrm>
            <a:off x="7419259" y="4315968"/>
            <a:ext cx="1842150" cy="128016"/>
          </a:xfrm>
          <a:prstGeom prst="rect">
            <a:avLst/>
          </a:prstGeom>
          <a:noFill/>
          <a:ln/>
        </p:spPr>
        <p:txBody>
          <a:bodyPr wrap="square" lIns="0" tIns="0" rIns="0" bIns="0" rtlCol="0" anchor="t"/>
          <a:lstStyle/>
          <a:p>
            <a:pPr algn="l" indent="0" marL="0">
              <a:lnSpc>
                <a:spcPct val="110000"/>
              </a:lnSpc>
              <a:spcAft>
                <a:spcPts val="500"/>
              </a:spcAft>
              <a:buNone/>
            </a:pPr>
            <a:r>
              <a:rPr lang="en-US" altLang="en-US" sz="630" dirty="0">
                <a:solidFill>
                  <a:srgbClr val="8A94A6"/>
                </a:solidFill>
                <a:latin typeface="Inter" pitchFamily="34" charset="0"/>
                <a:ea typeface="Inter" pitchFamily="34" charset="-122"/>
                <a:cs typeface="Inter" pitchFamily="34" charset="-120"/>
              </a:rPr>
              <a:t>Address · to be confirmed</a:t>
            </a:r>
            <a:endParaRPr lang="en-US" sz="630" dirty="0"/>
          </a:p>
        </p:txBody>
      </p:sp>
      <p:sp>
        <p:nvSpPr>
          <p:cNvPr id="55" name="Text 53"/>
          <p:cNvSpPr txBox="1"/>
          <p:nvPr/>
        </p:nvSpPr>
        <p:spPr>
          <a:xfrm>
            <a:off x="7419259" y="4443984"/>
            <a:ext cx="1842150" cy="146304"/>
          </a:xfrm>
          <a:prstGeom prst="rect">
            <a:avLst/>
          </a:prstGeom>
          <a:noFill/>
          <a:ln/>
        </p:spPr>
        <p:txBody>
          <a:bodyPr wrap="square" lIns="0" tIns="0" rIns="0" bIns="0" rtlCol="0" anchor="t"/>
          <a:lstStyle/>
          <a:p>
            <a:pPr rtl="1" algn="r" indent="0" marL="0">
              <a:lnSpc>
                <a:spcPct val="110000"/>
              </a:lnSpc>
              <a:spcAft>
                <a:spcPts val="500"/>
              </a:spcAft>
              <a:buNone/>
            </a:pPr>
            <a:r>
              <a:rPr lang="ar-AE" altLang="en-US" sz="680" dirty="0">
                <a:solidFill>
                  <a:srgbClr val="8A94A6"/>
                </a:solidFill>
                <a:latin typeface="IBM Plex Sans Arabic" pitchFamily="34" charset="0"/>
                <a:ea typeface="IBM Plex Sans Arabic" pitchFamily="34" charset="-122"/>
                <a:cs typeface="IBM Plex Sans Arabic" pitchFamily="34" charset="-120"/>
              </a:rPr>
              <a:t>العنوان · يُضاف بعد الاعتماد</a:t>
            </a:r>
            <a:endParaRPr lang="ar-AE" sz="680" dirty="0"/>
          </a:p>
        </p:txBody>
      </p:sp>
      <p:sp>
        <p:nvSpPr>
          <p:cNvPr id="56" name="QR placeholder"/>
          <p:cNvSpPr/>
          <p:nvPr/>
        </p:nvSpPr>
        <p:spPr>
          <a:xfrm>
            <a:off x="7419259" y="4636008"/>
            <a:ext cx="658368" cy="658368"/>
          </a:xfrm>
          <a:prstGeom prst="rect">
            <a:avLst/>
          </a:prstGeom>
          <a:solidFill>
            <a:srgbClr val="F4F6F9"/>
          </a:solidFill>
          <a:ln w="9525">
            <a:solidFill>
              <a:srgbClr val="E3E8EF"/>
            </a:solidFill>
            <a:prstDash val="solid"/>
          </a:ln>
        </p:spPr>
      </p:sp>
      <p:sp>
        <p:nvSpPr>
          <p:cNvPr id="57" name="Text 55"/>
          <p:cNvSpPr txBox="1"/>
          <p:nvPr/>
        </p:nvSpPr>
        <p:spPr>
          <a:xfrm>
            <a:off x="7419259" y="4636008"/>
            <a:ext cx="658368" cy="658368"/>
          </a:xfrm>
          <a:prstGeom prst="rect">
            <a:avLst/>
          </a:prstGeom>
          <a:noFill/>
          <a:ln/>
        </p:spPr>
        <p:txBody>
          <a:bodyPr wrap="square" lIns="0" tIns="0" rIns="0" bIns="0" rtlCol="0" anchor="ctr"/>
          <a:lstStyle/>
          <a:p>
            <a:pPr algn="ctr" indent="0" marL="0">
              <a:lnSpc>
                <a:spcPct val="110000"/>
              </a:lnSpc>
              <a:spcAft>
                <a:spcPts val="500"/>
              </a:spcAft>
              <a:buNone/>
            </a:pPr>
            <a:r>
              <a:rPr lang="en-US" altLang="en-US" sz="600" dirty="0">
                <a:solidFill>
                  <a:srgbClr val="8A94A6"/>
                </a:solidFill>
                <a:latin typeface="Inter" pitchFamily="34" charset="0"/>
                <a:ea typeface="Inter" pitchFamily="34" charset="-122"/>
                <a:cs typeface="Inter" pitchFamily="34" charset="-120"/>
              </a:rPr>
              <a:t>QR</a:t>
            </a:r>
            <a:endParaRPr lang="en-US" sz="600" dirty="0"/>
          </a:p>
          <a:p>
            <a:pPr algn="ctr" indent="0" marL="0">
              <a:lnSpc>
                <a:spcPct val="110000"/>
              </a:lnSpc>
              <a:spcAft>
                <a:spcPts val="500"/>
              </a:spcAft>
              <a:buNone/>
            </a:pPr>
            <a:r>
              <a:rPr lang="en-US" altLang="en-US" sz="600" dirty="0">
                <a:solidFill>
                  <a:srgbClr val="8A94A6"/>
                </a:solidFill>
                <a:latin typeface="Inter" pitchFamily="34" charset="0"/>
                <a:ea typeface="Inter" pitchFamily="34" charset="-122"/>
                <a:cs typeface="Inter" pitchFamily="34" charset="-120"/>
              </a:rPr>
              <a:t>Google Maps</a:t>
            </a:r>
            <a:endParaRPr lang="en-US" sz="600" dirty="0"/>
          </a:p>
        </p:txBody>
      </p:sp>
      <p:sp>
        <p:nvSpPr>
          <p:cNvPr id="58" name="Text 56"/>
          <p:cNvSpPr txBox="1"/>
          <p:nvPr/>
        </p:nvSpPr>
        <p:spPr>
          <a:xfrm>
            <a:off x="8150779" y="4754880"/>
            <a:ext cx="1110630" cy="411480"/>
          </a:xfrm>
          <a:prstGeom prst="rect">
            <a:avLst/>
          </a:prstGeom>
          <a:noFill/>
          <a:ln/>
        </p:spPr>
        <p:txBody>
          <a:bodyPr wrap="square" lIns="0" tIns="0" rIns="0" bIns="0" rtlCol="0" anchor="ctr"/>
          <a:lstStyle/>
          <a:p>
            <a:pPr algn="l" indent="0" marL="0">
              <a:lnSpc>
                <a:spcPct val="110000"/>
              </a:lnSpc>
              <a:spcAft>
                <a:spcPts val="500"/>
              </a:spcAft>
              <a:buNone/>
            </a:pPr>
            <a:r>
              <a:rPr lang="en-US" altLang="en-US" sz="650" dirty="0">
                <a:solidFill>
                  <a:srgbClr val="5B6677"/>
                </a:solidFill>
                <a:latin typeface="Inter" pitchFamily="34" charset="0"/>
                <a:ea typeface="Inter" pitchFamily="34" charset="-122"/>
                <a:cs typeface="Inter" pitchFamily="34" charset="-120"/>
              </a:rPr>
              <a:t>Open in Maps</a:t>
            </a:r>
            <a:endParaRPr lang="en-US" sz="650" dirty="0"/>
          </a:p>
          <a:p>
            <a:pPr rtl="1" algn="l" indent="0" marL="0">
              <a:lnSpc>
                <a:spcPct val="110000"/>
              </a:lnSpc>
              <a:spcAft>
                <a:spcPts val="500"/>
              </a:spcAft>
              <a:buNone/>
            </a:pPr>
            <a:r>
              <a:rPr lang="en-US" altLang="en-US" sz="650" dirty="0">
                <a:solidFill>
                  <a:srgbClr val="5B6677"/>
                </a:solidFill>
                <a:latin typeface="Inter" pitchFamily="34" charset="0"/>
                <a:ea typeface="Inter" pitchFamily="34" charset="-122"/>
                <a:cs typeface="Inter" pitchFamily="34" charset="-120"/>
              </a:rPr>
              <a:t>افتح في الخرائط</a:t>
            </a:r>
            <a:endParaRPr lang="en-US" sz="650" dirty="0"/>
          </a:p>
        </p:txBody>
      </p:sp>
      <p:sp>
        <p:nvSpPr>
          <p:cNvPr id="59" name="Saham – North Al Batinah"/>
          <p:cNvSpPr/>
          <p:nvPr/>
        </p:nvSpPr>
        <p:spPr>
          <a:xfrm>
            <a:off x="9526585" y="1280160"/>
            <a:ext cx="2116470" cy="4160520"/>
          </a:xfrm>
          <a:prstGeom prst="rect">
            <a:avLst/>
          </a:prstGeom>
          <a:solidFill>
            <a:srgbClr val="FFFFFF"/>
          </a:solidFill>
          <a:ln w="9525">
            <a:solidFill>
              <a:srgbClr val="E3E8EF"/>
            </a:solidFill>
            <a:prstDash val="solid"/>
          </a:ln>
        </p:spPr>
      </p:sp>
      <p:sp>
        <p:nvSpPr>
          <p:cNvPr id="60" name="Photo placeholder"/>
          <p:cNvSpPr/>
          <p:nvPr/>
        </p:nvSpPr>
        <p:spPr>
          <a:xfrm>
            <a:off x="9526585" y="1280160"/>
            <a:ext cx="2116470" cy="1005840"/>
          </a:xfrm>
          <a:prstGeom prst="rect">
            <a:avLst/>
          </a:prstGeom>
          <a:solidFill>
            <a:srgbClr val="F4F6F9"/>
          </a:solidFill>
          <a:ln w="9525">
            <a:solidFill>
              <a:srgbClr val="E3E8EF"/>
            </a:solidFill>
            <a:prstDash val="solid"/>
          </a:ln>
        </p:spPr>
      </p:sp>
      <p:sp>
        <p:nvSpPr>
          <p:cNvPr id="61" name="Text 59"/>
          <p:cNvSpPr txBox="1"/>
          <p:nvPr/>
        </p:nvSpPr>
        <p:spPr>
          <a:xfrm>
            <a:off x="9526585" y="1280160"/>
            <a:ext cx="2116470" cy="1005840"/>
          </a:xfrm>
          <a:prstGeom prst="rect">
            <a:avLst/>
          </a:prstGeom>
          <a:noFill/>
          <a:ln/>
        </p:spPr>
        <p:txBody>
          <a:bodyPr wrap="square" lIns="0" tIns="0" rIns="0" bIns="0" rtlCol="0" anchor="ctr"/>
          <a:lstStyle/>
          <a:p>
            <a:pPr algn="ctr" indent="0" marL="0">
              <a:lnSpc>
                <a:spcPct val="110000"/>
              </a:lnSpc>
              <a:spcAft>
                <a:spcPts val="500"/>
              </a:spcAft>
              <a:buNone/>
            </a:pPr>
            <a:r>
              <a:rPr lang="en-US" altLang="en-US" sz="700" spc="100" kern="0" dirty="0">
                <a:solidFill>
                  <a:srgbClr val="8A94A6"/>
                </a:solidFill>
                <a:latin typeface="Inter" pitchFamily="34" charset="0"/>
                <a:ea typeface="Inter" pitchFamily="34" charset="-122"/>
                <a:cs typeface="Inter" pitchFamily="34" charset="-120"/>
              </a:rPr>
              <a:t>PHOTO  ·  Saham – North Al Batinah branch</a:t>
            </a:r>
            <a:endParaRPr lang="en-US" sz="700" dirty="0"/>
          </a:p>
        </p:txBody>
      </p:sp>
      <p:sp>
        <p:nvSpPr>
          <p:cNvPr id="62" name="Text 60"/>
          <p:cNvSpPr txBox="1"/>
          <p:nvPr/>
        </p:nvSpPr>
        <p:spPr>
          <a:xfrm>
            <a:off x="9663745" y="2377440"/>
            <a:ext cx="1842150" cy="164592"/>
          </a:xfrm>
          <a:prstGeom prst="rect">
            <a:avLst/>
          </a:prstGeom>
          <a:noFill/>
          <a:ln/>
        </p:spPr>
        <p:txBody>
          <a:bodyPr wrap="square" lIns="0" tIns="0" rIns="0" bIns="0" rtlCol="0" anchor="t"/>
          <a:lstStyle/>
          <a:p>
            <a:pPr algn="l" indent="0" marL="0">
              <a:lnSpc>
                <a:spcPct val="110000"/>
              </a:lnSpc>
              <a:spcAft>
                <a:spcPts val="500"/>
              </a:spcAft>
              <a:buNone/>
            </a:pPr>
            <a:r>
              <a:rPr lang="en-US" altLang="en-US" sz="650" b="1" spc="200" kern="0" dirty="0">
                <a:solidFill>
                  <a:srgbClr val="7FA83F"/>
                </a:solidFill>
                <a:latin typeface="Inter" pitchFamily="34" charset="0"/>
                <a:ea typeface="Inter" pitchFamily="34" charset="-122"/>
                <a:cs typeface="Inter" pitchFamily="34" charset="-120"/>
              </a:rPr>
              <a:t>OMAN</a:t>
            </a:r>
            <a:endParaRPr lang="en-US" sz="650" dirty="0"/>
          </a:p>
        </p:txBody>
      </p:sp>
      <p:sp>
        <p:nvSpPr>
          <p:cNvPr id="63" name="Text 61"/>
          <p:cNvSpPr txBox="1"/>
          <p:nvPr/>
        </p:nvSpPr>
        <p:spPr>
          <a:xfrm>
            <a:off x="9663745" y="2560320"/>
            <a:ext cx="1842150" cy="182880"/>
          </a:xfrm>
          <a:prstGeom prst="rect">
            <a:avLst/>
          </a:prstGeom>
          <a:noFill/>
          <a:ln/>
        </p:spPr>
        <p:txBody>
          <a:bodyPr wrap="square" lIns="0" tIns="0" rIns="0" bIns="0" rtlCol="0" anchor="t"/>
          <a:lstStyle/>
          <a:p>
            <a:pPr algn="l" indent="0" marL="0">
              <a:lnSpc>
                <a:spcPct val="110000"/>
              </a:lnSpc>
              <a:spcAft>
                <a:spcPts val="500"/>
              </a:spcAft>
              <a:buNone/>
            </a:pPr>
            <a:r>
              <a:rPr lang="en-US" altLang="en-US" sz="850" b="1" dirty="0">
                <a:solidFill>
                  <a:srgbClr val="0A1628"/>
                </a:solidFill>
                <a:latin typeface="Sora" pitchFamily="34" charset="0"/>
                <a:ea typeface="Sora" pitchFamily="34" charset="-122"/>
                <a:cs typeface="Sora" pitchFamily="34" charset="-120"/>
              </a:rPr>
              <a:t>Saham – North Al Batinah</a:t>
            </a:r>
            <a:endParaRPr lang="en-US" sz="850" dirty="0"/>
          </a:p>
        </p:txBody>
      </p:sp>
      <p:sp>
        <p:nvSpPr>
          <p:cNvPr id="64" name="Text 62"/>
          <p:cNvSpPr txBox="1"/>
          <p:nvPr/>
        </p:nvSpPr>
        <p:spPr>
          <a:xfrm>
            <a:off x="9663745" y="2788920"/>
            <a:ext cx="1842150" cy="201168"/>
          </a:xfrm>
          <a:prstGeom prst="rect">
            <a:avLst/>
          </a:prstGeom>
          <a:noFill/>
          <a:ln/>
        </p:spPr>
        <p:txBody>
          <a:bodyPr wrap="square" lIns="0" tIns="0" rIns="0" bIns="0" rtlCol="0" anchor="t"/>
          <a:lstStyle/>
          <a:p>
            <a:pPr rtl="1" algn="r" indent="0" marL="0">
              <a:lnSpc>
                <a:spcPct val="110000"/>
              </a:lnSpc>
              <a:spcAft>
                <a:spcPts val="500"/>
              </a:spcAft>
              <a:buNone/>
            </a:pPr>
            <a:r>
              <a:rPr lang="ar-AE" altLang="en-US" sz="1050" b="1" dirty="0">
                <a:solidFill>
                  <a:srgbClr val="0A1628"/>
                </a:solidFill>
                <a:latin typeface="IBM Plex Sans Arabic" pitchFamily="34" charset="0"/>
                <a:ea typeface="IBM Plex Sans Arabic" pitchFamily="34" charset="-122"/>
                <a:cs typeface="IBM Plex Sans Arabic" pitchFamily="34" charset="-120"/>
              </a:rPr>
              <a:t>صحم – شمال الباطنة</a:t>
            </a:r>
            <a:endParaRPr lang="ar-AE" sz="1050" dirty="0"/>
          </a:p>
        </p:txBody>
      </p:sp>
      <p:sp>
        <p:nvSpPr>
          <p:cNvPr id="65" name="Text 63"/>
          <p:cNvSpPr txBox="1"/>
          <p:nvPr/>
        </p:nvSpPr>
        <p:spPr>
          <a:xfrm>
            <a:off x="9663745" y="3081528"/>
            <a:ext cx="1842150" cy="548640"/>
          </a:xfrm>
          <a:prstGeom prst="rect">
            <a:avLst/>
          </a:prstGeom>
          <a:noFill/>
          <a:ln/>
        </p:spPr>
        <p:txBody>
          <a:bodyPr wrap="square" lIns="0" tIns="0" rIns="0" bIns="0" rtlCol="0" anchor="t"/>
          <a:lstStyle/>
          <a:p>
            <a:pPr algn="l" indent="0" marL="0">
              <a:lnSpc>
                <a:spcPct val="110000"/>
              </a:lnSpc>
              <a:spcAft>
                <a:spcPts val="500"/>
              </a:spcAft>
              <a:buNone/>
            </a:pPr>
            <a:r>
              <a:rPr lang="en-US" altLang="en-US" sz="700" dirty="0">
                <a:solidFill>
                  <a:srgbClr val="2A3547"/>
                </a:solidFill>
                <a:latin typeface="Inter" pitchFamily="34" charset="0"/>
                <a:ea typeface="Inter" pitchFamily="34" charset="-122"/>
                <a:cs typeface="Inter" pitchFamily="34" charset="-120"/>
              </a:rPr>
              <a:t>EVCARS Saham branch expands access to the company’s products and services in North Al Batinah.</a:t>
            </a:r>
            <a:endParaRPr lang="en-US" sz="700" dirty="0"/>
          </a:p>
        </p:txBody>
      </p:sp>
      <p:sp>
        <p:nvSpPr>
          <p:cNvPr id="66" name="Text 64"/>
          <p:cNvSpPr txBox="1"/>
          <p:nvPr/>
        </p:nvSpPr>
        <p:spPr>
          <a:xfrm>
            <a:off x="9663745" y="3630168"/>
            <a:ext cx="1842150" cy="658368"/>
          </a:xfrm>
          <a:prstGeom prst="rect">
            <a:avLst/>
          </a:prstGeom>
          <a:noFill/>
          <a:ln/>
        </p:spPr>
        <p:txBody>
          <a:bodyPr wrap="square" lIns="0" tIns="0" rIns="0" bIns="0" rtlCol="0" anchor="t"/>
          <a:lstStyle/>
          <a:p>
            <a:pPr rtl="1" algn="r" indent="0" marL="0">
              <a:lnSpc>
                <a:spcPct val="110000"/>
              </a:lnSpc>
              <a:spcAft>
                <a:spcPts val="500"/>
              </a:spcAft>
              <a:buNone/>
            </a:pPr>
            <a:r>
              <a:rPr lang="ar-AE" altLang="en-US" sz="760" dirty="0">
                <a:solidFill>
                  <a:srgbClr val="2A3547"/>
                </a:solidFill>
                <a:latin typeface="IBM Plex Sans Arabic" pitchFamily="34" charset="0"/>
                <a:ea typeface="IBM Plex Sans Arabic" pitchFamily="34" charset="-122"/>
                <a:cs typeface="IBM Plex Sans Arabic" pitchFamily="34" charset="-120"/>
              </a:rPr>
              <a:t>فرع EVCARS في ولاية صحم، لتعزيز وصول منتجات الشركة وخدماتها إلى العملاء في شمال الباطنة.</a:t>
            </a:r>
            <a:endParaRPr lang="ar-AE" sz="760" dirty="0"/>
          </a:p>
        </p:txBody>
      </p:sp>
      <p:sp>
        <p:nvSpPr>
          <p:cNvPr id="67" name="Text 65"/>
          <p:cNvSpPr txBox="1"/>
          <p:nvPr/>
        </p:nvSpPr>
        <p:spPr>
          <a:xfrm>
            <a:off x="9663745" y="4315968"/>
            <a:ext cx="1842150" cy="128016"/>
          </a:xfrm>
          <a:prstGeom prst="rect">
            <a:avLst/>
          </a:prstGeom>
          <a:noFill/>
          <a:ln/>
        </p:spPr>
        <p:txBody>
          <a:bodyPr wrap="square" lIns="0" tIns="0" rIns="0" bIns="0" rtlCol="0" anchor="t"/>
          <a:lstStyle/>
          <a:p>
            <a:pPr algn="l" indent="0" marL="0">
              <a:lnSpc>
                <a:spcPct val="110000"/>
              </a:lnSpc>
              <a:spcAft>
                <a:spcPts val="500"/>
              </a:spcAft>
              <a:buNone/>
            </a:pPr>
            <a:r>
              <a:rPr lang="en-US" altLang="en-US" sz="630" dirty="0">
                <a:solidFill>
                  <a:srgbClr val="8A94A6"/>
                </a:solidFill>
                <a:latin typeface="Inter" pitchFamily="34" charset="0"/>
                <a:ea typeface="Inter" pitchFamily="34" charset="-122"/>
                <a:cs typeface="Inter" pitchFamily="34" charset="-120"/>
              </a:rPr>
              <a:t>Address · to be confirmed</a:t>
            </a:r>
            <a:endParaRPr lang="en-US" sz="630" dirty="0"/>
          </a:p>
        </p:txBody>
      </p:sp>
      <p:sp>
        <p:nvSpPr>
          <p:cNvPr id="68" name="Text 66"/>
          <p:cNvSpPr txBox="1"/>
          <p:nvPr/>
        </p:nvSpPr>
        <p:spPr>
          <a:xfrm>
            <a:off x="9663745" y="4443984"/>
            <a:ext cx="1842150" cy="146304"/>
          </a:xfrm>
          <a:prstGeom prst="rect">
            <a:avLst/>
          </a:prstGeom>
          <a:noFill/>
          <a:ln/>
        </p:spPr>
        <p:txBody>
          <a:bodyPr wrap="square" lIns="0" tIns="0" rIns="0" bIns="0" rtlCol="0" anchor="t"/>
          <a:lstStyle/>
          <a:p>
            <a:pPr rtl="1" algn="r" indent="0" marL="0">
              <a:lnSpc>
                <a:spcPct val="110000"/>
              </a:lnSpc>
              <a:spcAft>
                <a:spcPts val="500"/>
              </a:spcAft>
              <a:buNone/>
            </a:pPr>
            <a:r>
              <a:rPr lang="ar-AE" altLang="en-US" sz="680" dirty="0">
                <a:solidFill>
                  <a:srgbClr val="8A94A6"/>
                </a:solidFill>
                <a:latin typeface="IBM Plex Sans Arabic" pitchFamily="34" charset="0"/>
                <a:ea typeface="IBM Plex Sans Arabic" pitchFamily="34" charset="-122"/>
                <a:cs typeface="IBM Plex Sans Arabic" pitchFamily="34" charset="-120"/>
              </a:rPr>
              <a:t>العنوان · يُضاف بعد الاعتماد</a:t>
            </a:r>
            <a:endParaRPr lang="ar-AE" sz="680" dirty="0"/>
          </a:p>
        </p:txBody>
      </p:sp>
      <p:sp>
        <p:nvSpPr>
          <p:cNvPr id="69" name="QR placeholder"/>
          <p:cNvSpPr/>
          <p:nvPr/>
        </p:nvSpPr>
        <p:spPr>
          <a:xfrm>
            <a:off x="9663745" y="4636008"/>
            <a:ext cx="658368" cy="658368"/>
          </a:xfrm>
          <a:prstGeom prst="rect">
            <a:avLst/>
          </a:prstGeom>
          <a:solidFill>
            <a:srgbClr val="F4F6F9"/>
          </a:solidFill>
          <a:ln w="9525">
            <a:solidFill>
              <a:srgbClr val="E3E8EF"/>
            </a:solidFill>
            <a:prstDash val="solid"/>
          </a:ln>
        </p:spPr>
      </p:sp>
      <p:sp>
        <p:nvSpPr>
          <p:cNvPr id="70" name="Text 68"/>
          <p:cNvSpPr txBox="1"/>
          <p:nvPr/>
        </p:nvSpPr>
        <p:spPr>
          <a:xfrm>
            <a:off x="9663745" y="4636008"/>
            <a:ext cx="658368" cy="658368"/>
          </a:xfrm>
          <a:prstGeom prst="rect">
            <a:avLst/>
          </a:prstGeom>
          <a:noFill/>
          <a:ln/>
        </p:spPr>
        <p:txBody>
          <a:bodyPr wrap="square" lIns="0" tIns="0" rIns="0" bIns="0" rtlCol="0" anchor="ctr"/>
          <a:lstStyle/>
          <a:p>
            <a:pPr algn="ctr" indent="0" marL="0">
              <a:lnSpc>
                <a:spcPct val="110000"/>
              </a:lnSpc>
              <a:spcAft>
                <a:spcPts val="500"/>
              </a:spcAft>
              <a:buNone/>
            </a:pPr>
            <a:r>
              <a:rPr lang="en-US" altLang="en-US" sz="600" dirty="0">
                <a:solidFill>
                  <a:srgbClr val="8A94A6"/>
                </a:solidFill>
                <a:latin typeface="Inter" pitchFamily="34" charset="0"/>
                <a:ea typeface="Inter" pitchFamily="34" charset="-122"/>
                <a:cs typeface="Inter" pitchFamily="34" charset="-120"/>
              </a:rPr>
              <a:t>QR</a:t>
            </a:r>
            <a:endParaRPr lang="en-US" sz="600" dirty="0"/>
          </a:p>
          <a:p>
            <a:pPr algn="ctr" indent="0" marL="0">
              <a:lnSpc>
                <a:spcPct val="110000"/>
              </a:lnSpc>
              <a:spcAft>
                <a:spcPts val="500"/>
              </a:spcAft>
              <a:buNone/>
            </a:pPr>
            <a:r>
              <a:rPr lang="en-US" altLang="en-US" sz="600" dirty="0">
                <a:solidFill>
                  <a:srgbClr val="8A94A6"/>
                </a:solidFill>
                <a:latin typeface="Inter" pitchFamily="34" charset="0"/>
                <a:ea typeface="Inter" pitchFamily="34" charset="-122"/>
                <a:cs typeface="Inter" pitchFamily="34" charset="-120"/>
              </a:rPr>
              <a:t>Google Maps</a:t>
            </a:r>
            <a:endParaRPr lang="en-US" sz="600" dirty="0"/>
          </a:p>
        </p:txBody>
      </p:sp>
      <p:sp>
        <p:nvSpPr>
          <p:cNvPr id="71" name="Text 69"/>
          <p:cNvSpPr txBox="1"/>
          <p:nvPr/>
        </p:nvSpPr>
        <p:spPr>
          <a:xfrm>
            <a:off x="10395265" y="4754880"/>
            <a:ext cx="1110630" cy="411480"/>
          </a:xfrm>
          <a:prstGeom prst="rect">
            <a:avLst/>
          </a:prstGeom>
          <a:noFill/>
          <a:ln/>
        </p:spPr>
        <p:txBody>
          <a:bodyPr wrap="square" lIns="0" tIns="0" rIns="0" bIns="0" rtlCol="0" anchor="ctr"/>
          <a:lstStyle/>
          <a:p>
            <a:pPr algn="l" indent="0" marL="0">
              <a:lnSpc>
                <a:spcPct val="110000"/>
              </a:lnSpc>
              <a:spcAft>
                <a:spcPts val="500"/>
              </a:spcAft>
              <a:buNone/>
            </a:pPr>
            <a:r>
              <a:rPr lang="en-US" altLang="en-US" sz="650" dirty="0">
                <a:solidFill>
                  <a:srgbClr val="5B6677"/>
                </a:solidFill>
                <a:latin typeface="Inter" pitchFamily="34" charset="0"/>
                <a:ea typeface="Inter" pitchFamily="34" charset="-122"/>
                <a:cs typeface="Inter" pitchFamily="34" charset="-120"/>
              </a:rPr>
              <a:t>Open in Maps</a:t>
            </a:r>
            <a:endParaRPr lang="en-US" sz="650" dirty="0"/>
          </a:p>
          <a:p>
            <a:pPr rtl="1" algn="l" indent="0" marL="0">
              <a:lnSpc>
                <a:spcPct val="110000"/>
              </a:lnSpc>
              <a:spcAft>
                <a:spcPts val="500"/>
              </a:spcAft>
              <a:buNone/>
            </a:pPr>
            <a:r>
              <a:rPr lang="en-US" altLang="en-US" sz="650" dirty="0">
                <a:solidFill>
                  <a:srgbClr val="5B6677"/>
                </a:solidFill>
                <a:latin typeface="Inter" pitchFamily="34" charset="0"/>
                <a:ea typeface="Inter" pitchFamily="34" charset="-122"/>
                <a:cs typeface="Inter" pitchFamily="34" charset="-120"/>
              </a:rPr>
              <a:t>افتح في الخرائط</a:t>
            </a:r>
            <a:endParaRPr lang="en-US" sz="650" dirty="0"/>
          </a:p>
        </p:txBody>
      </p:sp>
      <p:sp>
        <p:nvSpPr>
          <p:cNvPr id="72" name="Customer service bar"/>
          <p:cNvSpPr/>
          <p:nvPr/>
        </p:nvSpPr>
        <p:spPr>
          <a:xfrm>
            <a:off x="548640" y="5596128"/>
            <a:ext cx="11094415" cy="713232"/>
          </a:xfrm>
          <a:prstGeom prst="rect">
            <a:avLst/>
          </a:prstGeom>
          <a:solidFill>
            <a:srgbClr val="0A1628"/>
          </a:solidFill>
          <a:ln w="12700">
            <a:solidFill>
              <a:srgbClr val="0A1628"/>
            </a:solidFill>
            <a:prstDash val="solid"/>
          </a:ln>
        </p:spPr>
      </p:sp>
      <p:sp>
        <p:nvSpPr>
          <p:cNvPr id="73" name="Text 71"/>
          <p:cNvSpPr txBox="1"/>
          <p:nvPr/>
        </p:nvSpPr>
        <p:spPr>
          <a:xfrm>
            <a:off x="822960" y="5669280"/>
            <a:ext cx="4114800" cy="594360"/>
          </a:xfrm>
          <a:prstGeom prst="rect">
            <a:avLst/>
          </a:prstGeom>
          <a:noFill/>
          <a:ln/>
        </p:spPr>
        <p:txBody>
          <a:bodyPr wrap="square" lIns="0" tIns="0" rIns="0" bIns="0" rtlCol="0" anchor="t"/>
          <a:lstStyle/>
          <a:p>
            <a:pPr algn="l" indent="0" marL="0">
              <a:lnSpc>
                <a:spcPct val="110000"/>
              </a:lnSpc>
              <a:spcAft>
                <a:spcPts val="200"/>
              </a:spcAft>
              <a:buNone/>
            </a:pPr>
            <a:r>
              <a:rPr lang="en-US" altLang="en-US" sz="750" spc="300" kern="0" dirty="0">
                <a:solidFill>
                  <a:srgbClr val="AFC0D8"/>
                </a:solidFill>
                <a:latin typeface="Inter" pitchFamily="34" charset="0"/>
                <a:ea typeface="Inter" pitchFamily="34" charset="-122"/>
                <a:cs typeface="Inter" pitchFamily="34" charset="-120"/>
              </a:rPr>
              <a:t>UNIFIED CUSTOMER SERVICE</a:t>
            </a:r>
            <a:endParaRPr lang="en-US" sz="900" dirty="0"/>
          </a:p>
          <a:p>
            <a:pPr algn="l" indent="0" marL="0">
              <a:lnSpc>
                <a:spcPct val="110000"/>
              </a:lnSpc>
              <a:spcAft>
                <a:spcPts val="200"/>
              </a:spcAft>
              <a:buNone/>
            </a:pPr>
            <a:r>
              <a:rPr lang="en-US" altLang="en-US" sz="1800" b="1" u="sng" dirty="0">
                <a:solidFill>
                  <a:srgbClr val="FFFFFF"/>
                </a:solidFill>
                <a:latin typeface="Sora" pitchFamily="34" charset="0"/>
                <a:ea typeface="Sora" pitchFamily="34" charset="-122"/>
                <a:cs typeface="Sora" pitchFamily="34" charset="-120"/>
                <a:hlinkClick r:id="rId1" invalidUrl="" action="" tgtFrame="" tooltip="Call" history="1" highlightClick="0" endSnd="0">
                  <a:extLst>
                    <a:ext uri="{A12FA001-AC4F-418D-AE19-62706E023703}">
                      <ahyp:hlinkClr xmlns:ahyp="http://schemas.microsoft.com/office/drawing/2018/hyperlinkcolor" val="tx"/>
                    </a:ext>
                  </a:extLst>
                </a:hlinkClick>
              </a:rPr>
              <a:t>+971 50 777 7134</a:t>
            </a:r>
            <a:endParaRPr lang="en-US" sz="900" dirty="0"/>
          </a:p>
        </p:txBody>
      </p:sp>
      <p:sp>
        <p:nvSpPr>
          <p:cNvPr id="74" name="Text 72"/>
          <p:cNvSpPr txBox="1"/>
          <p:nvPr/>
        </p:nvSpPr>
        <p:spPr>
          <a:xfrm>
            <a:off x="7223760" y="5669280"/>
            <a:ext cx="4206240" cy="594360"/>
          </a:xfrm>
          <a:prstGeom prst="rect">
            <a:avLst/>
          </a:prstGeom>
          <a:noFill/>
          <a:ln/>
        </p:spPr>
        <p:txBody>
          <a:bodyPr wrap="square" lIns="0" tIns="0" rIns="0" bIns="0" rtlCol="0" anchor="t"/>
          <a:lstStyle/>
          <a:p>
            <a:pPr rtl="1" algn="r" indent="0" marL="0">
              <a:lnSpc>
                <a:spcPct val="110000"/>
              </a:lnSpc>
              <a:spcAft>
                <a:spcPts val="200"/>
              </a:spcAft>
              <a:buNone/>
            </a:pPr>
            <a:r>
              <a:rPr lang="ar-AE" altLang="en-US" sz="900" dirty="0">
                <a:solidFill>
                  <a:srgbClr val="AFC0D8"/>
                </a:solidFill>
                <a:latin typeface="IBM Plex Sans Arabic" pitchFamily="34" charset="0"/>
                <a:ea typeface="IBM Plex Sans Arabic" pitchFamily="34" charset="-122"/>
                <a:cs typeface="IBM Plex Sans Arabic" pitchFamily="34" charset="-120"/>
              </a:rPr>
              <a:t>خدمة العملاء الموحدة</a:t>
            </a:r>
            <a:endParaRPr lang="ar-AE" sz="1000" dirty="0"/>
          </a:p>
          <a:p>
            <a:pPr algn="r" indent="0" marL="0">
              <a:lnSpc>
                <a:spcPct val="110000"/>
              </a:lnSpc>
              <a:spcAft>
                <a:spcPts val="200"/>
              </a:spcAft>
              <a:buNone/>
            </a:pPr>
            <a:r>
              <a:rPr lang="ar-AE" altLang="en-US" sz="1600" b="1" u="sng" dirty="0">
                <a:solidFill>
                  <a:srgbClr val="FFFFFF"/>
                </a:solidFill>
                <a:latin typeface="Sora" pitchFamily="34" charset="0"/>
                <a:ea typeface="Sora" pitchFamily="34" charset="-122"/>
                <a:cs typeface="Sora" pitchFamily="34" charset="-120"/>
                <a:hlinkClick r:id="rId2" invalidUrl="" action="" tgtFrame="" tooltip="" history="1" highlightClick="0" endSnd="0">
                  <a:extLst>
                    <a:ext uri="{A12FA001-AC4F-418D-AE19-62706E023703}">
                      <ahyp:hlinkClr xmlns:ahyp="http://schemas.microsoft.com/office/drawing/2018/hyperlinkcolor" val="tx"/>
                    </a:ext>
                  </a:extLst>
                </a:hlinkClick>
              </a:rPr>
              <a:t>+971 50 777 7134</a:t>
            </a:r>
            <a:endParaRPr lang="ar-AE" sz="1000" dirty="0"/>
          </a:p>
        </p:txBody>
      </p:sp>
      <p:sp>
        <p:nvSpPr>
          <p:cNvPr id="75" name="WhatsApp button">
            <a:hlinkClick r:id="rId3" tooltip="Chat on WhatsApp"/>
          </p:cNvPr>
          <p:cNvSpPr/>
          <p:nvPr/>
        </p:nvSpPr>
        <p:spPr>
          <a:xfrm>
            <a:off x="5074920" y="5760720"/>
            <a:ext cx="2011680" cy="420624"/>
          </a:xfrm>
          <a:prstGeom prst="roundRect">
            <a:avLst>
              <a:gd name="adj" fmla="val 50000"/>
            </a:avLst>
          </a:prstGeom>
          <a:solidFill>
            <a:srgbClr val="B1D479"/>
          </a:solidFill>
          <a:ln w="12700">
            <a:solidFill>
              <a:srgbClr val="B1D479"/>
            </a:solidFill>
            <a:prstDash val="solid"/>
          </a:ln>
        </p:spPr>
      </p:sp>
      <p:sp>
        <p:nvSpPr>
          <p:cNvPr id="76" name="Text 74">
            <a:hlinkClick r:id="rId4" tooltip="Chat on WhatsApp"/>
          </p:cNvPr>
          <p:cNvSpPr txBox="1"/>
          <p:nvPr/>
        </p:nvSpPr>
        <p:spPr>
          <a:xfrm>
            <a:off x="5074920" y="5760720"/>
            <a:ext cx="2011680" cy="420624"/>
          </a:xfrm>
          <a:prstGeom prst="rect">
            <a:avLst/>
          </a:prstGeom>
          <a:noFill/>
          <a:ln/>
        </p:spPr>
        <p:txBody>
          <a:bodyPr wrap="square" lIns="0" tIns="0" rIns="0" bIns="0" rtlCol="0" anchor="ctr"/>
          <a:lstStyle/>
          <a:p>
            <a:pPr rtl="1" algn="ctr" indent="0" marL="0">
              <a:buNone/>
            </a:pPr>
            <a:r>
              <a:rPr lang="en-US" sz="1000" b="1" u="sng" dirty="0">
                <a:solidFill>
                  <a:srgbClr val="0A1628"/>
                </a:solidFill>
                <a:latin typeface="IBM Plex Sans Arabic" pitchFamily="34" charset="0"/>
                <a:ea typeface="IBM Plex Sans Arabic" pitchFamily="34" charset="-122"/>
                <a:cs typeface="IBM Plex Sans Arabic" pitchFamily="34" charset="-120"/>
                <a:hlinkClick r:id="rId4" invalidUrl="" action="" tgtFrame="" tooltip="Chat on WhatsApp" history="1" highlightClick="0" endSnd="0">
                  <a:extLst>
                    <a:ext uri="{A12FA001-AC4F-418D-AE19-62706E023703}">
                      <ahyp:hlinkClr xmlns:ahyp="http://schemas.microsoft.com/office/drawing/2018/hyperlinkcolor" val="tx"/>
                    </a:ext>
                  </a:extLst>
                </a:hlinkClick>
              </a:rPr>
              <a:t>WhatsApp  ·  واتساب</a:t>
            </a:r>
            <a:endParaRPr lang="en-US" sz="1000" dirty="0"/>
          </a:p>
        </p:txBody>
      </p:sp>
      <p:sp>
        <p:nvSpPr>
          <p:cNvPr id="77" name="Shape 75"/>
          <p:cNvSpPr/>
          <p:nvPr/>
        </p:nvSpPr>
        <p:spPr>
          <a:xfrm>
            <a:off x="548640" y="6428232"/>
            <a:ext cx="11094415" cy="0"/>
          </a:xfrm>
          <a:prstGeom prst="line">
            <a:avLst/>
          </a:prstGeom>
          <a:noFill/>
          <a:ln w="9525">
            <a:solidFill>
              <a:srgbClr val="E3E8EF"/>
            </a:solidFill>
            <a:prstDash val="solid"/>
          </a:ln>
        </p:spPr>
      </p:sp>
      <p:pic>
        <p:nvPicPr>
          <p:cNvPr id="78" name="Image 0" descr="EVCARS logo">
            <a:hlinkClick r:id="rId6" tooltip="Back to cover" action="ppaction://hlinksldjump"/>
          </p:cNvPr>
          <p:cNvPicPr>
            <a:picLocks noChangeAspect="1"/>
          </p:cNvPicPr>
          <p:nvPr/>
        </p:nvPicPr>
        <p:blipFill>
          <a:blip r:embed="rId5"/>
          <a:stretch>
            <a:fillRect/>
          </a:stretch>
        </p:blipFill>
        <p:spPr>
          <a:xfrm>
            <a:off x="548640" y="6510528"/>
            <a:ext cx="833104" cy="155448"/>
          </a:xfrm>
          <a:prstGeom prst="rect">
            <a:avLst/>
          </a:prstGeom>
        </p:spPr>
      </p:pic>
      <p:sp>
        <p:nvSpPr>
          <p:cNvPr id="79" name="Text 76">
            <a:hlinkClick r:id="rId7" tooltip="www.evcars.me"/>
          </p:cNvPr>
          <p:cNvSpPr txBox="1"/>
          <p:nvPr/>
        </p:nvSpPr>
        <p:spPr>
          <a:xfrm>
            <a:off x="1600200" y="6492240"/>
            <a:ext cx="1463040" cy="201168"/>
          </a:xfrm>
          <a:prstGeom prst="rect">
            <a:avLst/>
          </a:prstGeom>
          <a:noFill/>
          <a:ln/>
        </p:spPr>
        <p:txBody>
          <a:bodyPr wrap="square" lIns="0" tIns="0" rIns="0" bIns="0" rtlCol="0" anchor="ctr"/>
          <a:lstStyle/>
          <a:p>
            <a:pPr indent="0" marL="0">
              <a:buNone/>
            </a:pPr>
            <a:r>
              <a:rPr lang="en-US" sz="800" u="sng" dirty="0">
                <a:solidFill>
                  <a:srgbClr val="3E9ACA"/>
                </a:solidFill>
                <a:latin typeface="Inter" pitchFamily="34" charset="0"/>
                <a:ea typeface="Inter" pitchFamily="34" charset="-122"/>
                <a:cs typeface="Inter" pitchFamily="34" charset="-120"/>
                <a:hlinkClick r:id="rId7" invalidUrl="" action="" tgtFrame="" tooltip="www.evcars.me" history="1" highlightClick="0" endSnd="0">
                  <a:extLst>
                    <a:ext uri="{A12FA001-AC4F-418D-AE19-62706E023703}">
                      <ahyp:hlinkClr xmlns:ahyp="http://schemas.microsoft.com/office/drawing/2018/hyperlinkcolor" val="tx"/>
                    </a:ext>
                  </a:extLst>
                </a:hlinkClick>
              </a:rPr>
              <a:t>www.evcars.me</a:t>
            </a:r>
            <a:endParaRPr lang="en-US" sz="800" dirty="0"/>
          </a:p>
        </p:txBody>
      </p:sp>
      <p:sp>
        <p:nvSpPr>
          <p:cNvPr id="80" name="Text 77">
            <a:hlinkClick r:id="rId8" tooltip="Page 1" action="ppaction://hlinksldjump"/>
          </p:cNvPr>
          <p:cNvSpPr txBox="1"/>
          <p:nvPr/>
        </p:nvSpPr>
        <p:spPr>
          <a:xfrm>
            <a:off x="834847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8" action="ppaction://hlinksldjump" tooltip="Page 1">
                  <a:extLst>
                    <a:ext uri="{A12FA001-AC4F-418D-AE19-62706E023703}">
                      <ahyp:hlinkClr xmlns:ahyp="http://schemas.microsoft.com/office/drawing/2018/hyperlinkcolor" val="tx"/>
                    </a:ext>
                  </a:extLst>
                </a:hlinkClick>
              </a:rPr>
              <a:t>1</a:t>
            </a:r>
            <a:endParaRPr lang="en-US" sz="750" dirty="0"/>
          </a:p>
        </p:txBody>
      </p:sp>
      <p:sp>
        <p:nvSpPr>
          <p:cNvPr id="81" name="Text 78">
            <a:hlinkClick r:id="rId9" tooltip="Page 2" action="ppaction://hlinksldjump"/>
          </p:cNvPr>
          <p:cNvSpPr txBox="1"/>
          <p:nvPr/>
        </p:nvSpPr>
        <p:spPr>
          <a:xfrm>
            <a:off x="862279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9" action="ppaction://hlinksldjump" tooltip="Page 2">
                  <a:extLst>
                    <a:ext uri="{A12FA001-AC4F-418D-AE19-62706E023703}">
                      <ahyp:hlinkClr xmlns:ahyp="http://schemas.microsoft.com/office/drawing/2018/hyperlinkcolor" val="tx"/>
                    </a:ext>
                  </a:extLst>
                </a:hlinkClick>
              </a:rPr>
              <a:t>2</a:t>
            </a:r>
            <a:endParaRPr lang="en-US" sz="750" dirty="0"/>
          </a:p>
        </p:txBody>
      </p:sp>
      <p:sp>
        <p:nvSpPr>
          <p:cNvPr id="82" name="Text 79">
            <a:hlinkClick r:id="rId10" tooltip="Page 3" action="ppaction://hlinksldjump"/>
          </p:cNvPr>
          <p:cNvSpPr txBox="1"/>
          <p:nvPr/>
        </p:nvSpPr>
        <p:spPr>
          <a:xfrm>
            <a:off x="889711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0" action="ppaction://hlinksldjump" tooltip="Page 3">
                  <a:extLst>
                    <a:ext uri="{A12FA001-AC4F-418D-AE19-62706E023703}">
                      <ahyp:hlinkClr xmlns:ahyp="http://schemas.microsoft.com/office/drawing/2018/hyperlinkcolor" val="tx"/>
                    </a:ext>
                  </a:extLst>
                </a:hlinkClick>
              </a:rPr>
              <a:t>3</a:t>
            </a:r>
            <a:endParaRPr lang="en-US" sz="750" dirty="0"/>
          </a:p>
        </p:txBody>
      </p:sp>
      <p:sp>
        <p:nvSpPr>
          <p:cNvPr id="83" name="Text 80">
            <a:hlinkClick r:id="rId11" tooltip="Page 4" action="ppaction://hlinksldjump"/>
          </p:cNvPr>
          <p:cNvSpPr txBox="1"/>
          <p:nvPr/>
        </p:nvSpPr>
        <p:spPr>
          <a:xfrm>
            <a:off x="917143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1" action="ppaction://hlinksldjump" tooltip="Page 4">
                  <a:extLst>
                    <a:ext uri="{A12FA001-AC4F-418D-AE19-62706E023703}">
                      <ahyp:hlinkClr xmlns:ahyp="http://schemas.microsoft.com/office/drawing/2018/hyperlinkcolor" val="tx"/>
                    </a:ext>
                  </a:extLst>
                </a:hlinkClick>
              </a:rPr>
              <a:t>4</a:t>
            </a:r>
            <a:endParaRPr lang="en-US" sz="750" dirty="0"/>
          </a:p>
        </p:txBody>
      </p:sp>
      <p:sp>
        <p:nvSpPr>
          <p:cNvPr id="84" name="Text 81">
            <a:hlinkClick r:id="rId12" tooltip="Page 5" action="ppaction://hlinksldjump"/>
          </p:cNvPr>
          <p:cNvSpPr txBox="1"/>
          <p:nvPr/>
        </p:nvSpPr>
        <p:spPr>
          <a:xfrm>
            <a:off x="944575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2" action="ppaction://hlinksldjump" tooltip="Page 5">
                  <a:extLst>
                    <a:ext uri="{A12FA001-AC4F-418D-AE19-62706E023703}">
                      <ahyp:hlinkClr xmlns:ahyp="http://schemas.microsoft.com/office/drawing/2018/hyperlinkcolor" val="tx"/>
                    </a:ext>
                  </a:extLst>
                </a:hlinkClick>
              </a:rPr>
              <a:t>5</a:t>
            </a:r>
            <a:endParaRPr lang="en-US" sz="750" dirty="0"/>
          </a:p>
        </p:txBody>
      </p:sp>
      <p:sp>
        <p:nvSpPr>
          <p:cNvPr id="85" name="Text 82">
            <a:hlinkClick r:id="rId13" tooltip="Page 6" action="ppaction://hlinksldjump"/>
          </p:cNvPr>
          <p:cNvSpPr txBox="1"/>
          <p:nvPr/>
        </p:nvSpPr>
        <p:spPr>
          <a:xfrm>
            <a:off x="972007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3" action="ppaction://hlinksldjump" tooltip="Page 6">
                  <a:extLst>
                    <a:ext uri="{A12FA001-AC4F-418D-AE19-62706E023703}">
                      <ahyp:hlinkClr xmlns:ahyp="http://schemas.microsoft.com/office/drawing/2018/hyperlinkcolor" val="tx"/>
                    </a:ext>
                  </a:extLst>
                </a:hlinkClick>
              </a:rPr>
              <a:t>6</a:t>
            </a:r>
            <a:endParaRPr lang="en-US" sz="750" dirty="0"/>
          </a:p>
        </p:txBody>
      </p:sp>
      <p:sp>
        <p:nvSpPr>
          <p:cNvPr id="86" name="Text 83">
            <a:hlinkClick r:id="rId14" tooltip="Page 7" action="ppaction://hlinksldjump"/>
          </p:cNvPr>
          <p:cNvSpPr txBox="1"/>
          <p:nvPr/>
        </p:nvSpPr>
        <p:spPr>
          <a:xfrm>
            <a:off x="999439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4" action="ppaction://hlinksldjump" tooltip="Page 7">
                  <a:extLst>
                    <a:ext uri="{A12FA001-AC4F-418D-AE19-62706E023703}">
                      <ahyp:hlinkClr xmlns:ahyp="http://schemas.microsoft.com/office/drawing/2018/hyperlinkcolor" val="tx"/>
                    </a:ext>
                  </a:extLst>
                </a:hlinkClick>
              </a:rPr>
              <a:t>7</a:t>
            </a:r>
            <a:endParaRPr lang="en-US" sz="750" dirty="0"/>
          </a:p>
        </p:txBody>
      </p:sp>
      <p:sp>
        <p:nvSpPr>
          <p:cNvPr id="87" name="Text 84">
            <a:hlinkClick r:id="rId15" tooltip="Page 8" action="ppaction://hlinksldjump"/>
          </p:cNvPr>
          <p:cNvSpPr txBox="1"/>
          <p:nvPr/>
        </p:nvSpPr>
        <p:spPr>
          <a:xfrm>
            <a:off x="10268712" y="6492240"/>
            <a:ext cx="274320" cy="201168"/>
          </a:xfrm>
          <a:prstGeom prst="rect">
            <a:avLst/>
          </a:prstGeom>
          <a:noFill/>
          <a:ln/>
        </p:spPr>
        <p:txBody>
          <a:bodyPr wrap="square" lIns="0" tIns="0" rIns="0" bIns="0" rtlCol="0" anchor="ctr"/>
          <a:lstStyle/>
          <a:p>
            <a:pPr algn="ctr" indent="0" marL="0">
              <a:buNone/>
            </a:pPr>
            <a:r>
              <a:rPr lang="en-US" sz="750" b="1" u="sng" dirty="0">
                <a:solidFill>
                  <a:srgbClr val="3E9ACA"/>
                </a:solidFill>
                <a:latin typeface="Inter" pitchFamily="34" charset="0"/>
                <a:ea typeface="Inter" pitchFamily="34" charset="-122"/>
                <a:cs typeface="Inter" pitchFamily="34" charset="-120"/>
                <a:hlinkClick r:id="rId15" action="ppaction://hlinksldjump" tooltip="Page 8">
                  <a:extLst>
                    <a:ext uri="{A12FA001-AC4F-418D-AE19-62706E023703}">
                      <ahyp:hlinkClr xmlns:ahyp="http://schemas.microsoft.com/office/drawing/2018/hyperlinkcolor" val="tx"/>
                    </a:ext>
                  </a:extLst>
                </a:hlinkClick>
              </a:rPr>
              <a:t>8</a:t>
            </a:r>
            <a:endParaRPr lang="en-US" sz="750" dirty="0"/>
          </a:p>
        </p:txBody>
      </p:sp>
      <p:sp>
        <p:nvSpPr>
          <p:cNvPr id="88" name="Text 85">
            <a:hlinkClick r:id="rId16" tooltip="Page 9" action="ppaction://hlinksldjump"/>
          </p:cNvPr>
          <p:cNvSpPr txBox="1"/>
          <p:nvPr/>
        </p:nvSpPr>
        <p:spPr>
          <a:xfrm>
            <a:off x="1054303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6" action="ppaction://hlinksldjump" tooltip="Page 9">
                  <a:extLst>
                    <a:ext uri="{A12FA001-AC4F-418D-AE19-62706E023703}">
                      <ahyp:hlinkClr xmlns:ahyp="http://schemas.microsoft.com/office/drawing/2018/hyperlinkcolor" val="tx"/>
                    </a:ext>
                  </a:extLst>
                </a:hlinkClick>
              </a:rPr>
              <a:t>9</a:t>
            </a:r>
            <a:endParaRPr lang="en-US" sz="750" dirty="0"/>
          </a:p>
        </p:txBody>
      </p:sp>
      <p:sp>
        <p:nvSpPr>
          <p:cNvPr id="89" name="Text 86">
            <a:hlinkClick r:id="rId17" tooltip="Page 10" action="ppaction://hlinksldjump"/>
          </p:cNvPr>
          <p:cNvSpPr txBox="1"/>
          <p:nvPr/>
        </p:nvSpPr>
        <p:spPr>
          <a:xfrm>
            <a:off x="1081735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7" action="ppaction://hlinksldjump" tooltip="Page 10">
                  <a:extLst>
                    <a:ext uri="{A12FA001-AC4F-418D-AE19-62706E023703}">
                      <ahyp:hlinkClr xmlns:ahyp="http://schemas.microsoft.com/office/drawing/2018/hyperlinkcolor" val="tx"/>
                    </a:ext>
                  </a:extLst>
                </a:hlinkClick>
              </a:rPr>
              <a:t>10</a:t>
            </a:r>
            <a:endParaRPr lang="en-US" sz="750" dirty="0"/>
          </a:p>
        </p:txBody>
      </p:sp>
      <p:sp>
        <p:nvSpPr>
          <p:cNvPr id="90" name="Text 87">
            <a:hlinkClick r:id="rId18" tooltip="Page 11" action="ppaction://hlinksldjump"/>
          </p:cNvPr>
          <p:cNvSpPr txBox="1"/>
          <p:nvPr/>
        </p:nvSpPr>
        <p:spPr>
          <a:xfrm>
            <a:off x="1109167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8" action="ppaction://hlinksldjump" tooltip="Page 11">
                  <a:extLst>
                    <a:ext uri="{A12FA001-AC4F-418D-AE19-62706E023703}">
                      <ahyp:hlinkClr xmlns:ahyp="http://schemas.microsoft.com/office/drawing/2018/hyperlinkcolor" val="tx"/>
                    </a:ext>
                  </a:extLst>
                </a:hlinkClick>
              </a:rPr>
              <a:t>11</a:t>
            </a:r>
            <a:endParaRPr lang="en-US" sz="750" dirty="0"/>
          </a:p>
        </p:txBody>
      </p:sp>
      <p:sp>
        <p:nvSpPr>
          <p:cNvPr id="91" name="Text 88">
            <a:hlinkClick r:id="rId19" tooltip="Page 12" action="ppaction://hlinksldjump"/>
          </p:cNvPr>
          <p:cNvSpPr txBox="1"/>
          <p:nvPr/>
        </p:nvSpPr>
        <p:spPr>
          <a:xfrm>
            <a:off x="1136599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9" action="ppaction://hlinksldjump" tooltip="Page 12">
                  <a:extLst>
                    <a:ext uri="{A12FA001-AC4F-418D-AE19-62706E023703}">
                      <ahyp:hlinkClr xmlns:ahyp="http://schemas.microsoft.com/office/drawing/2018/hyperlinkcolor" val="tx"/>
                    </a:ext>
                  </a:extLst>
                </a:hlinkClick>
              </a:rPr>
              <a:t>12</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65760"/>
            <a:ext cx="5547208" cy="274320"/>
          </a:xfrm>
          <a:prstGeom prst="rect">
            <a:avLst/>
          </a:prstGeom>
          <a:noFill/>
          <a:ln/>
        </p:spPr>
        <p:txBody>
          <a:bodyPr wrap="square" lIns="0" tIns="0" rIns="0" bIns="0" rtlCol="0" anchor="t"/>
          <a:lstStyle/>
          <a:p>
            <a:pPr algn="l" indent="0" marL="0">
              <a:lnSpc>
                <a:spcPct val="110000"/>
              </a:lnSpc>
              <a:spcAft>
                <a:spcPts val="500"/>
              </a:spcAft>
              <a:buNone/>
            </a:pPr>
            <a:r>
              <a:rPr lang="en-US" altLang="en-US" sz="1000" b="1" dirty="0">
                <a:solidFill>
                  <a:srgbClr val="3E9ACA"/>
                </a:solidFill>
                <a:latin typeface="Sora" pitchFamily="34" charset="0"/>
                <a:ea typeface="Sora" pitchFamily="34" charset="-122"/>
                <a:cs typeface="Sora" pitchFamily="34" charset="-120"/>
              </a:rPr>
              <a:t>12</a:t>
            </a:r>
            <a:pPr algn="l" indent="0" marL="0">
              <a:lnSpc>
                <a:spcPct val="110000"/>
              </a:lnSpc>
              <a:spcAft>
                <a:spcPts val="500"/>
              </a:spcAft>
              <a:buNone/>
            </a:pPr>
            <a:r>
              <a:rPr lang="en-US" altLang="en-US" sz="1000" b="1" spc="200" kern="0" dirty="0">
                <a:solidFill>
                  <a:srgbClr val="0A1628"/>
                </a:solidFill>
                <a:latin typeface="Sora" pitchFamily="34" charset="0"/>
                <a:ea typeface="Sora" pitchFamily="34" charset="-122"/>
                <a:cs typeface="Sora" pitchFamily="34" charset="-120"/>
              </a:rPr>
              <a:t>  |  OUR OPERATIONAL CAPABILITIES</a:t>
            </a:r>
            <a:endParaRPr lang="en-US" sz="1000" dirty="0"/>
          </a:p>
        </p:txBody>
      </p:sp>
      <p:sp>
        <p:nvSpPr>
          <p:cNvPr id="3" name="Text 1"/>
          <p:cNvSpPr txBox="1"/>
          <p:nvPr/>
        </p:nvSpPr>
        <p:spPr>
          <a:xfrm>
            <a:off x="6095848" y="347472"/>
            <a:ext cx="5547208" cy="274320"/>
          </a:xfrm>
          <a:prstGeom prst="rect">
            <a:avLst/>
          </a:prstGeom>
          <a:noFill/>
          <a:ln/>
        </p:spPr>
        <p:txBody>
          <a:bodyPr wrap="square" lIns="0" tIns="0" rIns="0" bIns="0" rtlCol="0" anchor="t"/>
          <a:lstStyle/>
          <a:p>
            <a:pPr rtl="1" algn="r" indent="0" marL="0">
              <a:lnSpc>
                <a:spcPct val="110000"/>
              </a:lnSpc>
              <a:spcAft>
                <a:spcPts val="500"/>
              </a:spcAft>
              <a:buNone/>
            </a:pPr>
            <a:r>
              <a:rPr lang="ar-AE" altLang="en-US" sz="1200" b="1" dirty="0">
                <a:solidFill>
                  <a:srgbClr val="3E9ACA"/>
                </a:solidFill>
                <a:latin typeface="IBM Plex Sans Arabic" pitchFamily="34" charset="0"/>
                <a:ea typeface="IBM Plex Sans Arabic" pitchFamily="34" charset="-122"/>
                <a:cs typeface="IBM Plex Sans Arabic" pitchFamily="34" charset="-120"/>
              </a:rPr>
              <a:t>12</a:t>
            </a:r>
            <a:pPr algn="r" indent="0" marL="0">
              <a:lnSpc>
                <a:spcPct val="110000"/>
              </a:lnSpc>
              <a:spcAft>
                <a:spcPts val="500"/>
              </a:spcAft>
              <a:buNone/>
            </a:pPr>
            <a:r>
              <a:rPr lang="ar-AE" altLang="en-US" sz="1200" b="1" dirty="0">
                <a:solidFill>
                  <a:srgbClr val="0A1628"/>
                </a:solidFill>
                <a:latin typeface="IBM Plex Sans Arabic" pitchFamily="34" charset="0"/>
                <a:ea typeface="IBM Plex Sans Arabic" pitchFamily="34" charset="-122"/>
                <a:cs typeface="IBM Plex Sans Arabic" pitchFamily="34" charset="-120"/>
              </a:rPr>
              <a:t>  |  قدراتنا التشغيلية</a:t>
            </a:r>
            <a:endParaRPr lang="ar-AE" sz="1200" dirty="0"/>
          </a:p>
        </p:txBody>
      </p:sp>
      <p:sp>
        <p:nvSpPr>
          <p:cNvPr id="4" name="Shape 2"/>
          <p:cNvSpPr/>
          <p:nvPr/>
        </p:nvSpPr>
        <p:spPr>
          <a:xfrm>
            <a:off x="548640" y="676656"/>
            <a:ext cx="11094415" cy="0"/>
          </a:xfrm>
          <a:prstGeom prst="line">
            <a:avLst/>
          </a:prstGeom>
          <a:noFill/>
          <a:ln w="9525">
            <a:solidFill>
              <a:srgbClr val="E3E8EF"/>
            </a:solidFill>
            <a:prstDash val="solid"/>
          </a:ln>
        </p:spPr>
      </p:sp>
      <p:sp>
        <p:nvSpPr>
          <p:cNvPr id="5" name="Text 3"/>
          <p:cNvSpPr txBox="1"/>
          <p:nvPr/>
        </p:nvSpPr>
        <p:spPr>
          <a:xfrm>
            <a:off x="548640" y="868680"/>
            <a:ext cx="5349240" cy="1371600"/>
          </a:xfrm>
          <a:prstGeom prst="rect">
            <a:avLst/>
          </a:prstGeom>
          <a:noFill/>
          <a:ln/>
        </p:spPr>
        <p:txBody>
          <a:bodyPr wrap="square" lIns="0" tIns="0" rIns="0" bIns="0" rtlCol="0" anchor="t"/>
          <a:lstStyle/>
          <a:p>
            <a:pPr algn="l" indent="0" marL="0">
              <a:lnSpc>
                <a:spcPct val="110000"/>
              </a:lnSpc>
              <a:spcAft>
                <a:spcPts val="500"/>
              </a:spcAft>
              <a:buNone/>
            </a:pPr>
            <a:r>
              <a:rPr lang="en-US" altLang="en-US" sz="900" dirty="0">
                <a:solidFill>
                  <a:srgbClr val="0A1628"/>
                </a:solidFill>
                <a:latin typeface="Inter" pitchFamily="34" charset="0"/>
                <a:ea typeface="Inter" pitchFamily="34" charset="-122"/>
                <a:cs typeface="Inter" pitchFamily="34" charset="-120"/>
              </a:rPr>
              <a:t>EVCARS operates through a business infrastructure supporting retail, distribution, and technical services.</a:t>
            </a:r>
            <a:endParaRPr lang="en-US" sz="900" dirty="0"/>
          </a:p>
          <a:p>
            <a:pPr algn="l" indent="0" marL="0">
              <a:lnSpc>
                <a:spcPct val="110000"/>
              </a:lnSpc>
              <a:spcAft>
                <a:spcPts val="500"/>
              </a:spcAft>
              <a:buNone/>
            </a:pPr>
            <a:r>
              <a:rPr lang="en-US" altLang="en-US" sz="900" dirty="0">
                <a:solidFill>
                  <a:srgbClr val="0A1628"/>
                </a:solidFill>
                <a:latin typeface="Inter" pitchFamily="34" charset="0"/>
                <a:ea typeface="Inter" pitchFamily="34" charset="-122"/>
                <a:cs typeface="Inter" pitchFamily="34" charset="-120"/>
              </a:rPr>
              <a:t>Its capabilities include a central warehouse in Dubai, a retail branch network across the UAE and Oman, and dedicated teams for EV charger and accessory installation.</a:t>
            </a:r>
            <a:endParaRPr lang="en-US" sz="900" dirty="0"/>
          </a:p>
          <a:p>
            <a:pPr algn="l" indent="0" marL="0">
              <a:lnSpc>
                <a:spcPct val="110000"/>
              </a:lnSpc>
              <a:spcAft>
                <a:spcPts val="500"/>
              </a:spcAft>
              <a:buNone/>
            </a:pPr>
            <a:r>
              <a:rPr lang="en-US" altLang="en-US" sz="900" dirty="0">
                <a:solidFill>
                  <a:srgbClr val="0A1628"/>
                </a:solidFill>
                <a:latin typeface="Inter" pitchFamily="34" charset="0"/>
                <a:ea typeface="Inter" pitchFamily="34" charset="-122"/>
                <a:cs typeface="Inter" pitchFamily="34" charset="-120"/>
              </a:rPr>
              <a:t>This operational structure supports product availability, direct customer services, and the company’s future expansion plans.</a:t>
            </a:r>
            <a:endParaRPr lang="en-US" sz="900" dirty="0"/>
          </a:p>
        </p:txBody>
      </p:sp>
      <p:sp>
        <p:nvSpPr>
          <p:cNvPr id="6" name="Text 4"/>
          <p:cNvSpPr txBox="1"/>
          <p:nvPr/>
        </p:nvSpPr>
        <p:spPr>
          <a:xfrm>
            <a:off x="6293815" y="868680"/>
            <a:ext cx="5349240" cy="1371600"/>
          </a:xfrm>
          <a:prstGeom prst="rect">
            <a:avLst/>
          </a:prstGeom>
          <a:noFill/>
          <a:ln/>
        </p:spPr>
        <p:txBody>
          <a:bodyPr wrap="square" lIns="0" tIns="0" rIns="0" bIns="0" rtlCol="0" anchor="t"/>
          <a:lstStyle/>
          <a:p>
            <a:pPr rtl="1" algn="r" indent="0" marL="0">
              <a:lnSpc>
                <a:spcPct val="110000"/>
              </a:lnSpc>
              <a:spcAft>
                <a:spcPts val="500"/>
              </a:spcAft>
              <a:buNone/>
            </a:pPr>
            <a:r>
              <a:rPr lang="ar-AE" altLang="en-US" sz="980" dirty="0">
                <a:solidFill>
                  <a:srgbClr val="0A1628"/>
                </a:solidFill>
                <a:latin typeface="IBM Plex Sans Arabic" pitchFamily="34" charset="0"/>
                <a:ea typeface="IBM Plex Sans Arabic" pitchFamily="34" charset="-122"/>
                <a:cs typeface="IBM Plex Sans Arabic" pitchFamily="34" charset="-120"/>
              </a:rPr>
              <a:t>تعتمد EVCARS على بنية تشغيلية تدعم أعمال البيع والتوزيع والخدمات الفنية، وتشمل مستودعاً مركزياً في دبي، وشبكة فروع في الإمارات وسلطنة عُمان، وفرقاً متخصصة في تركيب شواحن السيارات الكهربائية والإكسسوارات.</a:t>
            </a:r>
            <a:endParaRPr lang="ar-AE" sz="980" dirty="0"/>
          </a:p>
          <a:p>
            <a:pPr rtl="1" algn="r" indent="0" marL="0">
              <a:lnSpc>
                <a:spcPct val="110000"/>
              </a:lnSpc>
              <a:spcAft>
                <a:spcPts val="500"/>
              </a:spcAft>
              <a:buNone/>
            </a:pPr>
            <a:r>
              <a:rPr lang="ar-AE" altLang="en-US" sz="980" dirty="0">
                <a:solidFill>
                  <a:srgbClr val="0A1628"/>
                </a:solidFill>
                <a:latin typeface="IBM Plex Sans Arabic" pitchFamily="34" charset="0"/>
                <a:ea typeface="IBM Plex Sans Arabic" pitchFamily="34" charset="-122"/>
                <a:cs typeface="IBM Plex Sans Arabic" pitchFamily="34" charset="-120"/>
              </a:rPr>
              <a:t>يساعد هذا التنظيم الشركة على توفير المنتجات للعملاء، وتقديم خدمات فنية مباشرة، ودعم عمليات التوسع المستقبلي.</a:t>
            </a:r>
            <a:endParaRPr lang="ar-AE" sz="980" dirty="0"/>
          </a:p>
        </p:txBody>
      </p:sp>
      <p:sp>
        <p:nvSpPr>
          <p:cNvPr id="7" name="Shape 5"/>
          <p:cNvSpPr/>
          <p:nvPr/>
        </p:nvSpPr>
        <p:spPr>
          <a:xfrm>
            <a:off x="6096305" y="914400"/>
            <a:ext cx="0" cy="1188720"/>
          </a:xfrm>
          <a:prstGeom prst="line">
            <a:avLst/>
          </a:prstGeom>
          <a:noFill/>
          <a:ln w="9525">
            <a:solidFill>
              <a:srgbClr val="E3E8EF"/>
            </a:solidFill>
            <a:prstDash val="solid"/>
          </a:ln>
        </p:spPr>
      </p:sp>
      <p:sp>
        <p:nvSpPr>
          <p:cNvPr id="8" name="Shape 6"/>
          <p:cNvSpPr/>
          <p:nvPr/>
        </p:nvSpPr>
        <p:spPr>
          <a:xfrm>
            <a:off x="548640" y="2331720"/>
            <a:ext cx="3576218" cy="566928"/>
          </a:xfrm>
          <a:prstGeom prst="rect">
            <a:avLst/>
          </a:prstGeom>
          <a:solidFill>
            <a:srgbClr val="F4F6F9"/>
          </a:solidFill>
          <a:ln w="9525">
            <a:solidFill>
              <a:srgbClr val="E3E8EF"/>
            </a:solidFill>
            <a:prstDash val="solid"/>
          </a:ln>
        </p:spPr>
      </p:sp>
      <p:sp>
        <p:nvSpPr>
          <p:cNvPr id="9" name="Shape 7"/>
          <p:cNvSpPr/>
          <p:nvPr/>
        </p:nvSpPr>
        <p:spPr>
          <a:xfrm>
            <a:off x="548640" y="2331720"/>
            <a:ext cx="54864" cy="566928"/>
          </a:xfrm>
          <a:prstGeom prst="rect">
            <a:avLst/>
          </a:prstGeom>
          <a:solidFill>
            <a:srgbClr val="3E9ACA"/>
          </a:solidFill>
          <a:ln w="12700">
            <a:solidFill>
              <a:srgbClr val="3E9ACA"/>
            </a:solidFill>
            <a:prstDash val="solid"/>
          </a:ln>
        </p:spPr>
      </p:sp>
      <p:sp>
        <p:nvSpPr>
          <p:cNvPr id="10" name="Text 8"/>
          <p:cNvSpPr txBox="1"/>
          <p:nvPr/>
        </p:nvSpPr>
        <p:spPr>
          <a:xfrm>
            <a:off x="777240" y="2423160"/>
            <a:ext cx="3210458" cy="182880"/>
          </a:xfrm>
          <a:prstGeom prst="rect">
            <a:avLst/>
          </a:prstGeom>
          <a:noFill/>
          <a:ln/>
        </p:spPr>
        <p:txBody>
          <a:bodyPr wrap="square" lIns="0" tIns="0" rIns="0" bIns="0" rtlCol="0" anchor="t"/>
          <a:lstStyle/>
          <a:p>
            <a:pPr algn="l" indent="0" marL="0">
              <a:lnSpc>
                <a:spcPct val="110000"/>
              </a:lnSpc>
              <a:spcAft>
                <a:spcPts val="500"/>
              </a:spcAft>
              <a:buNone/>
            </a:pPr>
            <a:r>
              <a:rPr lang="en-US" altLang="en-US" sz="850" b="1" dirty="0">
                <a:solidFill>
                  <a:srgbClr val="0A1628"/>
                </a:solidFill>
                <a:latin typeface="Inter" pitchFamily="34" charset="0"/>
                <a:ea typeface="Inter" pitchFamily="34" charset="-122"/>
                <a:cs typeface="Inter" pitchFamily="34" charset="-120"/>
              </a:rPr>
              <a:t>Central Warehouse · Dubai</a:t>
            </a:r>
            <a:endParaRPr lang="en-US" sz="850" dirty="0"/>
          </a:p>
        </p:txBody>
      </p:sp>
      <p:sp>
        <p:nvSpPr>
          <p:cNvPr id="11" name="Text 9"/>
          <p:cNvSpPr txBox="1"/>
          <p:nvPr/>
        </p:nvSpPr>
        <p:spPr>
          <a:xfrm>
            <a:off x="777240" y="2633472"/>
            <a:ext cx="3210458" cy="182880"/>
          </a:xfrm>
          <a:prstGeom prst="rect">
            <a:avLst/>
          </a:prstGeom>
          <a:noFill/>
          <a:ln/>
        </p:spPr>
        <p:txBody>
          <a:bodyPr wrap="square" lIns="0" tIns="0" rIns="0" bIns="0" rtlCol="0" anchor="t"/>
          <a:lstStyle/>
          <a:p>
            <a:pPr rtl="1" algn="r" indent="0" marL="0">
              <a:lnSpc>
                <a:spcPct val="110000"/>
              </a:lnSpc>
              <a:spcAft>
                <a:spcPts val="500"/>
              </a:spcAft>
              <a:buNone/>
            </a:pPr>
            <a:r>
              <a:rPr lang="ar-AE" altLang="en-US" sz="900" dirty="0">
                <a:solidFill>
                  <a:srgbClr val="5B6677"/>
                </a:solidFill>
                <a:latin typeface="IBM Plex Sans Arabic" pitchFamily="34" charset="0"/>
                <a:ea typeface="IBM Plex Sans Arabic" pitchFamily="34" charset="-122"/>
                <a:cs typeface="IBM Plex Sans Arabic" pitchFamily="34" charset="-120"/>
              </a:rPr>
              <a:t>مستودع مركزي · دبي</a:t>
            </a:r>
            <a:endParaRPr lang="ar-AE" sz="900" dirty="0"/>
          </a:p>
        </p:txBody>
      </p:sp>
      <p:sp>
        <p:nvSpPr>
          <p:cNvPr id="12" name="Shape 10"/>
          <p:cNvSpPr/>
          <p:nvPr/>
        </p:nvSpPr>
        <p:spPr>
          <a:xfrm>
            <a:off x="4307738" y="2331720"/>
            <a:ext cx="3576218" cy="566928"/>
          </a:xfrm>
          <a:prstGeom prst="rect">
            <a:avLst/>
          </a:prstGeom>
          <a:solidFill>
            <a:srgbClr val="F4F6F9"/>
          </a:solidFill>
          <a:ln w="9525">
            <a:solidFill>
              <a:srgbClr val="E3E8EF"/>
            </a:solidFill>
            <a:prstDash val="solid"/>
          </a:ln>
        </p:spPr>
      </p:sp>
      <p:sp>
        <p:nvSpPr>
          <p:cNvPr id="13" name="Shape 11"/>
          <p:cNvSpPr/>
          <p:nvPr/>
        </p:nvSpPr>
        <p:spPr>
          <a:xfrm>
            <a:off x="4307738" y="2331720"/>
            <a:ext cx="54864" cy="566928"/>
          </a:xfrm>
          <a:prstGeom prst="rect">
            <a:avLst/>
          </a:prstGeom>
          <a:solidFill>
            <a:srgbClr val="3E9ACA"/>
          </a:solidFill>
          <a:ln w="12700">
            <a:solidFill>
              <a:srgbClr val="3E9ACA"/>
            </a:solidFill>
            <a:prstDash val="solid"/>
          </a:ln>
        </p:spPr>
      </p:sp>
      <p:sp>
        <p:nvSpPr>
          <p:cNvPr id="14" name="Text 12"/>
          <p:cNvSpPr txBox="1"/>
          <p:nvPr/>
        </p:nvSpPr>
        <p:spPr>
          <a:xfrm>
            <a:off x="4536338" y="2423160"/>
            <a:ext cx="3210458" cy="182880"/>
          </a:xfrm>
          <a:prstGeom prst="rect">
            <a:avLst/>
          </a:prstGeom>
          <a:noFill/>
          <a:ln/>
        </p:spPr>
        <p:txBody>
          <a:bodyPr wrap="square" lIns="0" tIns="0" rIns="0" bIns="0" rtlCol="0" anchor="t"/>
          <a:lstStyle/>
          <a:p>
            <a:pPr algn="l" indent="0" marL="0">
              <a:lnSpc>
                <a:spcPct val="110000"/>
              </a:lnSpc>
              <a:spcAft>
                <a:spcPts val="500"/>
              </a:spcAft>
              <a:buNone/>
            </a:pPr>
            <a:r>
              <a:rPr lang="en-US" altLang="en-US" sz="850" b="1" dirty="0">
                <a:solidFill>
                  <a:srgbClr val="0A1628"/>
                </a:solidFill>
                <a:latin typeface="Inter" pitchFamily="34" charset="0"/>
                <a:ea typeface="Inter" pitchFamily="34" charset="-122"/>
                <a:cs typeface="Inter" pitchFamily="34" charset="-120"/>
              </a:rPr>
              <a:t>Branch Network · UAE &amp; Oman</a:t>
            </a:r>
            <a:endParaRPr lang="en-US" sz="850" dirty="0"/>
          </a:p>
        </p:txBody>
      </p:sp>
      <p:sp>
        <p:nvSpPr>
          <p:cNvPr id="15" name="Text 13"/>
          <p:cNvSpPr txBox="1"/>
          <p:nvPr/>
        </p:nvSpPr>
        <p:spPr>
          <a:xfrm>
            <a:off x="4536338" y="2633472"/>
            <a:ext cx="3210458" cy="182880"/>
          </a:xfrm>
          <a:prstGeom prst="rect">
            <a:avLst/>
          </a:prstGeom>
          <a:noFill/>
          <a:ln/>
        </p:spPr>
        <p:txBody>
          <a:bodyPr wrap="square" lIns="0" tIns="0" rIns="0" bIns="0" rtlCol="0" anchor="t"/>
          <a:lstStyle/>
          <a:p>
            <a:pPr rtl="1" algn="r" indent="0" marL="0">
              <a:lnSpc>
                <a:spcPct val="110000"/>
              </a:lnSpc>
              <a:spcAft>
                <a:spcPts val="500"/>
              </a:spcAft>
              <a:buNone/>
            </a:pPr>
            <a:r>
              <a:rPr lang="ar-AE" altLang="en-US" sz="900" dirty="0">
                <a:solidFill>
                  <a:srgbClr val="5B6677"/>
                </a:solidFill>
                <a:latin typeface="IBM Plex Sans Arabic" pitchFamily="34" charset="0"/>
                <a:ea typeface="IBM Plex Sans Arabic" pitchFamily="34" charset="-122"/>
                <a:cs typeface="IBM Plex Sans Arabic" pitchFamily="34" charset="-120"/>
              </a:rPr>
              <a:t>شبكة فروع · الإمارات وعُمان</a:t>
            </a:r>
            <a:endParaRPr lang="ar-AE" sz="900" dirty="0"/>
          </a:p>
        </p:txBody>
      </p:sp>
      <p:sp>
        <p:nvSpPr>
          <p:cNvPr id="16" name="Shape 14"/>
          <p:cNvSpPr/>
          <p:nvPr/>
        </p:nvSpPr>
        <p:spPr>
          <a:xfrm>
            <a:off x="8066837" y="2331720"/>
            <a:ext cx="3576218" cy="566928"/>
          </a:xfrm>
          <a:prstGeom prst="rect">
            <a:avLst/>
          </a:prstGeom>
          <a:solidFill>
            <a:srgbClr val="F4F6F9"/>
          </a:solidFill>
          <a:ln w="9525">
            <a:solidFill>
              <a:srgbClr val="E3E8EF"/>
            </a:solidFill>
            <a:prstDash val="solid"/>
          </a:ln>
        </p:spPr>
      </p:sp>
      <p:sp>
        <p:nvSpPr>
          <p:cNvPr id="17" name="Shape 15"/>
          <p:cNvSpPr/>
          <p:nvPr/>
        </p:nvSpPr>
        <p:spPr>
          <a:xfrm>
            <a:off x="8066837" y="2331720"/>
            <a:ext cx="54864" cy="566928"/>
          </a:xfrm>
          <a:prstGeom prst="rect">
            <a:avLst/>
          </a:prstGeom>
          <a:solidFill>
            <a:srgbClr val="B1D479"/>
          </a:solidFill>
          <a:ln w="12700">
            <a:solidFill>
              <a:srgbClr val="B1D479"/>
            </a:solidFill>
            <a:prstDash val="solid"/>
          </a:ln>
        </p:spPr>
      </p:sp>
      <p:sp>
        <p:nvSpPr>
          <p:cNvPr id="18" name="Text 16"/>
          <p:cNvSpPr txBox="1"/>
          <p:nvPr/>
        </p:nvSpPr>
        <p:spPr>
          <a:xfrm>
            <a:off x="8295437" y="2423160"/>
            <a:ext cx="3210458" cy="182880"/>
          </a:xfrm>
          <a:prstGeom prst="rect">
            <a:avLst/>
          </a:prstGeom>
          <a:noFill/>
          <a:ln/>
        </p:spPr>
        <p:txBody>
          <a:bodyPr wrap="square" lIns="0" tIns="0" rIns="0" bIns="0" rtlCol="0" anchor="t"/>
          <a:lstStyle/>
          <a:p>
            <a:pPr algn="l" indent="0" marL="0">
              <a:lnSpc>
                <a:spcPct val="110000"/>
              </a:lnSpc>
              <a:spcAft>
                <a:spcPts val="500"/>
              </a:spcAft>
              <a:buNone/>
            </a:pPr>
            <a:r>
              <a:rPr lang="en-US" altLang="en-US" sz="850" b="1" dirty="0">
                <a:solidFill>
                  <a:srgbClr val="0A1628"/>
                </a:solidFill>
                <a:latin typeface="Inter" pitchFamily="34" charset="0"/>
                <a:ea typeface="Inter" pitchFamily="34" charset="-122"/>
                <a:cs typeface="Inter" pitchFamily="34" charset="-120"/>
              </a:rPr>
              <a:t>Dedicated Installation Teams</a:t>
            </a:r>
            <a:endParaRPr lang="en-US" sz="850" dirty="0"/>
          </a:p>
        </p:txBody>
      </p:sp>
      <p:sp>
        <p:nvSpPr>
          <p:cNvPr id="19" name="Text 17"/>
          <p:cNvSpPr txBox="1"/>
          <p:nvPr/>
        </p:nvSpPr>
        <p:spPr>
          <a:xfrm>
            <a:off x="8295437" y="2633472"/>
            <a:ext cx="3210458" cy="182880"/>
          </a:xfrm>
          <a:prstGeom prst="rect">
            <a:avLst/>
          </a:prstGeom>
          <a:noFill/>
          <a:ln/>
        </p:spPr>
        <p:txBody>
          <a:bodyPr wrap="square" lIns="0" tIns="0" rIns="0" bIns="0" rtlCol="0" anchor="t"/>
          <a:lstStyle/>
          <a:p>
            <a:pPr rtl="1" algn="r" indent="0" marL="0">
              <a:lnSpc>
                <a:spcPct val="110000"/>
              </a:lnSpc>
              <a:spcAft>
                <a:spcPts val="500"/>
              </a:spcAft>
              <a:buNone/>
            </a:pPr>
            <a:r>
              <a:rPr lang="ar-AE" altLang="en-US" sz="900" dirty="0">
                <a:solidFill>
                  <a:srgbClr val="5B6677"/>
                </a:solidFill>
                <a:latin typeface="IBM Plex Sans Arabic" pitchFamily="34" charset="0"/>
                <a:ea typeface="IBM Plex Sans Arabic" pitchFamily="34" charset="-122"/>
                <a:cs typeface="IBM Plex Sans Arabic" pitchFamily="34" charset="-120"/>
              </a:rPr>
              <a:t>فرق تركيب متخصصة</a:t>
            </a:r>
            <a:endParaRPr lang="ar-AE" sz="900" dirty="0"/>
          </a:p>
        </p:txBody>
      </p:sp>
      <p:sp>
        <p:nvSpPr>
          <p:cNvPr id="20" name="Text 18"/>
          <p:cNvSpPr txBox="1"/>
          <p:nvPr/>
        </p:nvSpPr>
        <p:spPr>
          <a:xfrm>
            <a:off x="548640" y="3108960"/>
            <a:ext cx="5547208" cy="274320"/>
          </a:xfrm>
          <a:prstGeom prst="rect">
            <a:avLst/>
          </a:prstGeom>
          <a:noFill/>
          <a:ln/>
        </p:spPr>
        <p:txBody>
          <a:bodyPr wrap="square" lIns="0" tIns="0" rIns="0" bIns="0" rtlCol="0" anchor="t"/>
          <a:lstStyle/>
          <a:p>
            <a:pPr algn="l" indent="0" marL="0">
              <a:lnSpc>
                <a:spcPct val="110000"/>
              </a:lnSpc>
              <a:spcAft>
                <a:spcPts val="500"/>
              </a:spcAft>
              <a:buNone/>
            </a:pPr>
            <a:r>
              <a:rPr lang="en-US" altLang="en-US" sz="1000" b="1" dirty="0">
                <a:solidFill>
                  <a:srgbClr val="3E9ACA"/>
                </a:solidFill>
                <a:latin typeface="Sora" pitchFamily="34" charset="0"/>
                <a:ea typeface="Sora" pitchFamily="34" charset="-122"/>
                <a:cs typeface="Sora" pitchFamily="34" charset="-120"/>
              </a:rPr>
              <a:t>13</a:t>
            </a:r>
            <a:pPr algn="l" indent="0" marL="0">
              <a:lnSpc>
                <a:spcPct val="110000"/>
              </a:lnSpc>
              <a:spcAft>
                <a:spcPts val="500"/>
              </a:spcAft>
              <a:buNone/>
            </a:pPr>
            <a:r>
              <a:rPr lang="en-US" altLang="en-US" sz="1000" b="1" spc="200" kern="0" dirty="0">
                <a:solidFill>
                  <a:srgbClr val="0A1628"/>
                </a:solidFill>
                <a:latin typeface="Sora" pitchFamily="34" charset="0"/>
                <a:ea typeface="Sora" pitchFamily="34" charset="-122"/>
                <a:cs typeface="Sora" pitchFamily="34" charset="-120"/>
              </a:rPr>
              <a:t>  |  WARRANTY &amp; CUSTOMER CARE</a:t>
            </a:r>
            <a:endParaRPr lang="en-US" sz="1000" dirty="0"/>
          </a:p>
        </p:txBody>
      </p:sp>
      <p:sp>
        <p:nvSpPr>
          <p:cNvPr id="21" name="Text 19"/>
          <p:cNvSpPr txBox="1"/>
          <p:nvPr/>
        </p:nvSpPr>
        <p:spPr>
          <a:xfrm>
            <a:off x="6095848" y="3090672"/>
            <a:ext cx="5547208" cy="274320"/>
          </a:xfrm>
          <a:prstGeom prst="rect">
            <a:avLst/>
          </a:prstGeom>
          <a:noFill/>
          <a:ln/>
        </p:spPr>
        <p:txBody>
          <a:bodyPr wrap="square" lIns="0" tIns="0" rIns="0" bIns="0" rtlCol="0" anchor="t"/>
          <a:lstStyle/>
          <a:p>
            <a:pPr rtl="1" algn="r" indent="0" marL="0">
              <a:lnSpc>
                <a:spcPct val="110000"/>
              </a:lnSpc>
              <a:spcAft>
                <a:spcPts val="500"/>
              </a:spcAft>
              <a:buNone/>
            </a:pPr>
            <a:r>
              <a:rPr lang="ar-AE" altLang="en-US" sz="1200" b="1" dirty="0">
                <a:solidFill>
                  <a:srgbClr val="3E9ACA"/>
                </a:solidFill>
                <a:latin typeface="IBM Plex Sans Arabic" pitchFamily="34" charset="0"/>
                <a:ea typeface="IBM Plex Sans Arabic" pitchFamily="34" charset="-122"/>
                <a:cs typeface="IBM Plex Sans Arabic" pitchFamily="34" charset="-120"/>
              </a:rPr>
              <a:t>13</a:t>
            </a:r>
            <a:pPr algn="r" indent="0" marL="0">
              <a:lnSpc>
                <a:spcPct val="110000"/>
              </a:lnSpc>
              <a:spcAft>
                <a:spcPts val="500"/>
              </a:spcAft>
              <a:buNone/>
            </a:pPr>
            <a:r>
              <a:rPr lang="ar-AE" altLang="en-US" sz="1200" b="1" dirty="0">
                <a:solidFill>
                  <a:srgbClr val="0A1628"/>
                </a:solidFill>
                <a:latin typeface="IBM Plex Sans Arabic" pitchFamily="34" charset="0"/>
                <a:ea typeface="IBM Plex Sans Arabic" pitchFamily="34" charset="-122"/>
                <a:cs typeface="IBM Plex Sans Arabic" pitchFamily="34" charset="-120"/>
              </a:rPr>
              <a:t>  |  الضمان وخدمة العملاء</a:t>
            </a:r>
            <a:endParaRPr lang="ar-AE" sz="1200" dirty="0"/>
          </a:p>
        </p:txBody>
      </p:sp>
      <p:sp>
        <p:nvSpPr>
          <p:cNvPr id="22" name="Shape 20"/>
          <p:cNvSpPr/>
          <p:nvPr/>
        </p:nvSpPr>
        <p:spPr>
          <a:xfrm>
            <a:off x="548640" y="3419856"/>
            <a:ext cx="11094415" cy="0"/>
          </a:xfrm>
          <a:prstGeom prst="line">
            <a:avLst/>
          </a:prstGeom>
          <a:noFill/>
          <a:ln w="9525">
            <a:solidFill>
              <a:srgbClr val="E3E8EF"/>
            </a:solidFill>
            <a:prstDash val="solid"/>
          </a:ln>
        </p:spPr>
      </p:sp>
      <p:sp>
        <p:nvSpPr>
          <p:cNvPr id="23" name="Text 21"/>
          <p:cNvSpPr txBox="1"/>
          <p:nvPr/>
        </p:nvSpPr>
        <p:spPr>
          <a:xfrm>
            <a:off x="548640" y="3547872"/>
            <a:ext cx="5349240" cy="320040"/>
          </a:xfrm>
          <a:prstGeom prst="rect">
            <a:avLst/>
          </a:prstGeom>
          <a:noFill/>
          <a:ln/>
        </p:spPr>
        <p:txBody>
          <a:bodyPr wrap="square" lIns="0" tIns="0" rIns="0" bIns="0" rtlCol="0" anchor="t"/>
          <a:lstStyle/>
          <a:p>
            <a:pPr algn="l" indent="0" marL="0">
              <a:lnSpc>
                <a:spcPct val="110000"/>
              </a:lnSpc>
              <a:spcAft>
                <a:spcPts val="500"/>
              </a:spcAft>
              <a:buNone/>
            </a:pPr>
            <a:r>
              <a:rPr lang="en-US" altLang="en-US" sz="850" dirty="0">
                <a:solidFill>
                  <a:srgbClr val="0A1628"/>
                </a:solidFill>
                <a:latin typeface="Inter" pitchFamily="34" charset="0"/>
                <a:ea typeface="Inter" pitchFamily="34" charset="-122"/>
                <a:cs typeface="Inter" pitchFamily="34" charset="-120"/>
              </a:rPr>
              <a:t>EVCARS provides clear warranty information for its products and services, subject to the applicable terms for each category.</a:t>
            </a:r>
            <a:endParaRPr lang="en-US" sz="850" dirty="0"/>
          </a:p>
        </p:txBody>
      </p:sp>
      <p:sp>
        <p:nvSpPr>
          <p:cNvPr id="24" name="Text 22"/>
          <p:cNvSpPr txBox="1"/>
          <p:nvPr/>
        </p:nvSpPr>
        <p:spPr>
          <a:xfrm>
            <a:off x="6293815" y="3529584"/>
            <a:ext cx="5349240" cy="320040"/>
          </a:xfrm>
          <a:prstGeom prst="rect">
            <a:avLst/>
          </a:prstGeom>
          <a:noFill/>
          <a:ln/>
        </p:spPr>
        <p:txBody>
          <a:bodyPr wrap="square" lIns="0" tIns="0" rIns="0" bIns="0" rtlCol="0" anchor="t"/>
          <a:lstStyle/>
          <a:p>
            <a:pPr rtl="1" algn="r" indent="0" marL="0">
              <a:lnSpc>
                <a:spcPct val="110000"/>
              </a:lnSpc>
              <a:spcAft>
                <a:spcPts val="500"/>
              </a:spcAft>
              <a:buNone/>
            </a:pPr>
            <a:r>
              <a:rPr lang="ar-AE" altLang="en-US" sz="930" dirty="0">
                <a:solidFill>
                  <a:srgbClr val="0A1628"/>
                </a:solidFill>
                <a:latin typeface="IBM Plex Sans Arabic" pitchFamily="34" charset="0"/>
                <a:ea typeface="IBM Plex Sans Arabic" pitchFamily="34" charset="-122"/>
                <a:cs typeface="IBM Plex Sans Arabic" pitchFamily="34" charset="-120"/>
              </a:rPr>
              <a:t>تلتزم EVCARS بتوفير معلومات واضحة حول ضمانات المنتجات والخدمات، وفقاً للشروط المعتمدة لكل فئة.</a:t>
            </a:r>
            <a:endParaRPr lang="ar-AE" sz="93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3977640"/>
          <a:ext cx="11094415" cy="914400"/>
        </p:xfrm>
        <a:graphic>
          <a:graphicData uri="http://schemas.openxmlformats.org/drawingml/2006/table">
            <a:tbl>
              <a:tblPr/>
              <a:tblGrid>
                <a:gridCol w="3291840"/>
                <a:gridCol w="2240280"/>
                <a:gridCol w="2240280"/>
                <a:gridCol w="3322015"/>
              </a:tblGrid>
              <a:tr h="329184">
                <a:tc>
                  <a:txBody>
                    <a:bodyPr/>
                    <a:lstStyle/>
                    <a:p>
                      <a:pPr algn="l" indent="0" marL="0">
                        <a:buNone/>
                      </a:pPr>
                      <a:r>
                        <a:rPr lang="en-US" sz="850" b="1" dirty="0">
                          <a:solidFill>
                            <a:srgbClr val="FFFFFF"/>
                          </a:solidFill>
                          <a:latin typeface="Inter" pitchFamily="34" charset="0"/>
                          <a:ea typeface="Inter" pitchFamily="34" charset="-122"/>
                          <a:cs typeface="Inter" pitchFamily="34" charset="-120"/>
                        </a:rPr>
                        <a:t>CATEGORY</a:t>
                      </a:r>
                      <a:endParaRPr lang="en-US" sz="850" dirty="0">
                        <a:latin typeface="Inter" charset="0"/>
                        <a:ea typeface="Inter" charset="0"/>
                        <a:cs typeface="Inter" charset="0"/>
                      </a:endParaRPr>
                    </a:p>
                  </a:txBody>
                  <a:tcPr marL="137160" marR="137160" marT="0" marB="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solidFill>
                      <a:srgbClr val="0A1628"/>
                    </a:solidFill>
                  </a:tcPr>
                </a:tc>
                <a:tc>
                  <a:txBody>
                    <a:bodyPr/>
                    <a:lstStyle/>
                    <a:p>
                      <a:pPr algn="l" indent="0" marL="0">
                        <a:buNone/>
                      </a:pPr>
                      <a:r>
                        <a:rPr lang="en-US" sz="850" b="1" dirty="0">
                          <a:solidFill>
                            <a:srgbClr val="FFFFFF"/>
                          </a:solidFill>
                          <a:latin typeface="Inter" pitchFamily="34" charset="0"/>
                          <a:ea typeface="Inter" pitchFamily="34" charset="-122"/>
                          <a:cs typeface="Inter" pitchFamily="34" charset="-120"/>
                        </a:rPr>
                        <a:t>WARRANTY</a:t>
                      </a:r>
                      <a:endParaRPr lang="en-US" sz="850" dirty="0">
                        <a:latin typeface="Inter" charset="0"/>
                        <a:ea typeface="Inter" charset="0"/>
                        <a:cs typeface="Inter" charset="0"/>
                      </a:endParaRPr>
                    </a:p>
                  </a:txBody>
                  <a:tcPr marL="137160" marR="137160" marT="0" marB="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solidFill>
                      <a:srgbClr val="0A1628"/>
                    </a:solidFill>
                  </a:tcPr>
                </a:tc>
                <a:tc>
                  <a:txBody>
                    <a:bodyPr/>
                    <a:lstStyle/>
                    <a:p>
                      <a:pPr rtl="1" algn="r" indent="0" marL="0">
                        <a:buNone/>
                      </a:pPr>
                      <a:r>
                        <a:rPr lang="en-US" sz="850" b="1" dirty="0">
                          <a:solidFill>
                            <a:srgbClr val="FFFFFF"/>
                          </a:solidFill>
                          <a:latin typeface="IBM Plex Sans Arabic" pitchFamily="34" charset="0"/>
                          <a:ea typeface="IBM Plex Sans Arabic" pitchFamily="34" charset="-122"/>
                          <a:cs typeface="IBM Plex Sans Arabic" pitchFamily="34" charset="-120"/>
                        </a:rPr>
                        <a:t>مدة الضمان</a:t>
                      </a:r>
                      <a:endParaRPr lang="en-US" sz="850" dirty="0">
                        <a:latin typeface="IBM Plex Sans Arabic" charset="0"/>
                        <a:ea typeface="IBM Plex Sans Arabic" charset="0"/>
                        <a:cs typeface="IBM Plex Sans Arabic" charset="0"/>
                      </a:endParaRPr>
                    </a:p>
                  </a:txBody>
                  <a:tcPr marL="137160" marR="137160" marT="0" marB="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solidFill>
                      <a:srgbClr val="0A1628"/>
                    </a:solidFill>
                  </a:tcPr>
                </a:tc>
                <a:tc>
                  <a:txBody>
                    <a:bodyPr/>
                    <a:lstStyle/>
                    <a:p>
                      <a:pPr rtl="1" algn="r" indent="0" marL="0">
                        <a:buNone/>
                      </a:pPr>
                      <a:r>
                        <a:rPr lang="en-US" sz="850" b="1" dirty="0">
                          <a:solidFill>
                            <a:srgbClr val="FFFFFF"/>
                          </a:solidFill>
                          <a:latin typeface="IBM Plex Sans Arabic" pitchFamily="34" charset="0"/>
                          <a:ea typeface="IBM Plex Sans Arabic" pitchFamily="34" charset="-122"/>
                          <a:cs typeface="IBM Plex Sans Arabic" pitchFamily="34" charset="-120"/>
                        </a:rPr>
                        <a:t>الفئة</a:t>
                      </a:r>
                      <a:endParaRPr lang="en-US" sz="850" dirty="0">
                        <a:latin typeface="IBM Plex Sans Arabic" charset="0"/>
                        <a:ea typeface="IBM Plex Sans Arabic" charset="0"/>
                        <a:cs typeface="IBM Plex Sans Arabic" charset="0"/>
                      </a:endParaRPr>
                    </a:p>
                  </a:txBody>
                  <a:tcPr marL="137160" marR="137160" marT="0" marB="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solidFill>
                      <a:srgbClr val="0A1628"/>
                    </a:solidFill>
                  </a:tcPr>
                </a:tc>
              </a:tr>
              <a:tr h="329184">
                <a:tc>
                  <a:txBody>
                    <a:bodyPr/>
                    <a:lstStyle/>
                    <a:p>
                      <a:pPr algn="l" indent="0" marL="0">
                        <a:buNone/>
                      </a:pPr>
                      <a:r>
                        <a:rPr lang="en-US" sz="900" b="1" dirty="0">
                          <a:solidFill>
                            <a:srgbClr val="0A1628"/>
                          </a:solidFill>
                          <a:latin typeface="Inter" pitchFamily="34" charset="0"/>
                          <a:ea typeface="Inter" pitchFamily="34" charset="-122"/>
                          <a:cs typeface="Inter" pitchFamily="34" charset="-120"/>
                        </a:rPr>
                        <a:t>Electrical Accessories</a:t>
                      </a:r>
                      <a:endParaRPr lang="en-US" sz="900" dirty="0">
                        <a:latin typeface="Inter" charset="0"/>
                        <a:ea typeface="Inter" charset="0"/>
                        <a:cs typeface="Inter" charset="0"/>
                      </a:endParaRPr>
                    </a:p>
                  </a:txBody>
                  <a:tcPr marL="137160" marR="137160" marT="0" marB="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solidFill>
                      <a:srgbClr val="FFFFFF"/>
                    </a:solidFill>
                  </a:tcPr>
                </a:tc>
                <a:tc>
                  <a:txBody>
                    <a:bodyPr/>
                    <a:lstStyle/>
                    <a:p>
                      <a:pPr algn="l" indent="0" marL="0">
                        <a:buNone/>
                      </a:pPr>
                      <a:r>
                        <a:rPr lang="en-US" sz="900" b="1" dirty="0">
                          <a:solidFill>
                            <a:srgbClr val="4C7A12"/>
                          </a:solidFill>
                          <a:latin typeface="Inter" pitchFamily="34" charset="0"/>
                          <a:ea typeface="Inter" pitchFamily="34" charset="-122"/>
                          <a:cs typeface="Inter" pitchFamily="34" charset="-120"/>
                        </a:rPr>
                        <a:t>1 Year</a:t>
                      </a:r>
                      <a:endParaRPr lang="en-US" sz="900" dirty="0">
                        <a:latin typeface="Inter" charset="0"/>
                        <a:ea typeface="Inter" charset="0"/>
                        <a:cs typeface="Inter" charset="0"/>
                      </a:endParaRPr>
                    </a:p>
                  </a:txBody>
                  <a:tcPr marL="137160" marR="137160" marT="0" marB="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solidFill>
                      <a:srgbClr val="FFFFFF"/>
                    </a:solidFill>
                  </a:tcPr>
                </a:tc>
                <a:tc>
                  <a:txBody>
                    <a:bodyPr/>
                    <a:lstStyle/>
                    <a:p>
                      <a:pPr rtl="1" algn="r" indent="0" marL="0">
                        <a:buNone/>
                      </a:pPr>
                      <a:r>
                        <a:rPr lang="en-US" sz="900" b="1" dirty="0">
                          <a:solidFill>
                            <a:srgbClr val="4C7A12"/>
                          </a:solidFill>
                          <a:latin typeface="IBM Plex Sans Arabic" pitchFamily="34" charset="0"/>
                          <a:ea typeface="IBM Plex Sans Arabic" pitchFamily="34" charset="-122"/>
                          <a:cs typeface="IBM Plex Sans Arabic" pitchFamily="34" charset="-120"/>
                        </a:rPr>
                        <a:t>سنة واحدة</a:t>
                      </a:r>
                      <a:endParaRPr lang="en-US" sz="900" dirty="0">
                        <a:latin typeface="IBM Plex Sans Arabic" charset="0"/>
                        <a:ea typeface="IBM Plex Sans Arabic" charset="0"/>
                        <a:cs typeface="IBM Plex Sans Arabic" charset="0"/>
                      </a:endParaRPr>
                    </a:p>
                  </a:txBody>
                  <a:tcPr marL="137160" marR="137160" marT="0" marB="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solidFill>
                      <a:srgbClr val="FFFFFF"/>
                    </a:solidFill>
                  </a:tcPr>
                </a:tc>
                <a:tc>
                  <a:txBody>
                    <a:bodyPr/>
                    <a:lstStyle/>
                    <a:p>
                      <a:pPr rtl="1" algn="r" indent="0" marL="0">
                        <a:buNone/>
                      </a:pPr>
                      <a:r>
                        <a:rPr lang="en-US" sz="900" b="1" dirty="0">
                          <a:solidFill>
                            <a:srgbClr val="0A1628"/>
                          </a:solidFill>
                          <a:latin typeface="IBM Plex Sans Arabic" pitchFamily="34" charset="0"/>
                          <a:ea typeface="IBM Plex Sans Arabic" pitchFamily="34" charset="-122"/>
                          <a:cs typeface="IBM Plex Sans Arabic" pitchFamily="34" charset="-120"/>
                        </a:rPr>
                        <a:t>الإكسسوارات الكهربائية</a:t>
                      </a:r>
                      <a:endParaRPr lang="en-US" sz="900" dirty="0">
                        <a:latin typeface="IBM Plex Sans Arabic" charset="0"/>
                        <a:ea typeface="IBM Plex Sans Arabic" charset="0"/>
                        <a:cs typeface="IBM Plex Sans Arabic" charset="0"/>
                      </a:endParaRPr>
                    </a:p>
                  </a:txBody>
                  <a:tcPr marL="137160" marR="137160" marT="0" marB="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solidFill>
                      <a:srgbClr val="FFFFFF"/>
                    </a:solidFill>
                  </a:tcPr>
                </a:tc>
              </a:tr>
              <a:tr h="329184">
                <a:tc>
                  <a:txBody>
                    <a:bodyPr/>
                    <a:lstStyle/>
                    <a:p>
                      <a:pPr algn="l" indent="0" marL="0">
                        <a:buNone/>
                      </a:pPr>
                      <a:r>
                        <a:rPr lang="en-US" sz="900" b="1" dirty="0">
                          <a:solidFill>
                            <a:srgbClr val="0A1628"/>
                          </a:solidFill>
                          <a:latin typeface="Inter" pitchFamily="34" charset="0"/>
                          <a:ea typeface="Inter" pitchFamily="34" charset="-122"/>
                          <a:cs typeface="Inter" pitchFamily="34" charset="-120"/>
                        </a:rPr>
                        <a:t>Charging Adapters</a:t>
                      </a:r>
                      <a:endParaRPr lang="en-US" sz="900" dirty="0">
                        <a:latin typeface="Inter" charset="0"/>
                        <a:ea typeface="Inter" charset="0"/>
                        <a:cs typeface="Inter" charset="0"/>
                      </a:endParaRPr>
                    </a:p>
                  </a:txBody>
                  <a:tcPr marL="137160" marR="137160" marT="0" marB="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solidFill>
                      <a:srgbClr val="F4F6F9"/>
                    </a:solidFill>
                  </a:tcPr>
                </a:tc>
                <a:tc>
                  <a:txBody>
                    <a:bodyPr/>
                    <a:lstStyle/>
                    <a:p>
                      <a:pPr algn="l" indent="0" marL="0">
                        <a:buNone/>
                      </a:pPr>
                      <a:r>
                        <a:rPr lang="en-US" sz="900" b="1" dirty="0">
                          <a:solidFill>
                            <a:srgbClr val="4C7A12"/>
                          </a:solidFill>
                          <a:latin typeface="Inter" pitchFamily="34" charset="0"/>
                          <a:ea typeface="Inter" pitchFamily="34" charset="-122"/>
                          <a:cs typeface="Inter" pitchFamily="34" charset="-120"/>
                        </a:rPr>
                        <a:t>1 Year</a:t>
                      </a:r>
                      <a:endParaRPr lang="en-US" sz="900" dirty="0">
                        <a:latin typeface="Inter" charset="0"/>
                        <a:ea typeface="Inter" charset="0"/>
                        <a:cs typeface="Inter" charset="0"/>
                      </a:endParaRPr>
                    </a:p>
                  </a:txBody>
                  <a:tcPr marL="137160" marR="137160" marT="0" marB="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solidFill>
                      <a:srgbClr val="F4F6F9"/>
                    </a:solidFill>
                  </a:tcPr>
                </a:tc>
                <a:tc>
                  <a:txBody>
                    <a:bodyPr/>
                    <a:lstStyle/>
                    <a:p>
                      <a:pPr rtl="1" algn="r" indent="0" marL="0">
                        <a:buNone/>
                      </a:pPr>
                      <a:r>
                        <a:rPr lang="en-US" sz="900" b="1" dirty="0">
                          <a:solidFill>
                            <a:srgbClr val="4C7A12"/>
                          </a:solidFill>
                          <a:latin typeface="IBM Plex Sans Arabic" pitchFamily="34" charset="0"/>
                          <a:ea typeface="IBM Plex Sans Arabic" pitchFamily="34" charset="-122"/>
                          <a:cs typeface="IBM Plex Sans Arabic" pitchFamily="34" charset="-120"/>
                        </a:rPr>
                        <a:t>سنة واحدة</a:t>
                      </a:r>
                      <a:endParaRPr lang="en-US" sz="900" dirty="0">
                        <a:latin typeface="IBM Plex Sans Arabic" charset="0"/>
                        <a:ea typeface="IBM Plex Sans Arabic" charset="0"/>
                        <a:cs typeface="IBM Plex Sans Arabic" charset="0"/>
                      </a:endParaRPr>
                    </a:p>
                  </a:txBody>
                  <a:tcPr marL="137160" marR="137160" marT="0" marB="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solidFill>
                      <a:srgbClr val="F4F6F9"/>
                    </a:solidFill>
                  </a:tcPr>
                </a:tc>
                <a:tc>
                  <a:txBody>
                    <a:bodyPr/>
                    <a:lstStyle/>
                    <a:p>
                      <a:pPr rtl="1" algn="r" indent="0" marL="0">
                        <a:buNone/>
                      </a:pPr>
                      <a:r>
                        <a:rPr lang="en-US" sz="900" b="1" dirty="0">
                          <a:solidFill>
                            <a:srgbClr val="0A1628"/>
                          </a:solidFill>
                          <a:latin typeface="IBM Plex Sans Arabic" pitchFamily="34" charset="0"/>
                          <a:ea typeface="IBM Plex Sans Arabic" pitchFamily="34" charset="-122"/>
                          <a:cs typeface="IBM Plex Sans Arabic" pitchFamily="34" charset="-120"/>
                        </a:rPr>
                        <a:t>محولات الشحن</a:t>
                      </a:r>
                      <a:endParaRPr lang="en-US" sz="900" dirty="0">
                        <a:latin typeface="IBM Plex Sans Arabic" charset="0"/>
                        <a:ea typeface="IBM Plex Sans Arabic" charset="0"/>
                        <a:cs typeface="IBM Plex Sans Arabic" charset="0"/>
                      </a:endParaRPr>
                    </a:p>
                  </a:txBody>
                  <a:tcPr marL="137160" marR="137160" marT="0" marB="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solidFill>
                      <a:srgbClr val="F4F6F9"/>
                    </a:solidFill>
                  </a:tcPr>
                </a:tc>
              </a:tr>
              <a:tr h="329184">
                <a:tc>
                  <a:txBody>
                    <a:bodyPr/>
                    <a:lstStyle/>
                    <a:p>
                      <a:pPr algn="l" indent="0" marL="0">
                        <a:buNone/>
                      </a:pPr>
                      <a:r>
                        <a:rPr lang="en-US" sz="900" b="1" dirty="0">
                          <a:solidFill>
                            <a:srgbClr val="0A1628"/>
                          </a:solidFill>
                          <a:latin typeface="Inter" pitchFamily="34" charset="0"/>
                          <a:ea typeface="Inter" pitchFamily="34" charset="-122"/>
                          <a:cs typeface="Inter" pitchFamily="34" charset="-120"/>
                        </a:rPr>
                        <a:t>EVSPACE Chargers</a:t>
                      </a:r>
                      <a:endParaRPr lang="en-US" sz="900" dirty="0">
                        <a:latin typeface="Inter" charset="0"/>
                        <a:ea typeface="Inter" charset="0"/>
                        <a:cs typeface="Inter" charset="0"/>
                      </a:endParaRPr>
                    </a:p>
                  </a:txBody>
                  <a:tcPr marL="137160" marR="137160" marT="0" marB="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solidFill>
                      <a:srgbClr val="FFFFFF"/>
                    </a:solidFill>
                  </a:tcPr>
                </a:tc>
                <a:tc>
                  <a:txBody>
                    <a:bodyPr/>
                    <a:lstStyle/>
                    <a:p>
                      <a:pPr algn="l" indent="0" marL="0">
                        <a:buNone/>
                      </a:pPr>
                      <a:r>
                        <a:rPr lang="en-US" sz="900" b="1" dirty="0">
                          <a:solidFill>
                            <a:srgbClr val="4C7A12"/>
                          </a:solidFill>
                          <a:latin typeface="Inter" pitchFamily="34" charset="0"/>
                          <a:ea typeface="Inter" pitchFamily="34" charset="-122"/>
                          <a:cs typeface="Inter" pitchFamily="34" charset="-120"/>
                        </a:rPr>
                        <a:t>2 Years</a:t>
                      </a:r>
                      <a:endParaRPr lang="en-US" sz="900" dirty="0">
                        <a:latin typeface="Inter" charset="0"/>
                        <a:ea typeface="Inter" charset="0"/>
                        <a:cs typeface="Inter" charset="0"/>
                      </a:endParaRPr>
                    </a:p>
                  </a:txBody>
                  <a:tcPr marL="137160" marR="137160" marT="0" marB="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solidFill>
                      <a:srgbClr val="FFFFFF"/>
                    </a:solidFill>
                  </a:tcPr>
                </a:tc>
                <a:tc>
                  <a:txBody>
                    <a:bodyPr/>
                    <a:lstStyle/>
                    <a:p>
                      <a:pPr rtl="1" algn="r" indent="0" marL="0">
                        <a:buNone/>
                      </a:pPr>
                      <a:r>
                        <a:rPr lang="en-US" sz="900" b="1" dirty="0">
                          <a:solidFill>
                            <a:srgbClr val="4C7A12"/>
                          </a:solidFill>
                          <a:latin typeface="IBM Plex Sans Arabic" pitchFamily="34" charset="0"/>
                          <a:ea typeface="IBM Plex Sans Arabic" pitchFamily="34" charset="-122"/>
                          <a:cs typeface="IBM Plex Sans Arabic" pitchFamily="34" charset="-120"/>
                        </a:rPr>
                        <a:t>سنتان</a:t>
                      </a:r>
                      <a:endParaRPr lang="en-US" sz="900" dirty="0">
                        <a:latin typeface="IBM Plex Sans Arabic" charset="0"/>
                        <a:ea typeface="IBM Plex Sans Arabic" charset="0"/>
                        <a:cs typeface="IBM Plex Sans Arabic" charset="0"/>
                      </a:endParaRPr>
                    </a:p>
                  </a:txBody>
                  <a:tcPr marL="137160" marR="137160" marT="0" marB="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solidFill>
                      <a:srgbClr val="FFFFFF"/>
                    </a:solidFill>
                  </a:tcPr>
                </a:tc>
                <a:tc>
                  <a:txBody>
                    <a:bodyPr/>
                    <a:lstStyle/>
                    <a:p>
                      <a:pPr rtl="1" algn="r" indent="0" marL="0">
                        <a:buNone/>
                      </a:pPr>
                      <a:r>
                        <a:rPr lang="en-US" sz="900" b="1" dirty="0">
                          <a:solidFill>
                            <a:srgbClr val="0A1628"/>
                          </a:solidFill>
                          <a:latin typeface="IBM Plex Sans Arabic" pitchFamily="34" charset="0"/>
                          <a:ea typeface="IBM Plex Sans Arabic" pitchFamily="34" charset="-122"/>
                          <a:cs typeface="IBM Plex Sans Arabic" pitchFamily="34" charset="-120"/>
                        </a:rPr>
                        <a:t>شواحن EVSPACE</a:t>
                      </a:r>
                      <a:endParaRPr lang="en-US" sz="900" dirty="0">
                        <a:latin typeface="IBM Plex Sans Arabic" charset="0"/>
                        <a:ea typeface="IBM Plex Sans Arabic" charset="0"/>
                        <a:cs typeface="IBM Plex Sans Arabic" charset="0"/>
                      </a:endParaRPr>
                    </a:p>
                  </a:txBody>
                  <a:tcPr marL="137160" marR="137160" marT="0" marB="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solidFill>
                      <a:srgbClr val="FFFFFF"/>
                    </a:solidFill>
                  </a:tcPr>
                </a:tc>
              </a:tr>
              <a:tr h="329184">
                <a:tc>
                  <a:txBody>
                    <a:bodyPr/>
                    <a:lstStyle/>
                    <a:p>
                      <a:pPr algn="l" indent="0" marL="0">
                        <a:buNone/>
                      </a:pPr>
                      <a:r>
                        <a:rPr lang="en-US" sz="900" b="1" dirty="0">
                          <a:solidFill>
                            <a:srgbClr val="0A1628"/>
                          </a:solidFill>
                          <a:latin typeface="Inter" pitchFamily="34" charset="0"/>
                          <a:ea typeface="Inter" pitchFamily="34" charset="-122"/>
                          <a:cs typeface="Inter" pitchFamily="34" charset="-120"/>
                        </a:rPr>
                        <a:t>Charger Installation</a:t>
                      </a:r>
                      <a:endParaRPr lang="en-US" sz="900" dirty="0">
                        <a:latin typeface="Inter" charset="0"/>
                        <a:ea typeface="Inter" charset="0"/>
                        <a:cs typeface="Inter" charset="0"/>
                      </a:endParaRPr>
                    </a:p>
                  </a:txBody>
                  <a:tcPr marL="137160" marR="137160" marT="0" marB="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solidFill>
                      <a:srgbClr val="F4F6F9"/>
                    </a:solidFill>
                  </a:tcPr>
                </a:tc>
                <a:tc>
                  <a:txBody>
                    <a:bodyPr/>
                    <a:lstStyle/>
                    <a:p>
                      <a:pPr algn="l" indent="0" marL="0">
                        <a:buNone/>
                      </a:pPr>
                      <a:r>
                        <a:rPr lang="en-US" sz="900" b="1" dirty="0">
                          <a:solidFill>
                            <a:srgbClr val="4C7A12"/>
                          </a:solidFill>
                          <a:latin typeface="Inter" pitchFamily="34" charset="0"/>
                          <a:ea typeface="Inter" pitchFamily="34" charset="-122"/>
                          <a:cs typeface="Inter" pitchFamily="34" charset="-120"/>
                        </a:rPr>
                        <a:t>2 Years</a:t>
                      </a:r>
                      <a:endParaRPr lang="en-US" sz="900" dirty="0">
                        <a:latin typeface="Inter" charset="0"/>
                        <a:ea typeface="Inter" charset="0"/>
                        <a:cs typeface="Inter" charset="0"/>
                      </a:endParaRPr>
                    </a:p>
                  </a:txBody>
                  <a:tcPr marL="137160" marR="137160" marT="0" marB="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solidFill>
                      <a:srgbClr val="F4F6F9"/>
                    </a:solidFill>
                  </a:tcPr>
                </a:tc>
                <a:tc>
                  <a:txBody>
                    <a:bodyPr/>
                    <a:lstStyle/>
                    <a:p>
                      <a:pPr rtl="1" algn="r" indent="0" marL="0">
                        <a:buNone/>
                      </a:pPr>
                      <a:r>
                        <a:rPr lang="en-US" sz="900" b="1" dirty="0">
                          <a:solidFill>
                            <a:srgbClr val="4C7A12"/>
                          </a:solidFill>
                          <a:latin typeface="IBM Plex Sans Arabic" pitchFamily="34" charset="0"/>
                          <a:ea typeface="IBM Plex Sans Arabic" pitchFamily="34" charset="-122"/>
                          <a:cs typeface="IBM Plex Sans Arabic" pitchFamily="34" charset="-120"/>
                        </a:rPr>
                        <a:t>سنتان</a:t>
                      </a:r>
                      <a:endParaRPr lang="en-US" sz="900" dirty="0">
                        <a:latin typeface="IBM Plex Sans Arabic" charset="0"/>
                        <a:ea typeface="IBM Plex Sans Arabic" charset="0"/>
                        <a:cs typeface="IBM Plex Sans Arabic" charset="0"/>
                      </a:endParaRPr>
                    </a:p>
                  </a:txBody>
                  <a:tcPr marL="137160" marR="137160" marT="0" marB="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solidFill>
                      <a:srgbClr val="F4F6F9"/>
                    </a:solidFill>
                  </a:tcPr>
                </a:tc>
                <a:tc>
                  <a:txBody>
                    <a:bodyPr/>
                    <a:lstStyle/>
                    <a:p>
                      <a:pPr rtl="1" algn="r" indent="0" marL="0">
                        <a:buNone/>
                      </a:pPr>
                      <a:r>
                        <a:rPr lang="en-US" sz="900" b="1" dirty="0">
                          <a:solidFill>
                            <a:srgbClr val="0A1628"/>
                          </a:solidFill>
                          <a:latin typeface="IBM Plex Sans Arabic" pitchFamily="34" charset="0"/>
                          <a:ea typeface="IBM Plex Sans Arabic" pitchFamily="34" charset="-122"/>
                          <a:cs typeface="IBM Plex Sans Arabic" pitchFamily="34" charset="-120"/>
                        </a:rPr>
                        <a:t>خدمة تركيب الشواحن</a:t>
                      </a:r>
                      <a:endParaRPr lang="en-US" sz="900" dirty="0">
                        <a:latin typeface="IBM Plex Sans Arabic" charset="0"/>
                        <a:ea typeface="IBM Plex Sans Arabic" charset="0"/>
                        <a:cs typeface="IBM Plex Sans Arabic" charset="0"/>
                      </a:endParaRPr>
                    </a:p>
                  </a:txBody>
                  <a:tcPr marL="137160" marR="137160" marT="0" marB="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solidFill>
                      <a:srgbClr val="F4F6F9"/>
                    </a:solidFill>
                  </a:tcPr>
                </a:tc>
              </a:tr>
              <a:tr h="329184">
                <a:tc>
                  <a:txBody>
                    <a:bodyPr/>
                    <a:lstStyle/>
                    <a:p>
                      <a:pPr algn="l" indent="0" marL="0">
                        <a:buNone/>
                      </a:pPr>
                      <a:r>
                        <a:rPr lang="en-US" sz="900" b="1" dirty="0">
                          <a:solidFill>
                            <a:srgbClr val="0A1628"/>
                          </a:solidFill>
                          <a:latin typeface="Inter" pitchFamily="34" charset="0"/>
                          <a:ea typeface="Inter" pitchFamily="34" charset="-122"/>
                          <a:cs typeface="Inter" pitchFamily="34" charset="-120"/>
                        </a:rPr>
                        <a:t>Other Accessories</a:t>
                      </a:r>
                      <a:endParaRPr lang="en-US" sz="900" dirty="0">
                        <a:latin typeface="Inter" charset="0"/>
                        <a:ea typeface="Inter" charset="0"/>
                        <a:cs typeface="Inter" charset="0"/>
                      </a:endParaRPr>
                    </a:p>
                  </a:txBody>
                  <a:tcPr marL="137160" marR="137160" marT="0" marB="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solidFill>
                      <a:srgbClr val="FFFFFF"/>
                    </a:solidFill>
                  </a:tcPr>
                </a:tc>
                <a:tc>
                  <a:txBody>
                    <a:bodyPr/>
                    <a:lstStyle/>
                    <a:p>
                      <a:pPr algn="l" indent="0" marL="0">
                        <a:buNone/>
                      </a:pPr>
                      <a:r>
                        <a:rPr lang="en-US" sz="900" b="1" dirty="0">
                          <a:solidFill>
                            <a:srgbClr val="4C7A12"/>
                          </a:solidFill>
                          <a:latin typeface="Inter" pitchFamily="34" charset="0"/>
                          <a:ea typeface="Inter" pitchFamily="34" charset="-122"/>
                          <a:cs typeface="Inter" pitchFamily="34" charset="-120"/>
                        </a:rPr>
                        <a:t>Product-Specific</a:t>
                      </a:r>
                      <a:endParaRPr lang="en-US" sz="900" dirty="0">
                        <a:latin typeface="Inter" charset="0"/>
                        <a:ea typeface="Inter" charset="0"/>
                        <a:cs typeface="Inter" charset="0"/>
                      </a:endParaRPr>
                    </a:p>
                  </a:txBody>
                  <a:tcPr marL="137160" marR="137160" marT="0" marB="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solidFill>
                      <a:srgbClr val="FFFFFF"/>
                    </a:solidFill>
                  </a:tcPr>
                </a:tc>
                <a:tc>
                  <a:txBody>
                    <a:bodyPr/>
                    <a:lstStyle/>
                    <a:p>
                      <a:pPr rtl="1" algn="r" indent="0" marL="0">
                        <a:buNone/>
                      </a:pPr>
                      <a:r>
                        <a:rPr lang="en-US" sz="900" b="1" dirty="0">
                          <a:solidFill>
                            <a:srgbClr val="4C7A12"/>
                          </a:solidFill>
                          <a:latin typeface="IBM Plex Sans Arabic" pitchFamily="34" charset="0"/>
                          <a:ea typeface="IBM Plex Sans Arabic" pitchFamily="34" charset="-122"/>
                          <a:cs typeface="IBM Plex Sans Arabic" pitchFamily="34" charset="-120"/>
                        </a:rPr>
                        <a:t>حسب المنتج</a:t>
                      </a:r>
                      <a:endParaRPr lang="en-US" sz="900" dirty="0">
                        <a:latin typeface="IBM Plex Sans Arabic" charset="0"/>
                        <a:ea typeface="IBM Plex Sans Arabic" charset="0"/>
                        <a:cs typeface="IBM Plex Sans Arabic" charset="0"/>
                      </a:endParaRPr>
                    </a:p>
                  </a:txBody>
                  <a:tcPr marL="137160" marR="137160" marT="0" marB="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solidFill>
                      <a:srgbClr val="FFFFFF"/>
                    </a:solidFill>
                  </a:tcPr>
                </a:tc>
                <a:tc>
                  <a:txBody>
                    <a:bodyPr/>
                    <a:lstStyle/>
                    <a:p>
                      <a:pPr rtl="1" algn="r" indent="0" marL="0">
                        <a:buNone/>
                      </a:pPr>
                      <a:r>
                        <a:rPr lang="en-US" sz="900" b="1" dirty="0">
                          <a:solidFill>
                            <a:srgbClr val="0A1628"/>
                          </a:solidFill>
                          <a:latin typeface="IBM Plex Sans Arabic" pitchFamily="34" charset="0"/>
                          <a:ea typeface="IBM Plex Sans Arabic" pitchFamily="34" charset="-122"/>
                          <a:cs typeface="IBM Plex Sans Arabic" pitchFamily="34" charset="-120"/>
                        </a:rPr>
                        <a:t>الإكسسوارات الأخرى</a:t>
                      </a:r>
                      <a:endParaRPr lang="en-US" sz="900" dirty="0">
                        <a:latin typeface="IBM Plex Sans Arabic" charset="0"/>
                        <a:ea typeface="IBM Plex Sans Arabic" charset="0"/>
                        <a:cs typeface="IBM Plex Sans Arabic" charset="0"/>
                      </a:endParaRPr>
                    </a:p>
                  </a:txBody>
                  <a:tcPr marL="137160" marR="137160" marT="0" marB="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solidFill>
                      <a:srgbClr val="FFFFFF"/>
                    </a:solidFill>
                  </a:tcPr>
                </a:tc>
              </a:tr>
            </a:tbl>
          </a:graphicData>
        </a:graphic>
      </p:graphicFrame>
      <p:sp>
        <p:nvSpPr>
          <p:cNvPr id="26" name="Text 23"/>
          <p:cNvSpPr txBox="1"/>
          <p:nvPr/>
        </p:nvSpPr>
        <p:spPr>
          <a:xfrm>
            <a:off x="548640" y="6053328"/>
            <a:ext cx="5349240" cy="320040"/>
          </a:xfrm>
          <a:prstGeom prst="rect">
            <a:avLst/>
          </a:prstGeom>
          <a:noFill/>
          <a:ln/>
        </p:spPr>
        <p:txBody>
          <a:bodyPr wrap="square" lIns="0" tIns="0" rIns="0" bIns="0" rtlCol="0" anchor="t"/>
          <a:lstStyle/>
          <a:p>
            <a:pPr algn="l" indent="0" marL="0">
              <a:lnSpc>
                <a:spcPct val="110000"/>
              </a:lnSpc>
              <a:spcAft>
                <a:spcPts val="500"/>
              </a:spcAft>
              <a:buNone/>
            </a:pPr>
            <a:r>
              <a:rPr lang="en-US" altLang="en-US" sz="700" dirty="0">
                <a:solidFill>
                  <a:srgbClr val="5B6677"/>
                </a:solidFill>
                <a:latin typeface="Inter" pitchFamily="34" charset="0"/>
                <a:ea typeface="Inter" pitchFamily="34" charset="-122"/>
                <a:cs typeface="Inter" pitchFamily="34" charset="-120"/>
              </a:rPr>
              <a:t>Note: Warranty coverage is subject to the applicable product or service terms and conditions and may vary according to the product and its intended use.</a:t>
            </a:r>
            <a:endParaRPr lang="en-US" sz="700" dirty="0"/>
          </a:p>
        </p:txBody>
      </p:sp>
      <p:sp>
        <p:nvSpPr>
          <p:cNvPr id="27" name="Text 24"/>
          <p:cNvSpPr txBox="1"/>
          <p:nvPr/>
        </p:nvSpPr>
        <p:spPr>
          <a:xfrm>
            <a:off x="6293815" y="6035040"/>
            <a:ext cx="5349240" cy="320040"/>
          </a:xfrm>
          <a:prstGeom prst="rect">
            <a:avLst/>
          </a:prstGeom>
          <a:noFill/>
          <a:ln/>
        </p:spPr>
        <p:txBody>
          <a:bodyPr wrap="square" lIns="0" tIns="0" rIns="0" bIns="0" rtlCol="0" anchor="t"/>
          <a:lstStyle/>
          <a:p>
            <a:pPr rtl="1" algn="r" indent="0" marL="0">
              <a:lnSpc>
                <a:spcPct val="110000"/>
              </a:lnSpc>
              <a:spcAft>
                <a:spcPts val="500"/>
              </a:spcAft>
              <a:buNone/>
            </a:pPr>
            <a:r>
              <a:rPr lang="ar-AE" altLang="en-US" sz="760" dirty="0">
                <a:solidFill>
                  <a:srgbClr val="5B6677"/>
                </a:solidFill>
                <a:latin typeface="IBM Plex Sans Arabic" pitchFamily="34" charset="0"/>
                <a:ea typeface="IBM Plex Sans Arabic" pitchFamily="34" charset="-122"/>
                <a:cs typeface="IBM Plex Sans Arabic" pitchFamily="34" charset="-120"/>
              </a:rPr>
              <a:t>ملاحظة: تطبق شروط وأحكام الضمان الخاصة بكل منتج أو خدمة، وقد تختلف التغطية وفقاً لطبيعة المنتج وطريقة الاستخدام.</a:t>
            </a:r>
            <a:endParaRPr lang="ar-AE" sz="760" dirty="0"/>
          </a:p>
        </p:txBody>
      </p:sp>
      <p:sp>
        <p:nvSpPr>
          <p:cNvPr id="28" name="Shape 25"/>
          <p:cNvSpPr/>
          <p:nvPr/>
        </p:nvSpPr>
        <p:spPr>
          <a:xfrm>
            <a:off x="548640" y="6428232"/>
            <a:ext cx="11094415" cy="0"/>
          </a:xfrm>
          <a:prstGeom prst="line">
            <a:avLst/>
          </a:prstGeom>
          <a:noFill/>
          <a:ln w="9525">
            <a:solidFill>
              <a:srgbClr val="E3E8EF"/>
            </a:solidFill>
            <a:prstDash val="solid"/>
          </a:ln>
        </p:spPr>
      </p:sp>
      <p:pic>
        <p:nvPicPr>
          <p:cNvPr id="29" name="Image 0" descr="EVCARS logo">
            <a:hlinkClick r:id="rId2" tooltip="Back to cover" action="ppaction://hlinksldjump"/>
          </p:cNvPr>
          <p:cNvPicPr>
            <a:picLocks noChangeAspect="1"/>
          </p:cNvPicPr>
          <p:nvPr/>
        </p:nvPicPr>
        <p:blipFill>
          <a:blip r:embed="rId1"/>
          <a:stretch>
            <a:fillRect/>
          </a:stretch>
        </p:blipFill>
        <p:spPr>
          <a:xfrm>
            <a:off x="548640" y="6510528"/>
            <a:ext cx="833104" cy="155448"/>
          </a:xfrm>
          <a:prstGeom prst="rect">
            <a:avLst/>
          </a:prstGeom>
        </p:spPr>
      </p:pic>
      <p:sp>
        <p:nvSpPr>
          <p:cNvPr id="30" name="Text 26">
            <a:hlinkClick r:id="rId3" tooltip="www.evcars.me"/>
          </p:cNvPr>
          <p:cNvSpPr txBox="1"/>
          <p:nvPr/>
        </p:nvSpPr>
        <p:spPr>
          <a:xfrm>
            <a:off x="1600200" y="6492240"/>
            <a:ext cx="1463040" cy="201168"/>
          </a:xfrm>
          <a:prstGeom prst="rect">
            <a:avLst/>
          </a:prstGeom>
          <a:noFill/>
          <a:ln/>
        </p:spPr>
        <p:txBody>
          <a:bodyPr wrap="square" lIns="0" tIns="0" rIns="0" bIns="0" rtlCol="0" anchor="ctr"/>
          <a:lstStyle/>
          <a:p>
            <a:pPr indent="0" marL="0">
              <a:buNone/>
            </a:pPr>
            <a:r>
              <a:rPr lang="en-US" sz="800" u="sng" dirty="0">
                <a:solidFill>
                  <a:srgbClr val="3E9ACA"/>
                </a:solidFill>
                <a:latin typeface="Inter" pitchFamily="34" charset="0"/>
                <a:ea typeface="Inter" pitchFamily="34" charset="-122"/>
                <a:cs typeface="Inter" pitchFamily="34" charset="-120"/>
                <a:hlinkClick r:id="rId3" invalidUrl="" action="" tgtFrame="" tooltip="www.evcars.me" history="1" highlightClick="0" endSnd="0">
                  <a:extLst>
                    <a:ext uri="{A12FA001-AC4F-418D-AE19-62706E023703}">
                      <ahyp:hlinkClr xmlns:ahyp="http://schemas.microsoft.com/office/drawing/2018/hyperlinkcolor" val="tx"/>
                    </a:ext>
                  </a:extLst>
                </a:hlinkClick>
              </a:rPr>
              <a:t>www.evcars.me</a:t>
            </a:r>
            <a:endParaRPr lang="en-US" sz="800" dirty="0"/>
          </a:p>
        </p:txBody>
      </p:sp>
      <p:sp>
        <p:nvSpPr>
          <p:cNvPr id="31" name="Text 27">
            <a:hlinkClick r:id="rId4" tooltip="Page 1" action="ppaction://hlinksldjump"/>
          </p:cNvPr>
          <p:cNvSpPr txBox="1"/>
          <p:nvPr/>
        </p:nvSpPr>
        <p:spPr>
          <a:xfrm>
            <a:off x="834847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4" action="ppaction://hlinksldjump" tooltip="Page 1">
                  <a:extLst>
                    <a:ext uri="{A12FA001-AC4F-418D-AE19-62706E023703}">
                      <ahyp:hlinkClr xmlns:ahyp="http://schemas.microsoft.com/office/drawing/2018/hyperlinkcolor" val="tx"/>
                    </a:ext>
                  </a:extLst>
                </a:hlinkClick>
              </a:rPr>
              <a:t>1</a:t>
            </a:r>
            <a:endParaRPr lang="en-US" sz="750" dirty="0"/>
          </a:p>
        </p:txBody>
      </p:sp>
      <p:sp>
        <p:nvSpPr>
          <p:cNvPr id="32" name="Text 28">
            <a:hlinkClick r:id="rId5" tooltip="Page 2" action="ppaction://hlinksldjump"/>
          </p:cNvPr>
          <p:cNvSpPr txBox="1"/>
          <p:nvPr/>
        </p:nvSpPr>
        <p:spPr>
          <a:xfrm>
            <a:off x="862279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5" action="ppaction://hlinksldjump" tooltip="Page 2">
                  <a:extLst>
                    <a:ext uri="{A12FA001-AC4F-418D-AE19-62706E023703}">
                      <ahyp:hlinkClr xmlns:ahyp="http://schemas.microsoft.com/office/drawing/2018/hyperlinkcolor" val="tx"/>
                    </a:ext>
                  </a:extLst>
                </a:hlinkClick>
              </a:rPr>
              <a:t>2</a:t>
            </a:r>
            <a:endParaRPr lang="en-US" sz="750" dirty="0"/>
          </a:p>
        </p:txBody>
      </p:sp>
      <p:sp>
        <p:nvSpPr>
          <p:cNvPr id="33" name="Text 29">
            <a:hlinkClick r:id="rId6" tooltip="Page 3" action="ppaction://hlinksldjump"/>
          </p:cNvPr>
          <p:cNvSpPr txBox="1"/>
          <p:nvPr/>
        </p:nvSpPr>
        <p:spPr>
          <a:xfrm>
            <a:off x="889711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6" action="ppaction://hlinksldjump" tooltip="Page 3">
                  <a:extLst>
                    <a:ext uri="{A12FA001-AC4F-418D-AE19-62706E023703}">
                      <ahyp:hlinkClr xmlns:ahyp="http://schemas.microsoft.com/office/drawing/2018/hyperlinkcolor" val="tx"/>
                    </a:ext>
                  </a:extLst>
                </a:hlinkClick>
              </a:rPr>
              <a:t>3</a:t>
            </a:r>
            <a:endParaRPr lang="en-US" sz="750" dirty="0"/>
          </a:p>
        </p:txBody>
      </p:sp>
      <p:sp>
        <p:nvSpPr>
          <p:cNvPr id="34" name="Text 30">
            <a:hlinkClick r:id="rId7" tooltip="Page 4" action="ppaction://hlinksldjump"/>
          </p:cNvPr>
          <p:cNvSpPr txBox="1"/>
          <p:nvPr/>
        </p:nvSpPr>
        <p:spPr>
          <a:xfrm>
            <a:off x="917143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7" action="ppaction://hlinksldjump" tooltip="Page 4">
                  <a:extLst>
                    <a:ext uri="{A12FA001-AC4F-418D-AE19-62706E023703}">
                      <ahyp:hlinkClr xmlns:ahyp="http://schemas.microsoft.com/office/drawing/2018/hyperlinkcolor" val="tx"/>
                    </a:ext>
                  </a:extLst>
                </a:hlinkClick>
              </a:rPr>
              <a:t>4</a:t>
            </a:r>
            <a:endParaRPr lang="en-US" sz="750" dirty="0"/>
          </a:p>
        </p:txBody>
      </p:sp>
      <p:sp>
        <p:nvSpPr>
          <p:cNvPr id="35" name="Text 31">
            <a:hlinkClick r:id="rId8" tooltip="Page 5" action="ppaction://hlinksldjump"/>
          </p:cNvPr>
          <p:cNvSpPr txBox="1"/>
          <p:nvPr/>
        </p:nvSpPr>
        <p:spPr>
          <a:xfrm>
            <a:off x="944575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8" action="ppaction://hlinksldjump" tooltip="Page 5">
                  <a:extLst>
                    <a:ext uri="{A12FA001-AC4F-418D-AE19-62706E023703}">
                      <ahyp:hlinkClr xmlns:ahyp="http://schemas.microsoft.com/office/drawing/2018/hyperlinkcolor" val="tx"/>
                    </a:ext>
                  </a:extLst>
                </a:hlinkClick>
              </a:rPr>
              <a:t>5</a:t>
            </a:r>
            <a:endParaRPr lang="en-US" sz="750" dirty="0"/>
          </a:p>
        </p:txBody>
      </p:sp>
      <p:sp>
        <p:nvSpPr>
          <p:cNvPr id="36" name="Text 32">
            <a:hlinkClick r:id="rId9" tooltip="Page 6" action="ppaction://hlinksldjump"/>
          </p:cNvPr>
          <p:cNvSpPr txBox="1"/>
          <p:nvPr/>
        </p:nvSpPr>
        <p:spPr>
          <a:xfrm>
            <a:off x="972007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9" action="ppaction://hlinksldjump" tooltip="Page 6">
                  <a:extLst>
                    <a:ext uri="{A12FA001-AC4F-418D-AE19-62706E023703}">
                      <ahyp:hlinkClr xmlns:ahyp="http://schemas.microsoft.com/office/drawing/2018/hyperlinkcolor" val="tx"/>
                    </a:ext>
                  </a:extLst>
                </a:hlinkClick>
              </a:rPr>
              <a:t>6</a:t>
            </a:r>
            <a:endParaRPr lang="en-US" sz="750" dirty="0"/>
          </a:p>
        </p:txBody>
      </p:sp>
      <p:sp>
        <p:nvSpPr>
          <p:cNvPr id="37" name="Text 33">
            <a:hlinkClick r:id="rId10" tooltip="Page 7" action="ppaction://hlinksldjump"/>
          </p:cNvPr>
          <p:cNvSpPr txBox="1"/>
          <p:nvPr/>
        </p:nvSpPr>
        <p:spPr>
          <a:xfrm>
            <a:off x="999439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0" action="ppaction://hlinksldjump" tooltip="Page 7">
                  <a:extLst>
                    <a:ext uri="{A12FA001-AC4F-418D-AE19-62706E023703}">
                      <ahyp:hlinkClr xmlns:ahyp="http://schemas.microsoft.com/office/drawing/2018/hyperlinkcolor" val="tx"/>
                    </a:ext>
                  </a:extLst>
                </a:hlinkClick>
              </a:rPr>
              <a:t>7</a:t>
            </a:r>
            <a:endParaRPr lang="en-US" sz="750" dirty="0"/>
          </a:p>
        </p:txBody>
      </p:sp>
      <p:sp>
        <p:nvSpPr>
          <p:cNvPr id="38" name="Text 34">
            <a:hlinkClick r:id="rId11" tooltip="Page 8" action="ppaction://hlinksldjump"/>
          </p:cNvPr>
          <p:cNvSpPr txBox="1"/>
          <p:nvPr/>
        </p:nvSpPr>
        <p:spPr>
          <a:xfrm>
            <a:off x="1026871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1" action="ppaction://hlinksldjump" tooltip="Page 8">
                  <a:extLst>
                    <a:ext uri="{A12FA001-AC4F-418D-AE19-62706E023703}">
                      <ahyp:hlinkClr xmlns:ahyp="http://schemas.microsoft.com/office/drawing/2018/hyperlinkcolor" val="tx"/>
                    </a:ext>
                  </a:extLst>
                </a:hlinkClick>
              </a:rPr>
              <a:t>8</a:t>
            </a:r>
            <a:endParaRPr lang="en-US" sz="750" dirty="0"/>
          </a:p>
        </p:txBody>
      </p:sp>
      <p:sp>
        <p:nvSpPr>
          <p:cNvPr id="39" name="Text 35">
            <a:hlinkClick r:id="rId12" tooltip="Page 9" action="ppaction://hlinksldjump"/>
          </p:cNvPr>
          <p:cNvSpPr txBox="1"/>
          <p:nvPr/>
        </p:nvSpPr>
        <p:spPr>
          <a:xfrm>
            <a:off x="10543032" y="6492240"/>
            <a:ext cx="274320" cy="201168"/>
          </a:xfrm>
          <a:prstGeom prst="rect">
            <a:avLst/>
          </a:prstGeom>
          <a:noFill/>
          <a:ln/>
        </p:spPr>
        <p:txBody>
          <a:bodyPr wrap="square" lIns="0" tIns="0" rIns="0" bIns="0" rtlCol="0" anchor="ctr"/>
          <a:lstStyle/>
          <a:p>
            <a:pPr algn="ctr" indent="0" marL="0">
              <a:buNone/>
            </a:pPr>
            <a:r>
              <a:rPr lang="en-US" sz="750" b="1" u="sng" dirty="0">
                <a:solidFill>
                  <a:srgbClr val="3E9ACA"/>
                </a:solidFill>
                <a:latin typeface="Inter" pitchFamily="34" charset="0"/>
                <a:ea typeface="Inter" pitchFamily="34" charset="-122"/>
                <a:cs typeface="Inter" pitchFamily="34" charset="-120"/>
                <a:hlinkClick r:id="rId12" action="ppaction://hlinksldjump" tooltip="Page 9">
                  <a:extLst>
                    <a:ext uri="{A12FA001-AC4F-418D-AE19-62706E023703}">
                      <ahyp:hlinkClr xmlns:ahyp="http://schemas.microsoft.com/office/drawing/2018/hyperlinkcolor" val="tx"/>
                    </a:ext>
                  </a:extLst>
                </a:hlinkClick>
              </a:rPr>
              <a:t>9</a:t>
            </a:r>
            <a:endParaRPr lang="en-US" sz="750" dirty="0"/>
          </a:p>
        </p:txBody>
      </p:sp>
      <p:sp>
        <p:nvSpPr>
          <p:cNvPr id="40" name="Text 36">
            <a:hlinkClick r:id="rId13" tooltip="Page 10" action="ppaction://hlinksldjump"/>
          </p:cNvPr>
          <p:cNvSpPr txBox="1"/>
          <p:nvPr/>
        </p:nvSpPr>
        <p:spPr>
          <a:xfrm>
            <a:off x="1081735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3" action="ppaction://hlinksldjump" tooltip="Page 10">
                  <a:extLst>
                    <a:ext uri="{A12FA001-AC4F-418D-AE19-62706E023703}">
                      <ahyp:hlinkClr xmlns:ahyp="http://schemas.microsoft.com/office/drawing/2018/hyperlinkcolor" val="tx"/>
                    </a:ext>
                  </a:extLst>
                </a:hlinkClick>
              </a:rPr>
              <a:t>10</a:t>
            </a:r>
            <a:endParaRPr lang="en-US" sz="750" dirty="0"/>
          </a:p>
        </p:txBody>
      </p:sp>
      <p:sp>
        <p:nvSpPr>
          <p:cNvPr id="41" name="Text 37">
            <a:hlinkClick r:id="rId14" tooltip="Page 11" action="ppaction://hlinksldjump"/>
          </p:cNvPr>
          <p:cNvSpPr txBox="1"/>
          <p:nvPr/>
        </p:nvSpPr>
        <p:spPr>
          <a:xfrm>
            <a:off x="1109167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4" action="ppaction://hlinksldjump" tooltip="Page 11">
                  <a:extLst>
                    <a:ext uri="{A12FA001-AC4F-418D-AE19-62706E023703}">
                      <ahyp:hlinkClr xmlns:ahyp="http://schemas.microsoft.com/office/drawing/2018/hyperlinkcolor" val="tx"/>
                    </a:ext>
                  </a:extLst>
                </a:hlinkClick>
              </a:rPr>
              <a:t>11</a:t>
            </a:r>
            <a:endParaRPr lang="en-US" sz="750" dirty="0"/>
          </a:p>
        </p:txBody>
      </p:sp>
      <p:sp>
        <p:nvSpPr>
          <p:cNvPr id="42" name="Text 38">
            <a:hlinkClick r:id="rId15" tooltip="Page 12" action="ppaction://hlinksldjump"/>
          </p:cNvPr>
          <p:cNvSpPr txBox="1"/>
          <p:nvPr/>
        </p:nvSpPr>
        <p:spPr>
          <a:xfrm>
            <a:off x="1136599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5" action="ppaction://hlinksldjump" tooltip="Page 12">
                  <a:extLst>
                    <a:ext uri="{A12FA001-AC4F-418D-AE19-62706E023703}">
                      <ahyp:hlinkClr xmlns:ahyp="http://schemas.microsoft.com/office/drawing/2018/hyperlinkcolor" val="tx"/>
                    </a:ext>
                  </a:extLst>
                </a:hlinkClick>
              </a:rPr>
              <a:t>12</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Dark band"/>
          <p:cNvSpPr/>
          <p:nvPr/>
        </p:nvSpPr>
        <p:spPr>
          <a:xfrm>
            <a:off x="0" y="0"/>
            <a:ext cx="12191695" cy="3246120"/>
          </a:xfrm>
          <a:prstGeom prst="rect">
            <a:avLst/>
          </a:prstGeom>
          <a:solidFill>
            <a:srgbClr val="0A1628"/>
          </a:solidFill>
          <a:ln w="12700">
            <a:solidFill>
              <a:srgbClr val="0A1628"/>
            </a:solidFill>
            <a:prstDash val="solid"/>
          </a:ln>
        </p:spPr>
      </p:sp>
      <p:sp>
        <p:nvSpPr>
          <p:cNvPr id="3" name="Text 1"/>
          <p:cNvSpPr txBox="1"/>
          <p:nvPr/>
        </p:nvSpPr>
        <p:spPr>
          <a:xfrm>
            <a:off x="548640" y="365760"/>
            <a:ext cx="5547208" cy="274320"/>
          </a:xfrm>
          <a:prstGeom prst="rect">
            <a:avLst/>
          </a:prstGeom>
          <a:noFill/>
          <a:ln/>
        </p:spPr>
        <p:txBody>
          <a:bodyPr wrap="square" lIns="0" tIns="0" rIns="0" bIns="0" rtlCol="0" anchor="t"/>
          <a:lstStyle/>
          <a:p>
            <a:pPr algn="l" indent="0" marL="0">
              <a:lnSpc>
                <a:spcPct val="110000"/>
              </a:lnSpc>
              <a:spcAft>
                <a:spcPts val="500"/>
              </a:spcAft>
              <a:buNone/>
            </a:pPr>
            <a:r>
              <a:rPr lang="en-US" altLang="en-US" sz="1000" b="1" dirty="0">
                <a:solidFill>
                  <a:srgbClr val="3E9ACA"/>
                </a:solidFill>
                <a:latin typeface="Sora" pitchFamily="34" charset="0"/>
                <a:ea typeface="Sora" pitchFamily="34" charset="-122"/>
                <a:cs typeface="Sora" pitchFamily="34" charset="-120"/>
              </a:rPr>
              <a:t>14</a:t>
            </a:r>
            <a:pPr algn="l" indent="0" marL="0">
              <a:lnSpc>
                <a:spcPct val="110000"/>
              </a:lnSpc>
              <a:spcAft>
                <a:spcPts val="500"/>
              </a:spcAft>
              <a:buNone/>
            </a:pPr>
            <a:r>
              <a:rPr lang="en-US" altLang="en-US" sz="1000" b="1" spc="200" kern="0" dirty="0">
                <a:solidFill>
                  <a:srgbClr val="FFFFFF"/>
                </a:solidFill>
                <a:latin typeface="Sora" pitchFamily="34" charset="0"/>
                <a:ea typeface="Sora" pitchFamily="34" charset="-122"/>
                <a:cs typeface="Sora" pitchFamily="34" charset="-120"/>
              </a:rPr>
              <a:t>  |  ONLINE SHOPPING &amp; DELIVERY</a:t>
            </a:r>
            <a:endParaRPr lang="en-US" sz="1000" dirty="0"/>
          </a:p>
        </p:txBody>
      </p:sp>
      <p:sp>
        <p:nvSpPr>
          <p:cNvPr id="4" name="Text 2"/>
          <p:cNvSpPr txBox="1"/>
          <p:nvPr/>
        </p:nvSpPr>
        <p:spPr>
          <a:xfrm>
            <a:off x="6095848" y="347472"/>
            <a:ext cx="5547208" cy="274320"/>
          </a:xfrm>
          <a:prstGeom prst="rect">
            <a:avLst/>
          </a:prstGeom>
          <a:noFill/>
          <a:ln/>
        </p:spPr>
        <p:txBody>
          <a:bodyPr wrap="square" lIns="0" tIns="0" rIns="0" bIns="0" rtlCol="0" anchor="t"/>
          <a:lstStyle/>
          <a:p>
            <a:pPr rtl="1" algn="r" indent="0" marL="0">
              <a:lnSpc>
                <a:spcPct val="110000"/>
              </a:lnSpc>
              <a:spcAft>
                <a:spcPts val="500"/>
              </a:spcAft>
              <a:buNone/>
            </a:pPr>
            <a:r>
              <a:rPr lang="ar-AE" altLang="en-US" sz="1200" b="1" dirty="0">
                <a:solidFill>
                  <a:srgbClr val="3E9ACA"/>
                </a:solidFill>
                <a:latin typeface="IBM Plex Sans Arabic" pitchFamily="34" charset="0"/>
                <a:ea typeface="IBM Plex Sans Arabic" pitchFamily="34" charset="-122"/>
                <a:cs typeface="IBM Plex Sans Arabic" pitchFamily="34" charset="-120"/>
              </a:rPr>
              <a:t>14</a:t>
            </a:r>
            <a:pPr algn="r" indent="0" marL="0">
              <a:lnSpc>
                <a:spcPct val="110000"/>
              </a:lnSpc>
              <a:spcAft>
                <a:spcPts val="500"/>
              </a:spcAft>
              <a:buNone/>
            </a:pPr>
            <a:r>
              <a:rPr lang="ar-AE" altLang="en-US" sz="1200" b="1" dirty="0">
                <a:solidFill>
                  <a:srgbClr val="FFFFFF"/>
                </a:solidFill>
                <a:latin typeface="IBM Plex Sans Arabic" pitchFamily="34" charset="0"/>
                <a:ea typeface="IBM Plex Sans Arabic" pitchFamily="34" charset="-122"/>
                <a:cs typeface="IBM Plex Sans Arabic" pitchFamily="34" charset="-120"/>
              </a:rPr>
              <a:t>  |  التسوق الإلكتروني والتوصيل</a:t>
            </a:r>
            <a:endParaRPr lang="ar-AE" sz="1200" dirty="0"/>
          </a:p>
        </p:txBody>
      </p:sp>
      <p:sp>
        <p:nvSpPr>
          <p:cNvPr id="5" name="Shape 3"/>
          <p:cNvSpPr/>
          <p:nvPr/>
        </p:nvSpPr>
        <p:spPr>
          <a:xfrm>
            <a:off x="548640" y="676656"/>
            <a:ext cx="11094415" cy="0"/>
          </a:xfrm>
          <a:prstGeom prst="line">
            <a:avLst/>
          </a:prstGeom>
          <a:noFill/>
          <a:ln w="9525">
            <a:solidFill>
              <a:srgbClr val="24385A"/>
            </a:solidFill>
            <a:prstDash val="solid"/>
          </a:ln>
        </p:spPr>
      </p:sp>
      <p:sp>
        <p:nvSpPr>
          <p:cNvPr id="6" name="Text 4"/>
          <p:cNvSpPr txBox="1"/>
          <p:nvPr/>
        </p:nvSpPr>
        <p:spPr>
          <a:xfrm>
            <a:off x="548640" y="868680"/>
            <a:ext cx="5349240" cy="1280160"/>
          </a:xfrm>
          <a:prstGeom prst="rect">
            <a:avLst/>
          </a:prstGeom>
          <a:noFill/>
          <a:ln/>
        </p:spPr>
        <p:txBody>
          <a:bodyPr wrap="square" lIns="0" tIns="0" rIns="0" bIns="0" rtlCol="0" anchor="t"/>
          <a:lstStyle/>
          <a:p>
            <a:pPr algn="l" indent="0" marL="0">
              <a:lnSpc>
                <a:spcPct val="110000"/>
              </a:lnSpc>
              <a:spcAft>
                <a:spcPts val="500"/>
              </a:spcAft>
              <a:buNone/>
            </a:pPr>
            <a:r>
              <a:rPr lang="en-US" altLang="en-US" sz="880" dirty="0">
                <a:solidFill>
                  <a:srgbClr val="DCE6F4"/>
                </a:solidFill>
                <a:latin typeface="Inter" pitchFamily="34" charset="0"/>
                <a:ea typeface="Inter" pitchFamily="34" charset="-122"/>
                <a:cs typeface="Inter" pitchFamily="34" charset="-120"/>
              </a:rPr>
              <a:t>EVCARS provides an online shopping experience that allows customers to browse and order products conveniently, with delivery options across the UAE and Oman.</a:t>
            </a:r>
            <a:endParaRPr lang="en-US" sz="880" dirty="0"/>
          </a:p>
          <a:p>
            <a:pPr algn="l" indent="0" marL="0">
              <a:lnSpc>
                <a:spcPct val="110000"/>
              </a:lnSpc>
              <a:spcAft>
                <a:spcPts val="500"/>
              </a:spcAft>
              <a:buNone/>
            </a:pPr>
            <a:r>
              <a:rPr lang="en-US" altLang="en-US" sz="880" dirty="0">
                <a:solidFill>
                  <a:srgbClr val="DCE6F4"/>
                </a:solidFill>
                <a:latin typeface="Inter" pitchFamily="34" charset="0"/>
                <a:ea typeface="Inter" pitchFamily="34" charset="-122"/>
                <a:cs typeface="Inter" pitchFamily="34" charset="-120"/>
              </a:rPr>
              <a:t>Deliveries are handled through third-party logistics providers, with next-day delivery available for eligible orders, depending on location, order cut-off times, and product availability.</a:t>
            </a:r>
            <a:endParaRPr lang="en-US" sz="880" dirty="0"/>
          </a:p>
        </p:txBody>
      </p:sp>
      <p:sp>
        <p:nvSpPr>
          <p:cNvPr id="7" name="Text 5"/>
          <p:cNvSpPr txBox="1"/>
          <p:nvPr/>
        </p:nvSpPr>
        <p:spPr>
          <a:xfrm>
            <a:off x="6293815" y="868680"/>
            <a:ext cx="5349240" cy="1280160"/>
          </a:xfrm>
          <a:prstGeom prst="rect">
            <a:avLst/>
          </a:prstGeom>
          <a:noFill/>
          <a:ln/>
        </p:spPr>
        <p:txBody>
          <a:bodyPr wrap="square" lIns="0" tIns="0" rIns="0" bIns="0" rtlCol="0" anchor="t"/>
          <a:lstStyle/>
          <a:p>
            <a:pPr rtl="1" algn="r" indent="0" marL="0">
              <a:lnSpc>
                <a:spcPct val="110000"/>
              </a:lnSpc>
              <a:spcAft>
                <a:spcPts val="500"/>
              </a:spcAft>
              <a:buNone/>
            </a:pPr>
            <a:r>
              <a:rPr lang="ar-AE" altLang="en-US" sz="940" dirty="0">
                <a:solidFill>
                  <a:srgbClr val="DCE6F4"/>
                </a:solidFill>
                <a:latin typeface="IBM Plex Sans Arabic" pitchFamily="34" charset="0"/>
                <a:ea typeface="IBM Plex Sans Arabic" pitchFamily="34" charset="-122"/>
                <a:cs typeface="IBM Plex Sans Arabic" pitchFamily="34" charset="-120"/>
              </a:rPr>
              <a:t>توفر EVCARS تجربة تسوق إلكترونية تتيح للعملاء استعراض المنتجات وطلبها بسهولة، مع خيارات توصيل داخل دولة الإمارات العربية المتحدة وسلطنة عُمان.</a:t>
            </a:r>
            <a:endParaRPr lang="ar-AE" sz="940" dirty="0"/>
          </a:p>
          <a:p>
            <a:pPr rtl="1" algn="r" indent="0" marL="0">
              <a:lnSpc>
                <a:spcPct val="110000"/>
              </a:lnSpc>
              <a:spcAft>
                <a:spcPts val="500"/>
              </a:spcAft>
              <a:buNone/>
            </a:pPr>
            <a:r>
              <a:rPr lang="ar-AE" altLang="en-US" sz="940" dirty="0">
                <a:solidFill>
                  <a:srgbClr val="DCE6F4"/>
                </a:solidFill>
                <a:latin typeface="IBM Plex Sans Arabic" pitchFamily="34" charset="0"/>
                <a:ea typeface="IBM Plex Sans Arabic" pitchFamily="34" charset="-122"/>
                <a:cs typeface="IBM Plex Sans Arabic" pitchFamily="34" charset="-120"/>
              </a:rPr>
              <a:t>تُنفذ عمليات التوصيل من خلال شركات شحن خارجية، مع توفر خدمة التوصيل في اليوم التالي للطلبات المؤهلة وفقاً للمنطقة ووقت الطلب وتوفر المنتج.</a:t>
            </a:r>
            <a:endParaRPr lang="ar-AE" sz="940" dirty="0"/>
          </a:p>
        </p:txBody>
      </p:sp>
      <p:sp>
        <p:nvSpPr>
          <p:cNvPr id="8" name="Shape 6"/>
          <p:cNvSpPr/>
          <p:nvPr/>
        </p:nvSpPr>
        <p:spPr>
          <a:xfrm>
            <a:off x="548640" y="2286000"/>
            <a:ext cx="11094415" cy="0"/>
          </a:xfrm>
          <a:prstGeom prst="line">
            <a:avLst/>
          </a:prstGeom>
          <a:noFill/>
          <a:ln w="9525">
            <a:solidFill>
              <a:srgbClr val="24385A"/>
            </a:solidFill>
            <a:prstDash val="solid"/>
          </a:ln>
        </p:spPr>
      </p:sp>
      <p:sp>
        <p:nvSpPr>
          <p:cNvPr id="9" name="Text 7"/>
          <p:cNvSpPr txBox="1"/>
          <p:nvPr/>
        </p:nvSpPr>
        <p:spPr>
          <a:xfrm>
            <a:off x="548640" y="2450592"/>
            <a:ext cx="5349240" cy="457200"/>
          </a:xfrm>
          <a:prstGeom prst="rect">
            <a:avLst/>
          </a:prstGeom>
          <a:noFill/>
          <a:ln/>
        </p:spPr>
        <p:txBody>
          <a:bodyPr wrap="square" lIns="0" tIns="0" rIns="0" bIns="0" rtlCol="0" anchor="t"/>
          <a:lstStyle/>
          <a:p>
            <a:pPr algn="l" indent="0" marL="0">
              <a:lnSpc>
                <a:spcPct val="110000"/>
              </a:lnSpc>
              <a:spcAft>
                <a:spcPts val="500"/>
              </a:spcAft>
              <a:buNone/>
            </a:pPr>
            <a:r>
              <a:rPr lang="en-US" altLang="en-US" sz="2200" b="1" dirty="0">
                <a:solidFill>
                  <a:srgbClr val="FFFFFF"/>
                </a:solidFill>
                <a:latin typeface="Sora" pitchFamily="34" charset="0"/>
                <a:ea typeface="Sora" pitchFamily="34" charset="-122"/>
                <a:cs typeface="Sora" pitchFamily="34" charset="-120"/>
              </a:rPr>
              <a:t>Order Today. Receive Tomorrow.</a:t>
            </a:r>
            <a:endParaRPr lang="en-US" sz="2200" dirty="0"/>
          </a:p>
        </p:txBody>
      </p:sp>
      <p:sp>
        <p:nvSpPr>
          <p:cNvPr id="10" name="Text 8"/>
          <p:cNvSpPr txBox="1"/>
          <p:nvPr/>
        </p:nvSpPr>
        <p:spPr>
          <a:xfrm>
            <a:off x="6293815" y="2423160"/>
            <a:ext cx="5349240" cy="457200"/>
          </a:xfrm>
          <a:prstGeom prst="rect">
            <a:avLst/>
          </a:prstGeom>
          <a:noFill/>
          <a:ln/>
        </p:spPr>
        <p:txBody>
          <a:bodyPr wrap="square" lIns="0" tIns="0" rIns="0" bIns="0" rtlCol="0" anchor="t"/>
          <a:lstStyle/>
          <a:p>
            <a:pPr rtl="1" algn="r" indent="0" marL="0">
              <a:lnSpc>
                <a:spcPct val="110000"/>
              </a:lnSpc>
              <a:spcAft>
                <a:spcPts val="500"/>
              </a:spcAft>
              <a:buNone/>
            </a:pPr>
            <a:r>
              <a:rPr lang="ar-AE" altLang="en-US" sz="2200" b="1" dirty="0">
                <a:solidFill>
                  <a:srgbClr val="B1D479"/>
                </a:solidFill>
                <a:latin typeface="IBM Plex Sans Arabic" pitchFamily="34" charset="0"/>
                <a:ea typeface="IBM Plex Sans Arabic" pitchFamily="34" charset="-122"/>
                <a:cs typeface="IBM Plex Sans Arabic" pitchFamily="34" charset="-120"/>
              </a:rPr>
              <a:t>اطلب اليوم، واستلم غداً.</a:t>
            </a:r>
            <a:endParaRPr lang="ar-AE" sz="2200" dirty="0"/>
          </a:p>
        </p:txBody>
      </p:sp>
      <p:sp>
        <p:nvSpPr>
          <p:cNvPr id="11" name="Text 9"/>
          <p:cNvSpPr txBox="1"/>
          <p:nvPr/>
        </p:nvSpPr>
        <p:spPr>
          <a:xfrm>
            <a:off x="548640" y="2944368"/>
            <a:ext cx="3657600" cy="228600"/>
          </a:xfrm>
          <a:prstGeom prst="rect">
            <a:avLst/>
          </a:prstGeom>
          <a:noFill/>
          <a:ln/>
        </p:spPr>
        <p:txBody>
          <a:bodyPr wrap="square" lIns="0" tIns="0" rIns="0" bIns="0" rtlCol="0" anchor="ctr"/>
          <a:lstStyle/>
          <a:p>
            <a:pPr indent="0" marL="0">
              <a:buNone/>
            </a:pPr>
            <a:r>
              <a:rPr lang="en-US" sz="1000" dirty="0">
                <a:solidFill>
                  <a:srgbClr val="AFC0D8"/>
                </a:solidFill>
                <a:latin typeface="Inter" pitchFamily="34" charset="0"/>
                <a:ea typeface="Inter" pitchFamily="34" charset="-122"/>
                <a:cs typeface="Inter" pitchFamily="34" charset="-120"/>
              </a:rPr>
              <a:t>Website: </a:t>
            </a:r>
            <a:pPr indent="0" marL="0">
              <a:buNone/>
            </a:pPr>
            <a:r>
              <a:rPr lang="en-US" sz="1000" b="1" u="sng" dirty="0">
                <a:solidFill>
                  <a:srgbClr val="3E9ACA"/>
                </a:solidFill>
                <a:latin typeface="Inter" pitchFamily="34" charset="0"/>
                <a:ea typeface="Inter" pitchFamily="34" charset="-122"/>
                <a:cs typeface="Inter" pitchFamily="34" charset="-120"/>
                <a:hlinkClick r:id="rId1" invalidUrl="" action="" tgtFrame="" tooltip="Visit evcars.me" history="1" highlightClick="0" endSnd="0">
                  <a:extLst>
                    <a:ext uri="{A12FA001-AC4F-418D-AE19-62706E023703}">
                      <ahyp:hlinkClr xmlns:ahyp="http://schemas.microsoft.com/office/drawing/2018/hyperlinkcolor" val="tx"/>
                    </a:ext>
                  </a:extLst>
                </a:hlinkClick>
              </a:rPr>
              <a:t>www.evcars.me</a:t>
            </a:r>
            <a:endParaRPr lang="en-US" sz="1000" dirty="0"/>
          </a:p>
        </p:txBody>
      </p:sp>
      <p:sp>
        <p:nvSpPr>
          <p:cNvPr id="12" name="Text 10"/>
          <p:cNvSpPr txBox="1"/>
          <p:nvPr/>
        </p:nvSpPr>
        <p:spPr>
          <a:xfrm>
            <a:off x="548640" y="3520440"/>
            <a:ext cx="5547208" cy="274320"/>
          </a:xfrm>
          <a:prstGeom prst="rect">
            <a:avLst/>
          </a:prstGeom>
          <a:noFill/>
          <a:ln/>
        </p:spPr>
        <p:txBody>
          <a:bodyPr wrap="square" lIns="0" tIns="0" rIns="0" bIns="0" rtlCol="0" anchor="t"/>
          <a:lstStyle/>
          <a:p>
            <a:pPr algn="l" indent="0" marL="0">
              <a:lnSpc>
                <a:spcPct val="110000"/>
              </a:lnSpc>
              <a:spcAft>
                <a:spcPts val="500"/>
              </a:spcAft>
              <a:buNone/>
            </a:pPr>
            <a:r>
              <a:rPr lang="en-US" altLang="en-US" sz="1000" b="1" dirty="0">
                <a:solidFill>
                  <a:srgbClr val="3E9ACA"/>
                </a:solidFill>
                <a:latin typeface="Sora" pitchFamily="34" charset="0"/>
                <a:ea typeface="Sora" pitchFamily="34" charset="-122"/>
                <a:cs typeface="Sora" pitchFamily="34" charset="-120"/>
              </a:rPr>
              <a:t>15</a:t>
            </a:r>
            <a:pPr algn="l" indent="0" marL="0">
              <a:lnSpc>
                <a:spcPct val="110000"/>
              </a:lnSpc>
              <a:spcAft>
                <a:spcPts val="500"/>
              </a:spcAft>
              <a:buNone/>
            </a:pPr>
            <a:r>
              <a:rPr lang="en-US" altLang="en-US" sz="1000" b="1" spc="200" kern="0" dirty="0">
                <a:solidFill>
                  <a:srgbClr val="0A1628"/>
                </a:solidFill>
                <a:latin typeface="Sora" pitchFamily="34" charset="0"/>
                <a:ea typeface="Sora" pitchFamily="34" charset="-122"/>
                <a:cs typeface="Sora" pitchFamily="34" charset="-120"/>
              </a:rPr>
              <a:t>  |  EXHIBITIONS &amp; EVENTS</a:t>
            </a:r>
            <a:endParaRPr lang="en-US" sz="1000" dirty="0"/>
          </a:p>
        </p:txBody>
      </p:sp>
      <p:sp>
        <p:nvSpPr>
          <p:cNvPr id="13" name="Text 11"/>
          <p:cNvSpPr txBox="1"/>
          <p:nvPr/>
        </p:nvSpPr>
        <p:spPr>
          <a:xfrm>
            <a:off x="6095848" y="3502152"/>
            <a:ext cx="5547208" cy="274320"/>
          </a:xfrm>
          <a:prstGeom prst="rect">
            <a:avLst/>
          </a:prstGeom>
          <a:noFill/>
          <a:ln/>
        </p:spPr>
        <p:txBody>
          <a:bodyPr wrap="square" lIns="0" tIns="0" rIns="0" bIns="0" rtlCol="0" anchor="t"/>
          <a:lstStyle/>
          <a:p>
            <a:pPr rtl="1" algn="r" indent="0" marL="0">
              <a:lnSpc>
                <a:spcPct val="110000"/>
              </a:lnSpc>
              <a:spcAft>
                <a:spcPts val="500"/>
              </a:spcAft>
              <a:buNone/>
            </a:pPr>
            <a:r>
              <a:rPr lang="ar-AE" altLang="en-US" sz="1200" b="1" dirty="0">
                <a:solidFill>
                  <a:srgbClr val="3E9ACA"/>
                </a:solidFill>
                <a:latin typeface="IBM Plex Sans Arabic" pitchFamily="34" charset="0"/>
                <a:ea typeface="IBM Plex Sans Arabic" pitchFamily="34" charset="-122"/>
                <a:cs typeface="IBM Plex Sans Arabic" pitchFamily="34" charset="-120"/>
              </a:rPr>
              <a:t>15</a:t>
            </a:r>
            <a:pPr algn="r" indent="0" marL="0">
              <a:lnSpc>
                <a:spcPct val="110000"/>
              </a:lnSpc>
              <a:spcAft>
                <a:spcPts val="500"/>
              </a:spcAft>
              <a:buNone/>
            </a:pPr>
            <a:r>
              <a:rPr lang="ar-AE" altLang="en-US" sz="1200" b="1" dirty="0">
                <a:solidFill>
                  <a:srgbClr val="0A1628"/>
                </a:solidFill>
                <a:latin typeface="IBM Plex Sans Arabic" pitchFamily="34" charset="0"/>
                <a:ea typeface="IBM Plex Sans Arabic" pitchFamily="34" charset="-122"/>
                <a:cs typeface="IBM Plex Sans Arabic" pitchFamily="34" charset="-120"/>
              </a:rPr>
              <a:t>  |  المعارض والفعاليات</a:t>
            </a:r>
            <a:endParaRPr lang="ar-AE" sz="1200" dirty="0"/>
          </a:p>
        </p:txBody>
      </p:sp>
      <p:sp>
        <p:nvSpPr>
          <p:cNvPr id="14" name="Shape 12"/>
          <p:cNvSpPr/>
          <p:nvPr/>
        </p:nvSpPr>
        <p:spPr>
          <a:xfrm>
            <a:off x="548640" y="3831336"/>
            <a:ext cx="11094415" cy="0"/>
          </a:xfrm>
          <a:prstGeom prst="line">
            <a:avLst/>
          </a:prstGeom>
          <a:noFill/>
          <a:ln w="9525">
            <a:solidFill>
              <a:srgbClr val="E3E8EF"/>
            </a:solidFill>
            <a:prstDash val="solid"/>
          </a:ln>
        </p:spPr>
      </p:sp>
      <p:sp>
        <p:nvSpPr>
          <p:cNvPr id="15" name="Text 13"/>
          <p:cNvSpPr txBox="1"/>
          <p:nvPr/>
        </p:nvSpPr>
        <p:spPr>
          <a:xfrm>
            <a:off x="548640" y="4005072"/>
            <a:ext cx="5349240" cy="731520"/>
          </a:xfrm>
          <a:prstGeom prst="rect">
            <a:avLst/>
          </a:prstGeom>
          <a:noFill/>
          <a:ln/>
        </p:spPr>
        <p:txBody>
          <a:bodyPr wrap="square" lIns="0" tIns="0" rIns="0" bIns="0" rtlCol="0" anchor="t"/>
          <a:lstStyle/>
          <a:p>
            <a:pPr algn="l" indent="0" marL="0">
              <a:lnSpc>
                <a:spcPct val="110000"/>
              </a:lnSpc>
              <a:spcAft>
                <a:spcPts val="500"/>
              </a:spcAft>
              <a:buNone/>
            </a:pPr>
            <a:r>
              <a:rPr lang="en-US" altLang="en-US" sz="850" dirty="0">
                <a:solidFill>
                  <a:srgbClr val="0A1628"/>
                </a:solidFill>
                <a:latin typeface="Inter" pitchFamily="34" charset="0"/>
                <a:ea typeface="Inter" pitchFamily="34" charset="-122"/>
                <a:cs typeface="Inter" pitchFamily="34" charset="-120"/>
              </a:rPr>
              <a:t>EVCARS strengthens its market presence through participation in automotive and industry exhibitions, showcasing its accessories, charging solutions, and specialized services while engaging directly with customers and industry audiences.</a:t>
            </a:r>
            <a:endParaRPr lang="en-US" sz="850" dirty="0"/>
          </a:p>
        </p:txBody>
      </p:sp>
      <p:sp>
        <p:nvSpPr>
          <p:cNvPr id="16" name="Text 14"/>
          <p:cNvSpPr txBox="1"/>
          <p:nvPr/>
        </p:nvSpPr>
        <p:spPr>
          <a:xfrm>
            <a:off x="6293815" y="3986784"/>
            <a:ext cx="5349240" cy="822960"/>
          </a:xfrm>
          <a:prstGeom prst="rect">
            <a:avLst/>
          </a:prstGeom>
          <a:noFill/>
          <a:ln/>
        </p:spPr>
        <p:txBody>
          <a:bodyPr wrap="square" lIns="0" tIns="0" rIns="0" bIns="0" rtlCol="0" anchor="t"/>
          <a:lstStyle/>
          <a:p>
            <a:pPr rtl="1" algn="r" indent="0" marL="0">
              <a:lnSpc>
                <a:spcPct val="110000"/>
              </a:lnSpc>
              <a:spcAft>
                <a:spcPts val="500"/>
              </a:spcAft>
              <a:buNone/>
            </a:pPr>
            <a:r>
              <a:rPr lang="ar-AE" altLang="en-US" sz="900" dirty="0">
                <a:solidFill>
                  <a:srgbClr val="0A1628"/>
                </a:solidFill>
                <a:latin typeface="IBM Plex Sans Arabic" pitchFamily="34" charset="0"/>
                <a:ea typeface="IBM Plex Sans Arabic" pitchFamily="34" charset="-122"/>
                <a:cs typeface="IBM Plex Sans Arabic" pitchFamily="34" charset="-120"/>
              </a:rPr>
              <a:t>تحرص EVCARS على تعزيز حضورها في المعارض والفعاليات التي تجمع المهتمين بالسيارات والتقنيات الحديثة، من خلال استعراض منتجاتها وحلول الشحن والخدمات المتخصصة، والتواصل المباشر مع العملاء والمهتمين بالقطاع.</a:t>
            </a:r>
            <a:endParaRPr lang="ar-AE" sz="900" dirty="0"/>
          </a:p>
        </p:txBody>
      </p:sp>
      <p:sp>
        <p:nvSpPr>
          <p:cNvPr id="17" name="Text 15"/>
          <p:cNvSpPr txBox="1"/>
          <p:nvPr/>
        </p:nvSpPr>
        <p:spPr>
          <a:xfrm>
            <a:off x="548640" y="4937760"/>
            <a:ext cx="2743200" cy="182880"/>
          </a:xfrm>
          <a:prstGeom prst="rect">
            <a:avLst/>
          </a:prstGeom>
          <a:noFill/>
          <a:ln/>
        </p:spPr>
        <p:txBody>
          <a:bodyPr wrap="square" lIns="0" tIns="0" rIns="0" bIns="0" rtlCol="0" anchor="t"/>
          <a:lstStyle/>
          <a:p>
            <a:pPr algn="l" indent="0" marL="0">
              <a:lnSpc>
                <a:spcPct val="110000"/>
              </a:lnSpc>
              <a:spcAft>
                <a:spcPts val="500"/>
              </a:spcAft>
              <a:buNone/>
            </a:pPr>
            <a:r>
              <a:rPr lang="en-US" altLang="en-US" sz="850" b="1" spc="200" kern="0" dirty="0">
                <a:solidFill>
                  <a:srgbClr val="0A1628"/>
                </a:solidFill>
                <a:latin typeface="Sora" pitchFamily="34" charset="0"/>
                <a:ea typeface="Sora" pitchFamily="34" charset="-122"/>
                <a:cs typeface="Sora" pitchFamily="34" charset="-120"/>
              </a:rPr>
              <a:t>EXHIBITION PORTFOLIO</a:t>
            </a:r>
            <a:endParaRPr lang="en-US" sz="850" dirty="0"/>
          </a:p>
        </p:txBody>
      </p:sp>
      <p:sp>
        <p:nvSpPr>
          <p:cNvPr id="18" name="Text 16"/>
          <p:cNvSpPr txBox="1"/>
          <p:nvPr/>
        </p:nvSpPr>
        <p:spPr>
          <a:xfrm>
            <a:off x="6293815" y="4910328"/>
            <a:ext cx="5349240" cy="201168"/>
          </a:xfrm>
          <a:prstGeom prst="rect">
            <a:avLst/>
          </a:prstGeom>
          <a:noFill/>
          <a:ln/>
        </p:spPr>
        <p:txBody>
          <a:bodyPr wrap="square" lIns="0" tIns="0" rIns="0" bIns="0" rtlCol="0" anchor="t"/>
          <a:lstStyle/>
          <a:p>
            <a:pPr rtl="1" algn="r" indent="0" marL="0">
              <a:lnSpc>
                <a:spcPct val="110000"/>
              </a:lnSpc>
              <a:spcAft>
                <a:spcPts val="500"/>
              </a:spcAft>
              <a:buNone/>
            </a:pPr>
            <a:r>
              <a:rPr lang="ar-AE" altLang="en-US" sz="1000" b="1" dirty="0">
                <a:solidFill>
                  <a:srgbClr val="0A1628"/>
                </a:solidFill>
                <a:latin typeface="IBM Plex Sans Arabic" pitchFamily="34" charset="0"/>
                <a:ea typeface="IBM Plex Sans Arabic" pitchFamily="34" charset="-122"/>
                <a:cs typeface="IBM Plex Sans Arabic" pitchFamily="34" charset="-120"/>
              </a:rPr>
              <a:t>سجل المعارض</a:t>
            </a:r>
            <a:endParaRPr lang="ar-AE" sz="1000" dirty="0"/>
          </a:p>
        </p:txBody>
      </p:sp>
      <p:sp>
        <p:nvSpPr>
          <p:cNvPr id="19" name="Shape 17"/>
          <p:cNvSpPr/>
          <p:nvPr/>
        </p:nvSpPr>
        <p:spPr>
          <a:xfrm>
            <a:off x="548640" y="5230368"/>
            <a:ext cx="5455768" cy="292608"/>
          </a:xfrm>
          <a:prstGeom prst="rect">
            <a:avLst/>
          </a:prstGeom>
          <a:solidFill>
            <a:srgbClr val="F4F6F9"/>
          </a:solidFill>
          <a:ln w="9525">
            <a:solidFill>
              <a:srgbClr val="E3E8EF"/>
            </a:solidFill>
            <a:prstDash val="solid"/>
          </a:ln>
        </p:spPr>
      </p:sp>
      <p:sp>
        <p:nvSpPr>
          <p:cNvPr id="20" name="Text 18"/>
          <p:cNvSpPr txBox="1"/>
          <p:nvPr/>
        </p:nvSpPr>
        <p:spPr>
          <a:xfrm>
            <a:off x="685800" y="5266944"/>
            <a:ext cx="457200" cy="219456"/>
          </a:xfrm>
          <a:prstGeom prst="rect">
            <a:avLst/>
          </a:prstGeom>
          <a:noFill/>
          <a:ln/>
        </p:spPr>
        <p:txBody>
          <a:bodyPr wrap="square" lIns="0" tIns="0" rIns="0" bIns="0" rtlCol="0" anchor="ctr"/>
          <a:lstStyle/>
          <a:p>
            <a:pPr algn="l" indent="0" marL="0">
              <a:lnSpc>
                <a:spcPct val="110000"/>
              </a:lnSpc>
              <a:spcAft>
                <a:spcPts val="500"/>
              </a:spcAft>
              <a:buNone/>
            </a:pPr>
            <a:r>
              <a:rPr lang="en-US" altLang="en-US" sz="850" b="1" dirty="0">
                <a:solidFill>
                  <a:srgbClr val="3E9ACA"/>
                </a:solidFill>
                <a:latin typeface="Sora" pitchFamily="34" charset="0"/>
                <a:ea typeface="Sora" pitchFamily="34" charset="-122"/>
                <a:cs typeface="Sora" pitchFamily="34" charset="-120"/>
              </a:rPr>
              <a:t>2025</a:t>
            </a:r>
            <a:endParaRPr lang="en-US" sz="850" dirty="0"/>
          </a:p>
        </p:txBody>
      </p:sp>
      <p:sp>
        <p:nvSpPr>
          <p:cNvPr id="21" name="Text 19"/>
          <p:cNvSpPr txBox="1"/>
          <p:nvPr/>
        </p:nvSpPr>
        <p:spPr>
          <a:xfrm>
            <a:off x="1234440" y="5266944"/>
            <a:ext cx="4632808" cy="219456"/>
          </a:xfrm>
          <a:prstGeom prst="rect">
            <a:avLst/>
          </a:prstGeom>
          <a:noFill/>
          <a:ln/>
        </p:spPr>
        <p:txBody>
          <a:bodyPr wrap="square" lIns="0" tIns="0" rIns="0" bIns="0" rtlCol="0" anchor="ctr"/>
          <a:lstStyle/>
          <a:p>
            <a:pPr algn="l" indent="0" marL="0">
              <a:lnSpc>
                <a:spcPct val="110000"/>
              </a:lnSpc>
              <a:spcAft>
                <a:spcPts val="500"/>
              </a:spcAft>
              <a:buNone/>
            </a:pPr>
            <a:r>
              <a:rPr lang="en-US" altLang="en-US" sz="800" dirty="0">
                <a:solidFill>
                  <a:srgbClr val="0A1628"/>
                </a:solidFill>
                <a:latin typeface="Inter" pitchFamily="34" charset="0"/>
                <a:ea typeface="Inter" pitchFamily="34" charset="-122"/>
                <a:cs typeface="Inter" pitchFamily="34" charset="-120"/>
              </a:rPr>
              <a:t>Custom Show Emirates</a:t>
            </a:r>
            <a:endParaRPr lang="en-US" sz="800" dirty="0"/>
          </a:p>
        </p:txBody>
      </p:sp>
      <p:sp>
        <p:nvSpPr>
          <p:cNvPr id="22" name="Shape 20"/>
          <p:cNvSpPr/>
          <p:nvPr/>
        </p:nvSpPr>
        <p:spPr>
          <a:xfrm>
            <a:off x="6187288" y="5230368"/>
            <a:ext cx="5455768" cy="292608"/>
          </a:xfrm>
          <a:prstGeom prst="rect">
            <a:avLst/>
          </a:prstGeom>
          <a:solidFill>
            <a:srgbClr val="F4F6F9"/>
          </a:solidFill>
          <a:ln w="9525">
            <a:solidFill>
              <a:srgbClr val="E3E8EF"/>
            </a:solidFill>
            <a:prstDash val="solid"/>
          </a:ln>
        </p:spPr>
      </p:sp>
      <p:sp>
        <p:nvSpPr>
          <p:cNvPr id="23" name="Text 21"/>
          <p:cNvSpPr txBox="1"/>
          <p:nvPr/>
        </p:nvSpPr>
        <p:spPr>
          <a:xfrm>
            <a:off x="6324448" y="5266944"/>
            <a:ext cx="457200" cy="219456"/>
          </a:xfrm>
          <a:prstGeom prst="rect">
            <a:avLst/>
          </a:prstGeom>
          <a:noFill/>
          <a:ln/>
        </p:spPr>
        <p:txBody>
          <a:bodyPr wrap="square" lIns="0" tIns="0" rIns="0" bIns="0" rtlCol="0" anchor="ctr"/>
          <a:lstStyle/>
          <a:p>
            <a:pPr algn="l" indent="0" marL="0">
              <a:lnSpc>
                <a:spcPct val="110000"/>
              </a:lnSpc>
              <a:spcAft>
                <a:spcPts val="500"/>
              </a:spcAft>
              <a:buNone/>
            </a:pPr>
            <a:r>
              <a:rPr lang="en-US" altLang="en-US" sz="850" b="1" dirty="0">
                <a:solidFill>
                  <a:srgbClr val="3E9ACA"/>
                </a:solidFill>
                <a:latin typeface="Sora" pitchFamily="34" charset="0"/>
                <a:ea typeface="Sora" pitchFamily="34" charset="-122"/>
                <a:cs typeface="Sora" pitchFamily="34" charset="-120"/>
              </a:rPr>
              <a:t>2025</a:t>
            </a:r>
            <a:endParaRPr lang="en-US" sz="850" dirty="0"/>
          </a:p>
        </p:txBody>
      </p:sp>
      <p:sp>
        <p:nvSpPr>
          <p:cNvPr id="24" name="Text 22"/>
          <p:cNvSpPr txBox="1"/>
          <p:nvPr/>
        </p:nvSpPr>
        <p:spPr>
          <a:xfrm>
            <a:off x="6873088" y="5266944"/>
            <a:ext cx="4632808" cy="219456"/>
          </a:xfrm>
          <a:prstGeom prst="rect">
            <a:avLst/>
          </a:prstGeom>
          <a:noFill/>
          <a:ln/>
        </p:spPr>
        <p:txBody>
          <a:bodyPr wrap="square" lIns="0" tIns="0" rIns="0" bIns="0" rtlCol="0" anchor="ctr"/>
          <a:lstStyle/>
          <a:p>
            <a:pPr algn="l" indent="0" marL="0">
              <a:lnSpc>
                <a:spcPct val="110000"/>
              </a:lnSpc>
              <a:spcAft>
                <a:spcPts val="500"/>
              </a:spcAft>
              <a:buNone/>
            </a:pPr>
            <a:r>
              <a:rPr lang="en-US" altLang="en-US" sz="800" dirty="0">
                <a:solidFill>
                  <a:srgbClr val="0A1628"/>
                </a:solidFill>
                <a:latin typeface="Inter" pitchFamily="34" charset="0"/>
                <a:ea typeface="Inter" pitchFamily="34" charset="-122"/>
                <a:cs typeface="Inter" pitchFamily="34" charset="-120"/>
              </a:rPr>
              <a:t>Evolve, Sharjah</a:t>
            </a:r>
            <a:endParaRPr lang="en-US" sz="800" dirty="0"/>
          </a:p>
        </p:txBody>
      </p:sp>
      <p:sp>
        <p:nvSpPr>
          <p:cNvPr id="25" name="Shape 23"/>
          <p:cNvSpPr/>
          <p:nvPr/>
        </p:nvSpPr>
        <p:spPr>
          <a:xfrm>
            <a:off x="548640" y="5577840"/>
            <a:ext cx="5455768" cy="292608"/>
          </a:xfrm>
          <a:prstGeom prst="rect">
            <a:avLst/>
          </a:prstGeom>
          <a:solidFill>
            <a:srgbClr val="F4F6F9"/>
          </a:solidFill>
          <a:ln w="9525">
            <a:solidFill>
              <a:srgbClr val="E3E8EF"/>
            </a:solidFill>
            <a:prstDash val="solid"/>
          </a:ln>
        </p:spPr>
      </p:sp>
      <p:sp>
        <p:nvSpPr>
          <p:cNvPr id="26" name="Text 24"/>
          <p:cNvSpPr txBox="1"/>
          <p:nvPr/>
        </p:nvSpPr>
        <p:spPr>
          <a:xfrm>
            <a:off x="685800" y="5614416"/>
            <a:ext cx="457200" cy="219456"/>
          </a:xfrm>
          <a:prstGeom prst="rect">
            <a:avLst/>
          </a:prstGeom>
          <a:noFill/>
          <a:ln/>
        </p:spPr>
        <p:txBody>
          <a:bodyPr wrap="square" lIns="0" tIns="0" rIns="0" bIns="0" rtlCol="0" anchor="ctr"/>
          <a:lstStyle/>
          <a:p>
            <a:pPr algn="l" indent="0" marL="0">
              <a:lnSpc>
                <a:spcPct val="110000"/>
              </a:lnSpc>
              <a:spcAft>
                <a:spcPts val="500"/>
              </a:spcAft>
              <a:buNone/>
            </a:pPr>
            <a:r>
              <a:rPr lang="en-US" altLang="en-US" sz="850" b="1" dirty="0">
                <a:solidFill>
                  <a:srgbClr val="3E9ACA"/>
                </a:solidFill>
                <a:latin typeface="Sora" pitchFamily="34" charset="0"/>
                <a:ea typeface="Sora" pitchFamily="34" charset="-122"/>
                <a:cs typeface="Sora" pitchFamily="34" charset="-120"/>
              </a:rPr>
              <a:t>2025</a:t>
            </a:r>
            <a:endParaRPr lang="en-US" sz="850" dirty="0"/>
          </a:p>
        </p:txBody>
      </p:sp>
      <p:sp>
        <p:nvSpPr>
          <p:cNvPr id="27" name="Text 25"/>
          <p:cNvSpPr txBox="1"/>
          <p:nvPr/>
        </p:nvSpPr>
        <p:spPr>
          <a:xfrm>
            <a:off x="1234440" y="5614416"/>
            <a:ext cx="4632808" cy="219456"/>
          </a:xfrm>
          <a:prstGeom prst="rect">
            <a:avLst/>
          </a:prstGeom>
          <a:noFill/>
          <a:ln/>
        </p:spPr>
        <p:txBody>
          <a:bodyPr wrap="square" lIns="0" tIns="0" rIns="0" bIns="0" rtlCol="0" anchor="ctr"/>
          <a:lstStyle/>
          <a:p>
            <a:pPr algn="l" indent="0" marL="0">
              <a:lnSpc>
                <a:spcPct val="110000"/>
              </a:lnSpc>
              <a:spcAft>
                <a:spcPts val="500"/>
              </a:spcAft>
              <a:buNone/>
            </a:pPr>
            <a:r>
              <a:rPr lang="en-US" altLang="en-US" sz="800" dirty="0">
                <a:solidFill>
                  <a:srgbClr val="0A1628"/>
                </a:solidFill>
                <a:latin typeface="Inter" pitchFamily="34" charset="0"/>
                <a:ea typeface="Inter" pitchFamily="34" charset="-122"/>
                <a:cs typeface="Inter" pitchFamily="34" charset="-120"/>
              </a:rPr>
              <a:t>Abu Dhabi International Hunting &amp; Equestrian Exhibition</a:t>
            </a:r>
            <a:endParaRPr lang="en-US" sz="800" dirty="0"/>
          </a:p>
        </p:txBody>
      </p:sp>
      <p:sp>
        <p:nvSpPr>
          <p:cNvPr id="28" name="Shape 26"/>
          <p:cNvSpPr/>
          <p:nvPr/>
        </p:nvSpPr>
        <p:spPr>
          <a:xfrm>
            <a:off x="6187288" y="5577840"/>
            <a:ext cx="5455768" cy="292608"/>
          </a:xfrm>
          <a:prstGeom prst="rect">
            <a:avLst/>
          </a:prstGeom>
          <a:solidFill>
            <a:srgbClr val="F4F6F9"/>
          </a:solidFill>
          <a:ln w="9525">
            <a:solidFill>
              <a:srgbClr val="E3E8EF"/>
            </a:solidFill>
            <a:prstDash val="solid"/>
          </a:ln>
        </p:spPr>
      </p:sp>
      <p:sp>
        <p:nvSpPr>
          <p:cNvPr id="29" name="Text 27"/>
          <p:cNvSpPr txBox="1"/>
          <p:nvPr/>
        </p:nvSpPr>
        <p:spPr>
          <a:xfrm>
            <a:off x="6324448" y="5614416"/>
            <a:ext cx="457200" cy="219456"/>
          </a:xfrm>
          <a:prstGeom prst="rect">
            <a:avLst/>
          </a:prstGeom>
          <a:noFill/>
          <a:ln/>
        </p:spPr>
        <p:txBody>
          <a:bodyPr wrap="square" lIns="0" tIns="0" rIns="0" bIns="0" rtlCol="0" anchor="ctr"/>
          <a:lstStyle/>
          <a:p>
            <a:pPr algn="l" indent="0" marL="0">
              <a:lnSpc>
                <a:spcPct val="110000"/>
              </a:lnSpc>
              <a:spcAft>
                <a:spcPts val="500"/>
              </a:spcAft>
              <a:buNone/>
            </a:pPr>
            <a:r>
              <a:rPr lang="en-US" altLang="en-US" sz="850" b="1" dirty="0">
                <a:solidFill>
                  <a:srgbClr val="3E9ACA"/>
                </a:solidFill>
                <a:latin typeface="Sora" pitchFamily="34" charset="0"/>
                <a:ea typeface="Sora" pitchFamily="34" charset="-122"/>
                <a:cs typeface="Sora" pitchFamily="34" charset="-120"/>
              </a:rPr>
              <a:t>2025</a:t>
            </a:r>
            <a:endParaRPr lang="en-US" sz="850" dirty="0"/>
          </a:p>
        </p:txBody>
      </p:sp>
      <p:sp>
        <p:nvSpPr>
          <p:cNvPr id="30" name="Text 28"/>
          <p:cNvSpPr txBox="1"/>
          <p:nvPr/>
        </p:nvSpPr>
        <p:spPr>
          <a:xfrm>
            <a:off x="6873088" y="5614416"/>
            <a:ext cx="4632808" cy="219456"/>
          </a:xfrm>
          <a:prstGeom prst="rect">
            <a:avLst/>
          </a:prstGeom>
          <a:noFill/>
          <a:ln/>
        </p:spPr>
        <p:txBody>
          <a:bodyPr wrap="square" lIns="0" tIns="0" rIns="0" bIns="0" rtlCol="0" anchor="ctr"/>
          <a:lstStyle/>
          <a:p>
            <a:pPr algn="l" indent="0" marL="0">
              <a:lnSpc>
                <a:spcPct val="110000"/>
              </a:lnSpc>
              <a:spcAft>
                <a:spcPts val="500"/>
              </a:spcAft>
              <a:buNone/>
            </a:pPr>
            <a:r>
              <a:rPr lang="en-US" altLang="en-US" sz="800" dirty="0">
                <a:solidFill>
                  <a:srgbClr val="0A1628"/>
                </a:solidFill>
                <a:latin typeface="Inter" pitchFamily="34" charset="0"/>
                <a:ea typeface="Inter" pitchFamily="34" charset="-122"/>
                <a:cs typeface="Inter" pitchFamily="34" charset="-120"/>
              </a:rPr>
              <a:t>Al Ain International Hunting &amp; Equestrian Exhibition</a:t>
            </a:r>
            <a:endParaRPr lang="en-US" sz="800" dirty="0"/>
          </a:p>
        </p:txBody>
      </p:sp>
      <p:sp>
        <p:nvSpPr>
          <p:cNvPr id="31" name="Shape 29"/>
          <p:cNvSpPr/>
          <p:nvPr/>
        </p:nvSpPr>
        <p:spPr>
          <a:xfrm>
            <a:off x="548640" y="5925312"/>
            <a:ext cx="5455768" cy="292608"/>
          </a:xfrm>
          <a:prstGeom prst="rect">
            <a:avLst/>
          </a:prstGeom>
          <a:solidFill>
            <a:srgbClr val="F4F6F9"/>
          </a:solidFill>
          <a:ln w="9525">
            <a:solidFill>
              <a:srgbClr val="E3E8EF"/>
            </a:solidFill>
            <a:prstDash val="solid"/>
          </a:ln>
        </p:spPr>
      </p:sp>
      <p:sp>
        <p:nvSpPr>
          <p:cNvPr id="32" name="Text 30"/>
          <p:cNvSpPr txBox="1"/>
          <p:nvPr/>
        </p:nvSpPr>
        <p:spPr>
          <a:xfrm>
            <a:off x="685800" y="5961888"/>
            <a:ext cx="457200" cy="219456"/>
          </a:xfrm>
          <a:prstGeom prst="rect">
            <a:avLst/>
          </a:prstGeom>
          <a:noFill/>
          <a:ln/>
        </p:spPr>
        <p:txBody>
          <a:bodyPr wrap="square" lIns="0" tIns="0" rIns="0" bIns="0" rtlCol="0" anchor="ctr"/>
          <a:lstStyle/>
          <a:p>
            <a:pPr algn="l" indent="0" marL="0">
              <a:lnSpc>
                <a:spcPct val="110000"/>
              </a:lnSpc>
              <a:spcAft>
                <a:spcPts val="500"/>
              </a:spcAft>
              <a:buNone/>
            </a:pPr>
            <a:r>
              <a:rPr lang="en-US" altLang="en-US" sz="850" b="1" dirty="0">
                <a:solidFill>
                  <a:srgbClr val="3E9ACA"/>
                </a:solidFill>
                <a:latin typeface="Sora" pitchFamily="34" charset="0"/>
                <a:ea typeface="Sora" pitchFamily="34" charset="-122"/>
                <a:cs typeface="Sora" pitchFamily="34" charset="-120"/>
              </a:rPr>
              <a:t>2026</a:t>
            </a:r>
            <a:endParaRPr lang="en-US" sz="850" dirty="0"/>
          </a:p>
        </p:txBody>
      </p:sp>
      <p:sp>
        <p:nvSpPr>
          <p:cNvPr id="33" name="Text 31"/>
          <p:cNvSpPr txBox="1"/>
          <p:nvPr/>
        </p:nvSpPr>
        <p:spPr>
          <a:xfrm>
            <a:off x="1234440" y="5961888"/>
            <a:ext cx="4632808" cy="219456"/>
          </a:xfrm>
          <a:prstGeom prst="rect">
            <a:avLst/>
          </a:prstGeom>
          <a:noFill/>
          <a:ln/>
        </p:spPr>
        <p:txBody>
          <a:bodyPr wrap="square" lIns="0" tIns="0" rIns="0" bIns="0" rtlCol="0" anchor="ctr"/>
          <a:lstStyle/>
          <a:p>
            <a:pPr algn="l" indent="0" marL="0">
              <a:lnSpc>
                <a:spcPct val="110000"/>
              </a:lnSpc>
              <a:spcAft>
                <a:spcPts val="500"/>
              </a:spcAft>
              <a:buNone/>
            </a:pPr>
            <a:r>
              <a:rPr lang="en-US" altLang="en-US" sz="800" dirty="0">
                <a:solidFill>
                  <a:srgbClr val="0A1628"/>
                </a:solidFill>
                <a:latin typeface="Inter" pitchFamily="34" charset="0"/>
                <a:ea typeface="Inter" pitchFamily="34" charset="-122"/>
                <a:cs typeface="Inter" pitchFamily="34" charset="-120"/>
              </a:rPr>
              <a:t>Abu Dhabi International Hunting &amp; Equestrian Exhibition</a:t>
            </a:r>
            <a:endParaRPr lang="en-US" sz="800" dirty="0"/>
          </a:p>
        </p:txBody>
      </p:sp>
      <p:sp>
        <p:nvSpPr>
          <p:cNvPr id="34" name="Shape 32"/>
          <p:cNvSpPr/>
          <p:nvPr/>
        </p:nvSpPr>
        <p:spPr>
          <a:xfrm>
            <a:off x="6187288" y="5925312"/>
            <a:ext cx="5455768" cy="292608"/>
          </a:xfrm>
          <a:prstGeom prst="rect">
            <a:avLst/>
          </a:prstGeom>
          <a:solidFill>
            <a:srgbClr val="F4F6F9"/>
          </a:solidFill>
          <a:ln w="9525">
            <a:solidFill>
              <a:srgbClr val="E3E8EF"/>
            </a:solidFill>
            <a:prstDash val="solid"/>
          </a:ln>
        </p:spPr>
      </p:sp>
      <p:sp>
        <p:nvSpPr>
          <p:cNvPr id="35" name="Text 33"/>
          <p:cNvSpPr txBox="1"/>
          <p:nvPr/>
        </p:nvSpPr>
        <p:spPr>
          <a:xfrm>
            <a:off x="6324448" y="5961888"/>
            <a:ext cx="457200" cy="219456"/>
          </a:xfrm>
          <a:prstGeom prst="rect">
            <a:avLst/>
          </a:prstGeom>
          <a:noFill/>
          <a:ln/>
        </p:spPr>
        <p:txBody>
          <a:bodyPr wrap="square" lIns="0" tIns="0" rIns="0" bIns="0" rtlCol="0" anchor="ctr"/>
          <a:lstStyle/>
          <a:p>
            <a:pPr algn="l" indent="0" marL="0">
              <a:lnSpc>
                <a:spcPct val="110000"/>
              </a:lnSpc>
              <a:spcAft>
                <a:spcPts val="500"/>
              </a:spcAft>
              <a:buNone/>
            </a:pPr>
            <a:r>
              <a:rPr lang="en-US" altLang="en-US" sz="850" b="1" dirty="0">
                <a:solidFill>
                  <a:srgbClr val="3E9ACA"/>
                </a:solidFill>
                <a:latin typeface="Sora" pitchFamily="34" charset="0"/>
                <a:ea typeface="Sora" pitchFamily="34" charset="-122"/>
                <a:cs typeface="Sora" pitchFamily="34" charset="-120"/>
              </a:rPr>
              <a:t>2026</a:t>
            </a:r>
            <a:endParaRPr lang="en-US" sz="850" dirty="0"/>
          </a:p>
        </p:txBody>
      </p:sp>
      <p:sp>
        <p:nvSpPr>
          <p:cNvPr id="36" name="Text 34"/>
          <p:cNvSpPr txBox="1"/>
          <p:nvPr/>
        </p:nvSpPr>
        <p:spPr>
          <a:xfrm>
            <a:off x="6873088" y="5961888"/>
            <a:ext cx="4632808" cy="219456"/>
          </a:xfrm>
          <a:prstGeom prst="rect">
            <a:avLst/>
          </a:prstGeom>
          <a:noFill/>
          <a:ln/>
        </p:spPr>
        <p:txBody>
          <a:bodyPr wrap="square" lIns="0" tIns="0" rIns="0" bIns="0" rtlCol="0" anchor="ctr"/>
          <a:lstStyle/>
          <a:p>
            <a:pPr algn="l" indent="0" marL="0">
              <a:lnSpc>
                <a:spcPct val="110000"/>
              </a:lnSpc>
              <a:spcAft>
                <a:spcPts val="500"/>
              </a:spcAft>
              <a:buNone/>
            </a:pPr>
            <a:r>
              <a:rPr lang="en-US" altLang="en-US" sz="800" dirty="0">
                <a:solidFill>
                  <a:srgbClr val="0A1628"/>
                </a:solidFill>
                <a:latin typeface="Inter" pitchFamily="34" charset="0"/>
                <a:ea typeface="Inter" pitchFamily="34" charset="-122"/>
                <a:cs typeface="Inter" pitchFamily="34" charset="-120"/>
              </a:rPr>
              <a:t>Al Ain International Hunting &amp; Equestrian Exhibition</a:t>
            </a:r>
            <a:endParaRPr lang="en-US" sz="800" dirty="0"/>
          </a:p>
        </p:txBody>
      </p:sp>
      <p:sp>
        <p:nvSpPr>
          <p:cNvPr id="37" name="Shape 35"/>
          <p:cNvSpPr/>
          <p:nvPr/>
        </p:nvSpPr>
        <p:spPr>
          <a:xfrm>
            <a:off x="548640" y="6428232"/>
            <a:ext cx="11094415" cy="0"/>
          </a:xfrm>
          <a:prstGeom prst="line">
            <a:avLst/>
          </a:prstGeom>
          <a:noFill/>
          <a:ln w="9525">
            <a:solidFill>
              <a:srgbClr val="E3E8EF"/>
            </a:solidFill>
            <a:prstDash val="solid"/>
          </a:ln>
        </p:spPr>
      </p:sp>
      <p:pic>
        <p:nvPicPr>
          <p:cNvPr id="38" name="Image 0" descr="EVCARS logo">
            <a:hlinkClick r:id="rId3" tooltip="Back to cover" action="ppaction://hlinksldjump"/>
          </p:cNvPr>
          <p:cNvPicPr>
            <a:picLocks noChangeAspect="1"/>
          </p:cNvPicPr>
          <p:nvPr/>
        </p:nvPicPr>
        <p:blipFill>
          <a:blip r:embed="rId2"/>
          <a:stretch>
            <a:fillRect/>
          </a:stretch>
        </p:blipFill>
        <p:spPr>
          <a:xfrm>
            <a:off x="548640" y="6510528"/>
            <a:ext cx="833104" cy="155448"/>
          </a:xfrm>
          <a:prstGeom prst="rect">
            <a:avLst/>
          </a:prstGeom>
        </p:spPr>
      </p:pic>
      <p:sp>
        <p:nvSpPr>
          <p:cNvPr id="39" name="Text 36">
            <a:hlinkClick r:id="rId4" tooltip="www.evcars.me"/>
          </p:cNvPr>
          <p:cNvSpPr txBox="1"/>
          <p:nvPr/>
        </p:nvSpPr>
        <p:spPr>
          <a:xfrm>
            <a:off x="1600200" y="6492240"/>
            <a:ext cx="1463040" cy="201168"/>
          </a:xfrm>
          <a:prstGeom prst="rect">
            <a:avLst/>
          </a:prstGeom>
          <a:noFill/>
          <a:ln/>
        </p:spPr>
        <p:txBody>
          <a:bodyPr wrap="square" lIns="0" tIns="0" rIns="0" bIns="0" rtlCol="0" anchor="ctr"/>
          <a:lstStyle/>
          <a:p>
            <a:pPr indent="0" marL="0">
              <a:buNone/>
            </a:pPr>
            <a:r>
              <a:rPr lang="en-US" sz="800" u="sng" dirty="0">
                <a:solidFill>
                  <a:srgbClr val="3E9ACA"/>
                </a:solidFill>
                <a:latin typeface="Inter" pitchFamily="34" charset="0"/>
                <a:ea typeface="Inter" pitchFamily="34" charset="-122"/>
                <a:cs typeface="Inter" pitchFamily="34" charset="-120"/>
                <a:hlinkClick r:id="rId4" invalidUrl="" action="" tgtFrame="" tooltip="www.evcars.me" history="1" highlightClick="0" endSnd="0">
                  <a:extLst>
                    <a:ext uri="{A12FA001-AC4F-418D-AE19-62706E023703}">
                      <ahyp:hlinkClr xmlns:ahyp="http://schemas.microsoft.com/office/drawing/2018/hyperlinkcolor" val="tx"/>
                    </a:ext>
                  </a:extLst>
                </a:hlinkClick>
              </a:rPr>
              <a:t>www.evcars.me</a:t>
            </a:r>
            <a:endParaRPr lang="en-US" sz="800" dirty="0"/>
          </a:p>
        </p:txBody>
      </p:sp>
      <p:sp>
        <p:nvSpPr>
          <p:cNvPr id="40" name="Text 37">
            <a:hlinkClick r:id="rId5" tooltip="Page 1" action="ppaction://hlinksldjump"/>
          </p:cNvPr>
          <p:cNvSpPr txBox="1"/>
          <p:nvPr/>
        </p:nvSpPr>
        <p:spPr>
          <a:xfrm>
            <a:off x="834847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5" action="ppaction://hlinksldjump" tooltip="Page 1">
                  <a:extLst>
                    <a:ext uri="{A12FA001-AC4F-418D-AE19-62706E023703}">
                      <ahyp:hlinkClr xmlns:ahyp="http://schemas.microsoft.com/office/drawing/2018/hyperlinkcolor" val="tx"/>
                    </a:ext>
                  </a:extLst>
                </a:hlinkClick>
              </a:rPr>
              <a:t>1</a:t>
            </a:r>
            <a:endParaRPr lang="en-US" sz="750" dirty="0"/>
          </a:p>
        </p:txBody>
      </p:sp>
      <p:sp>
        <p:nvSpPr>
          <p:cNvPr id="41" name="Text 38">
            <a:hlinkClick r:id="rId6" tooltip="Page 2" action="ppaction://hlinksldjump"/>
          </p:cNvPr>
          <p:cNvSpPr txBox="1"/>
          <p:nvPr/>
        </p:nvSpPr>
        <p:spPr>
          <a:xfrm>
            <a:off x="862279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6" action="ppaction://hlinksldjump" tooltip="Page 2">
                  <a:extLst>
                    <a:ext uri="{A12FA001-AC4F-418D-AE19-62706E023703}">
                      <ahyp:hlinkClr xmlns:ahyp="http://schemas.microsoft.com/office/drawing/2018/hyperlinkcolor" val="tx"/>
                    </a:ext>
                  </a:extLst>
                </a:hlinkClick>
              </a:rPr>
              <a:t>2</a:t>
            </a:r>
            <a:endParaRPr lang="en-US" sz="750" dirty="0"/>
          </a:p>
        </p:txBody>
      </p:sp>
      <p:sp>
        <p:nvSpPr>
          <p:cNvPr id="42" name="Text 39">
            <a:hlinkClick r:id="rId7" tooltip="Page 3" action="ppaction://hlinksldjump"/>
          </p:cNvPr>
          <p:cNvSpPr txBox="1"/>
          <p:nvPr/>
        </p:nvSpPr>
        <p:spPr>
          <a:xfrm>
            <a:off x="889711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7" action="ppaction://hlinksldjump" tooltip="Page 3">
                  <a:extLst>
                    <a:ext uri="{A12FA001-AC4F-418D-AE19-62706E023703}">
                      <ahyp:hlinkClr xmlns:ahyp="http://schemas.microsoft.com/office/drawing/2018/hyperlinkcolor" val="tx"/>
                    </a:ext>
                  </a:extLst>
                </a:hlinkClick>
              </a:rPr>
              <a:t>3</a:t>
            </a:r>
            <a:endParaRPr lang="en-US" sz="750" dirty="0"/>
          </a:p>
        </p:txBody>
      </p:sp>
      <p:sp>
        <p:nvSpPr>
          <p:cNvPr id="43" name="Text 40">
            <a:hlinkClick r:id="rId8" tooltip="Page 4" action="ppaction://hlinksldjump"/>
          </p:cNvPr>
          <p:cNvSpPr txBox="1"/>
          <p:nvPr/>
        </p:nvSpPr>
        <p:spPr>
          <a:xfrm>
            <a:off x="917143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8" action="ppaction://hlinksldjump" tooltip="Page 4">
                  <a:extLst>
                    <a:ext uri="{A12FA001-AC4F-418D-AE19-62706E023703}">
                      <ahyp:hlinkClr xmlns:ahyp="http://schemas.microsoft.com/office/drawing/2018/hyperlinkcolor" val="tx"/>
                    </a:ext>
                  </a:extLst>
                </a:hlinkClick>
              </a:rPr>
              <a:t>4</a:t>
            </a:r>
            <a:endParaRPr lang="en-US" sz="750" dirty="0"/>
          </a:p>
        </p:txBody>
      </p:sp>
      <p:sp>
        <p:nvSpPr>
          <p:cNvPr id="44" name="Text 41">
            <a:hlinkClick r:id="rId9" tooltip="Page 5" action="ppaction://hlinksldjump"/>
          </p:cNvPr>
          <p:cNvSpPr txBox="1"/>
          <p:nvPr/>
        </p:nvSpPr>
        <p:spPr>
          <a:xfrm>
            <a:off x="944575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9" action="ppaction://hlinksldjump" tooltip="Page 5">
                  <a:extLst>
                    <a:ext uri="{A12FA001-AC4F-418D-AE19-62706E023703}">
                      <ahyp:hlinkClr xmlns:ahyp="http://schemas.microsoft.com/office/drawing/2018/hyperlinkcolor" val="tx"/>
                    </a:ext>
                  </a:extLst>
                </a:hlinkClick>
              </a:rPr>
              <a:t>5</a:t>
            </a:r>
            <a:endParaRPr lang="en-US" sz="750" dirty="0"/>
          </a:p>
        </p:txBody>
      </p:sp>
      <p:sp>
        <p:nvSpPr>
          <p:cNvPr id="45" name="Text 42">
            <a:hlinkClick r:id="rId10" tooltip="Page 6" action="ppaction://hlinksldjump"/>
          </p:cNvPr>
          <p:cNvSpPr txBox="1"/>
          <p:nvPr/>
        </p:nvSpPr>
        <p:spPr>
          <a:xfrm>
            <a:off x="972007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0" action="ppaction://hlinksldjump" tooltip="Page 6">
                  <a:extLst>
                    <a:ext uri="{A12FA001-AC4F-418D-AE19-62706E023703}">
                      <ahyp:hlinkClr xmlns:ahyp="http://schemas.microsoft.com/office/drawing/2018/hyperlinkcolor" val="tx"/>
                    </a:ext>
                  </a:extLst>
                </a:hlinkClick>
              </a:rPr>
              <a:t>6</a:t>
            </a:r>
            <a:endParaRPr lang="en-US" sz="750" dirty="0"/>
          </a:p>
        </p:txBody>
      </p:sp>
      <p:sp>
        <p:nvSpPr>
          <p:cNvPr id="46" name="Text 43">
            <a:hlinkClick r:id="rId11" tooltip="Page 7" action="ppaction://hlinksldjump"/>
          </p:cNvPr>
          <p:cNvSpPr txBox="1"/>
          <p:nvPr/>
        </p:nvSpPr>
        <p:spPr>
          <a:xfrm>
            <a:off x="999439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1" action="ppaction://hlinksldjump" tooltip="Page 7">
                  <a:extLst>
                    <a:ext uri="{A12FA001-AC4F-418D-AE19-62706E023703}">
                      <ahyp:hlinkClr xmlns:ahyp="http://schemas.microsoft.com/office/drawing/2018/hyperlinkcolor" val="tx"/>
                    </a:ext>
                  </a:extLst>
                </a:hlinkClick>
              </a:rPr>
              <a:t>7</a:t>
            </a:r>
            <a:endParaRPr lang="en-US" sz="750" dirty="0"/>
          </a:p>
        </p:txBody>
      </p:sp>
      <p:sp>
        <p:nvSpPr>
          <p:cNvPr id="47" name="Text 44">
            <a:hlinkClick r:id="rId12" tooltip="Page 8" action="ppaction://hlinksldjump"/>
          </p:cNvPr>
          <p:cNvSpPr txBox="1"/>
          <p:nvPr/>
        </p:nvSpPr>
        <p:spPr>
          <a:xfrm>
            <a:off x="1026871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2" action="ppaction://hlinksldjump" tooltip="Page 8">
                  <a:extLst>
                    <a:ext uri="{A12FA001-AC4F-418D-AE19-62706E023703}">
                      <ahyp:hlinkClr xmlns:ahyp="http://schemas.microsoft.com/office/drawing/2018/hyperlinkcolor" val="tx"/>
                    </a:ext>
                  </a:extLst>
                </a:hlinkClick>
              </a:rPr>
              <a:t>8</a:t>
            </a:r>
            <a:endParaRPr lang="en-US" sz="750" dirty="0"/>
          </a:p>
        </p:txBody>
      </p:sp>
      <p:sp>
        <p:nvSpPr>
          <p:cNvPr id="48" name="Text 45">
            <a:hlinkClick r:id="rId13" tooltip="Page 9" action="ppaction://hlinksldjump"/>
          </p:cNvPr>
          <p:cNvSpPr txBox="1"/>
          <p:nvPr/>
        </p:nvSpPr>
        <p:spPr>
          <a:xfrm>
            <a:off x="1054303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3" action="ppaction://hlinksldjump" tooltip="Page 9">
                  <a:extLst>
                    <a:ext uri="{A12FA001-AC4F-418D-AE19-62706E023703}">
                      <ahyp:hlinkClr xmlns:ahyp="http://schemas.microsoft.com/office/drawing/2018/hyperlinkcolor" val="tx"/>
                    </a:ext>
                  </a:extLst>
                </a:hlinkClick>
              </a:rPr>
              <a:t>9</a:t>
            </a:r>
            <a:endParaRPr lang="en-US" sz="750" dirty="0"/>
          </a:p>
        </p:txBody>
      </p:sp>
      <p:sp>
        <p:nvSpPr>
          <p:cNvPr id="49" name="Text 46">
            <a:hlinkClick r:id="rId14" tooltip="Page 10" action="ppaction://hlinksldjump"/>
          </p:cNvPr>
          <p:cNvSpPr txBox="1"/>
          <p:nvPr/>
        </p:nvSpPr>
        <p:spPr>
          <a:xfrm>
            <a:off x="10817352" y="6492240"/>
            <a:ext cx="274320" cy="201168"/>
          </a:xfrm>
          <a:prstGeom prst="rect">
            <a:avLst/>
          </a:prstGeom>
          <a:noFill/>
          <a:ln/>
        </p:spPr>
        <p:txBody>
          <a:bodyPr wrap="square" lIns="0" tIns="0" rIns="0" bIns="0" rtlCol="0" anchor="ctr"/>
          <a:lstStyle/>
          <a:p>
            <a:pPr algn="ctr" indent="0" marL="0">
              <a:buNone/>
            </a:pPr>
            <a:r>
              <a:rPr lang="en-US" sz="750" b="1" u="sng" dirty="0">
                <a:solidFill>
                  <a:srgbClr val="3E9ACA"/>
                </a:solidFill>
                <a:latin typeface="Inter" pitchFamily="34" charset="0"/>
                <a:ea typeface="Inter" pitchFamily="34" charset="-122"/>
                <a:cs typeface="Inter" pitchFamily="34" charset="-120"/>
                <a:hlinkClick r:id="rId14" action="ppaction://hlinksldjump" tooltip="Page 10">
                  <a:extLst>
                    <a:ext uri="{A12FA001-AC4F-418D-AE19-62706E023703}">
                      <ahyp:hlinkClr xmlns:ahyp="http://schemas.microsoft.com/office/drawing/2018/hyperlinkcolor" val="tx"/>
                    </a:ext>
                  </a:extLst>
                </a:hlinkClick>
              </a:rPr>
              <a:t>10</a:t>
            </a:r>
            <a:endParaRPr lang="en-US" sz="750" dirty="0"/>
          </a:p>
        </p:txBody>
      </p:sp>
      <p:sp>
        <p:nvSpPr>
          <p:cNvPr id="50" name="Text 47">
            <a:hlinkClick r:id="rId15" tooltip="Page 11" action="ppaction://hlinksldjump"/>
          </p:cNvPr>
          <p:cNvSpPr txBox="1"/>
          <p:nvPr/>
        </p:nvSpPr>
        <p:spPr>
          <a:xfrm>
            <a:off x="1109167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5" action="ppaction://hlinksldjump" tooltip="Page 11">
                  <a:extLst>
                    <a:ext uri="{A12FA001-AC4F-418D-AE19-62706E023703}">
                      <ahyp:hlinkClr xmlns:ahyp="http://schemas.microsoft.com/office/drawing/2018/hyperlinkcolor" val="tx"/>
                    </a:ext>
                  </a:extLst>
                </a:hlinkClick>
              </a:rPr>
              <a:t>11</a:t>
            </a:r>
            <a:endParaRPr lang="en-US" sz="750" dirty="0"/>
          </a:p>
        </p:txBody>
      </p:sp>
      <p:sp>
        <p:nvSpPr>
          <p:cNvPr id="51" name="Text 48">
            <a:hlinkClick r:id="rId16" tooltip="Page 12" action="ppaction://hlinksldjump"/>
          </p:cNvPr>
          <p:cNvSpPr txBox="1"/>
          <p:nvPr/>
        </p:nvSpPr>
        <p:spPr>
          <a:xfrm>
            <a:off x="1136599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6" action="ppaction://hlinksldjump" tooltip="Page 12">
                  <a:extLst>
                    <a:ext uri="{A12FA001-AC4F-418D-AE19-62706E023703}">
                      <ahyp:hlinkClr xmlns:ahyp="http://schemas.microsoft.com/office/drawing/2018/hyperlinkcolor" val="tx"/>
                    </a:ext>
                  </a:extLst>
                </a:hlinkClick>
              </a:rPr>
              <a:t>12</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65760"/>
            <a:ext cx="5547208" cy="274320"/>
          </a:xfrm>
          <a:prstGeom prst="rect">
            <a:avLst/>
          </a:prstGeom>
          <a:noFill/>
          <a:ln/>
        </p:spPr>
        <p:txBody>
          <a:bodyPr wrap="square" lIns="0" tIns="0" rIns="0" bIns="0" rtlCol="0" anchor="t"/>
          <a:lstStyle/>
          <a:p>
            <a:pPr algn="l" indent="0" marL="0">
              <a:lnSpc>
                <a:spcPct val="110000"/>
              </a:lnSpc>
              <a:spcAft>
                <a:spcPts val="500"/>
              </a:spcAft>
              <a:buNone/>
            </a:pPr>
            <a:r>
              <a:rPr lang="en-US" altLang="en-US" sz="1000" b="1" dirty="0">
                <a:solidFill>
                  <a:srgbClr val="3E9ACA"/>
                </a:solidFill>
                <a:latin typeface="Sora" pitchFamily="34" charset="0"/>
                <a:ea typeface="Sora" pitchFamily="34" charset="-122"/>
                <a:cs typeface="Sora" pitchFamily="34" charset="-120"/>
              </a:rPr>
              <a:t>16</a:t>
            </a:r>
            <a:pPr algn="l" indent="0" marL="0">
              <a:lnSpc>
                <a:spcPct val="110000"/>
              </a:lnSpc>
              <a:spcAft>
                <a:spcPts val="500"/>
              </a:spcAft>
              <a:buNone/>
            </a:pPr>
            <a:r>
              <a:rPr lang="en-US" altLang="en-US" sz="1000" b="1" spc="200" kern="0" dirty="0">
                <a:solidFill>
                  <a:srgbClr val="0A1628"/>
                </a:solidFill>
                <a:latin typeface="Sora" pitchFamily="34" charset="0"/>
                <a:ea typeface="Sora" pitchFamily="34" charset="-122"/>
                <a:cs typeface="Sora" pitchFamily="34" charset="-120"/>
              </a:rPr>
              <a:t>  |  WHY CHOOSE EVCARS?</a:t>
            </a:r>
            <a:endParaRPr lang="en-US" sz="1000" dirty="0"/>
          </a:p>
        </p:txBody>
      </p:sp>
      <p:sp>
        <p:nvSpPr>
          <p:cNvPr id="3" name="Text 1"/>
          <p:cNvSpPr txBox="1"/>
          <p:nvPr/>
        </p:nvSpPr>
        <p:spPr>
          <a:xfrm>
            <a:off x="6095848" y="347472"/>
            <a:ext cx="5547208" cy="274320"/>
          </a:xfrm>
          <a:prstGeom prst="rect">
            <a:avLst/>
          </a:prstGeom>
          <a:noFill/>
          <a:ln/>
        </p:spPr>
        <p:txBody>
          <a:bodyPr wrap="square" lIns="0" tIns="0" rIns="0" bIns="0" rtlCol="0" anchor="t"/>
          <a:lstStyle/>
          <a:p>
            <a:pPr rtl="1" algn="r" indent="0" marL="0">
              <a:lnSpc>
                <a:spcPct val="110000"/>
              </a:lnSpc>
              <a:spcAft>
                <a:spcPts val="500"/>
              </a:spcAft>
              <a:buNone/>
            </a:pPr>
            <a:r>
              <a:rPr lang="ar-AE" altLang="en-US" sz="1200" b="1" dirty="0">
                <a:solidFill>
                  <a:srgbClr val="3E9ACA"/>
                </a:solidFill>
                <a:latin typeface="IBM Plex Sans Arabic" pitchFamily="34" charset="0"/>
                <a:ea typeface="IBM Plex Sans Arabic" pitchFamily="34" charset="-122"/>
                <a:cs typeface="IBM Plex Sans Arabic" pitchFamily="34" charset="-120"/>
              </a:rPr>
              <a:t>16</a:t>
            </a:r>
            <a:pPr algn="r" indent="0" marL="0">
              <a:lnSpc>
                <a:spcPct val="110000"/>
              </a:lnSpc>
              <a:spcAft>
                <a:spcPts val="500"/>
              </a:spcAft>
              <a:buNone/>
            </a:pPr>
            <a:r>
              <a:rPr lang="ar-AE" altLang="en-US" sz="1200" b="1" dirty="0">
                <a:solidFill>
                  <a:srgbClr val="0A1628"/>
                </a:solidFill>
                <a:latin typeface="IBM Plex Sans Arabic" pitchFamily="34" charset="0"/>
                <a:ea typeface="IBM Plex Sans Arabic" pitchFamily="34" charset="-122"/>
                <a:cs typeface="IBM Plex Sans Arabic" pitchFamily="34" charset="-120"/>
              </a:rPr>
              <a:t>  |  لماذا EVCARS؟</a:t>
            </a:r>
            <a:endParaRPr lang="ar-AE" sz="1200" dirty="0"/>
          </a:p>
        </p:txBody>
      </p:sp>
      <p:sp>
        <p:nvSpPr>
          <p:cNvPr id="4" name="Shape 2"/>
          <p:cNvSpPr/>
          <p:nvPr/>
        </p:nvSpPr>
        <p:spPr>
          <a:xfrm>
            <a:off x="548640" y="676656"/>
            <a:ext cx="11094415" cy="0"/>
          </a:xfrm>
          <a:prstGeom prst="line">
            <a:avLst/>
          </a:prstGeom>
          <a:noFill/>
          <a:ln w="9525">
            <a:solidFill>
              <a:srgbClr val="E3E8EF"/>
            </a:solidFill>
            <a:prstDash val="solid"/>
          </a:ln>
        </p:spPr>
      </p:sp>
      <p:sp>
        <p:nvSpPr>
          <p:cNvPr id="5" name="Shape 3"/>
          <p:cNvSpPr/>
          <p:nvPr/>
        </p:nvSpPr>
        <p:spPr>
          <a:xfrm>
            <a:off x="548640" y="868680"/>
            <a:ext cx="11094415" cy="475488"/>
          </a:xfrm>
          <a:prstGeom prst="rect">
            <a:avLst/>
          </a:prstGeom>
          <a:solidFill>
            <a:srgbClr val="F4F6F9"/>
          </a:solidFill>
          <a:ln w="12700">
            <a:solidFill>
              <a:srgbClr val="F4F6F9"/>
            </a:solidFill>
            <a:prstDash val="solid"/>
          </a:ln>
        </p:spPr>
      </p:sp>
      <p:sp>
        <p:nvSpPr>
          <p:cNvPr id="6" name="Text 4"/>
          <p:cNvSpPr txBox="1"/>
          <p:nvPr/>
        </p:nvSpPr>
        <p:spPr>
          <a:xfrm>
            <a:off x="685800" y="987552"/>
            <a:ext cx="457200" cy="228600"/>
          </a:xfrm>
          <a:prstGeom prst="rect">
            <a:avLst/>
          </a:prstGeom>
          <a:noFill/>
          <a:ln/>
        </p:spPr>
        <p:txBody>
          <a:bodyPr wrap="square" lIns="0" tIns="0" rIns="0" bIns="0" rtlCol="0" anchor="t"/>
          <a:lstStyle/>
          <a:p>
            <a:pPr algn="l" indent="0" marL="0">
              <a:lnSpc>
                <a:spcPct val="110000"/>
              </a:lnSpc>
              <a:spcAft>
                <a:spcPts val="500"/>
              </a:spcAft>
              <a:buNone/>
            </a:pPr>
            <a:r>
              <a:rPr lang="en-US" altLang="en-US" sz="1100" b="1" dirty="0">
                <a:solidFill>
                  <a:srgbClr val="3E9ACA"/>
                </a:solidFill>
                <a:latin typeface="Sora" pitchFamily="34" charset="0"/>
                <a:ea typeface="Sora" pitchFamily="34" charset="-122"/>
                <a:cs typeface="Sora" pitchFamily="34" charset="-120"/>
              </a:rPr>
              <a:t>01</a:t>
            </a:r>
            <a:endParaRPr lang="en-US" sz="1100" dirty="0"/>
          </a:p>
        </p:txBody>
      </p:sp>
      <p:sp>
        <p:nvSpPr>
          <p:cNvPr id="7" name="Text 5"/>
          <p:cNvSpPr txBox="1"/>
          <p:nvPr/>
        </p:nvSpPr>
        <p:spPr>
          <a:xfrm>
            <a:off x="1188720" y="923544"/>
            <a:ext cx="4846320" cy="384048"/>
          </a:xfrm>
          <a:prstGeom prst="rect">
            <a:avLst/>
          </a:prstGeom>
          <a:noFill/>
          <a:ln/>
        </p:spPr>
        <p:txBody>
          <a:bodyPr wrap="square" lIns="0" tIns="0" rIns="0" bIns="0" rtlCol="0" anchor="t"/>
          <a:lstStyle/>
          <a:p>
            <a:pPr algn="l" indent="0" marL="0">
              <a:lnSpc>
                <a:spcPct val="110000"/>
              </a:lnSpc>
              <a:spcAft>
                <a:spcPts val="100"/>
              </a:spcAft>
              <a:buNone/>
            </a:pPr>
            <a:r>
              <a:rPr lang="en-US" altLang="en-US" sz="900" b="1" dirty="0">
                <a:solidFill>
                  <a:srgbClr val="0A1628"/>
                </a:solidFill>
                <a:latin typeface="Sora" pitchFamily="34" charset="0"/>
                <a:ea typeface="Sora" pitchFamily="34" charset="-122"/>
                <a:cs typeface="Sora" pitchFamily="34" charset="-120"/>
              </a:rPr>
              <a:t>Specialization</a:t>
            </a:r>
            <a:endParaRPr lang="en-US" sz="900" dirty="0"/>
          </a:p>
          <a:p>
            <a:pPr algn="l" indent="0" marL="0">
              <a:lnSpc>
                <a:spcPct val="110000"/>
              </a:lnSpc>
              <a:spcAft>
                <a:spcPts val="100"/>
              </a:spcAft>
              <a:buNone/>
            </a:pPr>
            <a:r>
              <a:rPr lang="en-US" altLang="en-US" sz="780" dirty="0">
                <a:solidFill>
                  <a:srgbClr val="5B6677"/>
                </a:solidFill>
                <a:latin typeface="Inter" pitchFamily="34" charset="0"/>
                <a:ea typeface="Inter" pitchFamily="34" charset="-122"/>
                <a:cs typeface="Inter" pitchFamily="34" charset="-120"/>
              </a:rPr>
              <a:t>A dedicated focus on electric vehicles and the needs of their owners.</a:t>
            </a:r>
            <a:endParaRPr lang="en-US" sz="900" dirty="0"/>
          </a:p>
        </p:txBody>
      </p:sp>
      <p:sp>
        <p:nvSpPr>
          <p:cNvPr id="8" name="Text 6"/>
          <p:cNvSpPr txBox="1"/>
          <p:nvPr/>
        </p:nvSpPr>
        <p:spPr>
          <a:xfrm>
            <a:off x="6263640" y="914400"/>
            <a:ext cx="5212080" cy="384048"/>
          </a:xfrm>
          <a:prstGeom prst="rect">
            <a:avLst/>
          </a:prstGeom>
          <a:noFill/>
          <a:ln/>
        </p:spPr>
        <p:txBody>
          <a:bodyPr wrap="square" lIns="0" tIns="0" rIns="0" bIns="0" rtlCol="0" anchor="t"/>
          <a:lstStyle/>
          <a:p>
            <a:pPr rtl="1" algn="r" indent="0" marL="0">
              <a:lnSpc>
                <a:spcPct val="110000"/>
              </a:lnSpc>
              <a:spcAft>
                <a:spcPts val="100"/>
              </a:spcAft>
              <a:buNone/>
            </a:pPr>
            <a:r>
              <a:rPr lang="ar-AE" altLang="en-US" sz="1000" b="1" dirty="0">
                <a:solidFill>
                  <a:srgbClr val="0A1628"/>
                </a:solidFill>
                <a:latin typeface="IBM Plex Sans Arabic" pitchFamily="34" charset="0"/>
                <a:ea typeface="IBM Plex Sans Arabic" pitchFamily="34" charset="-122"/>
                <a:cs typeface="IBM Plex Sans Arabic" pitchFamily="34" charset="-120"/>
              </a:rPr>
              <a:t>التخصص</a:t>
            </a:r>
            <a:endParaRPr lang="ar-AE" sz="1000" dirty="0"/>
          </a:p>
          <a:p>
            <a:pPr rtl="1" algn="r" indent="0" marL="0">
              <a:lnSpc>
                <a:spcPct val="110000"/>
              </a:lnSpc>
              <a:spcAft>
                <a:spcPts val="100"/>
              </a:spcAft>
              <a:buNone/>
            </a:pPr>
            <a:r>
              <a:rPr lang="ar-AE" altLang="en-US" sz="840" dirty="0">
                <a:solidFill>
                  <a:srgbClr val="5B6677"/>
                </a:solidFill>
                <a:latin typeface="IBM Plex Sans Arabic" pitchFamily="34" charset="0"/>
                <a:ea typeface="IBM Plex Sans Arabic" pitchFamily="34" charset="-122"/>
                <a:cs typeface="IBM Plex Sans Arabic" pitchFamily="34" charset="-120"/>
              </a:rPr>
              <a:t>تركيز أعمال الشركة على قطاع السيارات الكهربائية واحتياجات ملاكها.</a:t>
            </a:r>
            <a:endParaRPr lang="ar-AE" sz="1000" dirty="0"/>
          </a:p>
        </p:txBody>
      </p:sp>
      <p:sp>
        <p:nvSpPr>
          <p:cNvPr id="9" name="Shape 7"/>
          <p:cNvSpPr/>
          <p:nvPr/>
        </p:nvSpPr>
        <p:spPr>
          <a:xfrm>
            <a:off x="548640" y="1399032"/>
            <a:ext cx="11094415" cy="475488"/>
          </a:xfrm>
          <a:prstGeom prst="rect">
            <a:avLst/>
          </a:prstGeom>
          <a:solidFill>
            <a:srgbClr val="FFFFFF"/>
          </a:solidFill>
          <a:ln w="12700">
            <a:solidFill>
              <a:srgbClr val="FFFFFF"/>
            </a:solidFill>
            <a:prstDash val="solid"/>
          </a:ln>
        </p:spPr>
      </p:sp>
      <p:sp>
        <p:nvSpPr>
          <p:cNvPr id="10" name="Text 8"/>
          <p:cNvSpPr txBox="1"/>
          <p:nvPr/>
        </p:nvSpPr>
        <p:spPr>
          <a:xfrm>
            <a:off x="685800" y="1517904"/>
            <a:ext cx="457200" cy="228600"/>
          </a:xfrm>
          <a:prstGeom prst="rect">
            <a:avLst/>
          </a:prstGeom>
          <a:noFill/>
          <a:ln/>
        </p:spPr>
        <p:txBody>
          <a:bodyPr wrap="square" lIns="0" tIns="0" rIns="0" bIns="0" rtlCol="0" anchor="t"/>
          <a:lstStyle/>
          <a:p>
            <a:pPr algn="l" indent="0" marL="0">
              <a:lnSpc>
                <a:spcPct val="110000"/>
              </a:lnSpc>
              <a:spcAft>
                <a:spcPts val="500"/>
              </a:spcAft>
              <a:buNone/>
            </a:pPr>
            <a:r>
              <a:rPr lang="en-US" altLang="en-US" sz="1100" b="1" dirty="0">
                <a:solidFill>
                  <a:srgbClr val="3E9ACA"/>
                </a:solidFill>
                <a:latin typeface="Sora" pitchFamily="34" charset="0"/>
                <a:ea typeface="Sora" pitchFamily="34" charset="-122"/>
                <a:cs typeface="Sora" pitchFamily="34" charset="-120"/>
              </a:rPr>
              <a:t>02</a:t>
            </a:r>
            <a:endParaRPr lang="en-US" sz="1100" dirty="0"/>
          </a:p>
        </p:txBody>
      </p:sp>
      <p:sp>
        <p:nvSpPr>
          <p:cNvPr id="11" name="Text 9"/>
          <p:cNvSpPr txBox="1"/>
          <p:nvPr/>
        </p:nvSpPr>
        <p:spPr>
          <a:xfrm>
            <a:off x="1188720" y="1453896"/>
            <a:ext cx="4846320" cy="384048"/>
          </a:xfrm>
          <a:prstGeom prst="rect">
            <a:avLst/>
          </a:prstGeom>
          <a:noFill/>
          <a:ln/>
        </p:spPr>
        <p:txBody>
          <a:bodyPr wrap="square" lIns="0" tIns="0" rIns="0" bIns="0" rtlCol="0" anchor="t"/>
          <a:lstStyle/>
          <a:p>
            <a:pPr algn="l" indent="0" marL="0">
              <a:lnSpc>
                <a:spcPct val="110000"/>
              </a:lnSpc>
              <a:spcAft>
                <a:spcPts val="100"/>
              </a:spcAft>
              <a:buNone/>
            </a:pPr>
            <a:r>
              <a:rPr lang="en-US" altLang="en-US" sz="900" b="1" dirty="0">
                <a:solidFill>
                  <a:srgbClr val="0A1628"/>
                </a:solidFill>
                <a:latin typeface="Sora" pitchFamily="34" charset="0"/>
                <a:ea typeface="Sora" pitchFamily="34" charset="-122"/>
                <a:cs typeface="Sora" pitchFamily="34" charset="-120"/>
              </a:rPr>
              <a:t>Branch Network</a:t>
            </a:r>
            <a:endParaRPr lang="en-US" sz="900" dirty="0"/>
          </a:p>
          <a:p>
            <a:pPr algn="l" indent="0" marL="0">
              <a:lnSpc>
                <a:spcPct val="110000"/>
              </a:lnSpc>
              <a:spcAft>
                <a:spcPts val="100"/>
              </a:spcAft>
              <a:buNone/>
            </a:pPr>
            <a:r>
              <a:rPr lang="en-US" altLang="en-US" sz="780" dirty="0">
                <a:solidFill>
                  <a:srgbClr val="5B6677"/>
                </a:solidFill>
                <a:latin typeface="Inter" pitchFamily="34" charset="0"/>
                <a:ea typeface="Inter" pitchFamily="34" charset="-122"/>
                <a:cs typeface="Inter" pitchFamily="34" charset="-120"/>
              </a:rPr>
              <a:t>Five branches across two countries, supporting convenient in-store shopping and customer service.</a:t>
            </a:r>
            <a:endParaRPr lang="en-US" sz="900" dirty="0"/>
          </a:p>
        </p:txBody>
      </p:sp>
      <p:sp>
        <p:nvSpPr>
          <p:cNvPr id="12" name="Text 10"/>
          <p:cNvSpPr txBox="1"/>
          <p:nvPr/>
        </p:nvSpPr>
        <p:spPr>
          <a:xfrm>
            <a:off x="6263640" y="1444752"/>
            <a:ext cx="5212080" cy="384048"/>
          </a:xfrm>
          <a:prstGeom prst="rect">
            <a:avLst/>
          </a:prstGeom>
          <a:noFill/>
          <a:ln/>
        </p:spPr>
        <p:txBody>
          <a:bodyPr wrap="square" lIns="0" tIns="0" rIns="0" bIns="0" rtlCol="0" anchor="t"/>
          <a:lstStyle/>
          <a:p>
            <a:pPr rtl="1" algn="r" indent="0" marL="0">
              <a:lnSpc>
                <a:spcPct val="110000"/>
              </a:lnSpc>
              <a:spcAft>
                <a:spcPts val="100"/>
              </a:spcAft>
              <a:buNone/>
            </a:pPr>
            <a:r>
              <a:rPr lang="ar-AE" altLang="en-US" sz="1000" b="1" dirty="0">
                <a:solidFill>
                  <a:srgbClr val="0A1628"/>
                </a:solidFill>
                <a:latin typeface="IBM Plex Sans Arabic" pitchFamily="34" charset="0"/>
                <a:ea typeface="IBM Plex Sans Arabic" pitchFamily="34" charset="-122"/>
                <a:cs typeface="IBM Plex Sans Arabic" pitchFamily="34" charset="-120"/>
              </a:rPr>
              <a:t>شبكة الفروع</a:t>
            </a:r>
            <a:endParaRPr lang="ar-AE" sz="1000" dirty="0"/>
          </a:p>
          <a:p>
            <a:pPr rtl="1" algn="r" indent="0" marL="0">
              <a:lnSpc>
                <a:spcPct val="110000"/>
              </a:lnSpc>
              <a:spcAft>
                <a:spcPts val="100"/>
              </a:spcAft>
              <a:buNone/>
            </a:pPr>
            <a:r>
              <a:rPr lang="ar-AE" altLang="en-US" sz="840" dirty="0">
                <a:solidFill>
                  <a:srgbClr val="5B6677"/>
                </a:solidFill>
                <a:latin typeface="IBM Plex Sans Arabic" pitchFamily="34" charset="0"/>
                <a:ea typeface="IBM Plex Sans Arabic" pitchFamily="34" charset="-122"/>
                <a:cs typeface="IBM Plex Sans Arabic" pitchFamily="34" charset="-120"/>
              </a:rPr>
              <a:t>خمسة فروع في دولتين، لتقديم تجربة شراء وخدمة مباشرة.</a:t>
            </a:r>
            <a:endParaRPr lang="ar-AE" sz="1000" dirty="0"/>
          </a:p>
        </p:txBody>
      </p:sp>
      <p:sp>
        <p:nvSpPr>
          <p:cNvPr id="13" name="Shape 11"/>
          <p:cNvSpPr/>
          <p:nvPr/>
        </p:nvSpPr>
        <p:spPr>
          <a:xfrm>
            <a:off x="548640" y="1929384"/>
            <a:ext cx="11094415" cy="475488"/>
          </a:xfrm>
          <a:prstGeom prst="rect">
            <a:avLst/>
          </a:prstGeom>
          <a:solidFill>
            <a:srgbClr val="F4F6F9"/>
          </a:solidFill>
          <a:ln w="12700">
            <a:solidFill>
              <a:srgbClr val="F4F6F9"/>
            </a:solidFill>
            <a:prstDash val="solid"/>
          </a:ln>
        </p:spPr>
      </p:sp>
      <p:sp>
        <p:nvSpPr>
          <p:cNvPr id="14" name="Text 12"/>
          <p:cNvSpPr txBox="1"/>
          <p:nvPr/>
        </p:nvSpPr>
        <p:spPr>
          <a:xfrm>
            <a:off x="685800" y="2048256"/>
            <a:ext cx="457200" cy="228600"/>
          </a:xfrm>
          <a:prstGeom prst="rect">
            <a:avLst/>
          </a:prstGeom>
          <a:noFill/>
          <a:ln/>
        </p:spPr>
        <p:txBody>
          <a:bodyPr wrap="square" lIns="0" tIns="0" rIns="0" bIns="0" rtlCol="0" anchor="t"/>
          <a:lstStyle/>
          <a:p>
            <a:pPr algn="l" indent="0" marL="0">
              <a:lnSpc>
                <a:spcPct val="110000"/>
              </a:lnSpc>
              <a:spcAft>
                <a:spcPts val="500"/>
              </a:spcAft>
              <a:buNone/>
            </a:pPr>
            <a:r>
              <a:rPr lang="en-US" altLang="en-US" sz="1100" b="1" dirty="0">
                <a:solidFill>
                  <a:srgbClr val="3E9ACA"/>
                </a:solidFill>
                <a:latin typeface="Sora" pitchFamily="34" charset="0"/>
                <a:ea typeface="Sora" pitchFamily="34" charset="-122"/>
                <a:cs typeface="Sora" pitchFamily="34" charset="-120"/>
              </a:rPr>
              <a:t>03</a:t>
            </a:r>
            <a:endParaRPr lang="en-US" sz="1100" dirty="0"/>
          </a:p>
        </p:txBody>
      </p:sp>
      <p:sp>
        <p:nvSpPr>
          <p:cNvPr id="15" name="Text 13"/>
          <p:cNvSpPr txBox="1"/>
          <p:nvPr/>
        </p:nvSpPr>
        <p:spPr>
          <a:xfrm>
            <a:off x="1188720" y="1984248"/>
            <a:ext cx="4846320" cy="384048"/>
          </a:xfrm>
          <a:prstGeom prst="rect">
            <a:avLst/>
          </a:prstGeom>
          <a:noFill/>
          <a:ln/>
        </p:spPr>
        <p:txBody>
          <a:bodyPr wrap="square" lIns="0" tIns="0" rIns="0" bIns="0" rtlCol="0" anchor="t"/>
          <a:lstStyle/>
          <a:p>
            <a:pPr algn="l" indent="0" marL="0">
              <a:lnSpc>
                <a:spcPct val="110000"/>
              </a:lnSpc>
              <a:spcAft>
                <a:spcPts val="100"/>
              </a:spcAft>
              <a:buNone/>
            </a:pPr>
            <a:r>
              <a:rPr lang="en-US" altLang="en-US" sz="900" b="1" dirty="0">
                <a:solidFill>
                  <a:srgbClr val="0A1628"/>
                </a:solidFill>
                <a:latin typeface="Sora" pitchFamily="34" charset="0"/>
                <a:ea typeface="Sora" pitchFamily="34" charset="-122"/>
                <a:cs typeface="Sora" pitchFamily="34" charset="-120"/>
              </a:rPr>
              <a:t>Product Variety</a:t>
            </a:r>
            <a:endParaRPr lang="en-US" sz="900" dirty="0"/>
          </a:p>
          <a:p>
            <a:pPr algn="l" indent="0" marL="0">
              <a:lnSpc>
                <a:spcPct val="110000"/>
              </a:lnSpc>
              <a:spcAft>
                <a:spcPts val="100"/>
              </a:spcAft>
              <a:buNone/>
            </a:pPr>
            <a:r>
              <a:rPr lang="en-US" altLang="en-US" sz="780" dirty="0">
                <a:solidFill>
                  <a:srgbClr val="5B6677"/>
                </a:solidFill>
                <a:latin typeface="Inter" pitchFamily="34" charset="0"/>
                <a:ea typeface="Inter" pitchFamily="34" charset="-122"/>
                <a:cs typeface="Inter" pitchFamily="34" charset="-120"/>
              </a:rPr>
              <a:t>A diverse selection of accessories, charging solutions, and specialized products.</a:t>
            </a:r>
            <a:endParaRPr lang="en-US" sz="900" dirty="0"/>
          </a:p>
        </p:txBody>
      </p:sp>
      <p:sp>
        <p:nvSpPr>
          <p:cNvPr id="16" name="Text 14"/>
          <p:cNvSpPr txBox="1"/>
          <p:nvPr/>
        </p:nvSpPr>
        <p:spPr>
          <a:xfrm>
            <a:off x="6263640" y="1975104"/>
            <a:ext cx="5212080" cy="384048"/>
          </a:xfrm>
          <a:prstGeom prst="rect">
            <a:avLst/>
          </a:prstGeom>
          <a:noFill/>
          <a:ln/>
        </p:spPr>
        <p:txBody>
          <a:bodyPr wrap="square" lIns="0" tIns="0" rIns="0" bIns="0" rtlCol="0" anchor="t"/>
          <a:lstStyle/>
          <a:p>
            <a:pPr rtl="1" algn="r" indent="0" marL="0">
              <a:lnSpc>
                <a:spcPct val="110000"/>
              </a:lnSpc>
              <a:spcAft>
                <a:spcPts val="100"/>
              </a:spcAft>
              <a:buNone/>
            </a:pPr>
            <a:r>
              <a:rPr lang="ar-AE" altLang="en-US" sz="1000" b="1" dirty="0">
                <a:solidFill>
                  <a:srgbClr val="0A1628"/>
                </a:solidFill>
                <a:latin typeface="IBM Plex Sans Arabic" pitchFamily="34" charset="0"/>
                <a:ea typeface="IBM Plex Sans Arabic" pitchFamily="34" charset="-122"/>
                <a:cs typeface="IBM Plex Sans Arabic" pitchFamily="34" charset="-120"/>
              </a:rPr>
              <a:t>المنتجات المتنوعة</a:t>
            </a:r>
            <a:endParaRPr lang="ar-AE" sz="1000" dirty="0"/>
          </a:p>
          <a:p>
            <a:pPr rtl="1" algn="r" indent="0" marL="0">
              <a:lnSpc>
                <a:spcPct val="110000"/>
              </a:lnSpc>
              <a:spcAft>
                <a:spcPts val="100"/>
              </a:spcAft>
              <a:buNone/>
            </a:pPr>
            <a:r>
              <a:rPr lang="ar-AE" altLang="en-US" sz="840" dirty="0">
                <a:solidFill>
                  <a:srgbClr val="5B6677"/>
                </a:solidFill>
                <a:latin typeface="IBM Plex Sans Arabic" pitchFamily="34" charset="0"/>
                <a:ea typeface="IBM Plex Sans Arabic" pitchFamily="34" charset="-122"/>
                <a:cs typeface="IBM Plex Sans Arabic" pitchFamily="34" charset="-120"/>
              </a:rPr>
              <a:t>مجموعة من الإكسسوارات وحلول الشحن والمنتجات المتخصصة.</a:t>
            </a:r>
            <a:endParaRPr lang="ar-AE" sz="1000" dirty="0"/>
          </a:p>
        </p:txBody>
      </p:sp>
      <p:sp>
        <p:nvSpPr>
          <p:cNvPr id="17" name="Shape 15"/>
          <p:cNvSpPr/>
          <p:nvPr/>
        </p:nvSpPr>
        <p:spPr>
          <a:xfrm>
            <a:off x="548640" y="2459736"/>
            <a:ext cx="11094415" cy="475488"/>
          </a:xfrm>
          <a:prstGeom prst="rect">
            <a:avLst/>
          </a:prstGeom>
          <a:solidFill>
            <a:srgbClr val="FFFFFF"/>
          </a:solidFill>
          <a:ln w="12700">
            <a:solidFill>
              <a:srgbClr val="FFFFFF"/>
            </a:solidFill>
            <a:prstDash val="solid"/>
          </a:ln>
        </p:spPr>
      </p:sp>
      <p:sp>
        <p:nvSpPr>
          <p:cNvPr id="18" name="Text 16"/>
          <p:cNvSpPr txBox="1"/>
          <p:nvPr/>
        </p:nvSpPr>
        <p:spPr>
          <a:xfrm>
            <a:off x="685800" y="2578608"/>
            <a:ext cx="457200" cy="228600"/>
          </a:xfrm>
          <a:prstGeom prst="rect">
            <a:avLst/>
          </a:prstGeom>
          <a:noFill/>
          <a:ln/>
        </p:spPr>
        <p:txBody>
          <a:bodyPr wrap="square" lIns="0" tIns="0" rIns="0" bIns="0" rtlCol="0" anchor="t"/>
          <a:lstStyle/>
          <a:p>
            <a:pPr algn="l" indent="0" marL="0">
              <a:lnSpc>
                <a:spcPct val="110000"/>
              </a:lnSpc>
              <a:spcAft>
                <a:spcPts val="500"/>
              </a:spcAft>
              <a:buNone/>
            </a:pPr>
            <a:r>
              <a:rPr lang="en-US" altLang="en-US" sz="1100" b="1" dirty="0">
                <a:solidFill>
                  <a:srgbClr val="3E9ACA"/>
                </a:solidFill>
                <a:latin typeface="Sora" pitchFamily="34" charset="0"/>
                <a:ea typeface="Sora" pitchFamily="34" charset="-122"/>
                <a:cs typeface="Sora" pitchFamily="34" charset="-120"/>
              </a:rPr>
              <a:t>04</a:t>
            </a:r>
            <a:endParaRPr lang="en-US" sz="1100" dirty="0"/>
          </a:p>
        </p:txBody>
      </p:sp>
      <p:sp>
        <p:nvSpPr>
          <p:cNvPr id="19" name="Text 17"/>
          <p:cNvSpPr txBox="1"/>
          <p:nvPr/>
        </p:nvSpPr>
        <p:spPr>
          <a:xfrm>
            <a:off x="1188720" y="2514600"/>
            <a:ext cx="4846320" cy="384048"/>
          </a:xfrm>
          <a:prstGeom prst="rect">
            <a:avLst/>
          </a:prstGeom>
          <a:noFill/>
          <a:ln/>
        </p:spPr>
        <p:txBody>
          <a:bodyPr wrap="square" lIns="0" tIns="0" rIns="0" bIns="0" rtlCol="0" anchor="t"/>
          <a:lstStyle/>
          <a:p>
            <a:pPr algn="l" indent="0" marL="0">
              <a:lnSpc>
                <a:spcPct val="110000"/>
              </a:lnSpc>
              <a:spcAft>
                <a:spcPts val="100"/>
              </a:spcAft>
              <a:buNone/>
            </a:pPr>
            <a:r>
              <a:rPr lang="en-US" altLang="en-US" sz="900" b="1" dirty="0">
                <a:solidFill>
                  <a:srgbClr val="0A1628"/>
                </a:solidFill>
                <a:latin typeface="Sora" pitchFamily="34" charset="0"/>
                <a:ea typeface="Sora" pitchFamily="34" charset="-122"/>
                <a:cs typeface="Sora" pitchFamily="34" charset="-120"/>
              </a:rPr>
              <a:t>Technical Teams</a:t>
            </a:r>
            <a:endParaRPr lang="en-US" sz="900" dirty="0"/>
          </a:p>
          <a:p>
            <a:pPr algn="l" indent="0" marL="0">
              <a:lnSpc>
                <a:spcPct val="110000"/>
              </a:lnSpc>
              <a:spcAft>
                <a:spcPts val="100"/>
              </a:spcAft>
              <a:buNone/>
            </a:pPr>
            <a:r>
              <a:rPr lang="en-US" altLang="en-US" sz="780" dirty="0">
                <a:solidFill>
                  <a:srgbClr val="5B6677"/>
                </a:solidFill>
                <a:latin typeface="Inter" pitchFamily="34" charset="0"/>
                <a:ea typeface="Inter" pitchFamily="34" charset="-122"/>
                <a:cs typeface="Inter" pitchFamily="34" charset="-120"/>
              </a:rPr>
              <a:t>Dedicated technical teams for charger and accessory installation.</a:t>
            </a:r>
            <a:endParaRPr lang="en-US" sz="900" dirty="0"/>
          </a:p>
        </p:txBody>
      </p:sp>
      <p:sp>
        <p:nvSpPr>
          <p:cNvPr id="20" name="Text 18"/>
          <p:cNvSpPr txBox="1"/>
          <p:nvPr/>
        </p:nvSpPr>
        <p:spPr>
          <a:xfrm>
            <a:off x="6263640" y="2505456"/>
            <a:ext cx="5212080" cy="384048"/>
          </a:xfrm>
          <a:prstGeom prst="rect">
            <a:avLst/>
          </a:prstGeom>
          <a:noFill/>
          <a:ln/>
        </p:spPr>
        <p:txBody>
          <a:bodyPr wrap="square" lIns="0" tIns="0" rIns="0" bIns="0" rtlCol="0" anchor="t"/>
          <a:lstStyle/>
          <a:p>
            <a:pPr rtl="1" algn="r" indent="0" marL="0">
              <a:lnSpc>
                <a:spcPct val="110000"/>
              </a:lnSpc>
              <a:spcAft>
                <a:spcPts val="100"/>
              </a:spcAft>
              <a:buNone/>
            </a:pPr>
            <a:r>
              <a:rPr lang="ar-AE" altLang="en-US" sz="1000" b="1" dirty="0">
                <a:solidFill>
                  <a:srgbClr val="0A1628"/>
                </a:solidFill>
                <a:latin typeface="IBM Plex Sans Arabic" pitchFamily="34" charset="0"/>
                <a:ea typeface="IBM Plex Sans Arabic" pitchFamily="34" charset="-122"/>
                <a:cs typeface="IBM Plex Sans Arabic" pitchFamily="34" charset="-120"/>
              </a:rPr>
              <a:t>الفرق الفنية</a:t>
            </a:r>
            <a:endParaRPr lang="ar-AE" sz="1000" dirty="0"/>
          </a:p>
          <a:p>
            <a:pPr rtl="1" algn="r" indent="0" marL="0">
              <a:lnSpc>
                <a:spcPct val="110000"/>
              </a:lnSpc>
              <a:spcAft>
                <a:spcPts val="100"/>
              </a:spcAft>
              <a:buNone/>
            </a:pPr>
            <a:r>
              <a:rPr lang="ar-AE" altLang="en-US" sz="840" dirty="0">
                <a:solidFill>
                  <a:srgbClr val="5B6677"/>
                </a:solidFill>
                <a:latin typeface="IBM Plex Sans Arabic" pitchFamily="34" charset="0"/>
                <a:ea typeface="IBM Plex Sans Arabic" pitchFamily="34" charset="-122"/>
                <a:cs typeface="IBM Plex Sans Arabic" pitchFamily="34" charset="-120"/>
              </a:rPr>
              <a:t>فرق فنية متخصصة لتركيب الشواحن والإكسسوارات.</a:t>
            </a:r>
            <a:endParaRPr lang="ar-AE" sz="1000" dirty="0"/>
          </a:p>
        </p:txBody>
      </p:sp>
      <p:sp>
        <p:nvSpPr>
          <p:cNvPr id="21" name="Shape 19"/>
          <p:cNvSpPr/>
          <p:nvPr/>
        </p:nvSpPr>
        <p:spPr>
          <a:xfrm>
            <a:off x="548640" y="2990088"/>
            <a:ext cx="11094415" cy="475488"/>
          </a:xfrm>
          <a:prstGeom prst="rect">
            <a:avLst/>
          </a:prstGeom>
          <a:solidFill>
            <a:srgbClr val="F4F6F9"/>
          </a:solidFill>
          <a:ln w="12700">
            <a:solidFill>
              <a:srgbClr val="F4F6F9"/>
            </a:solidFill>
            <a:prstDash val="solid"/>
          </a:ln>
        </p:spPr>
      </p:sp>
      <p:sp>
        <p:nvSpPr>
          <p:cNvPr id="22" name="Text 20"/>
          <p:cNvSpPr txBox="1"/>
          <p:nvPr/>
        </p:nvSpPr>
        <p:spPr>
          <a:xfrm>
            <a:off x="685800" y="3108960"/>
            <a:ext cx="457200" cy="228600"/>
          </a:xfrm>
          <a:prstGeom prst="rect">
            <a:avLst/>
          </a:prstGeom>
          <a:noFill/>
          <a:ln/>
        </p:spPr>
        <p:txBody>
          <a:bodyPr wrap="square" lIns="0" tIns="0" rIns="0" bIns="0" rtlCol="0" anchor="t"/>
          <a:lstStyle/>
          <a:p>
            <a:pPr algn="l" indent="0" marL="0">
              <a:lnSpc>
                <a:spcPct val="110000"/>
              </a:lnSpc>
              <a:spcAft>
                <a:spcPts val="500"/>
              </a:spcAft>
              <a:buNone/>
            </a:pPr>
            <a:r>
              <a:rPr lang="en-US" altLang="en-US" sz="1100" b="1" dirty="0">
                <a:solidFill>
                  <a:srgbClr val="3E9ACA"/>
                </a:solidFill>
                <a:latin typeface="Sora" pitchFamily="34" charset="0"/>
                <a:ea typeface="Sora" pitchFamily="34" charset="-122"/>
                <a:cs typeface="Sora" pitchFamily="34" charset="-120"/>
              </a:rPr>
              <a:t>05</a:t>
            </a:r>
            <a:endParaRPr lang="en-US" sz="1100" dirty="0"/>
          </a:p>
        </p:txBody>
      </p:sp>
      <p:sp>
        <p:nvSpPr>
          <p:cNvPr id="23" name="Text 21"/>
          <p:cNvSpPr txBox="1"/>
          <p:nvPr/>
        </p:nvSpPr>
        <p:spPr>
          <a:xfrm>
            <a:off x="1188720" y="3044952"/>
            <a:ext cx="4846320" cy="384048"/>
          </a:xfrm>
          <a:prstGeom prst="rect">
            <a:avLst/>
          </a:prstGeom>
          <a:noFill/>
          <a:ln/>
        </p:spPr>
        <p:txBody>
          <a:bodyPr wrap="square" lIns="0" tIns="0" rIns="0" bIns="0" rtlCol="0" anchor="t"/>
          <a:lstStyle/>
          <a:p>
            <a:pPr algn="l" indent="0" marL="0">
              <a:lnSpc>
                <a:spcPct val="110000"/>
              </a:lnSpc>
              <a:spcAft>
                <a:spcPts val="100"/>
              </a:spcAft>
              <a:buNone/>
            </a:pPr>
            <a:r>
              <a:rPr lang="en-US" altLang="en-US" sz="900" b="1" dirty="0">
                <a:solidFill>
                  <a:srgbClr val="0A1628"/>
                </a:solidFill>
                <a:latin typeface="Sora" pitchFamily="34" charset="0"/>
                <a:ea typeface="Sora" pitchFamily="34" charset="-122"/>
                <a:cs typeface="Sora" pitchFamily="34" charset="-120"/>
              </a:rPr>
              <a:t>Complimentary Installation</a:t>
            </a:r>
            <a:endParaRPr lang="en-US" sz="900" dirty="0"/>
          </a:p>
          <a:p>
            <a:pPr algn="l" indent="0" marL="0">
              <a:lnSpc>
                <a:spcPct val="110000"/>
              </a:lnSpc>
              <a:spcAft>
                <a:spcPts val="100"/>
              </a:spcAft>
              <a:buNone/>
            </a:pPr>
            <a:r>
              <a:rPr lang="en-US" altLang="en-US" sz="780" dirty="0">
                <a:solidFill>
                  <a:srgbClr val="5B6677"/>
                </a:solidFill>
                <a:latin typeface="Inter" pitchFamily="34" charset="0"/>
                <a:ea typeface="Inter" pitchFamily="34" charset="-122"/>
                <a:cs typeface="Inter" pitchFamily="34" charset="-120"/>
              </a:rPr>
              <a:t>Complimentary in-branch installation for eligible accessories purchased from EVCARS.</a:t>
            </a:r>
            <a:endParaRPr lang="en-US" sz="900" dirty="0"/>
          </a:p>
        </p:txBody>
      </p:sp>
      <p:sp>
        <p:nvSpPr>
          <p:cNvPr id="24" name="Text 22"/>
          <p:cNvSpPr txBox="1"/>
          <p:nvPr/>
        </p:nvSpPr>
        <p:spPr>
          <a:xfrm>
            <a:off x="6263640" y="3035808"/>
            <a:ext cx="5212080" cy="384048"/>
          </a:xfrm>
          <a:prstGeom prst="rect">
            <a:avLst/>
          </a:prstGeom>
          <a:noFill/>
          <a:ln/>
        </p:spPr>
        <p:txBody>
          <a:bodyPr wrap="square" lIns="0" tIns="0" rIns="0" bIns="0" rtlCol="0" anchor="t"/>
          <a:lstStyle/>
          <a:p>
            <a:pPr rtl="1" algn="r" indent="0" marL="0">
              <a:lnSpc>
                <a:spcPct val="110000"/>
              </a:lnSpc>
              <a:spcAft>
                <a:spcPts val="100"/>
              </a:spcAft>
              <a:buNone/>
            </a:pPr>
            <a:r>
              <a:rPr lang="ar-AE" altLang="en-US" sz="1000" b="1" dirty="0">
                <a:solidFill>
                  <a:srgbClr val="0A1628"/>
                </a:solidFill>
                <a:latin typeface="IBM Plex Sans Arabic" pitchFamily="34" charset="0"/>
                <a:ea typeface="IBM Plex Sans Arabic" pitchFamily="34" charset="-122"/>
                <a:cs typeface="IBM Plex Sans Arabic" pitchFamily="34" charset="-120"/>
              </a:rPr>
              <a:t>التركيب المجاني</a:t>
            </a:r>
            <a:endParaRPr lang="ar-AE" sz="1000" dirty="0"/>
          </a:p>
          <a:p>
            <a:pPr rtl="1" algn="r" indent="0" marL="0">
              <a:lnSpc>
                <a:spcPct val="110000"/>
              </a:lnSpc>
              <a:spcAft>
                <a:spcPts val="100"/>
              </a:spcAft>
              <a:buNone/>
            </a:pPr>
            <a:r>
              <a:rPr lang="ar-AE" altLang="en-US" sz="840" dirty="0">
                <a:solidFill>
                  <a:srgbClr val="5B6677"/>
                </a:solidFill>
                <a:latin typeface="IBM Plex Sans Arabic" pitchFamily="34" charset="0"/>
                <a:ea typeface="IBM Plex Sans Arabic" pitchFamily="34" charset="-122"/>
                <a:cs typeface="IBM Plex Sans Arabic" pitchFamily="34" charset="-120"/>
              </a:rPr>
              <a:t>تركيب مجاني داخل الفروع للإكسسوارات المؤهلة المشتراة من EVCARS.</a:t>
            </a:r>
            <a:endParaRPr lang="ar-AE" sz="1000" dirty="0"/>
          </a:p>
        </p:txBody>
      </p:sp>
      <p:sp>
        <p:nvSpPr>
          <p:cNvPr id="25" name="Shape 23"/>
          <p:cNvSpPr/>
          <p:nvPr/>
        </p:nvSpPr>
        <p:spPr>
          <a:xfrm>
            <a:off x="548640" y="3520440"/>
            <a:ext cx="11094415" cy="475488"/>
          </a:xfrm>
          <a:prstGeom prst="rect">
            <a:avLst/>
          </a:prstGeom>
          <a:solidFill>
            <a:srgbClr val="FFFFFF"/>
          </a:solidFill>
          <a:ln w="12700">
            <a:solidFill>
              <a:srgbClr val="FFFFFF"/>
            </a:solidFill>
            <a:prstDash val="solid"/>
          </a:ln>
        </p:spPr>
      </p:sp>
      <p:sp>
        <p:nvSpPr>
          <p:cNvPr id="26" name="Text 24"/>
          <p:cNvSpPr txBox="1"/>
          <p:nvPr/>
        </p:nvSpPr>
        <p:spPr>
          <a:xfrm>
            <a:off x="685800" y="3639312"/>
            <a:ext cx="457200" cy="228600"/>
          </a:xfrm>
          <a:prstGeom prst="rect">
            <a:avLst/>
          </a:prstGeom>
          <a:noFill/>
          <a:ln/>
        </p:spPr>
        <p:txBody>
          <a:bodyPr wrap="square" lIns="0" tIns="0" rIns="0" bIns="0" rtlCol="0" anchor="t"/>
          <a:lstStyle/>
          <a:p>
            <a:pPr algn="l" indent="0" marL="0">
              <a:lnSpc>
                <a:spcPct val="110000"/>
              </a:lnSpc>
              <a:spcAft>
                <a:spcPts val="500"/>
              </a:spcAft>
              <a:buNone/>
            </a:pPr>
            <a:r>
              <a:rPr lang="en-US" altLang="en-US" sz="1100" b="1" dirty="0">
                <a:solidFill>
                  <a:srgbClr val="3E9ACA"/>
                </a:solidFill>
                <a:latin typeface="Sora" pitchFamily="34" charset="0"/>
                <a:ea typeface="Sora" pitchFamily="34" charset="-122"/>
                <a:cs typeface="Sora" pitchFamily="34" charset="-120"/>
              </a:rPr>
              <a:t>06</a:t>
            </a:r>
            <a:endParaRPr lang="en-US" sz="1100" dirty="0"/>
          </a:p>
        </p:txBody>
      </p:sp>
      <p:sp>
        <p:nvSpPr>
          <p:cNvPr id="27" name="Text 25"/>
          <p:cNvSpPr txBox="1"/>
          <p:nvPr/>
        </p:nvSpPr>
        <p:spPr>
          <a:xfrm>
            <a:off x="1188720" y="3575304"/>
            <a:ext cx="4846320" cy="384048"/>
          </a:xfrm>
          <a:prstGeom prst="rect">
            <a:avLst/>
          </a:prstGeom>
          <a:noFill/>
          <a:ln/>
        </p:spPr>
        <p:txBody>
          <a:bodyPr wrap="square" lIns="0" tIns="0" rIns="0" bIns="0" rtlCol="0" anchor="t"/>
          <a:lstStyle/>
          <a:p>
            <a:pPr algn="l" indent="0" marL="0">
              <a:lnSpc>
                <a:spcPct val="110000"/>
              </a:lnSpc>
              <a:spcAft>
                <a:spcPts val="100"/>
              </a:spcAft>
              <a:buNone/>
            </a:pPr>
            <a:r>
              <a:rPr lang="en-US" altLang="en-US" sz="900" b="1" dirty="0">
                <a:solidFill>
                  <a:srgbClr val="0A1628"/>
                </a:solidFill>
                <a:latin typeface="Sora" pitchFamily="34" charset="0"/>
                <a:ea typeface="Sora" pitchFamily="34" charset="-122"/>
                <a:cs typeface="Sora" pitchFamily="34" charset="-120"/>
              </a:rPr>
              <a:t>Warranty Support</a:t>
            </a:r>
            <a:endParaRPr lang="en-US" sz="900" dirty="0"/>
          </a:p>
          <a:p>
            <a:pPr algn="l" indent="0" marL="0">
              <a:lnSpc>
                <a:spcPct val="110000"/>
              </a:lnSpc>
              <a:spcAft>
                <a:spcPts val="100"/>
              </a:spcAft>
              <a:buNone/>
            </a:pPr>
            <a:r>
              <a:rPr lang="en-US" altLang="en-US" sz="780" dirty="0">
                <a:solidFill>
                  <a:srgbClr val="5B6677"/>
                </a:solidFill>
                <a:latin typeface="Inter" pitchFamily="34" charset="0"/>
                <a:ea typeface="Inter" pitchFamily="34" charset="-122"/>
                <a:cs typeface="Inter" pitchFamily="34" charset="-120"/>
              </a:rPr>
              <a:t>Defined warranty coverage for products and services under applicable terms.</a:t>
            </a:r>
            <a:endParaRPr lang="en-US" sz="900" dirty="0"/>
          </a:p>
        </p:txBody>
      </p:sp>
      <p:sp>
        <p:nvSpPr>
          <p:cNvPr id="28" name="Text 26"/>
          <p:cNvSpPr txBox="1"/>
          <p:nvPr/>
        </p:nvSpPr>
        <p:spPr>
          <a:xfrm>
            <a:off x="6263640" y="3566160"/>
            <a:ext cx="5212080" cy="384048"/>
          </a:xfrm>
          <a:prstGeom prst="rect">
            <a:avLst/>
          </a:prstGeom>
          <a:noFill/>
          <a:ln/>
        </p:spPr>
        <p:txBody>
          <a:bodyPr wrap="square" lIns="0" tIns="0" rIns="0" bIns="0" rtlCol="0" anchor="t"/>
          <a:lstStyle/>
          <a:p>
            <a:pPr rtl="1" algn="r" indent="0" marL="0">
              <a:lnSpc>
                <a:spcPct val="110000"/>
              </a:lnSpc>
              <a:spcAft>
                <a:spcPts val="100"/>
              </a:spcAft>
              <a:buNone/>
            </a:pPr>
            <a:r>
              <a:rPr lang="ar-AE" altLang="en-US" sz="1000" b="1" dirty="0">
                <a:solidFill>
                  <a:srgbClr val="0A1628"/>
                </a:solidFill>
                <a:latin typeface="IBM Plex Sans Arabic" pitchFamily="34" charset="0"/>
                <a:ea typeface="IBM Plex Sans Arabic" pitchFamily="34" charset="-122"/>
                <a:cs typeface="IBM Plex Sans Arabic" pitchFamily="34" charset="-120"/>
              </a:rPr>
              <a:t>الضمان</a:t>
            </a:r>
            <a:endParaRPr lang="ar-AE" sz="1000" dirty="0"/>
          </a:p>
          <a:p>
            <a:pPr rtl="1" algn="r" indent="0" marL="0">
              <a:lnSpc>
                <a:spcPct val="110000"/>
              </a:lnSpc>
              <a:spcAft>
                <a:spcPts val="100"/>
              </a:spcAft>
              <a:buNone/>
            </a:pPr>
            <a:r>
              <a:rPr lang="ar-AE" altLang="en-US" sz="840" dirty="0">
                <a:solidFill>
                  <a:srgbClr val="5B6677"/>
                </a:solidFill>
                <a:latin typeface="IBM Plex Sans Arabic" pitchFamily="34" charset="0"/>
                <a:ea typeface="IBM Plex Sans Arabic" pitchFamily="34" charset="-122"/>
                <a:cs typeface="IBM Plex Sans Arabic" pitchFamily="34" charset="-120"/>
              </a:rPr>
              <a:t>ضمانات محددة على المنتجات والخدمات وفقاً للشروط المعتمدة.</a:t>
            </a:r>
            <a:endParaRPr lang="ar-AE" sz="1000" dirty="0"/>
          </a:p>
        </p:txBody>
      </p:sp>
      <p:sp>
        <p:nvSpPr>
          <p:cNvPr id="29" name="Shape 27"/>
          <p:cNvSpPr/>
          <p:nvPr/>
        </p:nvSpPr>
        <p:spPr>
          <a:xfrm>
            <a:off x="548640" y="4050792"/>
            <a:ext cx="11094415" cy="475488"/>
          </a:xfrm>
          <a:prstGeom prst="rect">
            <a:avLst/>
          </a:prstGeom>
          <a:solidFill>
            <a:srgbClr val="F4F6F9"/>
          </a:solidFill>
          <a:ln w="12700">
            <a:solidFill>
              <a:srgbClr val="F4F6F9"/>
            </a:solidFill>
            <a:prstDash val="solid"/>
          </a:ln>
        </p:spPr>
      </p:sp>
      <p:sp>
        <p:nvSpPr>
          <p:cNvPr id="30" name="Text 28"/>
          <p:cNvSpPr txBox="1"/>
          <p:nvPr/>
        </p:nvSpPr>
        <p:spPr>
          <a:xfrm>
            <a:off x="685800" y="4169664"/>
            <a:ext cx="457200" cy="228600"/>
          </a:xfrm>
          <a:prstGeom prst="rect">
            <a:avLst/>
          </a:prstGeom>
          <a:noFill/>
          <a:ln/>
        </p:spPr>
        <p:txBody>
          <a:bodyPr wrap="square" lIns="0" tIns="0" rIns="0" bIns="0" rtlCol="0" anchor="t"/>
          <a:lstStyle/>
          <a:p>
            <a:pPr algn="l" indent="0" marL="0">
              <a:lnSpc>
                <a:spcPct val="110000"/>
              </a:lnSpc>
              <a:spcAft>
                <a:spcPts val="500"/>
              </a:spcAft>
              <a:buNone/>
            </a:pPr>
            <a:r>
              <a:rPr lang="en-US" altLang="en-US" sz="1100" b="1" dirty="0">
                <a:solidFill>
                  <a:srgbClr val="7FA83F"/>
                </a:solidFill>
                <a:latin typeface="Sora" pitchFamily="34" charset="0"/>
                <a:ea typeface="Sora" pitchFamily="34" charset="-122"/>
                <a:cs typeface="Sora" pitchFamily="34" charset="-120"/>
              </a:rPr>
              <a:t>07</a:t>
            </a:r>
            <a:endParaRPr lang="en-US" sz="1100" dirty="0"/>
          </a:p>
        </p:txBody>
      </p:sp>
      <p:sp>
        <p:nvSpPr>
          <p:cNvPr id="31" name="Text 29"/>
          <p:cNvSpPr txBox="1"/>
          <p:nvPr/>
        </p:nvSpPr>
        <p:spPr>
          <a:xfrm>
            <a:off x="1188720" y="4105656"/>
            <a:ext cx="4846320" cy="384048"/>
          </a:xfrm>
          <a:prstGeom prst="rect">
            <a:avLst/>
          </a:prstGeom>
          <a:noFill/>
          <a:ln/>
        </p:spPr>
        <p:txBody>
          <a:bodyPr wrap="square" lIns="0" tIns="0" rIns="0" bIns="0" rtlCol="0" anchor="t"/>
          <a:lstStyle/>
          <a:p>
            <a:pPr algn="l" indent="0" marL="0">
              <a:lnSpc>
                <a:spcPct val="110000"/>
              </a:lnSpc>
              <a:spcAft>
                <a:spcPts val="100"/>
              </a:spcAft>
              <a:buNone/>
            </a:pPr>
            <a:r>
              <a:rPr lang="en-US" altLang="en-US" sz="900" b="1" dirty="0">
                <a:solidFill>
                  <a:srgbClr val="0A1628"/>
                </a:solidFill>
                <a:latin typeface="Sora" pitchFamily="34" charset="0"/>
                <a:ea typeface="Sora" pitchFamily="34" charset="-122"/>
                <a:cs typeface="Sora" pitchFamily="34" charset="-120"/>
              </a:rPr>
              <a:t>Convenient Shopping</a:t>
            </a:r>
            <a:endParaRPr lang="en-US" sz="900" dirty="0"/>
          </a:p>
          <a:p>
            <a:pPr algn="l" indent="0" marL="0">
              <a:lnSpc>
                <a:spcPct val="110000"/>
              </a:lnSpc>
              <a:spcAft>
                <a:spcPts val="100"/>
              </a:spcAft>
              <a:buNone/>
            </a:pPr>
            <a:r>
              <a:rPr lang="en-US" altLang="en-US" sz="780" dirty="0">
                <a:solidFill>
                  <a:srgbClr val="5B6677"/>
                </a:solidFill>
                <a:latin typeface="Inter" pitchFamily="34" charset="0"/>
                <a:ea typeface="Inter" pitchFamily="34" charset="-122"/>
                <a:cs typeface="Inter" pitchFamily="34" charset="-120"/>
              </a:rPr>
              <a:t>Online shopping with delivery options across the UAE and Oman.</a:t>
            </a:r>
            <a:endParaRPr lang="en-US" sz="900" dirty="0"/>
          </a:p>
        </p:txBody>
      </p:sp>
      <p:sp>
        <p:nvSpPr>
          <p:cNvPr id="32" name="Text 30"/>
          <p:cNvSpPr txBox="1"/>
          <p:nvPr/>
        </p:nvSpPr>
        <p:spPr>
          <a:xfrm>
            <a:off x="6263640" y="4096512"/>
            <a:ext cx="5212080" cy="384048"/>
          </a:xfrm>
          <a:prstGeom prst="rect">
            <a:avLst/>
          </a:prstGeom>
          <a:noFill/>
          <a:ln/>
        </p:spPr>
        <p:txBody>
          <a:bodyPr wrap="square" lIns="0" tIns="0" rIns="0" bIns="0" rtlCol="0" anchor="t"/>
          <a:lstStyle/>
          <a:p>
            <a:pPr rtl="1" algn="r" indent="0" marL="0">
              <a:lnSpc>
                <a:spcPct val="110000"/>
              </a:lnSpc>
              <a:spcAft>
                <a:spcPts val="100"/>
              </a:spcAft>
              <a:buNone/>
            </a:pPr>
            <a:r>
              <a:rPr lang="ar-AE" altLang="en-US" sz="1000" b="1" dirty="0">
                <a:solidFill>
                  <a:srgbClr val="0A1628"/>
                </a:solidFill>
                <a:latin typeface="IBM Plex Sans Arabic" pitchFamily="34" charset="0"/>
                <a:ea typeface="IBM Plex Sans Arabic" pitchFamily="34" charset="-122"/>
                <a:cs typeface="IBM Plex Sans Arabic" pitchFamily="34" charset="-120"/>
              </a:rPr>
              <a:t>سهولة الطلب</a:t>
            </a:r>
            <a:endParaRPr lang="ar-AE" sz="1000" dirty="0"/>
          </a:p>
          <a:p>
            <a:pPr rtl="1" algn="r" indent="0" marL="0">
              <a:lnSpc>
                <a:spcPct val="110000"/>
              </a:lnSpc>
              <a:spcAft>
                <a:spcPts val="100"/>
              </a:spcAft>
              <a:buNone/>
            </a:pPr>
            <a:r>
              <a:rPr lang="ar-AE" altLang="en-US" sz="840" dirty="0">
                <a:solidFill>
                  <a:srgbClr val="5B6677"/>
                </a:solidFill>
                <a:latin typeface="IBM Plex Sans Arabic" pitchFamily="34" charset="0"/>
                <a:ea typeface="IBM Plex Sans Arabic" pitchFamily="34" charset="-122"/>
                <a:cs typeface="IBM Plex Sans Arabic" pitchFamily="34" charset="-120"/>
              </a:rPr>
              <a:t>التسوق عبر الإنترنت مع خيارات التوصيل في الإمارات وسلطنة عُمان.</a:t>
            </a:r>
            <a:endParaRPr lang="ar-AE" sz="1000" dirty="0"/>
          </a:p>
        </p:txBody>
      </p:sp>
      <p:sp>
        <p:nvSpPr>
          <p:cNvPr id="33" name="Text 31"/>
          <p:cNvSpPr txBox="1"/>
          <p:nvPr/>
        </p:nvSpPr>
        <p:spPr>
          <a:xfrm>
            <a:off x="548640" y="4681728"/>
            <a:ext cx="5547208" cy="274320"/>
          </a:xfrm>
          <a:prstGeom prst="rect">
            <a:avLst/>
          </a:prstGeom>
          <a:noFill/>
          <a:ln/>
        </p:spPr>
        <p:txBody>
          <a:bodyPr wrap="square" lIns="0" tIns="0" rIns="0" bIns="0" rtlCol="0" anchor="t"/>
          <a:lstStyle/>
          <a:p>
            <a:pPr algn="l" indent="0" marL="0">
              <a:lnSpc>
                <a:spcPct val="110000"/>
              </a:lnSpc>
              <a:spcAft>
                <a:spcPts val="500"/>
              </a:spcAft>
              <a:buNone/>
            </a:pPr>
            <a:r>
              <a:rPr lang="en-US" altLang="en-US" sz="1000" b="1" dirty="0">
                <a:solidFill>
                  <a:srgbClr val="3E9ACA"/>
                </a:solidFill>
                <a:latin typeface="Sora" pitchFamily="34" charset="0"/>
                <a:ea typeface="Sora" pitchFamily="34" charset="-122"/>
                <a:cs typeface="Sora" pitchFamily="34" charset="-120"/>
              </a:rPr>
              <a:t>17</a:t>
            </a:r>
            <a:pPr algn="l" indent="0" marL="0">
              <a:lnSpc>
                <a:spcPct val="110000"/>
              </a:lnSpc>
              <a:spcAft>
                <a:spcPts val="500"/>
              </a:spcAft>
              <a:buNone/>
            </a:pPr>
            <a:r>
              <a:rPr lang="en-US" altLang="en-US" sz="1000" b="1" spc="200" kern="0" dirty="0">
                <a:solidFill>
                  <a:srgbClr val="0A1628"/>
                </a:solidFill>
                <a:latin typeface="Sora" pitchFamily="34" charset="0"/>
                <a:ea typeface="Sora" pitchFamily="34" charset="-122"/>
                <a:cs typeface="Sora" pitchFamily="34" charset="-120"/>
              </a:rPr>
              <a:t>  |  OUR FUTURE DIRECTION</a:t>
            </a:r>
            <a:endParaRPr lang="en-US" sz="1000" dirty="0"/>
          </a:p>
        </p:txBody>
      </p:sp>
      <p:sp>
        <p:nvSpPr>
          <p:cNvPr id="34" name="Text 32"/>
          <p:cNvSpPr txBox="1"/>
          <p:nvPr/>
        </p:nvSpPr>
        <p:spPr>
          <a:xfrm>
            <a:off x="6095848" y="4663440"/>
            <a:ext cx="5547208" cy="274320"/>
          </a:xfrm>
          <a:prstGeom prst="rect">
            <a:avLst/>
          </a:prstGeom>
          <a:noFill/>
          <a:ln/>
        </p:spPr>
        <p:txBody>
          <a:bodyPr wrap="square" lIns="0" tIns="0" rIns="0" bIns="0" rtlCol="0" anchor="t"/>
          <a:lstStyle/>
          <a:p>
            <a:pPr rtl="1" algn="r" indent="0" marL="0">
              <a:lnSpc>
                <a:spcPct val="110000"/>
              </a:lnSpc>
              <a:spcAft>
                <a:spcPts val="500"/>
              </a:spcAft>
              <a:buNone/>
            </a:pPr>
            <a:r>
              <a:rPr lang="ar-AE" altLang="en-US" sz="1200" b="1" dirty="0">
                <a:solidFill>
                  <a:srgbClr val="3E9ACA"/>
                </a:solidFill>
                <a:latin typeface="IBM Plex Sans Arabic" pitchFamily="34" charset="0"/>
                <a:ea typeface="IBM Plex Sans Arabic" pitchFamily="34" charset="-122"/>
                <a:cs typeface="IBM Plex Sans Arabic" pitchFamily="34" charset="-120"/>
              </a:rPr>
              <a:t>17</a:t>
            </a:r>
            <a:pPr algn="r" indent="0" marL="0">
              <a:lnSpc>
                <a:spcPct val="110000"/>
              </a:lnSpc>
              <a:spcAft>
                <a:spcPts val="500"/>
              </a:spcAft>
              <a:buNone/>
            </a:pPr>
            <a:r>
              <a:rPr lang="ar-AE" altLang="en-US" sz="1200" b="1" dirty="0">
                <a:solidFill>
                  <a:srgbClr val="0A1628"/>
                </a:solidFill>
                <a:latin typeface="IBM Plex Sans Arabic" pitchFamily="34" charset="0"/>
                <a:ea typeface="IBM Plex Sans Arabic" pitchFamily="34" charset="-122"/>
                <a:cs typeface="IBM Plex Sans Arabic" pitchFamily="34" charset="-120"/>
              </a:rPr>
              <a:t>  |  خططنا المستقبلية</a:t>
            </a:r>
            <a:endParaRPr lang="ar-AE" sz="1200" dirty="0"/>
          </a:p>
        </p:txBody>
      </p:sp>
      <p:sp>
        <p:nvSpPr>
          <p:cNvPr id="35" name="Shape 33"/>
          <p:cNvSpPr/>
          <p:nvPr/>
        </p:nvSpPr>
        <p:spPr>
          <a:xfrm>
            <a:off x="548640" y="4992624"/>
            <a:ext cx="11094415" cy="0"/>
          </a:xfrm>
          <a:prstGeom prst="line">
            <a:avLst/>
          </a:prstGeom>
          <a:noFill/>
          <a:ln w="9525">
            <a:solidFill>
              <a:srgbClr val="E3E8EF"/>
            </a:solidFill>
            <a:prstDash val="solid"/>
          </a:ln>
        </p:spPr>
      </p:sp>
      <p:sp>
        <p:nvSpPr>
          <p:cNvPr id="36" name="Text 34"/>
          <p:cNvSpPr txBox="1"/>
          <p:nvPr/>
        </p:nvSpPr>
        <p:spPr>
          <a:xfrm>
            <a:off x="548640" y="5120640"/>
            <a:ext cx="5349240" cy="1188720"/>
          </a:xfrm>
          <a:prstGeom prst="rect">
            <a:avLst/>
          </a:prstGeom>
          <a:noFill/>
          <a:ln/>
        </p:spPr>
        <p:txBody>
          <a:bodyPr wrap="square" lIns="0" tIns="0" rIns="0" bIns="0" rtlCol="0" anchor="t"/>
          <a:lstStyle/>
          <a:p>
            <a:pPr algn="l" indent="0" marL="0">
              <a:lnSpc>
                <a:spcPct val="110000"/>
              </a:lnSpc>
              <a:spcAft>
                <a:spcPts val="500"/>
              </a:spcAft>
              <a:buNone/>
            </a:pPr>
            <a:r>
              <a:rPr lang="en-US" altLang="en-US" sz="880" dirty="0">
                <a:solidFill>
                  <a:srgbClr val="0A1628"/>
                </a:solidFill>
                <a:latin typeface="Inter" pitchFamily="34" charset="0"/>
                <a:ea typeface="Inter" pitchFamily="34" charset="-122"/>
                <a:cs typeface="Inter" pitchFamily="34" charset="-120"/>
              </a:rPr>
              <a:t>EVCARS continues to develop its presence in the electric vehicle sector by strengthening its branch network, expanding its specialized product range, enhancing charging and installation services, and improving the online shopping experience.</a:t>
            </a:r>
            <a:endParaRPr lang="en-US" sz="880" dirty="0"/>
          </a:p>
          <a:p>
            <a:pPr algn="l" indent="0" marL="0">
              <a:lnSpc>
                <a:spcPct val="110000"/>
              </a:lnSpc>
              <a:spcAft>
                <a:spcPts val="500"/>
              </a:spcAft>
              <a:buNone/>
            </a:pPr>
            <a:r>
              <a:rPr lang="en-US" altLang="en-US" sz="880" dirty="0">
                <a:solidFill>
                  <a:srgbClr val="0A1628"/>
                </a:solidFill>
                <a:latin typeface="Inter" pitchFamily="34" charset="0"/>
                <a:ea typeface="Inter" pitchFamily="34" charset="-122"/>
                <a:cs typeface="Inter" pitchFamily="34" charset="-120"/>
              </a:rPr>
              <a:t>The company’s future direction includes expansion into additional regional markets, beginning with Saudi Arabia, while building a consistent brand experience across multiple markets.</a:t>
            </a:r>
            <a:endParaRPr lang="en-US" sz="880" dirty="0"/>
          </a:p>
        </p:txBody>
      </p:sp>
      <p:sp>
        <p:nvSpPr>
          <p:cNvPr id="37" name="Text 35"/>
          <p:cNvSpPr txBox="1"/>
          <p:nvPr/>
        </p:nvSpPr>
        <p:spPr>
          <a:xfrm>
            <a:off x="6293815" y="5102352"/>
            <a:ext cx="5349240" cy="1188720"/>
          </a:xfrm>
          <a:prstGeom prst="rect">
            <a:avLst/>
          </a:prstGeom>
          <a:noFill/>
          <a:ln/>
        </p:spPr>
        <p:txBody>
          <a:bodyPr wrap="square" lIns="0" tIns="0" rIns="0" bIns="0" rtlCol="0" anchor="t"/>
          <a:lstStyle/>
          <a:p>
            <a:pPr rtl="1" algn="r" indent="0" marL="0">
              <a:lnSpc>
                <a:spcPct val="110000"/>
              </a:lnSpc>
              <a:spcAft>
                <a:spcPts val="500"/>
              </a:spcAft>
              <a:buNone/>
            </a:pPr>
            <a:r>
              <a:rPr lang="ar-AE" altLang="en-US" sz="950" dirty="0">
                <a:solidFill>
                  <a:srgbClr val="0A1628"/>
                </a:solidFill>
                <a:latin typeface="IBM Plex Sans Arabic" pitchFamily="34" charset="0"/>
                <a:ea typeface="IBM Plex Sans Arabic" pitchFamily="34" charset="-122"/>
                <a:cs typeface="IBM Plex Sans Arabic" pitchFamily="34" charset="-120"/>
              </a:rPr>
              <a:t>تواصل EVCARS العمل على تطوير حضورها في قطاع السيارات الكهربائية من خلال تعزيز شبكة الفروع، وتوسيع نطاق المنتجات المتخصصة، وتطوير خدمات الشحن والتركيب، وتحسين تجربة التسوق الإلكتروني.</a:t>
            </a:r>
            <a:endParaRPr lang="ar-AE" sz="950" dirty="0"/>
          </a:p>
          <a:p>
            <a:pPr rtl="1" algn="r" indent="0" marL="0">
              <a:lnSpc>
                <a:spcPct val="110000"/>
              </a:lnSpc>
              <a:spcAft>
                <a:spcPts val="500"/>
              </a:spcAft>
              <a:buNone/>
            </a:pPr>
            <a:r>
              <a:rPr lang="ar-AE" altLang="en-US" sz="950" dirty="0">
                <a:solidFill>
                  <a:srgbClr val="0A1628"/>
                </a:solidFill>
                <a:latin typeface="IBM Plex Sans Arabic" pitchFamily="34" charset="0"/>
                <a:ea typeface="IBM Plex Sans Arabic" pitchFamily="34" charset="-122"/>
                <a:cs typeface="IBM Plex Sans Arabic" pitchFamily="34" charset="-120"/>
              </a:rPr>
              <a:t>وتشمل توجهات الشركة التوسع في أسواق إقليمية جديدة، وفي مقدمتها المملكة العربية السعودية، مع التركيز على بناء علامة تجارية موحدة قادرة على خدمة العملاء عبر أسواق متعددة.</a:t>
            </a:r>
            <a:endParaRPr lang="ar-AE" sz="950" dirty="0"/>
          </a:p>
        </p:txBody>
      </p:sp>
      <p:sp>
        <p:nvSpPr>
          <p:cNvPr id="38" name="Shape 36"/>
          <p:cNvSpPr/>
          <p:nvPr/>
        </p:nvSpPr>
        <p:spPr>
          <a:xfrm>
            <a:off x="6096305" y="5166360"/>
            <a:ext cx="0" cy="1005840"/>
          </a:xfrm>
          <a:prstGeom prst="line">
            <a:avLst/>
          </a:prstGeom>
          <a:noFill/>
          <a:ln w="9525">
            <a:solidFill>
              <a:srgbClr val="E3E8EF"/>
            </a:solidFill>
            <a:prstDash val="solid"/>
          </a:ln>
        </p:spPr>
      </p:sp>
      <p:sp>
        <p:nvSpPr>
          <p:cNvPr id="39" name="Shape 37"/>
          <p:cNvSpPr/>
          <p:nvPr/>
        </p:nvSpPr>
        <p:spPr>
          <a:xfrm>
            <a:off x="548640" y="6428232"/>
            <a:ext cx="11094415" cy="0"/>
          </a:xfrm>
          <a:prstGeom prst="line">
            <a:avLst/>
          </a:prstGeom>
          <a:noFill/>
          <a:ln w="9525">
            <a:solidFill>
              <a:srgbClr val="E3E8EF"/>
            </a:solidFill>
            <a:prstDash val="solid"/>
          </a:ln>
        </p:spPr>
      </p:sp>
      <p:pic>
        <p:nvPicPr>
          <p:cNvPr id="40" name="Image 0" descr="EVCARS logo">
            <a:hlinkClick r:id="rId2" tooltip="Back to cover" action="ppaction://hlinksldjump"/>
          </p:cNvPr>
          <p:cNvPicPr>
            <a:picLocks noChangeAspect="1"/>
          </p:cNvPicPr>
          <p:nvPr/>
        </p:nvPicPr>
        <p:blipFill>
          <a:blip r:embed="rId1"/>
          <a:stretch>
            <a:fillRect/>
          </a:stretch>
        </p:blipFill>
        <p:spPr>
          <a:xfrm>
            <a:off x="548640" y="6510528"/>
            <a:ext cx="833104" cy="155448"/>
          </a:xfrm>
          <a:prstGeom prst="rect">
            <a:avLst/>
          </a:prstGeom>
        </p:spPr>
      </p:pic>
      <p:sp>
        <p:nvSpPr>
          <p:cNvPr id="41" name="Text 38">
            <a:hlinkClick r:id="rId3" tooltip="www.evcars.me"/>
          </p:cNvPr>
          <p:cNvSpPr txBox="1"/>
          <p:nvPr/>
        </p:nvSpPr>
        <p:spPr>
          <a:xfrm>
            <a:off x="1600200" y="6492240"/>
            <a:ext cx="1463040" cy="201168"/>
          </a:xfrm>
          <a:prstGeom prst="rect">
            <a:avLst/>
          </a:prstGeom>
          <a:noFill/>
          <a:ln/>
        </p:spPr>
        <p:txBody>
          <a:bodyPr wrap="square" lIns="0" tIns="0" rIns="0" bIns="0" rtlCol="0" anchor="ctr"/>
          <a:lstStyle/>
          <a:p>
            <a:pPr indent="0" marL="0">
              <a:buNone/>
            </a:pPr>
            <a:r>
              <a:rPr lang="en-US" sz="800" u="sng" dirty="0">
                <a:solidFill>
                  <a:srgbClr val="3E9ACA"/>
                </a:solidFill>
                <a:latin typeface="Inter" pitchFamily="34" charset="0"/>
                <a:ea typeface="Inter" pitchFamily="34" charset="-122"/>
                <a:cs typeface="Inter" pitchFamily="34" charset="-120"/>
                <a:hlinkClick r:id="rId3" invalidUrl="" action="" tgtFrame="" tooltip="www.evcars.me" history="1" highlightClick="0" endSnd="0">
                  <a:extLst>
                    <a:ext uri="{A12FA001-AC4F-418D-AE19-62706E023703}">
                      <ahyp:hlinkClr xmlns:ahyp="http://schemas.microsoft.com/office/drawing/2018/hyperlinkcolor" val="tx"/>
                    </a:ext>
                  </a:extLst>
                </a:hlinkClick>
              </a:rPr>
              <a:t>www.evcars.me</a:t>
            </a:r>
            <a:endParaRPr lang="en-US" sz="800" dirty="0"/>
          </a:p>
        </p:txBody>
      </p:sp>
      <p:sp>
        <p:nvSpPr>
          <p:cNvPr id="42" name="Text 39">
            <a:hlinkClick r:id="rId4" tooltip="Page 1" action="ppaction://hlinksldjump"/>
          </p:cNvPr>
          <p:cNvSpPr txBox="1"/>
          <p:nvPr/>
        </p:nvSpPr>
        <p:spPr>
          <a:xfrm>
            <a:off x="834847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4" action="ppaction://hlinksldjump" tooltip="Page 1">
                  <a:extLst>
                    <a:ext uri="{A12FA001-AC4F-418D-AE19-62706E023703}">
                      <ahyp:hlinkClr xmlns:ahyp="http://schemas.microsoft.com/office/drawing/2018/hyperlinkcolor" val="tx"/>
                    </a:ext>
                  </a:extLst>
                </a:hlinkClick>
              </a:rPr>
              <a:t>1</a:t>
            </a:r>
            <a:endParaRPr lang="en-US" sz="750" dirty="0"/>
          </a:p>
        </p:txBody>
      </p:sp>
      <p:sp>
        <p:nvSpPr>
          <p:cNvPr id="43" name="Text 40">
            <a:hlinkClick r:id="rId5" tooltip="Page 2" action="ppaction://hlinksldjump"/>
          </p:cNvPr>
          <p:cNvSpPr txBox="1"/>
          <p:nvPr/>
        </p:nvSpPr>
        <p:spPr>
          <a:xfrm>
            <a:off x="862279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5" action="ppaction://hlinksldjump" tooltip="Page 2">
                  <a:extLst>
                    <a:ext uri="{A12FA001-AC4F-418D-AE19-62706E023703}">
                      <ahyp:hlinkClr xmlns:ahyp="http://schemas.microsoft.com/office/drawing/2018/hyperlinkcolor" val="tx"/>
                    </a:ext>
                  </a:extLst>
                </a:hlinkClick>
              </a:rPr>
              <a:t>2</a:t>
            </a:r>
            <a:endParaRPr lang="en-US" sz="750" dirty="0"/>
          </a:p>
        </p:txBody>
      </p:sp>
      <p:sp>
        <p:nvSpPr>
          <p:cNvPr id="44" name="Text 41">
            <a:hlinkClick r:id="rId6" tooltip="Page 3" action="ppaction://hlinksldjump"/>
          </p:cNvPr>
          <p:cNvSpPr txBox="1"/>
          <p:nvPr/>
        </p:nvSpPr>
        <p:spPr>
          <a:xfrm>
            <a:off x="889711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6" action="ppaction://hlinksldjump" tooltip="Page 3">
                  <a:extLst>
                    <a:ext uri="{A12FA001-AC4F-418D-AE19-62706E023703}">
                      <ahyp:hlinkClr xmlns:ahyp="http://schemas.microsoft.com/office/drawing/2018/hyperlinkcolor" val="tx"/>
                    </a:ext>
                  </a:extLst>
                </a:hlinkClick>
              </a:rPr>
              <a:t>3</a:t>
            </a:r>
            <a:endParaRPr lang="en-US" sz="750" dirty="0"/>
          </a:p>
        </p:txBody>
      </p:sp>
      <p:sp>
        <p:nvSpPr>
          <p:cNvPr id="45" name="Text 42">
            <a:hlinkClick r:id="rId7" tooltip="Page 4" action="ppaction://hlinksldjump"/>
          </p:cNvPr>
          <p:cNvSpPr txBox="1"/>
          <p:nvPr/>
        </p:nvSpPr>
        <p:spPr>
          <a:xfrm>
            <a:off x="917143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7" action="ppaction://hlinksldjump" tooltip="Page 4">
                  <a:extLst>
                    <a:ext uri="{A12FA001-AC4F-418D-AE19-62706E023703}">
                      <ahyp:hlinkClr xmlns:ahyp="http://schemas.microsoft.com/office/drawing/2018/hyperlinkcolor" val="tx"/>
                    </a:ext>
                  </a:extLst>
                </a:hlinkClick>
              </a:rPr>
              <a:t>4</a:t>
            </a:r>
            <a:endParaRPr lang="en-US" sz="750" dirty="0"/>
          </a:p>
        </p:txBody>
      </p:sp>
      <p:sp>
        <p:nvSpPr>
          <p:cNvPr id="46" name="Text 43">
            <a:hlinkClick r:id="rId8" tooltip="Page 5" action="ppaction://hlinksldjump"/>
          </p:cNvPr>
          <p:cNvSpPr txBox="1"/>
          <p:nvPr/>
        </p:nvSpPr>
        <p:spPr>
          <a:xfrm>
            <a:off x="944575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8" action="ppaction://hlinksldjump" tooltip="Page 5">
                  <a:extLst>
                    <a:ext uri="{A12FA001-AC4F-418D-AE19-62706E023703}">
                      <ahyp:hlinkClr xmlns:ahyp="http://schemas.microsoft.com/office/drawing/2018/hyperlinkcolor" val="tx"/>
                    </a:ext>
                  </a:extLst>
                </a:hlinkClick>
              </a:rPr>
              <a:t>5</a:t>
            </a:r>
            <a:endParaRPr lang="en-US" sz="750" dirty="0"/>
          </a:p>
        </p:txBody>
      </p:sp>
      <p:sp>
        <p:nvSpPr>
          <p:cNvPr id="47" name="Text 44">
            <a:hlinkClick r:id="rId9" tooltip="Page 6" action="ppaction://hlinksldjump"/>
          </p:cNvPr>
          <p:cNvSpPr txBox="1"/>
          <p:nvPr/>
        </p:nvSpPr>
        <p:spPr>
          <a:xfrm>
            <a:off x="972007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9" action="ppaction://hlinksldjump" tooltip="Page 6">
                  <a:extLst>
                    <a:ext uri="{A12FA001-AC4F-418D-AE19-62706E023703}">
                      <ahyp:hlinkClr xmlns:ahyp="http://schemas.microsoft.com/office/drawing/2018/hyperlinkcolor" val="tx"/>
                    </a:ext>
                  </a:extLst>
                </a:hlinkClick>
              </a:rPr>
              <a:t>6</a:t>
            </a:r>
            <a:endParaRPr lang="en-US" sz="750" dirty="0"/>
          </a:p>
        </p:txBody>
      </p:sp>
      <p:sp>
        <p:nvSpPr>
          <p:cNvPr id="48" name="Text 45">
            <a:hlinkClick r:id="rId10" tooltip="Page 7" action="ppaction://hlinksldjump"/>
          </p:cNvPr>
          <p:cNvSpPr txBox="1"/>
          <p:nvPr/>
        </p:nvSpPr>
        <p:spPr>
          <a:xfrm>
            <a:off x="999439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0" action="ppaction://hlinksldjump" tooltip="Page 7">
                  <a:extLst>
                    <a:ext uri="{A12FA001-AC4F-418D-AE19-62706E023703}">
                      <ahyp:hlinkClr xmlns:ahyp="http://schemas.microsoft.com/office/drawing/2018/hyperlinkcolor" val="tx"/>
                    </a:ext>
                  </a:extLst>
                </a:hlinkClick>
              </a:rPr>
              <a:t>7</a:t>
            </a:r>
            <a:endParaRPr lang="en-US" sz="750" dirty="0"/>
          </a:p>
        </p:txBody>
      </p:sp>
      <p:sp>
        <p:nvSpPr>
          <p:cNvPr id="49" name="Text 46">
            <a:hlinkClick r:id="rId11" tooltip="Page 8" action="ppaction://hlinksldjump"/>
          </p:cNvPr>
          <p:cNvSpPr txBox="1"/>
          <p:nvPr/>
        </p:nvSpPr>
        <p:spPr>
          <a:xfrm>
            <a:off x="1026871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1" action="ppaction://hlinksldjump" tooltip="Page 8">
                  <a:extLst>
                    <a:ext uri="{A12FA001-AC4F-418D-AE19-62706E023703}">
                      <ahyp:hlinkClr xmlns:ahyp="http://schemas.microsoft.com/office/drawing/2018/hyperlinkcolor" val="tx"/>
                    </a:ext>
                  </a:extLst>
                </a:hlinkClick>
              </a:rPr>
              <a:t>8</a:t>
            </a:r>
            <a:endParaRPr lang="en-US" sz="750" dirty="0"/>
          </a:p>
        </p:txBody>
      </p:sp>
      <p:sp>
        <p:nvSpPr>
          <p:cNvPr id="50" name="Text 47">
            <a:hlinkClick r:id="rId12" tooltip="Page 9" action="ppaction://hlinksldjump"/>
          </p:cNvPr>
          <p:cNvSpPr txBox="1"/>
          <p:nvPr/>
        </p:nvSpPr>
        <p:spPr>
          <a:xfrm>
            <a:off x="1054303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2" action="ppaction://hlinksldjump" tooltip="Page 9">
                  <a:extLst>
                    <a:ext uri="{A12FA001-AC4F-418D-AE19-62706E023703}">
                      <ahyp:hlinkClr xmlns:ahyp="http://schemas.microsoft.com/office/drawing/2018/hyperlinkcolor" val="tx"/>
                    </a:ext>
                  </a:extLst>
                </a:hlinkClick>
              </a:rPr>
              <a:t>9</a:t>
            </a:r>
            <a:endParaRPr lang="en-US" sz="750" dirty="0"/>
          </a:p>
        </p:txBody>
      </p:sp>
      <p:sp>
        <p:nvSpPr>
          <p:cNvPr id="51" name="Text 48">
            <a:hlinkClick r:id="rId13" tooltip="Page 10" action="ppaction://hlinksldjump"/>
          </p:cNvPr>
          <p:cNvSpPr txBox="1"/>
          <p:nvPr/>
        </p:nvSpPr>
        <p:spPr>
          <a:xfrm>
            <a:off x="1081735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3" action="ppaction://hlinksldjump" tooltip="Page 10">
                  <a:extLst>
                    <a:ext uri="{A12FA001-AC4F-418D-AE19-62706E023703}">
                      <ahyp:hlinkClr xmlns:ahyp="http://schemas.microsoft.com/office/drawing/2018/hyperlinkcolor" val="tx"/>
                    </a:ext>
                  </a:extLst>
                </a:hlinkClick>
              </a:rPr>
              <a:t>10</a:t>
            </a:r>
            <a:endParaRPr lang="en-US" sz="750" dirty="0"/>
          </a:p>
        </p:txBody>
      </p:sp>
      <p:sp>
        <p:nvSpPr>
          <p:cNvPr id="52" name="Text 49">
            <a:hlinkClick r:id="rId14" tooltip="Page 11" action="ppaction://hlinksldjump"/>
          </p:cNvPr>
          <p:cNvSpPr txBox="1"/>
          <p:nvPr/>
        </p:nvSpPr>
        <p:spPr>
          <a:xfrm>
            <a:off x="11091672" y="6492240"/>
            <a:ext cx="274320" cy="201168"/>
          </a:xfrm>
          <a:prstGeom prst="rect">
            <a:avLst/>
          </a:prstGeom>
          <a:noFill/>
          <a:ln/>
        </p:spPr>
        <p:txBody>
          <a:bodyPr wrap="square" lIns="0" tIns="0" rIns="0" bIns="0" rtlCol="0" anchor="ctr"/>
          <a:lstStyle/>
          <a:p>
            <a:pPr algn="ctr" indent="0" marL="0">
              <a:buNone/>
            </a:pPr>
            <a:r>
              <a:rPr lang="en-US" sz="750" b="1" u="sng" dirty="0">
                <a:solidFill>
                  <a:srgbClr val="3E9ACA"/>
                </a:solidFill>
                <a:latin typeface="Inter" pitchFamily="34" charset="0"/>
                <a:ea typeface="Inter" pitchFamily="34" charset="-122"/>
                <a:cs typeface="Inter" pitchFamily="34" charset="-120"/>
                <a:hlinkClick r:id="rId14" action="ppaction://hlinksldjump" tooltip="Page 11">
                  <a:extLst>
                    <a:ext uri="{A12FA001-AC4F-418D-AE19-62706E023703}">
                      <ahyp:hlinkClr xmlns:ahyp="http://schemas.microsoft.com/office/drawing/2018/hyperlinkcolor" val="tx"/>
                    </a:ext>
                  </a:extLst>
                </a:hlinkClick>
              </a:rPr>
              <a:t>11</a:t>
            </a:r>
            <a:endParaRPr lang="en-US" sz="750" dirty="0"/>
          </a:p>
        </p:txBody>
      </p:sp>
      <p:sp>
        <p:nvSpPr>
          <p:cNvPr id="53" name="Text 50">
            <a:hlinkClick r:id="rId15" tooltip="Page 12" action="ppaction://hlinksldjump"/>
          </p:cNvPr>
          <p:cNvSpPr txBox="1"/>
          <p:nvPr/>
        </p:nvSpPr>
        <p:spPr>
          <a:xfrm>
            <a:off x="11365992" y="6492240"/>
            <a:ext cx="274320" cy="201168"/>
          </a:xfrm>
          <a:prstGeom prst="rect">
            <a:avLst/>
          </a:prstGeom>
          <a:noFill/>
          <a:ln/>
        </p:spPr>
        <p:txBody>
          <a:bodyPr wrap="square" lIns="0" tIns="0" rIns="0" bIns="0" rtlCol="0" anchor="ctr"/>
          <a:lstStyle/>
          <a:p>
            <a:pPr algn="ctr" indent="0" marL="0">
              <a:buNone/>
            </a:pPr>
            <a:r>
              <a:rPr lang="en-US" sz="750" u="sng" dirty="0">
                <a:solidFill>
                  <a:srgbClr val="5B6677"/>
                </a:solidFill>
                <a:latin typeface="Inter" pitchFamily="34" charset="0"/>
                <a:ea typeface="Inter" pitchFamily="34" charset="-122"/>
                <a:cs typeface="Inter" pitchFamily="34" charset="-120"/>
                <a:hlinkClick r:id="rId15" action="ppaction://hlinksldjump" tooltip="Page 12">
                  <a:extLst>
                    <a:ext uri="{A12FA001-AC4F-418D-AE19-62706E023703}">
                      <ahyp:hlinkClr xmlns:ahyp="http://schemas.microsoft.com/office/drawing/2018/hyperlinkcolor" val="tx"/>
                    </a:ext>
                  </a:extLst>
                </a:hlinkClick>
              </a:rPr>
              <a:t>12</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EVCARS">
            <a:hlinkClick r:id="rId2" tooltip="Back to cover" action="ppaction://hlinksldjump"/>
          </p:cNvPr>
          <p:cNvPicPr>
            <a:picLocks noChangeAspect="1"/>
          </p:cNvPicPr>
          <p:nvPr/>
        </p:nvPicPr>
        <p:blipFill>
          <a:blip r:embed="rId1"/>
          <a:stretch>
            <a:fillRect/>
          </a:stretch>
        </p:blipFill>
        <p:spPr>
          <a:xfrm>
            <a:off x="4449928" y="502920"/>
            <a:ext cx="3291840" cy="614221"/>
          </a:xfrm>
          <a:prstGeom prst="rect">
            <a:avLst/>
          </a:prstGeom>
        </p:spPr>
      </p:pic>
      <p:sp>
        <p:nvSpPr>
          <p:cNvPr id="3" name="Text 0"/>
          <p:cNvSpPr txBox="1"/>
          <p:nvPr/>
        </p:nvSpPr>
        <p:spPr>
          <a:xfrm>
            <a:off x="0" y="1417320"/>
            <a:ext cx="12191695" cy="274320"/>
          </a:xfrm>
          <a:prstGeom prst="rect">
            <a:avLst/>
          </a:prstGeom>
          <a:noFill/>
          <a:ln/>
        </p:spPr>
        <p:txBody>
          <a:bodyPr wrap="square" lIns="0" tIns="0" rIns="0" bIns="0" rtlCol="0" anchor="t"/>
          <a:lstStyle/>
          <a:p>
            <a:pPr algn="ctr" indent="0" marL="0">
              <a:lnSpc>
                <a:spcPct val="110000"/>
              </a:lnSpc>
              <a:spcAft>
                <a:spcPts val="500"/>
              </a:spcAft>
              <a:buNone/>
            </a:pPr>
            <a:r>
              <a:rPr lang="en-US" altLang="en-US" sz="1100" b="1" spc="400" kern="0" dirty="0">
                <a:solidFill>
                  <a:srgbClr val="FFFFFF"/>
                </a:solidFill>
                <a:latin typeface="Sora" pitchFamily="34" charset="0"/>
                <a:ea typeface="Sora" pitchFamily="34" charset="-122"/>
                <a:cs typeface="Sora" pitchFamily="34" charset="-120"/>
              </a:rPr>
              <a:t>EVCARS — ELECTRIC VEHICLE SOLUTIONS</a:t>
            </a:r>
            <a:endParaRPr lang="en-US" sz="1100" dirty="0"/>
          </a:p>
        </p:txBody>
      </p:sp>
      <p:sp>
        <p:nvSpPr>
          <p:cNvPr id="4" name="Shape 1"/>
          <p:cNvSpPr/>
          <p:nvPr/>
        </p:nvSpPr>
        <p:spPr>
          <a:xfrm>
            <a:off x="5486400" y="1828800"/>
            <a:ext cx="1218895" cy="0"/>
          </a:xfrm>
          <a:prstGeom prst="line">
            <a:avLst/>
          </a:prstGeom>
          <a:noFill/>
          <a:ln w="9525">
            <a:solidFill>
              <a:srgbClr val="3E9ACA"/>
            </a:solidFill>
            <a:prstDash val="solid"/>
          </a:ln>
        </p:spPr>
      </p:sp>
      <p:sp>
        <p:nvSpPr>
          <p:cNvPr id="5" name="Text 2"/>
          <p:cNvSpPr txBox="1"/>
          <p:nvPr/>
        </p:nvSpPr>
        <p:spPr>
          <a:xfrm>
            <a:off x="548640" y="2011680"/>
            <a:ext cx="5547208" cy="274320"/>
          </a:xfrm>
          <a:prstGeom prst="rect">
            <a:avLst/>
          </a:prstGeom>
          <a:noFill/>
          <a:ln/>
        </p:spPr>
        <p:txBody>
          <a:bodyPr wrap="square" lIns="0" tIns="0" rIns="0" bIns="0" rtlCol="0" anchor="t"/>
          <a:lstStyle/>
          <a:p>
            <a:pPr algn="l" indent="0" marL="0">
              <a:lnSpc>
                <a:spcPct val="110000"/>
              </a:lnSpc>
              <a:spcAft>
                <a:spcPts val="500"/>
              </a:spcAft>
              <a:buNone/>
            </a:pPr>
            <a:r>
              <a:rPr lang="en-US" altLang="en-US" sz="1000" b="1" dirty="0">
                <a:solidFill>
                  <a:srgbClr val="3E9ACA"/>
                </a:solidFill>
                <a:latin typeface="Sora" pitchFamily="34" charset="0"/>
                <a:ea typeface="Sora" pitchFamily="34" charset="-122"/>
                <a:cs typeface="Sora" pitchFamily="34" charset="-120"/>
              </a:rPr>
              <a:t>18</a:t>
            </a:r>
            <a:pPr algn="l" indent="0" marL="0">
              <a:lnSpc>
                <a:spcPct val="110000"/>
              </a:lnSpc>
              <a:spcAft>
                <a:spcPts val="500"/>
              </a:spcAft>
              <a:buNone/>
            </a:pPr>
            <a:r>
              <a:rPr lang="en-US" altLang="en-US" sz="1000" b="1" spc="200" kern="0" dirty="0">
                <a:solidFill>
                  <a:srgbClr val="FFFFFF"/>
                </a:solidFill>
                <a:latin typeface="Sora" pitchFamily="34" charset="0"/>
                <a:ea typeface="Sora" pitchFamily="34" charset="-122"/>
                <a:cs typeface="Sora" pitchFamily="34" charset="-120"/>
              </a:rPr>
              <a:t>  |  CONTACT US</a:t>
            </a:r>
            <a:endParaRPr lang="en-US" sz="1000" dirty="0"/>
          </a:p>
        </p:txBody>
      </p:sp>
      <p:sp>
        <p:nvSpPr>
          <p:cNvPr id="6" name="Text 3"/>
          <p:cNvSpPr txBox="1"/>
          <p:nvPr/>
        </p:nvSpPr>
        <p:spPr>
          <a:xfrm>
            <a:off x="6095848" y="1993392"/>
            <a:ext cx="5547208" cy="274320"/>
          </a:xfrm>
          <a:prstGeom prst="rect">
            <a:avLst/>
          </a:prstGeom>
          <a:noFill/>
          <a:ln/>
        </p:spPr>
        <p:txBody>
          <a:bodyPr wrap="square" lIns="0" tIns="0" rIns="0" bIns="0" rtlCol="0" anchor="t"/>
          <a:lstStyle/>
          <a:p>
            <a:pPr rtl="1" algn="r" indent="0" marL="0">
              <a:lnSpc>
                <a:spcPct val="110000"/>
              </a:lnSpc>
              <a:spcAft>
                <a:spcPts val="500"/>
              </a:spcAft>
              <a:buNone/>
            </a:pPr>
            <a:r>
              <a:rPr lang="ar-AE" altLang="en-US" sz="1200" b="1" dirty="0">
                <a:solidFill>
                  <a:srgbClr val="3E9ACA"/>
                </a:solidFill>
                <a:latin typeface="IBM Plex Sans Arabic" pitchFamily="34" charset="0"/>
                <a:ea typeface="IBM Plex Sans Arabic" pitchFamily="34" charset="-122"/>
                <a:cs typeface="IBM Plex Sans Arabic" pitchFamily="34" charset="-120"/>
              </a:rPr>
              <a:t>18</a:t>
            </a:r>
            <a:pPr algn="r" indent="0" marL="0">
              <a:lnSpc>
                <a:spcPct val="110000"/>
              </a:lnSpc>
              <a:spcAft>
                <a:spcPts val="500"/>
              </a:spcAft>
              <a:buNone/>
            </a:pPr>
            <a:r>
              <a:rPr lang="ar-AE" altLang="en-US" sz="1200" b="1" dirty="0">
                <a:solidFill>
                  <a:srgbClr val="FFFFFF"/>
                </a:solidFill>
                <a:latin typeface="IBM Plex Sans Arabic" pitchFamily="34" charset="0"/>
                <a:ea typeface="IBM Plex Sans Arabic" pitchFamily="34" charset="-122"/>
                <a:cs typeface="IBM Plex Sans Arabic" pitchFamily="34" charset="-120"/>
              </a:rPr>
              <a:t>  |  تواصل معنا</a:t>
            </a:r>
            <a:endParaRPr lang="ar-AE" sz="1200" dirty="0"/>
          </a:p>
        </p:txBody>
      </p:sp>
      <p:sp>
        <p:nvSpPr>
          <p:cNvPr id="7" name="Shape 4"/>
          <p:cNvSpPr/>
          <p:nvPr/>
        </p:nvSpPr>
        <p:spPr>
          <a:xfrm>
            <a:off x="548640" y="2322576"/>
            <a:ext cx="11094415" cy="0"/>
          </a:xfrm>
          <a:prstGeom prst="line">
            <a:avLst/>
          </a:prstGeom>
          <a:noFill/>
          <a:ln w="9525">
            <a:solidFill>
              <a:srgbClr val="24385A"/>
            </a:solidFill>
            <a:prstDash val="solid"/>
          </a:ln>
        </p:spPr>
      </p:sp>
      <p:sp>
        <p:nvSpPr>
          <p:cNvPr id="8" name="Text 5"/>
          <p:cNvSpPr txBox="1"/>
          <p:nvPr/>
        </p:nvSpPr>
        <p:spPr>
          <a:xfrm>
            <a:off x="548640" y="2560320"/>
            <a:ext cx="3108960" cy="457200"/>
          </a:xfrm>
          <a:prstGeom prst="rect">
            <a:avLst/>
          </a:prstGeom>
          <a:noFill/>
          <a:ln/>
        </p:spPr>
        <p:txBody>
          <a:bodyPr wrap="square" lIns="0" tIns="0" rIns="0" bIns="0" rtlCol="0" anchor="t"/>
          <a:lstStyle/>
          <a:p>
            <a:pPr algn="l" indent="0" marL="0">
              <a:lnSpc>
                <a:spcPct val="110000"/>
              </a:lnSpc>
              <a:spcAft>
                <a:spcPts val="200"/>
              </a:spcAft>
              <a:buNone/>
            </a:pPr>
            <a:r>
              <a:rPr lang="en-US" altLang="en-US" sz="750" b="1" spc="200" kern="0" dirty="0">
                <a:solidFill>
                  <a:srgbClr val="3E9ACA"/>
                </a:solidFill>
                <a:latin typeface="Inter" pitchFamily="34" charset="0"/>
                <a:ea typeface="Inter" pitchFamily="34" charset="-122"/>
                <a:cs typeface="Inter" pitchFamily="34" charset="-120"/>
              </a:rPr>
              <a:t>WEBSITE</a:t>
            </a:r>
            <a:endParaRPr lang="en-US" sz="900" dirty="0"/>
          </a:p>
          <a:p>
            <a:pPr algn="l" indent="0" marL="0">
              <a:lnSpc>
                <a:spcPct val="110000"/>
              </a:lnSpc>
              <a:spcAft>
                <a:spcPts val="200"/>
              </a:spcAft>
              <a:buNone/>
            </a:pPr>
            <a:r>
              <a:rPr lang="en-US" altLang="en-US" sz="1150" u="sng" dirty="0">
                <a:solidFill>
                  <a:srgbClr val="FFFFFF"/>
                </a:solidFill>
                <a:latin typeface="Inter" pitchFamily="34" charset="0"/>
                <a:ea typeface="Inter" pitchFamily="34" charset="-122"/>
                <a:cs typeface="Inter" pitchFamily="34" charset="-120"/>
                <a:hlinkClick r:id="rId3" invalidUrl="" action="" tgtFrame="" tooltip="www.evcars.me" history="1" highlightClick="0" endSnd="0">
                  <a:extLst>
                    <a:ext uri="{A12FA001-AC4F-418D-AE19-62706E023703}">
                      <ahyp:hlinkClr xmlns:ahyp="http://schemas.microsoft.com/office/drawing/2018/hyperlinkcolor" val="tx"/>
                    </a:ext>
                  </a:extLst>
                </a:hlinkClick>
              </a:rPr>
              <a:t>www.evcars.me</a:t>
            </a:r>
            <a:endParaRPr lang="en-US" sz="900" dirty="0"/>
          </a:p>
        </p:txBody>
      </p:sp>
      <p:sp>
        <p:nvSpPr>
          <p:cNvPr id="9" name="Text 6"/>
          <p:cNvSpPr txBox="1"/>
          <p:nvPr/>
        </p:nvSpPr>
        <p:spPr>
          <a:xfrm>
            <a:off x="548640" y="3163824"/>
            <a:ext cx="3108960" cy="457200"/>
          </a:xfrm>
          <a:prstGeom prst="rect">
            <a:avLst/>
          </a:prstGeom>
          <a:noFill/>
          <a:ln/>
        </p:spPr>
        <p:txBody>
          <a:bodyPr wrap="square" lIns="0" tIns="0" rIns="0" bIns="0" rtlCol="0" anchor="t"/>
          <a:lstStyle/>
          <a:p>
            <a:pPr algn="l" indent="0" marL="0">
              <a:lnSpc>
                <a:spcPct val="110000"/>
              </a:lnSpc>
              <a:spcAft>
                <a:spcPts val="200"/>
              </a:spcAft>
              <a:buNone/>
            </a:pPr>
            <a:r>
              <a:rPr lang="en-US" altLang="en-US" sz="750" b="1" spc="200" kern="0" dirty="0">
                <a:solidFill>
                  <a:srgbClr val="3E9ACA"/>
                </a:solidFill>
                <a:latin typeface="Inter" pitchFamily="34" charset="0"/>
                <a:ea typeface="Inter" pitchFamily="34" charset="-122"/>
                <a:cs typeface="Inter" pitchFamily="34" charset="-120"/>
              </a:rPr>
              <a:t>EMAIL</a:t>
            </a:r>
            <a:endParaRPr lang="en-US" sz="900" dirty="0"/>
          </a:p>
          <a:p>
            <a:pPr algn="l" indent="0" marL="0">
              <a:lnSpc>
                <a:spcPct val="110000"/>
              </a:lnSpc>
              <a:spcAft>
                <a:spcPts val="200"/>
              </a:spcAft>
              <a:buNone/>
            </a:pPr>
            <a:r>
              <a:rPr lang="en-US" altLang="en-US" sz="1150" u="sng" dirty="0">
                <a:solidFill>
                  <a:srgbClr val="FFFFFF"/>
                </a:solidFill>
                <a:latin typeface="Inter" pitchFamily="34" charset="0"/>
                <a:ea typeface="Inter" pitchFamily="34" charset="-122"/>
                <a:cs typeface="Inter" pitchFamily="34" charset="-120"/>
                <a:hlinkClick r:id="rId4" invalidUrl="" action="" tgtFrame="" tooltip="info@evcarsuae.com" history="1" highlightClick="0" endSnd="0">
                  <a:extLst>
                    <a:ext uri="{A12FA001-AC4F-418D-AE19-62706E023703}">
                      <ahyp:hlinkClr xmlns:ahyp="http://schemas.microsoft.com/office/drawing/2018/hyperlinkcolor" val="tx"/>
                    </a:ext>
                  </a:extLst>
                </a:hlinkClick>
              </a:rPr>
              <a:t>info@evcarsuae.com</a:t>
            </a:r>
            <a:endParaRPr lang="en-US" sz="900" dirty="0"/>
          </a:p>
        </p:txBody>
      </p:sp>
      <p:sp>
        <p:nvSpPr>
          <p:cNvPr id="10" name="Text 7"/>
          <p:cNvSpPr txBox="1"/>
          <p:nvPr/>
        </p:nvSpPr>
        <p:spPr>
          <a:xfrm>
            <a:off x="548640" y="3767328"/>
            <a:ext cx="3108960" cy="457200"/>
          </a:xfrm>
          <a:prstGeom prst="rect">
            <a:avLst/>
          </a:prstGeom>
          <a:noFill/>
          <a:ln/>
        </p:spPr>
        <p:txBody>
          <a:bodyPr wrap="square" lIns="0" tIns="0" rIns="0" bIns="0" rtlCol="0" anchor="t"/>
          <a:lstStyle/>
          <a:p>
            <a:pPr algn="l" indent="0" marL="0">
              <a:lnSpc>
                <a:spcPct val="110000"/>
              </a:lnSpc>
              <a:spcAft>
                <a:spcPts val="200"/>
              </a:spcAft>
              <a:buNone/>
            </a:pPr>
            <a:r>
              <a:rPr lang="en-US" altLang="en-US" sz="750" b="1" spc="200" kern="0" dirty="0">
                <a:solidFill>
                  <a:srgbClr val="3E9ACA"/>
                </a:solidFill>
                <a:latin typeface="Inter" pitchFamily="34" charset="0"/>
                <a:ea typeface="Inter" pitchFamily="34" charset="-122"/>
                <a:cs typeface="Inter" pitchFamily="34" charset="-120"/>
              </a:rPr>
              <a:t>CUSTOMER SERVICE &amp; WHATSAPP</a:t>
            </a:r>
            <a:endParaRPr lang="en-US" sz="900" dirty="0"/>
          </a:p>
          <a:p>
            <a:pPr algn="l" indent="0" marL="0">
              <a:lnSpc>
                <a:spcPct val="110000"/>
              </a:lnSpc>
              <a:spcAft>
                <a:spcPts val="200"/>
              </a:spcAft>
              <a:buNone/>
            </a:pPr>
            <a:r>
              <a:rPr lang="en-US" altLang="en-US" sz="1150" u="sng" dirty="0">
                <a:solidFill>
                  <a:srgbClr val="FFFFFF"/>
                </a:solidFill>
                <a:latin typeface="Inter" pitchFamily="34" charset="0"/>
                <a:ea typeface="Inter" pitchFamily="34" charset="-122"/>
                <a:cs typeface="Inter" pitchFamily="34" charset="-120"/>
                <a:hlinkClick r:id="rId5" invalidUrl="" action="" tgtFrame="" tooltip="+971 50 777 7134" history="1" highlightClick="0" endSnd="0">
                  <a:extLst>
                    <a:ext uri="{A12FA001-AC4F-418D-AE19-62706E023703}">
                      <ahyp:hlinkClr xmlns:ahyp="http://schemas.microsoft.com/office/drawing/2018/hyperlinkcolor" val="tx"/>
                    </a:ext>
                  </a:extLst>
                </a:hlinkClick>
              </a:rPr>
              <a:t>+971 50 777 7134</a:t>
            </a:r>
            <a:endParaRPr lang="en-US" sz="900" dirty="0"/>
          </a:p>
        </p:txBody>
      </p:sp>
      <p:sp>
        <p:nvSpPr>
          <p:cNvPr id="11" name="Text 8"/>
          <p:cNvSpPr txBox="1"/>
          <p:nvPr/>
        </p:nvSpPr>
        <p:spPr>
          <a:xfrm>
            <a:off x="548640" y="4370832"/>
            <a:ext cx="3108960" cy="457200"/>
          </a:xfrm>
          <a:prstGeom prst="rect">
            <a:avLst/>
          </a:prstGeom>
          <a:noFill/>
          <a:ln/>
        </p:spPr>
        <p:txBody>
          <a:bodyPr wrap="square" lIns="0" tIns="0" rIns="0" bIns="0" rtlCol="0" anchor="t"/>
          <a:lstStyle/>
          <a:p>
            <a:pPr algn="l" indent="0" marL="0">
              <a:lnSpc>
                <a:spcPct val="110000"/>
              </a:lnSpc>
              <a:spcAft>
                <a:spcPts val="200"/>
              </a:spcAft>
              <a:buNone/>
            </a:pPr>
            <a:r>
              <a:rPr lang="en-US" altLang="en-US" sz="750" b="1" spc="200" kern="0" dirty="0">
                <a:solidFill>
                  <a:srgbClr val="3E9ACA"/>
                </a:solidFill>
                <a:latin typeface="Inter" pitchFamily="34" charset="0"/>
                <a:ea typeface="Inter" pitchFamily="34" charset="-122"/>
                <a:cs typeface="Inter" pitchFamily="34" charset="-120"/>
              </a:rPr>
              <a:t>INSTAGRAM / TIKTOK / SNAPCHAT</a:t>
            </a:r>
            <a:endParaRPr lang="en-US" sz="900" dirty="0"/>
          </a:p>
          <a:p>
            <a:pPr algn="l" indent="0" marL="0">
              <a:lnSpc>
                <a:spcPct val="110000"/>
              </a:lnSpc>
              <a:spcAft>
                <a:spcPts val="200"/>
              </a:spcAft>
              <a:buNone/>
            </a:pPr>
            <a:r>
              <a:rPr lang="en-US" altLang="en-US" sz="1150" u="sng" dirty="0">
                <a:solidFill>
                  <a:srgbClr val="FFFFFF"/>
                </a:solidFill>
                <a:latin typeface="Inter" pitchFamily="34" charset="0"/>
                <a:ea typeface="Inter" pitchFamily="34" charset="-122"/>
                <a:cs typeface="Inter" pitchFamily="34" charset="-120"/>
                <a:hlinkClick r:id="rId6" invalidUrl="" action="" tgtFrame="" tooltip="Instagram" history="1" highlightClick="0" endSnd="0">
                  <a:extLst>
                    <a:ext uri="{A12FA001-AC4F-418D-AE19-62706E023703}">
                      <ahyp:hlinkClr xmlns:ahyp="http://schemas.microsoft.com/office/drawing/2018/hyperlinkcolor" val="tx"/>
                    </a:ext>
                  </a:extLst>
                </a:hlinkClick>
              </a:rPr>
              <a:t>@evcarsuae</a:t>
            </a:r>
            <a:endParaRPr lang="en-US" sz="900" dirty="0"/>
          </a:p>
        </p:txBody>
      </p:sp>
      <p:sp>
        <p:nvSpPr>
          <p:cNvPr id="12" name="Text 9">
            <a:hlinkClick r:id="rId7" tooltip="Instagram"/>
          </p:cNvPr>
          <p:cNvSpPr txBox="1"/>
          <p:nvPr/>
        </p:nvSpPr>
        <p:spPr>
          <a:xfrm>
            <a:off x="548640" y="4828032"/>
            <a:ext cx="822960" cy="219456"/>
          </a:xfrm>
          <a:prstGeom prst="rect">
            <a:avLst/>
          </a:prstGeom>
          <a:solidFill>
            <a:srgbClr val="B1D479"/>
          </a:solidFill>
          <a:ln/>
        </p:spPr>
        <p:txBody>
          <a:bodyPr wrap="square" lIns="0" tIns="0" rIns="0" bIns="0" rtlCol="0" anchor="ctr"/>
          <a:lstStyle/>
          <a:p>
            <a:pPr algn="ctr" indent="0" marL="0">
              <a:buNone/>
            </a:pPr>
            <a:r>
              <a:rPr lang="en-US" sz="800" b="1" u="sng" dirty="0">
                <a:solidFill>
                  <a:srgbClr val="0A1628"/>
                </a:solidFill>
                <a:latin typeface="Inter" pitchFamily="34" charset="0"/>
                <a:ea typeface="Inter" pitchFamily="34" charset="-122"/>
                <a:cs typeface="Inter" pitchFamily="34" charset="-120"/>
                <a:hlinkClick r:id="rId7" invalidUrl="" action="" tgtFrame="" tooltip="Instagram" history="1" highlightClick="0" endSnd="0">
                  <a:extLst>
                    <a:ext uri="{A12FA001-AC4F-418D-AE19-62706E023703}">
                      <ahyp:hlinkClr xmlns:ahyp="http://schemas.microsoft.com/office/drawing/2018/hyperlinkcolor" val="tx"/>
                    </a:ext>
                  </a:extLst>
                </a:hlinkClick>
              </a:rPr>
              <a:t>Instagram</a:t>
            </a:r>
            <a:endParaRPr lang="en-US" sz="800" dirty="0"/>
          </a:p>
        </p:txBody>
      </p:sp>
      <p:sp>
        <p:nvSpPr>
          <p:cNvPr id="13" name="Text 10">
            <a:hlinkClick r:id="rId8" tooltip="TikTok"/>
          </p:cNvPr>
          <p:cNvSpPr txBox="1"/>
          <p:nvPr/>
        </p:nvSpPr>
        <p:spPr>
          <a:xfrm>
            <a:off x="1417320" y="4828032"/>
            <a:ext cx="822960" cy="219456"/>
          </a:xfrm>
          <a:prstGeom prst="rect">
            <a:avLst/>
          </a:prstGeom>
          <a:solidFill>
            <a:srgbClr val="B1D479"/>
          </a:solidFill>
          <a:ln/>
        </p:spPr>
        <p:txBody>
          <a:bodyPr wrap="square" lIns="0" tIns="0" rIns="0" bIns="0" rtlCol="0" anchor="ctr"/>
          <a:lstStyle/>
          <a:p>
            <a:pPr algn="ctr" indent="0" marL="0">
              <a:buNone/>
            </a:pPr>
            <a:r>
              <a:rPr lang="en-US" sz="800" b="1" u="sng" dirty="0">
                <a:solidFill>
                  <a:srgbClr val="0A1628"/>
                </a:solidFill>
                <a:latin typeface="Inter" pitchFamily="34" charset="0"/>
                <a:ea typeface="Inter" pitchFamily="34" charset="-122"/>
                <a:cs typeface="Inter" pitchFamily="34" charset="-120"/>
                <a:hlinkClick r:id="rId8" invalidUrl="" action="" tgtFrame="" tooltip="TikTok" history="1" highlightClick="0" endSnd="0">
                  <a:extLst>
                    <a:ext uri="{A12FA001-AC4F-418D-AE19-62706E023703}">
                      <ahyp:hlinkClr xmlns:ahyp="http://schemas.microsoft.com/office/drawing/2018/hyperlinkcolor" val="tx"/>
                    </a:ext>
                  </a:extLst>
                </a:hlinkClick>
              </a:rPr>
              <a:t>TikTok</a:t>
            </a:r>
            <a:endParaRPr lang="en-US" sz="800" dirty="0"/>
          </a:p>
        </p:txBody>
      </p:sp>
      <p:sp>
        <p:nvSpPr>
          <p:cNvPr id="14" name="Text 11">
            <a:hlinkClick r:id="rId9" tooltip="Snapchat"/>
          </p:cNvPr>
          <p:cNvSpPr txBox="1"/>
          <p:nvPr/>
        </p:nvSpPr>
        <p:spPr>
          <a:xfrm>
            <a:off x="2286000" y="4828032"/>
            <a:ext cx="822960" cy="219456"/>
          </a:xfrm>
          <a:prstGeom prst="rect">
            <a:avLst/>
          </a:prstGeom>
          <a:solidFill>
            <a:srgbClr val="B1D479"/>
          </a:solidFill>
          <a:ln/>
        </p:spPr>
        <p:txBody>
          <a:bodyPr wrap="square" lIns="0" tIns="0" rIns="0" bIns="0" rtlCol="0" anchor="ctr"/>
          <a:lstStyle/>
          <a:p>
            <a:pPr algn="ctr" indent="0" marL="0">
              <a:buNone/>
            </a:pPr>
            <a:r>
              <a:rPr lang="en-US" sz="800" b="1" u="sng" dirty="0">
                <a:solidFill>
                  <a:srgbClr val="0A1628"/>
                </a:solidFill>
                <a:latin typeface="Inter" pitchFamily="34" charset="0"/>
                <a:ea typeface="Inter" pitchFamily="34" charset="-122"/>
                <a:cs typeface="Inter" pitchFamily="34" charset="-120"/>
                <a:hlinkClick r:id="rId9" invalidUrl="" action="" tgtFrame="" tooltip="Snapchat" history="1" highlightClick="0" endSnd="0">
                  <a:extLst>
                    <a:ext uri="{A12FA001-AC4F-418D-AE19-62706E023703}">
                      <ahyp:hlinkClr xmlns:ahyp="http://schemas.microsoft.com/office/drawing/2018/hyperlinkcolor" val="tx"/>
                    </a:ext>
                  </a:extLst>
                </a:hlinkClick>
              </a:rPr>
              <a:t>Snapchat</a:t>
            </a:r>
            <a:endParaRPr lang="en-US" sz="800" dirty="0"/>
          </a:p>
        </p:txBody>
      </p:sp>
      <p:sp>
        <p:nvSpPr>
          <p:cNvPr id="15" name="Text 12"/>
          <p:cNvSpPr txBox="1"/>
          <p:nvPr/>
        </p:nvSpPr>
        <p:spPr>
          <a:xfrm>
            <a:off x="548640" y="5230368"/>
            <a:ext cx="3840480" cy="457200"/>
          </a:xfrm>
          <a:prstGeom prst="rect">
            <a:avLst/>
          </a:prstGeom>
          <a:noFill/>
          <a:ln/>
        </p:spPr>
        <p:txBody>
          <a:bodyPr wrap="square" lIns="0" tIns="0" rIns="0" bIns="0" rtlCol="0" anchor="t"/>
          <a:lstStyle/>
          <a:p>
            <a:pPr algn="l" indent="0" marL="0">
              <a:lnSpc>
                <a:spcPct val="110000"/>
              </a:lnSpc>
              <a:spcAft>
                <a:spcPts val="200"/>
              </a:spcAft>
              <a:buNone/>
            </a:pPr>
            <a:r>
              <a:rPr lang="en-US" altLang="en-US" sz="750" b="1" spc="200" kern="0" dirty="0">
                <a:solidFill>
                  <a:srgbClr val="3E9ACA"/>
                </a:solidFill>
                <a:latin typeface="Inter" pitchFamily="34" charset="0"/>
                <a:ea typeface="Inter" pitchFamily="34" charset="-122"/>
                <a:cs typeface="Inter" pitchFamily="34" charset="-120"/>
              </a:rPr>
              <a:t>OUR LOCATIONS</a:t>
            </a:r>
            <a:endParaRPr lang="en-US" sz="900" dirty="0"/>
          </a:p>
          <a:p>
            <a:pPr algn="l" indent="0" marL="0">
              <a:lnSpc>
                <a:spcPct val="110000"/>
              </a:lnSpc>
              <a:spcAft>
                <a:spcPts val="200"/>
              </a:spcAft>
              <a:buNone/>
            </a:pPr>
            <a:r>
              <a:rPr lang="en-US" altLang="en-US" sz="1100" dirty="0">
                <a:solidFill>
                  <a:srgbClr val="FFFFFF"/>
                </a:solidFill>
                <a:latin typeface="Inter" pitchFamily="34" charset="0"/>
                <a:ea typeface="Inter" pitchFamily="34" charset="-122"/>
                <a:cs typeface="Inter" pitchFamily="34" charset="-120"/>
              </a:rPr>
              <a:t>Dubai • Sharjah • Al Ain • Muscat • Saham</a:t>
            </a:r>
            <a:endParaRPr lang="en-US" sz="900" dirty="0"/>
          </a:p>
        </p:txBody>
      </p:sp>
      <p:sp>
        <p:nvSpPr>
          <p:cNvPr id="16" name="Text 13"/>
          <p:cNvSpPr txBox="1"/>
          <p:nvPr/>
        </p:nvSpPr>
        <p:spPr>
          <a:xfrm>
            <a:off x="8534095" y="2560320"/>
            <a:ext cx="3108960" cy="457200"/>
          </a:xfrm>
          <a:prstGeom prst="rect">
            <a:avLst/>
          </a:prstGeom>
          <a:noFill/>
          <a:ln/>
        </p:spPr>
        <p:txBody>
          <a:bodyPr wrap="square" lIns="0" tIns="0" rIns="0" bIns="0" rtlCol="0" anchor="t"/>
          <a:lstStyle/>
          <a:p>
            <a:pPr rtl="1" algn="r" indent="0" marL="0">
              <a:lnSpc>
                <a:spcPct val="110000"/>
              </a:lnSpc>
              <a:spcAft>
                <a:spcPts val="200"/>
              </a:spcAft>
              <a:buNone/>
            </a:pPr>
            <a:r>
              <a:rPr lang="ar-AE" altLang="en-US" sz="850" b="1" dirty="0">
                <a:solidFill>
                  <a:srgbClr val="3E9ACA"/>
                </a:solidFill>
                <a:latin typeface="IBM Plex Sans Arabic" pitchFamily="34" charset="0"/>
                <a:ea typeface="IBM Plex Sans Arabic" pitchFamily="34" charset="-122"/>
                <a:cs typeface="IBM Plex Sans Arabic" pitchFamily="34" charset="-120"/>
              </a:rPr>
              <a:t>الموقع الإلكتروني</a:t>
            </a:r>
            <a:endParaRPr lang="ar-AE" sz="1000" dirty="0"/>
          </a:p>
          <a:p>
            <a:pPr algn="r" indent="0" marL="0">
              <a:lnSpc>
                <a:spcPct val="110000"/>
              </a:lnSpc>
              <a:spcAft>
                <a:spcPts val="200"/>
              </a:spcAft>
              <a:buNone/>
            </a:pPr>
            <a:r>
              <a:rPr lang="ar-AE" altLang="en-US" sz="1150" u="sng" dirty="0">
                <a:solidFill>
                  <a:srgbClr val="FFFFFF"/>
                </a:solidFill>
                <a:latin typeface="Inter" pitchFamily="34" charset="0"/>
                <a:ea typeface="Inter" pitchFamily="34" charset="-122"/>
                <a:cs typeface="Inter" pitchFamily="34" charset="-120"/>
                <a:hlinkClick r:id="rId10" invalidUrl="" action="" tgtFrame="" tooltip="" history="1" highlightClick="0" endSnd="0">
                  <a:extLst>
                    <a:ext uri="{A12FA001-AC4F-418D-AE19-62706E023703}">
                      <ahyp:hlinkClr xmlns:ahyp="http://schemas.microsoft.com/office/drawing/2018/hyperlinkcolor" val="tx"/>
                    </a:ext>
                  </a:extLst>
                </a:hlinkClick>
              </a:rPr>
              <a:t>www.evcars.me</a:t>
            </a:r>
            <a:endParaRPr lang="ar-AE" sz="1000" dirty="0"/>
          </a:p>
        </p:txBody>
      </p:sp>
      <p:sp>
        <p:nvSpPr>
          <p:cNvPr id="17" name="Text 14"/>
          <p:cNvSpPr txBox="1"/>
          <p:nvPr/>
        </p:nvSpPr>
        <p:spPr>
          <a:xfrm>
            <a:off x="8534095" y="3163824"/>
            <a:ext cx="3108960" cy="457200"/>
          </a:xfrm>
          <a:prstGeom prst="rect">
            <a:avLst/>
          </a:prstGeom>
          <a:noFill/>
          <a:ln/>
        </p:spPr>
        <p:txBody>
          <a:bodyPr wrap="square" lIns="0" tIns="0" rIns="0" bIns="0" rtlCol="0" anchor="t"/>
          <a:lstStyle/>
          <a:p>
            <a:pPr rtl="1" algn="r" indent="0" marL="0">
              <a:lnSpc>
                <a:spcPct val="110000"/>
              </a:lnSpc>
              <a:spcAft>
                <a:spcPts val="200"/>
              </a:spcAft>
              <a:buNone/>
            </a:pPr>
            <a:r>
              <a:rPr lang="ar-AE" altLang="en-US" sz="850" b="1" dirty="0">
                <a:solidFill>
                  <a:srgbClr val="3E9ACA"/>
                </a:solidFill>
                <a:latin typeface="IBM Plex Sans Arabic" pitchFamily="34" charset="0"/>
                <a:ea typeface="IBM Plex Sans Arabic" pitchFamily="34" charset="-122"/>
                <a:cs typeface="IBM Plex Sans Arabic" pitchFamily="34" charset="-120"/>
              </a:rPr>
              <a:t>البريد الإلكتروني</a:t>
            </a:r>
            <a:endParaRPr lang="ar-AE" sz="1000" dirty="0"/>
          </a:p>
          <a:p>
            <a:pPr algn="r" indent="0" marL="0">
              <a:lnSpc>
                <a:spcPct val="110000"/>
              </a:lnSpc>
              <a:spcAft>
                <a:spcPts val="200"/>
              </a:spcAft>
              <a:buNone/>
            </a:pPr>
            <a:r>
              <a:rPr lang="ar-AE" altLang="en-US" sz="1150" u="sng" dirty="0">
                <a:solidFill>
                  <a:srgbClr val="FFFFFF"/>
                </a:solidFill>
                <a:latin typeface="Inter" pitchFamily="34" charset="0"/>
                <a:ea typeface="Inter" pitchFamily="34" charset="-122"/>
                <a:cs typeface="Inter" pitchFamily="34" charset="-120"/>
                <a:hlinkClick r:id="rId11" invalidUrl="" action="" tgtFrame="" tooltip="" history="1" highlightClick="0" endSnd="0">
                  <a:extLst>
                    <a:ext uri="{A12FA001-AC4F-418D-AE19-62706E023703}">
                      <ahyp:hlinkClr xmlns:ahyp="http://schemas.microsoft.com/office/drawing/2018/hyperlinkcolor" val="tx"/>
                    </a:ext>
                  </a:extLst>
                </a:hlinkClick>
              </a:rPr>
              <a:t>info@evcarsuae.com</a:t>
            </a:r>
            <a:endParaRPr lang="ar-AE" sz="1000" dirty="0"/>
          </a:p>
        </p:txBody>
      </p:sp>
      <p:sp>
        <p:nvSpPr>
          <p:cNvPr id="18" name="Text 15"/>
          <p:cNvSpPr txBox="1"/>
          <p:nvPr/>
        </p:nvSpPr>
        <p:spPr>
          <a:xfrm>
            <a:off x="8534095" y="3767328"/>
            <a:ext cx="3108960" cy="457200"/>
          </a:xfrm>
          <a:prstGeom prst="rect">
            <a:avLst/>
          </a:prstGeom>
          <a:noFill/>
          <a:ln/>
        </p:spPr>
        <p:txBody>
          <a:bodyPr wrap="square" lIns="0" tIns="0" rIns="0" bIns="0" rtlCol="0" anchor="t"/>
          <a:lstStyle/>
          <a:p>
            <a:pPr rtl="1" algn="r" indent="0" marL="0">
              <a:lnSpc>
                <a:spcPct val="110000"/>
              </a:lnSpc>
              <a:spcAft>
                <a:spcPts val="200"/>
              </a:spcAft>
              <a:buNone/>
            </a:pPr>
            <a:r>
              <a:rPr lang="ar-AE" altLang="en-US" sz="850" b="1" dirty="0">
                <a:solidFill>
                  <a:srgbClr val="3E9ACA"/>
                </a:solidFill>
                <a:latin typeface="IBM Plex Sans Arabic" pitchFamily="34" charset="0"/>
                <a:ea typeface="IBM Plex Sans Arabic" pitchFamily="34" charset="-122"/>
                <a:cs typeface="IBM Plex Sans Arabic" pitchFamily="34" charset="-120"/>
              </a:rPr>
              <a:t>خدمة العملاء وواتساب</a:t>
            </a:r>
            <a:endParaRPr lang="ar-AE" sz="1000" dirty="0"/>
          </a:p>
          <a:p>
            <a:pPr algn="r" indent="0" marL="0">
              <a:lnSpc>
                <a:spcPct val="110000"/>
              </a:lnSpc>
              <a:spcAft>
                <a:spcPts val="200"/>
              </a:spcAft>
              <a:buNone/>
            </a:pPr>
            <a:r>
              <a:rPr lang="ar-AE" altLang="en-US" sz="1150" u="sng" dirty="0">
                <a:solidFill>
                  <a:srgbClr val="FFFFFF"/>
                </a:solidFill>
                <a:latin typeface="Inter" pitchFamily="34" charset="0"/>
                <a:ea typeface="Inter" pitchFamily="34" charset="-122"/>
                <a:cs typeface="Inter" pitchFamily="34" charset="-120"/>
                <a:hlinkClick r:id="rId12" invalidUrl="" action="" tgtFrame="" tooltip="" history="1" highlightClick="0" endSnd="0">
                  <a:extLst>
                    <a:ext uri="{A12FA001-AC4F-418D-AE19-62706E023703}">
                      <ahyp:hlinkClr xmlns:ahyp="http://schemas.microsoft.com/office/drawing/2018/hyperlinkcolor" val="tx"/>
                    </a:ext>
                  </a:extLst>
                </a:hlinkClick>
              </a:rPr>
              <a:t>+971 50 777 7134</a:t>
            </a:r>
            <a:endParaRPr lang="ar-AE" sz="1000" dirty="0"/>
          </a:p>
        </p:txBody>
      </p:sp>
      <p:sp>
        <p:nvSpPr>
          <p:cNvPr id="19" name="Text 16"/>
          <p:cNvSpPr txBox="1"/>
          <p:nvPr/>
        </p:nvSpPr>
        <p:spPr>
          <a:xfrm>
            <a:off x="8534095" y="4370832"/>
            <a:ext cx="3108960" cy="457200"/>
          </a:xfrm>
          <a:prstGeom prst="rect">
            <a:avLst/>
          </a:prstGeom>
          <a:noFill/>
          <a:ln/>
        </p:spPr>
        <p:txBody>
          <a:bodyPr wrap="square" lIns="0" tIns="0" rIns="0" bIns="0" rtlCol="0" anchor="t"/>
          <a:lstStyle/>
          <a:p>
            <a:pPr rtl="1" algn="r" indent="0" marL="0">
              <a:lnSpc>
                <a:spcPct val="110000"/>
              </a:lnSpc>
              <a:spcAft>
                <a:spcPts val="200"/>
              </a:spcAft>
              <a:buNone/>
            </a:pPr>
            <a:r>
              <a:rPr lang="ar-AE" altLang="en-US" sz="850" b="1" dirty="0">
                <a:solidFill>
                  <a:srgbClr val="3E9ACA"/>
                </a:solidFill>
                <a:latin typeface="IBM Plex Sans Arabic" pitchFamily="34" charset="0"/>
                <a:ea typeface="IBM Plex Sans Arabic" pitchFamily="34" charset="-122"/>
                <a:cs typeface="IBM Plex Sans Arabic" pitchFamily="34" charset="-120"/>
              </a:rPr>
              <a:t>انستغرام / تيك توك / سناب شات</a:t>
            </a:r>
            <a:endParaRPr lang="ar-AE" sz="1000" dirty="0"/>
          </a:p>
          <a:p>
            <a:pPr algn="r" indent="0" marL="0">
              <a:lnSpc>
                <a:spcPct val="110000"/>
              </a:lnSpc>
              <a:spcAft>
                <a:spcPts val="200"/>
              </a:spcAft>
              <a:buNone/>
            </a:pPr>
            <a:r>
              <a:rPr lang="ar-AE" altLang="en-US" sz="1150" u="sng" dirty="0">
                <a:solidFill>
                  <a:srgbClr val="FFFFFF"/>
                </a:solidFill>
                <a:latin typeface="Inter" pitchFamily="34" charset="0"/>
                <a:ea typeface="Inter" pitchFamily="34" charset="-122"/>
                <a:cs typeface="Inter" pitchFamily="34" charset="-120"/>
                <a:hlinkClick r:id="rId13" invalidUrl="" action="" tgtFrame="" tooltip="" history="1" highlightClick="0" endSnd="0">
                  <a:extLst>
                    <a:ext uri="{A12FA001-AC4F-418D-AE19-62706E023703}">
                      <ahyp:hlinkClr xmlns:ahyp="http://schemas.microsoft.com/office/drawing/2018/hyperlinkcolor" val="tx"/>
                    </a:ext>
                  </a:extLst>
                </a:hlinkClick>
              </a:rPr>
              <a:t>@evcarsuae</a:t>
            </a:r>
            <a:endParaRPr lang="ar-AE" sz="1000" dirty="0"/>
          </a:p>
        </p:txBody>
      </p:sp>
      <p:sp>
        <p:nvSpPr>
          <p:cNvPr id="20" name="Text 17"/>
          <p:cNvSpPr txBox="1"/>
          <p:nvPr/>
        </p:nvSpPr>
        <p:spPr>
          <a:xfrm>
            <a:off x="7802575" y="5230368"/>
            <a:ext cx="3840480" cy="457200"/>
          </a:xfrm>
          <a:prstGeom prst="rect">
            <a:avLst/>
          </a:prstGeom>
          <a:noFill/>
          <a:ln/>
        </p:spPr>
        <p:txBody>
          <a:bodyPr wrap="square" lIns="0" tIns="0" rIns="0" bIns="0" rtlCol="0" anchor="t"/>
          <a:lstStyle/>
          <a:p>
            <a:pPr rtl="1" algn="r" indent="0" marL="0">
              <a:lnSpc>
                <a:spcPct val="110000"/>
              </a:lnSpc>
              <a:spcAft>
                <a:spcPts val="200"/>
              </a:spcAft>
              <a:buNone/>
            </a:pPr>
            <a:r>
              <a:rPr lang="ar-AE" altLang="en-US" sz="850" b="1" dirty="0">
                <a:solidFill>
                  <a:srgbClr val="3E9ACA"/>
                </a:solidFill>
                <a:latin typeface="IBM Plex Sans Arabic" pitchFamily="34" charset="0"/>
                <a:ea typeface="IBM Plex Sans Arabic" pitchFamily="34" charset="-122"/>
                <a:cs typeface="IBM Plex Sans Arabic" pitchFamily="34" charset="-120"/>
              </a:rPr>
              <a:t>مواقعنا</a:t>
            </a:r>
            <a:endParaRPr lang="ar-AE" sz="1000" dirty="0"/>
          </a:p>
          <a:p>
            <a:pPr rtl="1" algn="r" indent="0" marL="0">
              <a:lnSpc>
                <a:spcPct val="110000"/>
              </a:lnSpc>
              <a:spcAft>
                <a:spcPts val="200"/>
              </a:spcAft>
              <a:buNone/>
            </a:pPr>
            <a:r>
              <a:rPr lang="ar-AE" altLang="en-US" sz="1100" dirty="0">
                <a:solidFill>
                  <a:srgbClr val="FFFFFF"/>
                </a:solidFill>
                <a:latin typeface="IBM Plex Sans Arabic" pitchFamily="34" charset="0"/>
                <a:ea typeface="IBM Plex Sans Arabic" pitchFamily="34" charset="-122"/>
                <a:cs typeface="IBM Plex Sans Arabic" pitchFamily="34" charset="-120"/>
              </a:rPr>
              <a:t>دبي • الشارقة • العين • مسقط • صحم</a:t>
            </a:r>
            <a:endParaRPr lang="ar-AE" sz="1000" dirty="0"/>
          </a:p>
        </p:txBody>
      </p:sp>
      <p:sp>
        <p:nvSpPr>
          <p:cNvPr id="21" name="QR WhatsApp"/>
          <p:cNvSpPr/>
          <p:nvPr/>
        </p:nvSpPr>
        <p:spPr>
          <a:xfrm>
            <a:off x="4678528" y="2606040"/>
            <a:ext cx="1280160" cy="1280160"/>
          </a:xfrm>
          <a:prstGeom prst="rect">
            <a:avLst/>
          </a:prstGeom>
          <a:solidFill>
            <a:srgbClr val="FFFFFF"/>
          </a:solidFill>
          <a:ln w="12700">
            <a:solidFill>
              <a:srgbClr val="FFFFFF"/>
            </a:solidFill>
            <a:prstDash val="solid"/>
          </a:ln>
        </p:spPr>
      </p:sp>
      <p:pic>
        <p:nvPicPr>
          <p:cNvPr id="22" name="Image 1" descr="QR code: WhatsApp +971 50 777 7134">
            <a:hlinkClick r:id="rId15" tooltip="WhatsApp"/>
          </p:cNvPr>
          <p:cNvPicPr>
            <a:picLocks noChangeAspect="1"/>
          </p:cNvPicPr>
          <p:nvPr/>
        </p:nvPicPr>
        <p:blipFill>
          <a:blip r:embed="rId14"/>
          <a:stretch>
            <a:fillRect/>
          </a:stretch>
        </p:blipFill>
        <p:spPr>
          <a:xfrm>
            <a:off x="4724248" y="2651760"/>
            <a:ext cx="1188720" cy="1188720"/>
          </a:xfrm>
          <a:prstGeom prst="rect">
            <a:avLst/>
          </a:prstGeom>
        </p:spPr>
      </p:pic>
      <p:sp>
        <p:nvSpPr>
          <p:cNvPr id="23" name="QR Website"/>
          <p:cNvSpPr/>
          <p:nvPr/>
        </p:nvSpPr>
        <p:spPr>
          <a:xfrm>
            <a:off x="6233008" y="2606040"/>
            <a:ext cx="1280160" cy="1280160"/>
          </a:xfrm>
          <a:prstGeom prst="rect">
            <a:avLst/>
          </a:prstGeom>
          <a:solidFill>
            <a:srgbClr val="FFFFFF"/>
          </a:solidFill>
          <a:ln w="12700">
            <a:solidFill>
              <a:srgbClr val="FFFFFF"/>
            </a:solidFill>
            <a:prstDash val="solid"/>
          </a:ln>
        </p:spPr>
      </p:sp>
      <p:pic>
        <p:nvPicPr>
          <p:cNvPr id="24" name="Image 2" descr="QR code: www.evcars.me">
            <a:hlinkClick r:id="rId17" tooltip="www.evcars.me"/>
          </p:cNvPr>
          <p:cNvPicPr>
            <a:picLocks noChangeAspect="1"/>
          </p:cNvPicPr>
          <p:nvPr/>
        </p:nvPicPr>
        <p:blipFill>
          <a:blip r:embed="rId16"/>
          <a:stretch>
            <a:fillRect/>
          </a:stretch>
        </p:blipFill>
        <p:spPr>
          <a:xfrm>
            <a:off x="6278728" y="2651760"/>
            <a:ext cx="1188720" cy="1188720"/>
          </a:xfrm>
          <a:prstGeom prst="rect">
            <a:avLst/>
          </a:prstGeom>
        </p:spPr>
      </p:pic>
      <p:sp>
        <p:nvSpPr>
          <p:cNvPr id="25" name="Text 20"/>
          <p:cNvSpPr txBox="1"/>
          <p:nvPr/>
        </p:nvSpPr>
        <p:spPr>
          <a:xfrm>
            <a:off x="4678528" y="3950208"/>
            <a:ext cx="1280160" cy="182880"/>
          </a:xfrm>
          <a:prstGeom prst="rect">
            <a:avLst/>
          </a:prstGeom>
          <a:noFill/>
          <a:ln/>
        </p:spPr>
        <p:txBody>
          <a:bodyPr wrap="square" lIns="0" tIns="0" rIns="0" bIns="0" rtlCol="0" anchor="t"/>
          <a:lstStyle/>
          <a:p>
            <a:pPr rtl="1" algn="ctr" indent="0" marL="0">
              <a:lnSpc>
                <a:spcPct val="110000"/>
              </a:lnSpc>
              <a:spcAft>
                <a:spcPts val="500"/>
              </a:spcAft>
              <a:buNone/>
            </a:pPr>
            <a:r>
              <a:rPr lang="en-US" altLang="en-US" sz="750" dirty="0">
                <a:solidFill>
                  <a:srgbClr val="AFC0D8"/>
                </a:solidFill>
                <a:latin typeface="Inter" pitchFamily="34" charset="0"/>
                <a:ea typeface="Inter" pitchFamily="34" charset="-122"/>
                <a:cs typeface="Inter" pitchFamily="34" charset="-120"/>
              </a:rPr>
              <a:t>WhatsApp · واتساب</a:t>
            </a:r>
            <a:endParaRPr lang="en-US" sz="750" dirty="0"/>
          </a:p>
        </p:txBody>
      </p:sp>
      <p:sp>
        <p:nvSpPr>
          <p:cNvPr id="26" name="Text 21"/>
          <p:cNvSpPr txBox="1"/>
          <p:nvPr/>
        </p:nvSpPr>
        <p:spPr>
          <a:xfrm>
            <a:off x="6233008" y="3950208"/>
            <a:ext cx="1280160" cy="182880"/>
          </a:xfrm>
          <a:prstGeom prst="rect">
            <a:avLst/>
          </a:prstGeom>
          <a:noFill/>
          <a:ln/>
        </p:spPr>
        <p:txBody>
          <a:bodyPr wrap="square" lIns="0" tIns="0" rIns="0" bIns="0" rtlCol="0" anchor="t"/>
          <a:lstStyle/>
          <a:p>
            <a:pPr algn="ctr" indent="0" marL="0">
              <a:lnSpc>
                <a:spcPct val="110000"/>
              </a:lnSpc>
              <a:spcAft>
                <a:spcPts val="500"/>
              </a:spcAft>
              <a:buNone/>
            </a:pPr>
            <a:r>
              <a:rPr lang="en-US" altLang="en-US" sz="750" dirty="0">
                <a:solidFill>
                  <a:srgbClr val="AFC0D8"/>
                </a:solidFill>
                <a:latin typeface="Inter" pitchFamily="34" charset="0"/>
                <a:ea typeface="Inter" pitchFamily="34" charset="-122"/>
                <a:cs typeface="Inter" pitchFamily="34" charset="-120"/>
              </a:rPr>
              <a:t>www.evcars.me</a:t>
            </a:r>
            <a:endParaRPr lang="en-US" sz="750" dirty="0"/>
          </a:p>
        </p:txBody>
      </p:sp>
      <p:sp>
        <p:nvSpPr>
          <p:cNvPr id="27" name="Text 22"/>
          <p:cNvSpPr txBox="1"/>
          <p:nvPr/>
        </p:nvSpPr>
        <p:spPr>
          <a:xfrm>
            <a:off x="4175608" y="4434840"/>
            <a:ext cx="3840480" cy="228600"/>
          </a:xfrm>
          <a:prstGeom prst="rect">
            <a:avLst/>
          </a:prstGeom>
          <a:noFill/>
          <a:ln/>
        </p:spPr>
        <p:txBody>
          <a:bodyPr wrap="square" lIns="0" tIns="0" rIns="0" bIns="0" rtlCol="0" anchor="t"/>
          <a:lstStyle/>
          <a:p>
            <a:pPr algn="ctr" indent="0" marL="0">
              <a:lnSpc>
                <a:spcPct val="110000"/>
              </a:lnSpc>
              <a:spcAft>
                <a:spcPts val="500"/>
              </a:spcAft>
              <a:buNone/>
            </a:pPr>
            <a:r>
              <a:rPr lang="en-US" altLang="en-US" sz="800" spc="100" kern="0" dirty="0">
                <a:solidFill>
                  <a:srgbClr val="AFC0D8"/>
                </a:solidFill>
                <a:latin typeface="Inter" pitchFamily="34" charset="0"/>
                <a:ea typeface="Inter" pitchFamily="34" charset="-122"/>
                <a:cs typeface="Inter" pitchFamily="34" charset="-120"/>
              </a:rPr>
              <a:t>United Arab Emirates | Sultanate of Oman</a:t>
            </a:r>
            <a:endParaRPr lang="en-US" sz="800" dirty="0"/>
          </a:p>
        </p:txBody>
      </p:sp>
      <p:sp>
        <p:nvSpPr>
          <p:cNvPr id="28" name="Text 23"/>
          <p:cNvSpPr txBox="1"/>
          <p:nvPr/>
        </p:nvSpPr>
        <p:spPr>
          <a:xfrm>
            <a:off x="4175608" y="4663440"/>
            <a:ext cx="3840480" cy="228600"/>
          </a:xfrm>
          <a:prstGeom prst="rect">
            <a:avLst/>
          </a:prstGeom>
          <a:noFill/>
          <a:ln/>
        </p:spPr>
        <p:txBody>
          <a:bodyPr wrap="square" lIns="0" tIns="0" rIns="0" bIns="0" rtlCol="0" anchor="t"/>
          <a:lstStyle/>
          <a:p>
            <a:pPr rtl="1" algn="ctr" indent="0" marL="0">
              <a:lnSpc>
                <a:spcPct val="110000"/>
              </a:lnSpc>
              <a:spcAft>
                <a:spcPts val="500"/>
              </a:spcAft>
              <a:buNone/>
            </a:pPr>
            <a:r>
              <a:rPr lang="ar-AE" altLang="en-US" sz="850" dirty="0">
                <a:solidFill>
                  <a:srgbClr val="AFC0D8"/>
                </a:solidFill>
                <a:latin typeface="IBM Plex Sans Arabic" pitchFamily="34" charset="0"/>
                <a:ea typeface="IBM Plex Sans Arabic" pitchFamily="34" charset="-122"/>
                <a:cs typeface="IBM Plex Sans Arabic" pitchFamily="34" charset="-120"/>
              </a:rPr>
              <a:t>دولة الإمارات العربية المتحدة | سلطنة عُمان</a:t>
            </a:r>
            <a:endParaRPr lang="ar-AE" sz="850" dirty="0"/>
          </a:p>
        </p:txBody>
      </p:sp>
      <p:sp>
        <p:nvSpPr>
          <p:cNvPr id="29" name="Shape 24"/>
          <p:cNvSpPr/>
          <p:nvPr/>
        </p:nvSpPr>
        <p:spPr>
          <a:xfrm>
            <a:off x="548640" y="5989320"/>
            <a:ext cx="11094415" cy="0"/>
          </a:xfrm>
          <a:prstGeom prst="line">
            <a:avLst/>
          </a:prstGeom>
          <a:noFill/>
          <a:ln w="9525">
            <a:solidFill>
              <a:srgbClr val="24385A"/>
            </a:solidFill>
            <a:prstDash val="solid"/>
          </a:ln>
        </p:spPr>
      </p:sp>
      <p:sp>
        <p:nvSpPr>
          <p:cNvPr id="30" name="Text 25"/>
          <p:cNvSpPr txBox="1"/>
          <p:nvPr/>
        </p:nvSpPr>
        <p:spPr>
          <a:xfrm>
            <a:off x="0" y="6144768"/>
            <a:ext cx="12191695" cy="320040"/>
          </a:xfrm>
          <a:prstGeom prst="rect">
            <a:avLst/>
          </a:prstGeom>
          <a:noFill/>
          <a:ln/>
        </p:spPr>
        <p:txBody>
          <a:bodyPr wrap="square" lIns="0" tIns="0" rIns="0" bIns="0" rtlCol="0" anchor="t"/>
          <a:lstStyle/>
          <a:p>
            <a:pPr algn="ctr" indent="0" marL="0">
              <a:lnSpc>
                <a:spcPct val="110000"/>
              </a:lnSpc>
              <a:spcAft>
                <a:spcPts val="500"/>
              </a:spcAft>
              <a:buNone/>
            </a:pPr>
            <a:r>
              <a:rPr lang="en-US" altLang="en-US" sz="1300" b="1" dirty="0">
                <a:solidFill>
                  <a:srgbClr val="FFFFFF"/>
                </a:solidFill>
                <a:latin typeface="Sora" pitchFamily="34" charset="0"/>
                <a:ea typeface="Sora" pitchFamily="34" charset="-122"/>
                <a:cs typeface="Sora" pitchFamily="34" charset="-120"/>
              </a:rPr>
              <a:t>EVCARS — Driving the Electric Vehicle Experience Forward.</a:t>
            </a:r>
            <a:endParaRPr lang="en-US" sz="1300" dirty="0"/>
          </a:p>
        </p:txBody>
      </p:sp>
    </p:spTree>
  </p:cSld>
  <p:clrMapOvr>
    <a:masterClrMapping/>
  </p:clrMapOvr>
</p:sld>
</file>

<file path=ppt/theme/theme1.xml><?xml version="1.0" encoding="utf-8"?>
<a:theme xmlns:a="http://schemas.openxmlformats.org/drawingml/2006/main" name="EVCARS Quiet Voltage">
  <a:themeElements>
    <a:clrScheme name="EVCARS Quiet Voltage">
      <a:dk1>
        <a:srgbClr val="0A1628"/>
      </a:dk1>
      <a:lt1>
        <a:srgbClr val="FFFFFF"/>
      </a:lt1>
      <a:dk2>
        <a:srgbClr val="000000"/>
      </a:dk2>
      <a:lt2>
        <a:srgbClr val="F4F6F9"/>
      </a:lt2>
      <a:accent1>
        <a:srgbClr val="3E9ACA"/>
      </a:accent1>
      <a:accent2>
        <a:srgbClr val="B1D479"/>
      </a:accent2>
      <a:accent3>
        <a:srgbClr val="0A1628"/>
      </a:accent3>
      <a:accent4>
        <a:srgbClr val="5B6677"/>
      </a:accent4>
      <a:accent5>
        <a:srgbClr val="E3E8EF"/>
      </a:accent5>
      <a:accent6>
        <a:srgbClr val="12223A"/>
      </a:accent6>
      <a:hlink>
        <a:srgbClr val="3E9ACA"/>
      </a:hlink>
      <a:folHlink>
        <a:srgbClr val="3E9ACA"/>
      </a:folHlink>
    </a:clrScheme>
    <a:fontScheme name="EVCARS Quiet Voltage">
      <a:majorFont>
        <a:latin typeface="Sor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EVCARS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EVCARS Corporate Profile | الملف التعريفي للشركة</dc:title>
  <dc:subject>PptxGenJS Presentation</dc:subject>
  <dc:creator>EVCARS</dc:creator>
  <cp:lastModifiedBy>EVCARS</cp:lastModifiedBy>
  <cp:revision>1</cp:revision>
  <dcterms:created xsi:type="dcterms:W3CDTF">2026-10-14T19:03:35Z</dcterms:created>
  <dcterms:modified xsi:type="dcterms:W3CDTF">2026-10-14T19:03:35Z</dcterms:modified>
</cp:coreProperties>
</file>
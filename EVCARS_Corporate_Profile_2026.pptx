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cover_bg_new.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12cefbcd-3948-8cdd-a5b8-b05748d2903e}">
          <p14:sldIdLst>
            <p14:sldId id="256"/>
          </p14:sldIdLst>
        </p14:section>
        <p14:section name="Introduction" id="{53e2da80-8dd0-9bbf-aff1-8612590bb359}">
          <p14:sldIdLst>
            <p14:sldId id="257"/>
          </p14:sldIdLst>
        </p14:section>
        <p14:section name="Who We Are" id="{69857f94-5168-35ed-efff-270afa045dbf}">
          <p14:sldIdLst>
            <p14:sldId id="258"/>
            <p14:sldId id="259"/>
            <p14:sldId id="260"/>
            <p14:sldId id="261"/>
            <p14:sldId id="262"/>
          </p14:sldIdLst>
        </p14:section>
        <p14:section name="What We Do" id="{8e47774d-40cd-d4ce-d877-247b8bb27b8a}">
          <p14:sldIdLst>
            <p14:sldId id="263"/>
            <p14:sldId id="264"/>
            <p14:sldId id="265"/>
            <p14:sldId id="266"/>
          </p14:sldIdLst>
        </p14:section>
        <p14:section name="Who We Serve" id="{4a727d1e-51ce-67f8-3559-21602420dec8}">
          <p14:sldIdLst>
            <p14:sldId id="267"/>
            <p14:sldId id="268"/>
          </p14:sldIdLst>
        </p14:section>
        <p14:section name="Where We Are" id="{d0c42686-840d-8626-6aa2-a8bd23f8cb75}">
          <p14:sldIdLst>
            <p14:sldId id="269"/>
            <p14:sldId id="270"/>
          </p14:sldIdLst>
        </p14:section>
        <p14:section name="Why EVCARS" id="{7f034b87-2024-1c23-1a82-50d7fa0e45bb}">
          <p14:sldIdLst>
            <p14:sldId id="271"/>
            <p14:sldId id="272"/>
            <p14:sldId id="273"/>
            <p14:sldId id="274"/>
          </p14:sldIdLst>
        </p14:section>
        <p14:section name="Ahead &amp; Contact" id="{6b22f51a-53ae-d936-03bf-bbfebfd8bbb4}">
          <p14:sldIdLst>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Replace the illustration with a hero photo of an EV with charger and accessories if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Partner logos are placed as uniform rounded cards (checkerboard of dark and light cards). Replace a card image to update a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DARK-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713232"/>
            <a:ext cx="5486400" cy="685800"/>
          </a:xfrm>
          <a:prstGeom prst="rect">
            <a:avLst/>
          </a:prstGeom>
          <a:noFill/>
          <a:ln/>
        </p:spPr>
        <p:txBody>
          <a:bodyPr wrap="square" rtlCol="0"/>
          <a:lstStyle>
            <a:lvl1pPr algn="l" indent="0" marL="0">
              <a:buNone/>
              <a:defRPr lang="en-US" sz="3000" dirty="0">
                <a:solidFill>
                  <a:schemeClr val="tx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ph idx="101" type="body" hasCustomPrompt="1"/>
          </p:nvPr>
        </p:nvSpPr>
        <p:spPr>
          <a:xfrm>
            <a:off x="6065215" y="713232"/>
            <a:ext cx="5486400" cy="685800"/>
          </a:xfrm>
          <a:prstGeom prst="rect">
            <a:avLst/>
          </a:prstGeom>
          <a:noFill/>
          <a:ln/>
        </p:spPr>
        <p:txBody>
          <a:bodyPr wrap="square" rtlCol="0"/>
          <a:lstStyle>
            <a:lvl1pPr algn="r" indent="0" marL="0">
              <a:buNone/>
              <a:defRPr lang="en-US" sz="3000" dirty="0">
                <a:solidFill>
                  <a:schemeClr val="tx1"/>
                </a:solidFill>
                <a:latin typeface="Arial" pitchFamily="34" charset="0"/>
                <a:ea typeface="Arial" pitchFamily="34" charset="-122"/>
                <a:cs typeface="Arial" pitchFamily="34" charset="-120"/>
              </a:defRPr>
            </a:lvl1pPr>
          </a:lstStyle>
          <a:p>
            <a:pPr algn="r" indent="0" marL="0">
              <a:buNone/>
            </a:pPr>
            <a:endParaRPr lang="en-US" sz="3000" dirty="0"/>
          </a:p>
        </p:txBody>
      </p:sp>
      <p:pic>
        <p:nvPicPr>
          <p:cNvPr id="4" name="Image 0" descr="/home/claude/work/assets/logo_wordmark.png">    </p:cNvPr>
          <p:cNvPicPr>
            <a:picLocks noChangeAspect="1"/>
          </p:cNvPicPr>
          <p:nvPr/>
        </p:nvPicPr>
        <p:blipFill>
          <a:blip r:embed="rId1"/>
          <a:stretch>
            <a:fillRect/>
          </a:stretch>
        </p:blipFill>
        <p:spPr>
          <a:xfrm>
            <a:off x="640080" y="6355080"/>
            <a:ext cx="822960" cy="165506"/>
          </a:xfrm>
          <a:prstGeom prst="rect">
            <a:avLst/>
          </a:prstGeom>
        </p:spPr>
      </p:pic>
      <p:sp>
        <p:nvSpPr>
          <p:cNvPr id="5" name="Text 0"/>
          <p:cNvSpPr/>
          <p:nvPr/>
        </p:nvSpPr>
        <p:spPr>
          <a:xfrm>
            <a:off x="3352648" y="6336792"/>
            <a:ext cx="5486400" cy="228600"/>
          </a:xfrm>
          <a:prstGeom prst="rect">
            <a:avLst/>
          </a:prstGeom>
          <a:noFill/>
          <a:ln/>
        </p:spPr>
        <p:txBody>
          <a:bodyPr wrap="square" lIns="0" tIns="0" rIns="0" bIns="0" rtlCol="0" anchor="ctr"/>
          <a:lstStyle/>
          <a:p>
            <a:pPr algn="ctr" indent="0" marL="0">
              <a:buNone/>
            </a:pPr>
            <a:r>
              <a:rPr lang="en-US" sz="900" spc="200" kern="0" dirty="0">
                <a:solidFill>
                  <a:schemeClr val="accent3"/>
                </a:solidFill>
                <a:latin typeface="Arial" pitchFamily="34" charset="0"/>
                <a:ea typeface="Arial" pitchFamily="34" charset="-122"/>
                <a:cs typeface="Arial" pitchFamily="34" charset="-120"/>
              </a:rPr>
              <a:t>CORPORATE PROFILE   |   الملف التعريفي للشركة</a:t>
            </a:r>
            <a:endParaRPr lang="en-US" sz="900" dirty="0"/>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A75"/>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OF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713232"/>
            <a:ext cx="5486400" cy="685800"/>
          </a:xfrm>
          <a:prstGeom prst="rect">
            <a:avLst/>
          </a:prstGeom>
          <a:noFill/>
          <a:ln/>
        </p:spPr>
        <p:txBody>
          <a:bodyPr wrap="square" rtlCol="0"/>
          <a:lstStyle>
            <a:lvl1pPr algn="l" indent="0" marL="0">
              <a:buNone/>
              <a:defRPr lang="en-US" sz="3000" dirty="0">
                <a:solidFill>
                  <a:schemeClr val="tx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ph idx="101" type="body" hasCustomPrompt="1"/>
          </p:nvPr>
        </p:nvSpPr>
        <p:spPr>
          <a:xfrm>
            <a:off x="6065215" y="713232"/>
            <a:ext cx="5486400" cy="685800"/>
          </a:xfrm>
          <a:prstGeom prst="rect">
            <a:avLst/>
          </a:prstGeom>
          <a:noFill/>
          <a:ln/>
        </p:spPr>
        <p:txBody>
          <a:bodyPr wrap="square" rtlCol="0"/>
          <a:lstStyle>
            <a:lvl1pPr algn="r" indent="0" marL="0">
              <a:buNone/>
              <a:defRPr lang="en-US" sz="3000" dirty="0">
                <a:solidFill>
                  <a:schemeClr val="tx1"/>
                </a:solidFill>
                <a:latin typeface="Arial" pitchFamily="34" charset="0"/>
                <a:ea typeface="Arial" pitchFamily="34" charset="-122"/>
                <a:cs typeface="Arial" pitchFamily="34" charset="-120"/>
              </a:defRPr>
            </a:lvl1pPr>
          </a:lstStyle>
          <a:p>
            <a:pPr algn="r" indent="0" marL="0">
              <a:buNone/>
            </a:pPr>
            <a:endParaRPr lang="en-US" sz="3000" dirty="0"/>
          </a:p>
        </p:txBody>
      </p:sp>
      <p:pic>
        <p:nvPicPr>
          <p:cNvPr id="4" name="Image 0" descr="/home/claude/work/assets/logo_wordmark.png">    </p:cNvPr>
          <p:cNvPicPr>
            <a:picLocks noChangeAspect="1"/>
          </p:cNvPicPr>
          <p:nvPr/>
        </p:nvPicPr>
        <p:blipFill>
          <a:blip r:embed="rId1"/>
          <a:stretch>
            <a:fillRect/>
          </a:stretch>
        </p:blipFill>
        <p:spPr>
          <a:xfrm>
            <a:off x="640080" y="6355080"/>
            <a:ext cx="822960" cy="165506"/>
          </a:xfrm>
          <a:prstGeom prst="rect">
            <a:avLst/>
          </a:prstGeom>
        </p:spPr>
      </p:pic>
      <p:sp>
        <p:nvSpPr>
          <p:cNvPr id="5" name="Text 0"/>
          <p:cNvSpPr/>
          <p:nvPr/>
        </p:nvSpPr>
        <p:spPr>
          <a:xfrm>
            <a:off x="3352648" y="6336792"/>
            <a:ext cx="5486400" cy="228600"/>
          </a:xfrm>
          <a:prstGeom prst="rect">
            <a:avLst/>
          </a:prstGeom>
          <a:noFill/>
          <a:ln/>
        </p:spPr>
        <p:txBody>
          <a:bodyPr wrap="square" lIns="0" tIns="0" rIns="0" bIns="0" rtlCol="0" anchor="ctr"/>
          <a:lstStyle/>
          <a:p>
            <a:pPr algn="ctr" indent="0" marL="0">
              <a:buNone/>
            </a:pPr>
            <a:r>
              <a:rPr lang="en-US" sz="900" spc="200" kern="0" dirty="0">
                <a:solidFill>
                  <a:schemeClr val="accent3"/>
                </a:solidFill>
                <a:latin typeface="Arial" pitchFamily="34" charset="0"/>
                <a:ea typeface="Arial" pitchFamily="34" charset="-122"/>
                <a:cs typeface="Arial" pitchFamily="34" charset="-120"/>
              </a:rPr>
              <a:t>CORPORATE PROFILE   |   الملف التعريفي للشركة</a:t>
            </a:r>
            <a:endParaRPr lang="en-US" sz="900" dirty="0"/>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A75"/>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713232"/>
            <a:ext cx="5486400" cy="685800"/>
          </a:xfrm>
          <a:prstGeom prst="rect">
            <a:avLst/>
          </a:prstGeom>
          <a:noFill/>
          <a:ln/>
        </p:spPr>
        <p:txBody>
          <a:bodyPr wrap="square" rtlCol="0"/>
          <a:lstStyle>
            <a:lvl1pPr algn="l" indent="0" marL="0">
              <a:buNone/>
              <a:defRPr lang="en-US" sz="3000" dirty="0">
                <a:solidFill>
                  <a:schemeClr val="bg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ph idx="101" type="body" hasCustomPrompt="1"/>
          </p:nvPr>
        </p:nvSpPr>
        <p:spPr>
          <a:xfrm>
            <a:off x="6065215" y="713232"/>
            <a:ext cx="5486400" cy="685800"/>
          </a:xfrm>
          <a:prstGeom prst="rect">
            <a:avLst/>
          </a:prstGeom>
          <a:noFill/>
          <a:ln/>
        </p:spPr>
        <p:txBody>
          <a:bodyPr wrap="square" rtlCol="0"/>
          <a:lstStyle>
            <a:lvl1pPr algn="r" indent="0" marL="0">
              <a:buNone/>
              <a:defRPr lang="en-US" sz="3000" dirty="0">
                <a:solidFill>
                  <a:schemeClr val="bg1"/>
                </a:solidFill>
                <a:latin typeface="Arial" pitchFamily="34" charset="0"/>
                <a:ea typeface="Arial" pitchFamily="34" charset="-122"/>
                <a:cs typeface="Arial" pitchFamily="34" charset="-120"/>
              </a:defRPr>
            </a:lvl1pPr>
          </a:lstStyle>
          <a:p>
            <a:pPr algn="r" indent="0" marL="0">
              <a:buNone/>
            </a:pPr>
            <a:endParaRPr lang="en-US" sz="3000" dirty="0"/>
          </a:p>
        </p:txBody>
      </p:sp>
      <p:pic>
        <p:nvPicPr>
          <p:cNvPr id="4" name="Image 0" descr="/home/claude/work/assets/logo_wordmark.png">    </p:cNvPr>
          <p:cNvPicPr>
            <a:picLocks noChangeAspect="1"/>
          </p:cNvPicPr>
          <p:nvPr/>
        </p:nvPicPr>
        <p:blipFill>
          <a:blip r:embed="rId1"/>
          <a:stretch>
            <a:fillRect/>
          </a:stretch>
        </p:blipFill>
        <p:spPr>
          <a:xfrm>
            <a:off x="640080" y="6355080"/>
            <a:ext cx="822960" cy="165506"/>
          </a:xfrm>
          <a:prstGeom prst="rect">
            <a:avLst/>
          </a:prstGeom>
        </p:spPr>
      </p:pic>
      <p:sp>
        <p:nvSpPr>
          <p:cNvPr id="5" name="Text 0"/>
          <p:cNvSpPr/>
          <p:nvPr/>
        </p:nvSpPr>
        <p:spPr>
          <a:xfrm>
            <a:off x="3352648" y="6336792"/>
            <a:ext cx="5486400" cy="228600"/>
          </a:xfrm>
          <a:prstGeom prst="rect">
            <a:avLst/>
          </a:prstGeom>
          <a:noFill/>
          <a:ln/>
        </p:spPr>
        <p:txBody>
          <a:bodyPr wrap="square" lIns="0" tIns="0" rIns="0" bIns="0" rtlCol="0" anchor="ctr"/>
          <a:lstStyle/>
          <a:p>
            <a:pPr algn="ctr" indent="0" marL="0">
              <a:buNone/>
            </a:pPr>
            <a:r>
              <a:rPr lang="en-US" sz="900" spc="200" kern="0" dirty="0">
                <a:solidFill>
                  <a:schemeClr val="accent5"/>
                </a:solidFill>
                <a:latin typeface="Arial" pitchFamily="34" charset="0"/>
                <a:ea typeface="Arial" pitchFamily="34" charset="-122"/>
                <a:cs typeface="Arial" pitchFamily="34" charset="-120"/>
              </a:rPr>
              <a:t>CORPORATE PROFILE   |   الملف التعريفي للشركة</a:t>
            </a:r>
            <a:endParaRPr lang="en-US" sz="900" dirty="0"/>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DDE2E7"/>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A75"/>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 Id="rId5" Type="http://schemas.openxmlformats.org/officeDocument/2006/relationships/image" Target="../media/cover_bg_new.jp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 Id="rId9" Type="http://schemas.openxmlformats.org/officeDocument/2006/relationships/slide" Target="slide3.xml"/><Relationship Id="rId10" Type="http://schemas.openxmlformats.org/officeDocument/2006/relationships/slide" Target="slide8.xml"/><Relationship Id="rId11" Type="http://schemas.openxmlformats.org/officeDocument/2006/relationships/slide" Target="slide12.xml"/><Relationship Id="rId12" Type="http://schemas.openxmlformats.org/officeDocument/2006/relationships/slide" Target="slide14.xml"/><Relationship Id="rId13" Type="http://schemas.openxmlformats.org/officeDocument/2006/relationships/slide" Target="slide16.xml"/><Relationship Id="rId14" Type="http://schemas.openxmlformats.org/officeDocument/2006/relationships/slide" Target="slide20.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 Id="rId7"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5.xml"/><Relationship Id="rId3" Type="http://schemas.openxmlformats.org/officeDocument/2006/relationships/notesSlide" Target="../notesSlides/notesSlide4.xml"/><Relationship Id="rId4"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 Id="rId5"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4.xml"/><Relationship Id="rId7" Type="http://schemas.openxmlformats.org/officeDocument/2006/relationships/notesSlide" Target="../notesSlides/notesSlide6.xml"/><Relationship Id="rId8" Type="http://schemas.openxmlformats.org/officeDocument/2006/relationships/slide" Target="slide2.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5.xml"/><Relationship Id="rId7" Type="http://schemas.openxmlformats.org/officeDocument/2006/relationships/notesSlide" Target="../notesSlides/notesSlide7.xml"/><Relationship Id="rId8" Type="http://schemas.openxmlformats.org/officeDocument/2006/relationships/slide" Target="slide2.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 Id="rId9" Type="http://schemas.openxmlformats.org/officeDocument/2006/relationships/slide" Target="slide2.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slideLayout" Target="../slideLayouts/slideLayout3.xml"/><Relationship Id="rId11" Type="http://schemas.openxmlformats.org/officeDocument/2006/relationships/notesSlide" Target="../notesSlides/notesSlide9.xml"/><Relationship Id="rId12"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5.xml"/><Relationship Id="rId6" Type="http://schemas.openxmlformats.org/officeDocument/2006/relationships/notesSlide" Target="../notesSlides/notesSlide10.xml"/><Relationship Id="rId7" Type="http://schemas.openxmlformats.org/officeDocument/2006/relationships/slide" Target="slide2.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 Id="rId6" Type="http://schemas.openxmlformats.org/officeDocument/2006/relationships/slide" Target="slide2.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5.xml"/><Relationship Id="rId6" Type="http://schemas.openxmlformats.org/officeDocument/2006/relationships/notesSlide" Target="../notesSlides/notesSlide12.xml"/><Relationship Id="rId7"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partner_evspace.png"/><Relationship Id="rId4" Type="http://schemas.openxmlformats.org/officeDocument/2006/relationships/image" Target="../media/partner_haloblk.png"/><Relationship Id="rId5" Type="http://schemas.openxmlformats.org/officeDocument/2006/relationships/image" Target="../media/partner_bsgt.png"/><Relationship Id="rId6" Type="http://schemas.openxmlformats.org/officeDocument/2006/relationships/image" Target="../media/partner_evs.png"/><Relationship Id="rId7" Type="http://schemas.openxmlformats.org/officeDocument/2006/relationships/image" Target="../media/partner_enhance.png"/><Relationship Id="rId8" Type="http://schemas.openxmlformats.org/officeDocument/2006/relationships/image" Target="../media/partner_iguana.png"/><Relationship Id="rId9" Type="http://schemas.openxmlformats.org/officeDocument/2006/relationships/image" Target="../media/partner_atlalah.png"/><Relationship Id="rId10" Type="http://schemas.openxmlformats.org/officeDocument/2006/relationships/image" Target="../media/partner_sos.png"/><Relationship Id="rId11" Type="http://schemas.openxmlformats.org/officeDocument/2006/relationships/image" Target="../media/partner_alnahla.png"/><Relationship Id="rId12"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 Id="rId9" Type="http://schemas.openxmlformats.org/officeDocument/2006/relationships/hyperlink" Target="https://maps.app.goo.gl/hUr2Q75YpiqxaAB99?g_st=ic" TargetMode="External"/><Relationship Id="rId10" Type="http://schemas.openxmlformats.org/officeDocument/2006/relationships/hyperlink" Target="https://maps.app.goo.gl/kP9Zx83oYUR2HHzD9?g_st=ic" TargetMode="External"/><Relationship Id="rId11" Type="http://schemas.openxmlformats.org/officeDocument/2006/relationships/hyperlink" Target="https://maps.app.goo.gl/97XMvGWfzFHCu7Kr6?g_st=ic" TargetMode="External"/><Relationship Id="rId12" Type="http://schemas.openxmlformats.org/officeDocument/2006/relationships/hyperlink" Target="https://maps.app.goo.gl/5hDyK7UXNvDWm4ST8?g_st=ic" TargetMode="External"/><Relationship Id="rId13" Type="http://schemas.openxmlformats.org/officeDocument/2006/relationships/hyperlink" Target="https://maps.app.goo.gl/sZbmMqnvkCjq1ZK99?g_st=ic" TargetMode="External"/><Relationship Id="rId14" Type="http://schemas.openxmlformats.org/officeDocument/2006/relationships/hyperlink" Target="https://wa.me/971507777134" TargetMode="External"/><Relationship Id="rId15" Type="http://schemas.openxmlformats.org/officeDocument/2006/relationships/image" Target="../media/image-17-3.png"/><Relationship Id="rId16" Type="http://schemas.openxmlformats.org/officeDocument/2006/relationships/hyperlink" Target="https://www.evcarsuae.com" TargetMode="External"/><Relationship Id="rId17" Type="http://schemas.openxmlformats.org/officeDocument/2006/relationships/slide" Target="slide2.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5.xml"/><Relationship Id="rId5" Type="http://schemas.openxmlformats.org/officeDocument/2006/relationships/notesSlide" Target="../notesSlides/notesSlide15.xml"/><Relationship Id="rId6" Type="http://schemas.openxmlformats.org/officeDocument/2006/relationships/slide" Target="slide2.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 Id="rId4" Type="http://schemas.openxmlformats.org/officeDocument/2006/relationships/slide" Target="slide2.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5.xml"/><Relationship Id="rId6" Type="http://schemas.openxmlformats.org/officeDocument/2006/relationships/notesSlide" Target="../notesSlides/notesSlide17.xml"/><Relationship Id="rId7" Type="http://schemas.openxmlformats.org/officeDocument/2006/relationships/hyperlink" Target="https://www.evcarsuae.com" TargetMode="External"/><Relationship Id="rId8" Type="http://schemas.openxmlformats.org/officeDocument/2006/relationships/slide" Target="slide2.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 Id="rId4" Type="http://schemas.openxmlformats.org/officeDocument/2006/relationships/slide" Target="slide2.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4.xml"/><Relationship Id="rId10" Type="http://schemas.openxmlformats.org/officeDocument/2006/relationships/notesSlide" Target="../notesSlides/notesSlide19.xml"/><Relationship Id="rId11" Type="http://schemas.openxmlformats.org/officeDocument/2006/relationships/slide" Target="slide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slide" Target="slide2.xml"/><Relationship Id="rId4" Type="http://schemas.openxmlformats.org/officeDocument/2006/relationships/image" Target="../media/image1.png"/><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5.png"/><Relationship Id="rId9" Type="http://schemas.openxmlformats.org/officeDocument/2006/relationships/image" Target="../media/image6.png"/><Relationship Id="rId10" Type="http://schemas.openxmlformats.org/officeDocument/2006/relationships/image" Target="../media/image7.png"/><Relationship Id="rId11"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 Id="rId12" Type="http://schemas.openxmlformats.org/officeDocument/2006/relationships/hyperlink" Target="https://www.evcarsuae.com" TargetMode="External"/><Relationship Id="rId13" Type="http://schemas.openxmlformats.org/officeDocument/2006/relationships/hyperlink" Target="mailto:info@evcarsuae.com" TargetMode="External"/><Relationship Id="rId14" Type="http://schemas.openxmlformats.org/officeDocument/2006/relationships/hyperlink" Target="https://wa.me/971507777134" TargetMode="External"/><Relationship Id="rId15" Type="http://schemas.openxmlformats.org/officeDocument/2006/relationships/image" Target="../media/social_instagram.png"/><Relationship Id="rId16" Type="http://schemas.openxmlformats.org/officeDocument/2006/relationships/hyperlink" Target="https://www.instagram.com/evcarsuae/" TargetMode="External"/><Relationship Id="rId17" Type="http://schemas.openxmlformats.org/officeDocument/2006/relationships/image" Target="../media/social_tiktok.png"/><Relationship Id="rId18" Type="http://schemas.openxmlformats.org/officeDocument/2006/relationships/hyperlink" Target="https://www.tiktok.com/@evcarsuae" TargetMode="External"/><Relationship Id="rId19" Type="http://schemas.openxmlformats.org/officeDocument/2006/relationships/image" Target="../media/social_snapchat.png"/><Relationship Id="rId20" Type="http://schemas.openxmlformats.org/officeDocument/2006/relationships/hyperlink" Target="https://www.snapchat.com/add/evcarsuae" TargetMode="External"/><Relationship Id="rId21" Type="http://schemas.openxmlformats.org/officeDocument/2006/relationships/hyperlink" Target="https://maps.app.goo.gl/hUr2Q75YpiqxaAB99?g_st=ic" TargetMode="External"/><Relationship Id="rId22" Type="http://schemas.openxmlformats.org/officeDocument/2006/relationships/hyperlink" Target="https://maps.app.goo.gl/kP9Zx83oYUR2HHzD9?g_st=ic" TargetMode="External"/><Relationship Id="rId23" Type="http://schemas.openxmlformats.org/officeDocument/2006/relationships/hyperlink" Target="https://maps.app.goo.gl/97XMvGWfzFHCu7Kr6?g_st=ic" TargetMode="External"/><Relationship Id="rId24" Type="http://schemas.openxmlformats.org/officeDocument/2006/relationships/hyperlink" Target="https://maps.app.goo.gl/5hDyK7UXNvDWm4ST8?g_st=ic" TargetMode="External"/><Relationship Id="rId25" Type="http://schemas.openxmlformats.org/officeDocument/2006/relationships/hyperlink" Target="https://maps.app.goo.gl/sZbmMqnvkCjq1ZK99?g_st=ic" TargetMode="External"/><Relationship Id="rId26" Type="http://schemas.openxmlformats.org/officeDocument/2006/relationships/slide" Target="slide2.xml"/><Relationship Id="rId27"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10" name="EVCARS cover background" descr="Abstract charging-ring background"/>
          <p:cNvPicPr>
            <a:picLocks noChangeAspect="1"/>
          </p:cNvPicPr>
          <p:nvPr/>
        </p:nvPicPr>
        <p:blipFill>
          <a:blip r:embed="rId5"/>
          <a:stretch>
            <a:fillRect/>
          </a:stretch>
        </p:blipFill>
        <p:spPr>
          <a:xfrm>
            <a:off x="0" y="0"/>
            <a:ext cx="12191695" cy="6858000"/>
          </a:xfrm>
          <a:prstGeom prst="rect">
            <a:avLst/>
          </a:prstGeom>
        </p:spPr>
      </p:pic>
      <p:pic>
        <p:nvPicPr>
          <p:cNvPr id="2" name="EVCARS logo" descr="EVCARS logo">    </p:cNvPr>
          <p:cNvPicPr>
            <a:picLocks noChangeAspect="1"/>
          </p:cNvPicPr>
          <p:nvPr/>
        </p:nvPicPr>
        <p:blipFill>
          <a:blip r:embed="rId1"/>
          <a:stretch>
            <a:fillRect/>
          </a:stretch>
        </p:blipFill>
        <p:spPr>
          <a:xfrm>
            <a:off x="4084168" y="1280080"/>
            <a:ext cx="4023360" cy="808983"/>
          </a:xfrm>
          <a:prstGeom prst="rect">
            <a:avLst/>
          </a:prstGeom>
        </p:spPr>
      </p:pic>
      <p:sp>
        <p:nvSpPr>
          <p:cNvPr id="3" name="Text 0"/>
          <p:cNvSpPr txBox="1"/>
          <p:nvPr/>
        </p:nvSpPr>
        <p:spPr>
          <a:xfrm>
            <a:off x="0" y="2331640"/>
            <a:ext cx="12191695" cy="274320"/>
          </a:xfrm>
          <a:prstGeom prst="rect">
            <a:avLst/>
          </a:prstGeom>
          <a:noFill/>
          <a:ln/>
        </p:spPr>
        <p:txBody>
          <a:bodyPr wrap="square" lIns="0" tIns="0" rIns="0" bIns="0" rtlCol="0" anchor="t"/>
          <a:lstStyle/>
          <a:p>
            <a:pPr algn="ctr" indent="0" marL="0">
              <a:buNone/>
            </a:pPr>
            <a:r>
              <a:rPr lang="en-US" sz="1200" spc="800" kern="0" dirty="0">
                <a:solidFill>
                  <a:schemeClr val="accent5"/>
                </a:solidFill>
                <a:latin typeface="Arial" pitchFamily="34" charset="0"/>
                <a:ea typeface="Arial" pitchFamily="34" charset="-122"/>
                <a:cs typeface="Arial" pitchFamily="34" charset="-120"/>
              </a:rPr>
              <a:t>ELECTRIC VEHICLE SOLUTIONS</a:t>
            </a:r>
            <a:endParaRPr lang="en-US" sz="1200" dirty="0"/>
          </a:p>
        </p:txBody>
      </p:sp>
      <p:sp>
        <p:nvSpPr>
          <p:cNvPr id="4" name="Text 1"/>
          <p:cNvSpPr txBox="1"/>
          <p:nvPr/>
        </p:nvSpPr>
        <p:spPr>
          <a:xfrm>
            <a:off x="0" y="2788840"/>
            <a:ext cx="12191695" cy="594360"/>
          </a:xfrm>
          <a:prstGeom prst="rect">
            <a:avLst/>
          </a:prstGeom>
          <a:noFill/>
          <a:ln/>
        </p:spPr>
        <p:txBody>
          <a:bodyPr wrap="square" lIns="0" tIns="0" rIns="0" bIns="0" rtlCol="0" anchor="t"/>
          <a:lstStyle/>
          <a:p>
            <a:pPr rtl="1" algn="ctr" indent="0" marL="0">
              <a:buNone/>
            </a:pPr>
            <a:r>
              <a:rPr lang="ar-AE" altLang="en-US" sz="3600" dirty="0">
                <a:solidFill>
                  <a:schemeClr val="bg1"/>
                </a:solidFill>
                <a:latin typeface="Arial" pitchFamily="34" charset="0"/>
                <a:ea typeface="Arial" pitchFamily="34" charset="-122"/>
                <a:cs typeface="Arial" pitchFamily="34" charset="-120"/>
              </a:rPr>
              <a:t>الملف التعريفي للشركة</a:t>
            </a:r>
            <a:endParaRPr lang="ar-AE" sz="3600" dirty="0"/>
          </a:p>
        </p:txBody>
      </p:sp>
      <p:sp>
        <p:nvSpPr>
          <p:cNvPr id="5" name="Text 2"/>
          <p:cNvSpPr txBox="1"/>
          <p:nvPr/>
        </p:nvSpPr>
        <p:spPr>
          <a:xfrm>
            <a:off x="0" y="3383200"/>
            <a:ext cx="12191695" cy="457200"/>
          </a:xfrm>
          <a:prstGeom prst="rect">
            <a:avLst/>
          </a:prstGeom>
          <a:noFill/>
          <a:ln/>
        </p:spPr>
        <p:txBody>
          <a:bodyPr wrap="square" lIns="0" tIns="0" rIns="0" bIns="0" rtlCol="0" anchor="t"/>
          <a:lstStyle/>
          <a:p>
            <a:pPr algn="ctr" indent="0" marL="0">
              <a:buNone/>
            </a:pPr>
            <a:r>
              <a:rPr lang="en-US" sz="2600" spc="200" kern="0" dirty="0">
                <a:solidFill>
                  <a:schemeClr val="bg1"/>
                </a:solidFill>
                <a:latin typeface="Arial" pitchFamily="34" charset="0"/>
                <a:ea typeface="Arial" pitchFamily="34" charset="-122"/>
                <a:cs typeface="Arial" pitchFamily="34" charset="-120"/>
              </a:rPr>
              <a:t>Corporate Profile</a:t>
            </a:r>
            <a:endParaRPr lang="en-US" sz="2600" dirty="0"/>
          </a:p>
        </p:txBody>
      </p:sp>
      <p:sp>
        <p:nvSpPr>
          <p:cNvPr id="6" name="Text 3"/>
          <p:cNvSpPr txBox="1"/>
          <p:nvPr/>
        </p:nvSpPr>
        <p:spPr>
          <a:xfrm>
            <a:off x="0" y="3950128"/>
            <a:ext cx="12191695" cy="292608"/>
          </a:xfrm>
          <a:prstGeom prst="rect">
            <a:avLst/>
          </a:prstGeom>
          <a:noFill/>
          <a:ln/>
        </p:spPr>
        <p:txBody>
          <a:bodyPr wrap="square" lIns="0" tIns="0" rIns="0" bIns="0" rtlCol="0" anchor="t"/>
          <a:lstStyle/>
          <a:p>
            <a:pPr rtl="1" algn="ctr" indent="0" marL="0">
              <a:buNone/>
            </a:pPr>
            <a:r>
              <a:rPr lang="ar-AE" altLang="en-US" sz="1400" dirty="0">
                <a:solidFill>
                  <a:schemeClr val="accent5"/>
                </a:solidFill>
                <a:latin typeface="Arial" pitchFamily="34" charset="0"/>
                <a:ea typeface="Arial" pitchFamily="34" charset="-122"/>
                <a:cs typeface="Arial" pitchFamily="34" charset="-120"/>
              </a:rPr>
              <a:t>شركة إماراتية متخصصة في حلول السيارات الكهربائية</a:t>
            </a:r>
            <a:endParaRPr lang="ar-AE" sz="1400" dirty="0"/>
          </a:p>
        </p:txBody>
      </p:sp>
      <p:sp>
        <p:nvSpPr>
          <p:cNvPr id="7" name="Text 4"/>
          <p:cNvSpPr txBox="1"/>
          <p:nvPr/>
        </p:nvSpPr>
        <p:spPr>
          <a:xfrm>
            <a:off x="0" y="4233592"/>
            <a:ext cx="12191695" cy="274320"/>
          </a:xfrm>
          <a:prstGeom prst="rect">
            <a:avLst/>
          </a:prstGeom>
          <a:noFill/>
          <a:ln/>
        </p:spPr>
        <p:txBody>
          <a:bodyPr wrap="square" lIns="0" tIns="0" rIns="0" bIns="0" rtlCol="0" anchor="t"/>
          <a:lstStyle/>
          <a:p>
            <a:pPr algn="ctr" indent="0" marL="0">
              <a:buNone/>
            </a:pPr>
            <a:r>
              <a:rPr lang="en-US" sz="1300" dirty="0">
                <a:solidFill>
                  <a:schemeClr val="accent5"/>
                </a:solidFill>
                <a:latin typeface="Arial" pitchFamily="34" charset="0"/>
                <a:ea typeface="Arial" pitchFamily="34" charset="-122"/>
                <a:cs typeface="Arial" pitchFamily="34" charset="-120"/>
              </a:rPr>
              <a:t>An Emirati Brand Specialized in Electric Vehicle Solutions</a:t>
            </a:r>
            <a:endParaRPr lang="en-US" sz="1300" dirty="0"/>
          </a:p>
        </p:txBody>
      </p:sp>
      <p:sp>
        <p:nvSpPr>
          <p:cNvPr id="9" name="Text 5"/>
          <p:cNvSpPr txBox="1"/>
          <p:nvPr/>
        </p:nvSpPr>
        <p:spPr>
          <a:xfrm>
            <a:off x="0" y="6327648"/>
            <a:ext cx="12191695" cy="228600"/>
          </a:xfrm>
          <a:prstGeom prst="rect">
            <a:avLst/>
          </a:prstGeom>
          <a:noFill/>
          <a:ln/>
        </p:spPr>
        <p:txBody>
          <a:bodyPr wrap="square" lIns="0" tIns="0" rIns="0" bIns="0" rtlCol="0" anchor="t"/>
          <a:lstStyle/>
          <a:p>
            <a:pPr algn="ctr" indent="0" marL="0">
              <a:buNone/>
            </a:pPr>
            <a:r>
              <a:rPr lang="en-US" sz="1000" spc="600" kern="0" dirty="0">
                <a:solidFill>
                  <a:schemeClr val="accent5"/>
                </a:solidFill>
                <a:latin typeface="Arial" pitchFamily="34" charset="0"/>
                <a:ea typeface="Arial" pitchFamily="34" charset="-122"/>
                <a:cs typeface="Arial" pitchFamily="34" charset="-120"/>
              </a:rPr>
              <a:t>UAE   •   OMAN   •   REGIONAL EXPANSION</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11480"/>
            <a:ext cx="5486400" cy="228600"/>
          </a:xfrm>
          <a:prstGeom prst="rect">
            <a:avLst/>
          </a:prstGeom>
          <a:noFill/>
          <a:ln/>
        </p:spPr>
        <p:txBody>
          <a:bodyPr wrap="square" lIns="0" tIns="0" rIns="0" bIns="0" rtlCol="0" anchor="t"/>
          <a:lstStyle/>
          <a:p>
            <a:pPr algn="l" indent="0" marL="0">
              <a:buNone/>
            </a:pPr>
            <a:r>
              <a:rPr lang="en-US" sz="1000" b="1" spc="300" kern="0" dirty="0">
                <a:solidFill>
                  <a:schemeClr val="accent1"/>
                </a:solidFill>
                <a:latin typeface="Arial" pitchFamily="34" charset="0"/>
                <a:ea typeface="Arial" pitchFamily="34" charset="-122"/>
                <a:cs typeface="Arial" pitchFamily="34" charset="-120"/>
              </a:rPr>
              <a:t>00   ·   CONTENTS</a:t>
            </a:r>
            <a:endParaRPr lang="en-US" sz="1000" dirty="0"/>
          </a:p>
        </p:txBody>
      </p:sp>
      <p:sp>
        <p:nvSpPr>
          <p:cNvPr id="3" name="Text 1"/>
          <p:cNvSpPr txBox="1"/>
          <p:nvPr/>
        </p:nvSpPr>
        <p:spPr>
          <a:xfrm>
            <a:off x="6065215" y="411480"/>
            <a:ext cx="5486400" cy="228600"/>
          </a:xfrm>
          <a:prstGeom prst="rect">
            <a:avLst/>
          </a:prstGeom>
          <a:noFill/>
          <a:ln/>
        </p:spPr>
        <p:txBody>
          <a:bodyPr wrap="square" lIns="0" tIns="0" rIns="0" bIns="0" rtlCol="0" anchor="t"/>
          <a:lstStyle/>
          <a:p>
            <a:pPr rtl="1" algn="r" indent="0" marL="0">
              <a:buNone/>
            </a:pPr>
            <a:r>
              <a:rPr lang="ar-AE" altLang="en-US" sz="1100" b="1" dirty="0">
                <a:solidFill>
                  <a:schemeClr val="accent1"/>
                </a:solidFill>
                <a:latin typeface="Arial" pitchFamily="34" charset="0"/>
                <a:ea typeface="Arial" pitchFamily="34" charset="-122"/>
                <a:cs typeface="Arial" pitchFamily="34" charset="-120"/>
              </a:rPr>
              <a:t>المحتويات   ·   00</a:t>
            </a:r>
            <a:endParaRPr lang="ar-AE" sz="1100" dirty="0"/>
          </a:p>
        </p:txBody>
      </p:sp>
      <p:sp>
        <p:nvSpPr>
          <p:cNvPr id="4" name="Text 0"/>
          <p:cNvSpPr/>
          <p:nvPr>
            <p:ph idx="100" type="title" hasCustomPrompt="1"/>
          </p:nvPr>
        </p:nvSpPr>
        <p:spPr>
          <a:xfrm>
            <a:off x="640080" y="713232"/>
            <a:ext cx="5486400" cy="685800"/>
          </a:xfrm>
          <a:prstGeom prst="rect">
            <a:avLst/>
          </a:prstGeom>
          <a:noFill/>
          <a:ln/>
        </p:spPr>
        <p:txBody>
          <a:bodyPr wrap="square" lIns="0" tIns="0" rIns="0" bIns="0" rtlCol="0" anchor="t"/>
          <a:lstStyle/>
          <a:p>
            <a:pPr algn="l" indent="0" marL="0">
              <a:buNone/>
            </a:pPr>
            <a:r>
              <a:rPr lang="en-US" sz="3000" dirty="0">
                <a:solidFill>
                  <a:schemeClr val="tx1"/>
                </a:solidFill>
                <a:latin typeface="Arial" pitchFamily="34" charset="0"/>
                <a:ea typeface="Arial" pitchFamily="34" charset="-122"/>
                <a:cs typeface="Arial" pitchFamily="34" charset="-120"/>
              </a:rPr>
              <a:t>Contents</a:t>
            </a:r>
            <a:endParaRPr lang="en-US" sz="3000" dirty="0"/>
          </a:p>
        </p:txBody>
      </p:sp>
      <p:sp>
        <p:nvSpPr>
          <p:cNvPr id="5" name="Text 0"/>
          <p:cNvSpPr/>
          <p:nvPr>
            <p:ph idx="101" type="body" hasCustomPrompt="1"/>
          </p:nvPr>
        </p:nvSpPr>
        <p:spPr>
          <a:xfrm>
            <a:off x="6065215" y="713232"/>
            <a:ext cx="5486400" cy="685800"/>
          </a:xfrm>
          <a:prstGeom prst="rect">
            <a:avLst/>
          </a:prstGeom>
          <a:noFill/>
          <a:ln/>
        </p:spPr>
        <p:txBody>
          <a:bodyPr wrap="square" lIns="0" tIns="0" rIns="0" bIns="0" rtlCol="0" anchor="t"/>
          <a:lstStyle/>
          <a:p>
            <a:pPr rtl="1" algn="r" indent="0" marL="0">
              <a:buNone/>
            </a:pPr>
            <a:r>
              <a:rPr lang="ar-AE" altLang="en-US" sz="3000" dirty="0">
                <a:solidFill>
                  <a:schemeClr val="tx1"/>
                </a:solidFill>
                <a:latin typeface="Arial" pitchFamily="34" charset="0"/>
                <a:ea typeface="Arial" pitchFamily="34" charset="-122"/>
                <a:cs typeface="Arial" pitchFamily="34" charset="-120"/>
              </a:rPr>
              <a:t>المحتويات</a:t>
            </a:r>
            <a:endParaRPr lang="ar-AE" sz="3000" dirty="0"/>
          </a:p>
        </p:txBody>
      </p:sp>
      <p:sp>
        <p:nvSpPr>
          <p:cNvPr id="6" name="Chapter card 01"/>
          <p:cNvSpPr/>
          <p:nvPr/>
        </p:nvSpPr>
        <p:spPr>
          <a:xfrm>
            <a:off x="640080" y="1783080"/>
            <a:ext cx="3456432" cy="1965960"/>
          </a:xfrm>
          <a:prstGeom prst="roundRect">
            <a:avLst>
              <a:gd name="adj" fmla="val 4651"/>
            </a:avLst>
          </a:prstGeom>
          <a:solidFill>
            <a:schemeClr val="bg2"/>
          </a:solidFill>
          <a:ln/>
        </p:spPr>
      </p:sp>
      <p:sp>
        <p:nvSpPr>
          <p:cNvPr id="7" name="Text 5"/>
          <p:cNvSpPr txBox="1"/>
          <p:nvPr/>
        </p:nvSpPr>
        <p:spPr>
          <a:xfrm>
            <a:off x="914400" y="1984248"/>
            <a:ext cx="1097280" cy="548640"/>
          </a:xfrm>
          <a:prstGeom prst="rect">
            <a:avLst/>
          </a:prstGeom>
          <a:noFill/>
          <a:ln/>
        </p:spPr>
        <p:txBody>
          <a:bodyPr wrap="square" lIns="0" tIns="0" rIns="0" bIns="0" rtlCol="0" anchor="t"/>
          <a:lstStyle/>
          <a:p>
            <a:pPr algn="l" indent="0" marL="0">
              <a:buNone/>
            </a:pPr>
            <a:r>
              <a:rPr lang="en-US" sz="3400" dirty="0">
                <a:solidFill>
                  <a:schemeClr val="accent1"/>
                </a:solidFill>
                <a:latin typeface="Arial" pitchFamily="34" charset="0"/>
                <a:ea typeface="Arial" pitchFamily="34" charset="-122"/>
                <a:cs typeface="Arial" pitchFamily="34" charset="-120"/>
              </a:rPr>
              <a:t>01</a:t>
            </a:r>
            <a:endParaRPr lang="en-US" sz="3400" dirty="0"/>
          </a:p>
        </p:txBody>
      </p:sp>
      <p:pic>
        <p:nvPicPr>
          <p:cNvPr id="8" name="Chapter icon 01" descr="icon">    </p:cNvPr>
          <p:cNvPicPr>
            <a:picLocks noChangeAspect="1"/>
          </p:cNvPicPr>
          <p:nvPr/>
        </p:nvPicPr>
        <p:blipFill>
          <a:blip r:embed="rId1"/>
          <a:stretch>
            <a:fillRect/>
          </a:stretch>
        </p:blipFill>
        <p:spPr>
          <a:xfrm>
            <a:off x="3410712" y="2039112"/>
            <a:ext cx="411480" cy="411480"/>
          </a:xfrm>
          <a:prstGeom prst="rect">
            <a:avLst/>
          </a:prstGeom>
        </p:spPr>
      </p:pic>
      <p:sp>
        <p:nvSpPr>
          <p:cNvPr id="9" name="Text 6"/>
          <p:cNvSpPr txBox="1"/>
          <p:nvPr/>
        </p:nvSpPr>
        <p:spPr>
          <a:xfrm>
            <a:off x="914400" y="2697480"/>
            <a:ext cx="2907792" cy="292608"/>
          </a:xfrm>
          <a:prstGeom prst="rect">
            <a:avLst/>
          </a:prstGeom>
          <a:noFill/>
          <a:ln/>
        </p:spPr>
        <p:txBody>
          <a:bodyPr wrap="square" lIns="0" tIns="0" rIns="0" bIns="0" rtlCol="0" anchor="t"/>
          <a:lstStyle/>
          <a:p>
            <a:pPr algn="l" indent="0" marL="0">
              <a:buNone/>
            </a:pPr>
            <a:r>
              <a:rPr lang="en-US" sz="1700" b="1" dirty="0">
                <a:solidFill>
                  <a:schemeClr val="tx1"/>
                </a:solidFill>
                <a:latin typeface="Arial" pitchFamily="34" charset="0"/>
                <a:ea typeface="Arial" pitchFamily="34" charset="-122"/>
                <a:cs typeface="Arial" pitchFamily="34" charset="-120"/>
              </a:rPr>
              <a:t>Who We Are</a:t>
            </a:r>
            <a:endParaRPr lang="en-US" sz="1700" dirty="0"/>
          </a:p>
        </p:txBody>
      </p:sp>
      <p:sp>
        <p:nvSpPr>
          <p:cNvPr id="10" name="Text 7"/>
          <p:cNvSpPr txBox="1"/>
          <p:nvPr/>
        </p:nvSpPr>
        <p:spPr>
          <a:xfrm>
            <a:off x="914400" y="2697480"/>
            <a:ext cx="2907792" cy="292608"/>
          </a:xfrm>
          <a:prstGeom prst="rect">
            <a:avLst/>
          </a:prstGeom>
          <a:noFill/>
          <a:ln/>
        </p:spPr>
        <p:txBody>
          <a:bodyPr wrap="square" lIns="0" tIns="0" rIns="0" bIns="0" rtlCol="0" anchor="t"/>
          <a:lstStyle/>
          <a:p>
            <a:pPr rtl="1" algn="r" indent="0" marL="0">
              <a:buNone/>
            </a:pPr>
            <a:r>
              <a:rPr lang="ar-AE" altLang="en-US" sz="1600" b="1" dirty="0">
                <a:solidFill>
                  <a:schemeClr val="tx1"/>
                </a:solidFill>
                <a:latin typeface="Arial" pitchFamily="34" charset="0"/>
                <a:ea typeface="Arial" pitchFamily="34" charset="-122"/>
                <a:cs typeface="Arial" pitchFamily="34" charset="-120"/>
              </a:rPr>
              <a:t>من نحن</a:t>
            </a:r>
            <a:endParaRPr lang="ar-AE" sz="1600" dirty="0"/>
          </a:p>
        </p:txBody>
      </p:sp>
      <p:sp>
        <p:nvSpPr>
          <p:cNvPr id="11" name="Text 8"/>
          <p:cNvSpPr txBox="1"/>
          <p:nvPr/>
        </p:nvSpPr>
        <p:spPr>
          <a:xfrm>
            <a:off x="914400" y="3154680"/>
            <a:ext cx="2084832" cy="411480"/>
          </a:xfrm>
          <a:prstGeom prst="rect">
            <a:avLst/>
          </a:prstGeom>
          <a:noFill/>
          <a:ln/>
        </p:spPr>
        <p:txBody>
          <a:bodyPr wrap="square" lIns="0" tIns="0" rIns="0" bIns="0" rtlCol="0" anchor="t"/>
          <a:lstStyle/>
          <a:p>
            <a:pPr algn="l" indent="0" marL="0">
              <a:buNone/>
            </a:pPr>
            <a:r>
              <a:rPr lang="en-US" sz="1100" dirty="0">
                <a:solidFill>
                  <a:schemeClr val="accent3"/>
                </a:solidFill>
                <a:latin typeface="Arial" pitchFamily="34" charset="0"/>
                <a:ea typeface="Arial" pitchFamily="34" charset="-122"/>
                <a:cs typeface="Arial" pitchFamily="34" charset="-120"/>
              </a:rPr>
              <a:t>About · Founder · Vision · Values · Journey</a:t>
            </a:r>
            <a:endParaRPr lang="en-US" sz="1100" dirty="0"/>
          </a:p>
        </p:txBody>
      </p:sp>
      <p:sp>
        <p:nvSpPr>
          <p:cNvPr id="12" name="Text 9"/>
          <p:cNvSpPr txBox="1"/>
          <p:nvPr/>
        </p:nvSpPr>
        <p:spPr>
          <a:xfrm>
            <a:off x="3090672" y="3154680"/>
            <a:ext cx="731520" cy="274320"/>
          </a:xfrm>
          <a:prstGeom prst="rect">
            <a:avLst/>
          </a:prstGeom>
          <a:noFill/>
          <a:ln/>
        </p:spPr>
        <p:txBody>
          <a:bodyPr wrap="square" lIns="0" tIns="0" rIns="0" bIns="0" rtlCol="0" anchor="t"/>
          <a:lstStyle/>
          <a:p>
            <a:pPr algn="r" indent="0" marL="0">
              <a:buNone/>
            </a:pPr>
            <a:r>
              <a:rPr lang="en-US" sz="1100" dirty="0">
                <a:solidFill>
                  <a:schemeClr val="accent3"/>
                </a:solidFill>
                <a:latin typeface="Arial" pitchFamily="34" charset="0"/>
                <a:ea typeface="Arial" pitchFamily="34" charset="-122"/>
                <a:cs typeface="Arial" pitchFamily="34" charset="-120"/>
              </a:rPr>
              <a:t>p. 3 – 7</a:t>
            </a:r>
            <a:endParaRPr lang="en-US" sz="1100" dirty="0"/>
          </a:p>
        </p:txBody>
      </p:sp>
      <p:sp>
        <p:nvSpPr>
          <p:cNvPr id="13" name="Chapter card 02"/>
          <p:cNvSpPr/>
          <p:nvPr/>
        </p:nvSpPr>
        <p:spPr>
          <a:xfrm>
            <a:off x="4366260" y="1783080"/>
            <a:ext cx="3456432" cy="1965960"/>
          </a:xfrm>
          <a:prstGeom prst="roundRect">
            <a:avLst>
              <a:gd name="adj" fmla="val 4651"/>
            </a:avLst>
          </a:prstGeom>
          <a:solidFill>
            <a:schemeClr val="bg2"/>
          </a:solidFill>
          <a:ln/>
        </p:spPr>
      </p:sp>
      <p:sp>
        <p:nvSpPr>
          <p:cNvPr id="14" name="Text 11"/>
          <p:cNvSpPr txBox="1"/>
          <p:nvPr/>
        </p:nvSpPr>
        <p:spPr>
          <a:xfrm>
            <a:off x="4640580" y="1984248"/>
            <a:ext cx="1097280" cy="548640"/>
          </a:xfrm>
          <a:prstGeom prst="rect">
            <a:avLst/>
          </a:prstGeom>
          <a:noFill/>
          <a:ln/>
        </p:spPr>
        <p:txBody>
          <a:bodyPr wrap="square" lIns="0" tIns="0" rIns="0" bIns="0" rtlCol="0" anchor="t"/>
          <a:lstStyle/>
          <a:p>
            <a:pPr algn="l" indent="0" marL="0">
              <a:buNone/>
            </a:pPr>
            <a:r>
              <a:rPr lang="en-US" sz="3400" dirty="0">
                <a:solidFill>
                  <a:schemeClr val="accent1"/>
                </a:solidFill>
                <a:latin typeface="Arial" pitchFamily="34" charset="0"/>
                <a:ea typeface="Arial" pitchFamily="34" charset="-122"/>
                <a:cs typeface="Arial" pitchFamily="34" charset="-120"/>
              </a:rPr>
              <a:t>02</a:t>
            </a:r>
            <a:endParaRPr lang="en-US" sz="3400" dirty="0"/>
          </a:p>
        </p:txBody>
      </p:sp>
      <p:pic>
        <p:nvPicPr>
          <p:cNvPr id="15" name="Chapter icon 02" descr="icon">    </p:cNvPr>
          <p:cNvPicPr>
            <a:picLocks noChangeAspect="1"/>
          </p:cNvPicPr>
          <p:nvPr/>
        </p:nvPicPr>
        <p:blipFill>
          <a:blip r:embed="rId2"/>
          <a:stretch>
            <a:fillRect/>
          </a:stretch>
        </p:blipFill>
        <p:spPr>
          <a:xfrm>
            <a:off x="7136892" y="2039112"/>
            <a:ext cx="411480" cy="411480"/>
          </a:xfrm>
          <a:prstGeom prst="rect">
            <a:avLst/>
          </a:prstGeom>
        </p:spPr>
      </p:pic>
      <p:sp>
        <p:nvSpPr>
          <p:cNvPr id="16" name="Text 12"/>
          <p:cNvSpPr txBox="1"/>
          <p:nvPr/>
        </p:nvSpPr>
        <p:spPr>
          <a:xfrm>
            <a:off x="4640580" y="2697480"/>
            <a:ext cx="2907792" cy="292608"/>
          </a:xfrm>
          <a:prstGeom prst="rect">
            <a:avLst/>
          </a:prstGeom>
          <a:noFill/>
          <a:ln/>
        </p:spPr>
        <p:txBody>
          <a:bodyPr wrap="square" lIns="0" tIns="0" rIns="0" bIns="0" rtlCol="0" anchor="t"/>
          <a:lstStyle/>
          <a:p>
            <a:pPr algn="l" indent="0" marL="0">
              <a:buNone/>
            </a:pPr>
            <a:r>
              <a:rPr lang="en-US" sz="1700" b="1" dirty="0">
                <a:solidFill>
                  <a:schemeClr val="tx1"/>
                </a:solidFill>
                <a:latin typeface="Arial" pitchFamily="34" charset="0"/>
                <a:ea typeface="Arial" pitchFamily="34" charset="-122"/>
                <a:cs typeface="Arial" pitchFamily="34" charset="-120"/>
              </a:rPr>
              <a:t>What We Do</a:t>
            </a:r>
            <a:endParaRPr lang="en-US" sz="1700" dirty="0"/>
          </a:p>
        </p:txBody>
      </p:sp>
      <p:sp>
        <p:nvSpPr>
          <p:cNvPr id="17" name="Text 13"/>
          <p:cNvSpPr txBox="1"/>
          <p:nvPr/>
        </p:nvSpPr>
        <p:spPr>
          <a:xfrm>
            <a:off x="4640580" y="2697480"/>
            <a:ext cx="2907792" cy="292608"/>
          </a:xfrm>
          <a:prstGeom prst="rect">
            <a:avLst/>
          </a:prstGeom>
          <a:noFill/>
          <a:ln/>
        </p:spPr>
        <p:txBody>
          <a:bodyPr wrap="square" lIns="0" tIns="0" rIns="0" bIns="0" rtlCol="0" anchor="t"/>
          <a:lstStyle/>
          <a:p>
            <a:pPr rtl="1" algn="r" indent="0" marL="0">
              <a:buNone/>
            </a:pPr>
            <a:r>
              <a:rPr lang="ar-AE" altLang="en-US" sz="1600" b="1" dirty="0">
                <a:solidFill>
                  <a:schemeClr val="tx1"/>
                </a:solidFill>
                <a:latin typeface="Arial" pitchFamily="34" charset="0"/>
                <a:ea typeface="Arial" pitchFamily="34" charset="-122"/>
                <a:cs typeface="Arial" pitchFamily="34" charset="-120"/>
              </a:rPr>
              <a:t>ماذا نقدم</a:t>
            </a:r>
            <a:endParaRPr lang="ar-AE" sz="1600" dirty="0"/>
          </a:p>
        </p:txBody>
      </p:sp>
      <p:sp>
        <p:nvSpPr>
          <p:cNvPr id="18" name="Text 14"/>
          <p:cNvSpPr txBox="1"/>
          <p:nvPr/>
        </p:nvSpPr>
        <p:spPr>
          <a:xfrm>
            <a:off x="4640580" y="3154680"/>
            <a:ext cx="2084832" cy="411480"/>
          </a:xfrm>
          <a:prstGeom prst="rect">
            <a:avLst/>
          </a:prstGeom>
          <a:noFill/>
          <a:ln/>
        </p:spPr>
        <p:txBody>
          <a:bodyPr wrap="square" lIns="0" tIns="0" rIns="0" bIns="0" rtlCol="0" anchor="t"/>
          <a:lstStyle/>
          <a:p>
            <a:pPr algn="l" indent="0" marL="0">
              <a:buNone/>
            </a:pPr>
            <a:r>
              <a:rPr lang="en-US" sz="1100" dirty="0">
                <a:solidFill>
                  <a:schemeClr val="accent3"/>
                </a:solidFill>
                <a:latin typeface="Arial" pitchFamily="34" charset="0"/>
                <a:ea typeface="Arial" pitchFamily="34" charset="-122"/>
                <a:cs typeface="Arial" pitchFamily="34" charset="-120"/>
              </a:rPr>
              <a:t>Business areas · Accessories · Charging · Services</a:t>
            </a:r>
            <a:endParaRPr lang="en-US" sz="1100" dirty="0"/>
          </a:p>
        </p:txBody>
      </p:sp>
      <p:sp>
        <p:nvSpPr>
          <p:cNvPr id="19" name="Text 15"/>
          <p:cNvSpPr txBox="1"/>
          <p:nvPr/>
        </p:nvSpPr>
        <p:spPr>
          <a:xfrm>
            <a:off x="6816852" y="3154680"/>
            <a:ext cx="731520" cy="274320"/>
          </a:xfrm>
          <a:prstGeom prst="rect">
            <a:avLst/>
          </a:prstGeom>
          <a:noFill/>
          <a:ln/>
        </p:spPr>
        <p:txBody>
          <a:bodyPr wrap="square" lIns="0" tIns="0" rIns="0" bIns="0" rtlCol="0" anchor="t"/>
          <a:lstStyle/>
          <a:p>
            <a:pPr algn="r" indent="0" marL="0">
              <a:buNone/>
            </a:pPr>
            <a:r>
              <a:rPr lang="en-US" sz="1100" dirty="0">
                <a:solidFill>
                  <a:schemeClr val="accent3"/>
                </a:solidFill>
                <a:latin typeface="Arial" pitchFamily="34" charset="0"/>
                <a:ea typeface="Arial" pitchFamily="34" charset="-122"/>
                <a:cs typeface="Arial" pitchFamily="34" charset="-120"/>
              </a:rPr>
              <a:t>p. 8 – 11</a:t>
            </a:r>
            <a:endParaRPr lang="en-US" sz="1100" dirty="0"/>
          </a:p>
        </p:txBody>
      </p:sp>
      <p:sp>
        <p:nvSpPr>
          <p:cNvPr id="20" name="Chapter card 03"/>
          <p:cNvSpPr/>
          <p:nvPr/>
        </p:nvSpPr>
        <p:spPr>
          <a:xfrm>
            <a:off x="8092440" y="1783080"/>
            <a:ext cx="3456432" cy="1965960"/>
          </a:xfrm>
          <a:prstGeom prst="roundRect">
            <a:avLst>
              <a:gd name="adj" fmla="val 4651"/>
            </a:avLst>
          </a:prstGeom>
          <a:solidFill>
            <a:schemeClr val="bg2"/>
          </a:solidFill>
          <a:ln/>
        </p:spPr>
      </p:sp>
      <p:sp>
        <p:nvSpPr>
          <p:cNvPr id="21" name="Text 17"/>
          <p:cNvSpPr txBox="1"/>
          <p:nvPr/>
        </p:nvSpPr>
        <p:spPr>
          <a:xfrm>
            <a:off x="8366760" y="1984248"/>
            <a:ext cx="1097280" cy="548640"/>
          </a:xfrm>
          <a:prstGeom prst="rect">
            <a:avLst/>
          </a:prstGeom>
          <a:noFill/>
          <a:ln/>
        </p:spPr>
        <p:txBody>
          <a:bodyPr wrap="square" lIns="0" tIns="0" rIns="0" bIns="0" rtlCol="0" anchor="t"/>
          <a:lstStyle/>
          <a:p>
            <a:pPr algn="l" indent="0" marL="0">
              <a:buNone/>
            </a:pPr>
            <a:r>
              <a:rPr lang="en-US" sz="3400" dirty="0">
                <a:solidFill>
                  <a:schemeClr val="accent1"/>
                </a:solidFill>
                <a:latin typeface="Arial" pitchFamily="34" charset="0"/>
                <a:ea typeface="Arial" pitchFamily="34" charset="-122"/>
                <a:cs typeface="Arial" pitchFamily="34" charset="-120"/>
              </a:rPr>
              <a:t>03</a:t>
            </a:r>
            <a:endParaRPr lang="en-US" sz="3400" dirty="0"/>
          </a:p>
        </p:txBody>
      </p:sp>
      <p:pic>
        <p:nvPicPr>
          <p:cNvPr id="22" name="Chapter icon 03" descr="icon">    </p:cNvPr>
          <p:cNvPicPr>
            <a:picLocks noChangeAspect="1"/>
          </p:cNvPicPr>
          <p:nvPr/>
        </p:nvPicPr>
        <p:blipFill>
          <a:blip r:embed="rId3"/>
          <a:stretch>
            <a:fillRect/>
          </a:stretch>
        </p:blipFill>
        <p:spPr>
          <a:xfrm>
            <a:off x="10863072" y="2039112"/>
            <a:ext cx="411480" cy="411480"/>
          </a:xfrm>
          <a:prstGeom prst="rect">
            <a:avLst/>
          </a:prstGeom>
        </p:spPr>
      </p:pic>
      <p:sp>
        <p:nvSpPr>
          <p:cNvPr id="23" name="Text 18"/>
          <p:cNvSpPr txBox="1"/>
          <p:nvPr/>
        </p:nvSpPr>
        <p:spPr>
          <a:xfrm>
            <a:off x="8366760" y="2697480"/>
            <a:ext cx="2907792" cy="292608"/>
          </a:xfrm>
          <a:prstGeom prst="rect">
            <a:avLst/>
          </a:prstGeom>
          <a:noFill/>
          <a:ln/>
        </p:spPr>
        <p:txBody>
          <a:bodyPr wrap="square" lIns="0" tIns="0" rIns="0" bIns="0" rtlCol="0" anchor="t"/>
          <a:lstStyle/>
          <a:p>
            <a:pPr algn="l" indent="0" marL="0">
              <a:buNone/>
            </a:pPr>
            <a:r>
              <a:rPr lang="en-US" sz="1700" b="1" dirty="0">
                <a:solidFill>
                  <a:schemeClr val="tx1"/>
                </a:solidFill>
                <a:latin typeface="Arial" pitchFamily="34" charset="0"/>
                <a:ea typeface="Arial" pitchFamily="34" charset="-122"/>
                <a:cs typeface="Arial" pitchFamily="34" charset="-120"/>
              </a:rPr>
              <a:t>Who We Serve</a:t>
            </a:r>
            <a:endParaRPr lang="en-US" sz="1700" dirty="0"/>
          </a:p>
        </p:txBody>
      </p:sp>
      <p:sp>
        <p:nvSpPr>
          <p:cNvPr id="24" name="Text 19"/>
          <p:cNvSpPr txBox="1"/>
          <p:nvPr/>
        </p:nvSpPr>
        <p:spPr>
          <a:xfrm>
            <a:off x="8366760" y="2697480"/>
            <a:ext cx="2907792" cy="292608"/>
          </a:xfrm>
          <a:prstGeom prst="rect">
            <a:avLst/>
          </a:prstGeom>
          <a:noFill/>
          <a:ln/>
        </p:spPr>
        <p:txBody>
          <a:bodyPr wrap="square" lIns="0" tIns="0" rIns="0" bIns="0" rtlCol="0" anchor="t"/>
          <a:lstStyle/>
          <a:p>
            <a:pPr rtl="1" algn="r" indent="0" marL="0">
              <a:buNone/>
            </a:pPr>
            <a:r>
              <a:rPr lang="ar-AE" altLang="en-US" sz="1600" b="1" dirty="0">
                <a:solidFill>
                  <a:schemeClr val="tx1"/>
                </a:solidFill>
                <a:latin typeface="Arial" pitchFamily="34" charset="0"/>
                <a:ea typeface="Arial" pitchFamily="34" charset="-122"/>
                <a:cs typeface="Arial" pitchFamily="34" charset="-120"/>
              </a:rPr>
              <a:t>من نخدم</a:t>
            </a:r>
            <a:endParaRPr lang="ar-AE" sz="1600" dirty="0"/>
          </a:p>
        </p:txBody>
      </p:sp>
      <p:sp>
        <p:nvSpPr>
          <p:cNvPr id="25" name="Text 20"/>
          <p:cNvSpPr txBox="1"/>
          <p:nvPr/>
        </p:nvSpPr>
        <p:spPr>
          <a:xfrm>
            <a:off x="8366760" y="3154680"/>
            <a:ext cx="2084832" cy="411480"/>
          </a:xfrm>
          <a:prstGeom prst="rect">
            <a:avLst/>
          </a:prstGeom>
          <a:noFill/>
          <a:ln/>
        </p:spPr>
        <p:txBody>
          <a:bodyPr wrap="square" lIns="0" tIns="0" rIns="0" bIns="0" rtlCol="0" anchor="t"/>
          <a:lstStyle/>
          <a:p>
            <a:pPr algn="l" indent="0" marL="0">
              <a:buNone/>
            </a:pPr>
            <a:r>
              <a:rPr lang="en-US" sz="1100" dirty="0">
                <a:solidFill>
                  <a:schemeClr val="accent3"/>
                </a:solidFill>
                <a:latin typeface="Arial" pitchFamily="34" charset="0"/>
                <a:ea typeface="Arial" pitchFamily="34" charset="-122"/>
                <a:cs typeface="Arial" pitchFamily="34" charset="-120"/>
              </a:rPr>
              <a:t>Vehicle brands · Partner brands</a:t>
            </a:r>
            <a:endParaRPr lang="en-US" sz="1100" dirty="0"/>
          </a:p>
        </p:txBody>
      </p:sp>
      <p:sp>
        <p:nvSpPr>
          <p:cNvPr id="26" name="Text 21"/>
          <p:cNvSpPr txBox="1"/>
          <p:nvPr/>
        </p:nvSpPr>
        <p:spPr>
          <a:xfrm>
            <a:off x="10543032" y="3154680"/>
            <a:ext cx="731520" cy="274320"/>
          </a:xfrm>
          <a:prstGeom prst="rect">
            <a:avLst/>
          </a:prstGeom>
          <a:noFill/>
          <a:ln/>
        </p:spPr>
        <p:txBody>
          <a:bodyPr wrap="square" lIns="0" tIns="0" rIns="0" bIns="0" rtlCol="0" anchor="t"/>
          <a:lstStyle/>
          <a:p>
            <a:pPr algn="r" indent="0" marL="0">
              <a:buNone/>
            </a:pPr>
            <a:r>
              <a:rPr lang="en-US" sz="1100" dirty="0">
                <a:solidFill>
                  <a:schemeClr val="accent3"/>
                </a:solidFill>
                <a:latin typeface="Arial" pitchFamily="34" charset="0"/>
                <a:ea typeface="Arial" pitchFamily="34" charset="-122"/>
                <a:cs typeface="Arial" pitchFamily="34" charset="-120"/>
              </a:rPr>
              <a:t>p. 12 – 13</a:t>
            </a:r>
            <a:endParaRPr lang="en-US" sz="1100" dirty="0"/>
          </a:p>
        </p:txBody>
      </p:sp>
      <p:sp>
        <p:nvSpPr>
          <p:cNvPr id="27" name="Chapter card 04"/>
          <p:cNvSpPr/>
          <p:nvPr/>
        </p:nvSpPr>
        <p:spPr>
          <a:xfrm>
            <a:off x="640080" y="4023360"/>
            <a:ext cx="3456432" cy="1965960"/>
          </a:xfrm>
          <a:prstGeom prst="roundRect">
            <a:avLst>
              <a:gd name="adj" fmla="val 4651"/>
            </a:avLst>
          </a:prstGeom>
          <a:solidFill>
            <a:schemeClr val="bg2"/>
          </a:solidFill>
          <a:ln/>
        </p:spPr>
      </p:sp>
      <p:sp>
        <p:nvSpPr>
          <p:cNvPr id="28" name="Text 23"/>
          <p:cNvSpPr txBox="1"/>
          <p:nvPr/>
        </p:nvSpPr>
        <p:spPr>
          <a:xfrm>
            <a:off x="914400" y="4224528"/>
            <a:ext cx="1097280" cy="548640"/>
          </a:xfrm>
          <a:prstGeom prst="rect">
            <a:avLst/>
          </a:prstGeom>
          <a:noFill/>
          <a:ln/>
        </p:spPr>
        <p:txBody>
          <a:bodyPr wrap="square" lIns="0" tIns="0" rIns="0" bIns="0" rtlCol="0" anchor="t"/>
          <a:lstStyle/>
          <a:p>
            <a:pPr algn="l" indent="0" marL="0">
              <a:buNone/>
            </a:pPr>
            <a:r>
              <a:rPr lang="en-US" sz="3400" dirty="0">
                <a:solidFill>
                  <a:schemeClr val="accent1"/>
                </a:solidFill>
                <a:latin typeface="Arial" pitchFamily="34" charset="0"/>
                <a:ea typeface="Arial" pitchFamily="34" charset="-122"/>
                <a:cs typeface="Arial" pitchFamily="34" charset="-120"/>
              </a:rPr>
              <a:t>04</a:t>
            </a:r>
            <a:endParaRPr lang="en-US" sz="3400" dirty="0"/>
          </a:p>
        </p:txBody>
      </p:sp>
      <p:pic>
        <p:nvPicPr>
          <p:cNvPr id="29" name="Chapter icon 04" descr="icon">    </p:cNvPr>
          <p:cNvPicPr>
            <a:picLocks noChangeAspect="1"/>
          </p:cNvPicPr>
          <p:nvPr/>
        </p:nvPicPr>
        <p:blipFill>
          <a:blip r:embed="rId4"/>
          <a:stretch>
            <a:fillRect/>
          </a:stretch>
        </p:blipFill>
        <p:spPr>
          <a:xfrm>
            <a:off x="3410712" y="4279392"/>
            <a:ext cx="411480" cy="411480"/>
          </a:xfrm>
          <a:prstGeom prst="rect">
            <a:avLst/>
          </a:prstGeom>
        </p:spPr>
      </p:pic>
      <p:sp>
        <p:nvSpPr>
          <p:cNvPr id="30" name="Text 24"/>
          <p:cNvSpPr txBox="1"/>
          <p:nvPr/>
        </p:nvSpPr>
        <p:spPr>
          <a:xfrm>
            <a:off x="914400" y="4937760"/>
            <a:ext cx="2907792" cy="292608"/>
          </a:xfrm>
          <a:prstGeom prst="rect">
            <a:avLst/>
          </a:prstGeom>
          <a:noFill/>
          <a:ln/>
        </p:spPr>
        <p:txBody>
          <a:bodyPr wrap="square" lIns="0" tIns="0" rIns="0" bIns="0" rtlCol="0" anchor="t"/>
          <a:lstStyle/>
          <a:p>
            <a:pPr algn="l" indent="0" marL="0">
              <a:buNone/>
            </a:pPr>
            <a:r>
              <a:rPr lang="en-US" sz="1700" b="1" dirty="0">
                <a:solidFill>
                  <a:schemeClr val="tx1"/>
                </a:solidFill>
                <a:latin typeface="Arial" pitchFamily="34" charset="0"/>
                <a:ea typeface="Arial" pitchFamily="34" charset="-122"/>
                <a:cs typeface="Arial" pitchFamily="34" charset="-120"/>
              </a:rPr>
              <a:t>Where We Are</a:t>
            </a:r>
            <a:endParaRPr lang="en-US" sz="1700" dirty="0"/>
          </a:p>
        </p:txBody>
      </p:sp>
      <p:sp>
        <p:nvSpPr>
          <p:cNvPr id="31" name="Text 25"/>
          <p:cNvSpPr txBox="1"/>
          <p:nvPr/>
        </p:nvSpPr>
        <p:spPr>
          <a:xfrm>
            <a:off x="914400" y="4937760"/>
            <a:ext cx="2907792" cy="292608"/>
          </a:xfrm>
          <a:prstGeom prst="rect">
            <a:avLst/>
          </a:prstGeom>
          <a:noFill/>
          <a:ln/>
        </p:spPr>
        <p:txBody>
          <a:bodyPr wrap="square" lIns="0" tIns="0" rIns="0" bIns="0" rtlCol="0" anchor="t"/>
          <a:lstStyle/>
          <a:p>
            <a:pPr rtl="1" algn="r" indent="0" marL="0">
              <a:buNone/>
            </a:pPr>
            <a:r>
              <a:rPr lang="ar-AE" altLang="en-US" sz="1600" b="1" dirty="0">
                <a:solidFill>
                  <a:schemeClr val="tx1"/>
                </a:solidFill>
                <a:latin typeface="Arial" pitchFamily="34" charset="0"/>
                <a:ea typeface="Arial" pitchFamily="34" charset="-122"/>
                <a:cs typeface="Arial" pitchFamily="34" charset="-120"/>
              </a:rPr>
              <a:t>أين نحن</a:t>
            </a:r>
            <a:endParaRPr lang="ar-AE" sz="1600" dirty="0"/>
          </a:p>
        </p:txBody>
      </p:sp>
      <p:sp>
        <p:nvSpPr>
          <p:cNvPr id="32" name="Text 26"/>
          <p:cNvSpPr txBox="1"/>
          <p:nvPr/>
        </p:nvSpPr>
        <p:spPr>
          <a:xfrm>
            <a:off x="914400" y="5394960"/>
            <a:ext cx="2084832" cy="411480"/>
          </a:xfrm>
          <a:prstGeom prst="rect">
            <a:avLst/>
          </a:prstGeom>
          <a:noFill/>
          <a:ln/>
        </p:spPr>
        <p:txBody>
          <a:bodyPr wrap="square" lIns="0" tIns="0" rIns="0" bIns="0" rtlCol="0" anchor="t"/>
          <a:lstStyle/>
          <a:p>
            <a:pPr algn="l" indent="0" marL="0">
              <a:buNone/>
            </a:pPr>
            <a:r>
              <a:rPr lang="en-US" sz="1100" dirty="0">
                <a:solidFill>
                  <a:schemeClr val="accent3"/>
                </a:solidFill>
                <a:latin typeface="Arial" pitchFamily="34" charset="0"/>
                <a:ea typeface="Arial" pitchFamily="34" charset="-122"/>
                <a:cs typeface="Arial" pitchFamily="34" charset="-120"/>
              </a:rPr>
              <a:t>Branch network · Operations</a:t>
            </a:r>
            <a:endParaRPr lang="en-US" sz="1100" dirty="0"/>
          </a:p>
        </p:txBody>
      </p:sp>
      <p:sp>
        <p:nvSpPr>
          <p:cNvPr id="33" name="Text 27"/>
          <p:cNvSpPr txBox="1"/>
          <p:nvPr/>
        </p:nvSpPr>
        <p:spPr>
          <a:xfrm>
            <a:off x="3090672" y="5394960"/>
            <a:ext cx="731520" cy="274320"/>
          </a:xfrm>
          <a:prstGeom prst="rect">
            <a:avLst/>
          </a:prstGeom>
          <a:noFill/>
          <a:ln/>
        </p:spPr>
        <p:txBody>
          <a:bodyPr wrap="square" lIns="0" tIns="0" rIns="0" bIns="0" rtlCol="0" anchor="t"/>
          <a:lstStyle/>
          <a:p>
            <a:pPr algn="r" indent="0" marL="0">
              <a:buNone/>
            </a:pPr>
            <a:r>
              <a:rPr lang="en-US" sz="1100" dirty="0">
                <a:solidFill>
                  <a:schemeClr val="accent3"/>
                </a:solidFill>
                <a:latin typeface="Arial" pitchFamily="34" charset="0"/>
                <a:ea typeface="Arial" pitchFamily="34" charset="-122"/>
                <a:cs typeface="Arial" pitchFamily="34" charset="-120"/>
              </a:rPr>
              <a:t>p. 14 – 15</a:t>
            </a:r>
            <a:endParaRPr lang="en-US" sz="1100" dirty="0"/>
          </a:p>
        </p:txBody>
      </p:sp>
      <p:sp>
        <p:nvSpPr>
          <p:cNvPr id="34" name="Chapter card 05"/>
          <p:cNvSpPr/>
          <p:nvPr/>
        </p:nvSpPr>
        <p:spPr>
          <a:xfrm>
            <a:off x="4366260" y="4023360"/>
            <a:ext cx="3456432" cy="1965960"/>
          </a:xfrm>
          <a:prstGeom prst="roundRect">
            <a:avLst>
              <a:gd name="adj" fmla="val 4651"/>
            </a:avLst>
          </a:prstGeom>
          <a:solidFill>
            <a:schemeClr val="bg2"/>
          </a:solidFill>
          <a:ln/>
        </p:spPr>
      </p:sp>
      <p:sp>
        <p:nvSpPr>
          <p:cNvPr id="35" name="Text 29"/>
          <p:cNvSpPr txBox="1"/>
          <p:nvPr/>
        </p:nvSpPr>
        <p:spPr>
          <a:xfrm>
            <a:off x="4640580" y="4224528"/>
            <a:ext cx="1097280" cy="548640"/>
          </a:xfrm>
          <a:prstGeom prst="rect">
            <a:avLst/>
          </a:prstGeom>
          <a:noFill/>
          <a:ln/>
        </p:spPr>
        <p:txBody>
          <a:bodyPr wrap="square" lIns="0" tIns="0" rIns="0" bIns="0" rtlCol="0" anchor="t"/>
          <a:lstStyle/>
          <a:p>
            <a:pPr algn="l" indent="0" marL="0">
              <a:buNone/>
            </a:pPr>
            <a:r>
              <a:rPr lang="en-US" sz="3400" dirty="0">
                <a:solidFill>
                  <a:schemeClr val="accent1"/>
                </a:solidFill>
                <a:latin typeface="Arial" pitchFamily="34" charset="0"/>
                <a:ea typeface="Arial" pitchFamily="34" charset="-122"/>
                <a:cs typeface="Arial" pitchFamily="34" charset="-120"/>
              </a:rPr>
              <a:t>05</a:t>
            </a:r>
            <a:endParaRPr lang="en-US" sz="3400" dirty="0"/>
          </a:p>
        </p:txBody>
      </p:sp>
      <p:pic>
        <p:nvPicPr>
          <p:cNvPr id="36" name="Chapter icon 05" descr="icon">    </p:cNvPr>
          <p:cNvPicPr>
            <a:picLocks noChangeAspect="1"/>
          </p:cNvPicPr>
          <p:nvPr/>
        </p:nvPicPr>
        <p:blipFill>
          <a:blip r:embed="rId5"/>
          <a:stretch>
            <a:fillRect/>
          </a:stretch>
        </p:blipFill>
        <p:spPr>
          <a:xfrm>
            <a:off x="7136892" y="4279392"/>
            <a:ext cx="411480" cy="411480"/>
          </a:xfrm>
          <a:prstGeom prst="rect">
            <a:avLst/>
          </a:prstGeom>
        </p:spPr>
      </p:pic>
      <p:sp>
        <p:nvSpPr>
          <p:cNvPr id="37" name="Text 30"/>
          <p:cNvSpPr txBox="1"/>
          <p:nvPr/>
        </p:nvSpPr>
        <p:spPr>
          <a:xfrm>
            <a:off x="4640580" y="4937760"/>
            <a:ext cx="2907792" cy="292608"/>
          </a:xfrm>
          <a:prstGeom prst="rect">
            <a:avLst/>
          </a:prstGeom>
          <a:noFill/>
          <a:ln/>
        </p:spPr>
        <p:txBody>
          <a:bodyPr wrap="square" lIns="0" tIns="0" rIns="0" bIns="0" rtlCol="0" anchor="t"/>
          <a:lstStyle/>
          <a:p>
            <a:pPr algn="l" indent="0" marL="0">
              <a:buNone/>
            </a:pPr>
            <a:r>
              <a:rPr lang="en-US" sz="1700" b="1" dirty="0">
                <a:solidFill>
                  <a:schemeClr val="tx1"/>
                </a:solidFill>
                <a:latin typeface="Arial" pitchFamily="34" charset="0"/>
                <a:ea typeface="Arial" pitchFamily="34" charset="-122"/>
                <a:cs typeface="Arial" pitchFamily="34" charset="-120"/>
              </a:rPr>
              <a:t>Why EVCARS</a:t>
            </a:r>
            <a:endParaRPr lang="en-US" sz="1700" dirty="0"/>
          </a:p>
        </p:txBody>
      </p:sp>
      <p:sp>
        <p:nvSpPr>
          <p:cNvPr id="38" name="Text 31"/>
          <p:cNvSpPr txBox="1"/>
          <p:nvPr/>
        </p:nvSpPr>
        <p:spPr>
          <a:xfrm>
            <a:off x="4640580" y="4937760"/>
            <a:ext cx="2907792" cy="292608"/>
          </a:xfrm>
          <a:prstGeom prst="rect">
            <a:avLst/>
          </a:prstGeom>
          <a:noFill/>
          <a:ln/>
        </p:spPr>
        <p:txBody>
          <a:bodyPr wrap="square" lIns="0" tIns="0" rIns="0" bIns="0" rtlCol="0" anchor="t"/>
          <a:lstStyle/>
          <a:p>
            <a:pPr rtl="1" algn="r" indent="0" marL="0">
              <a:buNone/>
            </a:pPr>
            <a:r>
              <a:rPr lang="ar-AE" altLang="en-US" sz="1600" b="1" dirty="0">
                <a:solidFill>
                  <a:schemeClr val="tx1"/>
                </a:solidFill>
                <a:latin typeface="Arial" pitchFamily="34" charset="0"/>
                <a:ea typeface="Arial" pitchFamily="34" charset="-122"/>
                <a:cs typeface="Arial" pitchFamily="34" charset="-120"/>
              </a:rPr>
              <a:t>لماذا نحن</a:t>
            </a:r>
            <a:endParaRPr lang="ar-AE" sz="1600" dirty="0"/>
          </a:p>
        </p:txBody>
      </p:sp>
      <p:sp>
        <p:nvSpPr>
          <p:cNvPr id="39" name="Text 32"/>
          <p:cNvSpPr txBox="1"/>
          <p:nvPr/>
        </p:nvSpPr>
        <p:spPr>
          <a:xfrm>
            <a:off x="4640580" y="5394960"/>
            <a:ext cx="2084832" cy="411480"/>
          </a:xfrm>
          <a:prstGeom prst="rect">
            <a:avLst/>
          </a:prstGeom>
          <a:noFill/>
          <a:ln/>
        </p:spPr>
        <p:txBody>
          <a:bodyPr wrap="square" lIns="0" tIns="0" rIns="0" bIns="0" rtlCol="0" anchor="t"/>
          <a:lstStyle/>
          <a:p>
            <a:pPr algn="l" indent="0" marL="0">
              <a:buNone/>
            </a:pPr>
            <a:r>
              <a:rPr lang="en-US" sz="1100" dirty="0">
                <a:solidFill>
                  <a:schemeClr val="accent3"/>
                </a:solidFill>
                <a:latin typeface="Arial" pitchFamily="34" charset="0"/>
                <a:ea typeface="Arial" pitchFamily="34" charset="-122"/>
                <a:cs typeface="Arial" pitchFamily="34" charset="-120"/>
              </a:rPr>
              <a:t>Warranty · Online · Exhibitions · Strengths</a:t>
            </a:r>
            <a:endParaRPr lang="en-US" sz="1100" dirty="0"/>
          </a:p>
        </p:txBody>
      </p:sp>
      <p:sp>
        <p:nvSpPr>
          <p:cNvPr id="40" name="Text 33"/>
          <p:cNvSpPr txBox="1"/>
          <p:nvPr/>
        </p:nvSpPr>
        <p:spPr>
          <a:xfrm>
            <a:off x="6816852" y="5394960"/>
            <a:ext cx="731520" cy="274320"/>
          </a:xfrm>
          <a:prstGeom prst="rect">
            <a:avLst/>
          </a:prstGeom>
          <a:noFill/>
          <a:ln/>
        </p:spPr>
        <p:txBody>
          <a:bodyPr wrap="square" lIns="0" tIns="0" rIns="0" bIns="0" rtlCol="0" anchor="t"/>
          <a:lstStyle/>
          <a:p>
            <a:pPr algn="r" indent="0" marL="0">
              <a:buNone/>
            </a:pPr>
            <a:r>
              <a:rPr lang="en-US" sz="1100" dirty="0">
                <a:solidFill>
                  <a:schemeClr val="accent3"/>
                </a:solidFill>
                <a:latin typeface="Arial" pitchFamily="34" charset="0"/>
                <a:ea typeface="Arial" pitchFamily="34" charset="-122"/>
                <a:cs typeface="Arial" pitchFamily="34" charset="-120"/>
              </a:rPr>
              <a:t>p. 16 – 19</a:t>
            </a:r>
            <a:endParaRPr lang="en-US" sz="1100" dirty="0"/>
          </a:p>
        </p:txBody>
      </p:sp>
      <p:sp>
        <p:nvSpPr>
          <p:cNvPr id="41" name="Chapter card 06"/>
          <p:cNvSpPr/>
          <p:nvPr/>
        </p:nvSpPr>
        <p:spPr>
          <a:xfrm>
            <a:off x="8092440" y="4023360"/>
            <a:ext cx="3456432" cy="1965960"/>
          </a:xfrm>
          <a:prstGeom prst="roundRect">
            <a:avLst>
              <a:gd name="adj" fmla="val 4651"/>
            </a:avLst>
          </a:prstGeom>
          <a:solidFill>
            <a:schemeClr val="bg2"/>
          </a:solidFill>
          <a:ln/>
        </p:spPr>
      </p:sp>
      <p:sp>
        <p:nvSpPr>
          <p:cNvPr id="42" name="Text 35"/>
          <p:cNvSpPr txBox="1"/>
          <p:nvPr/>
        </p:nvSpPr>
        <p:spPr>
          <a:xfrm>
            <a:off x="8366760" y="4224528"/>
            <a:ext cx="1097280" cy="548640"/>
          </a:xfrm>
          <a:prstGeom prst="rect">
            <a:avLst/>
          </a:prstGeom>
          <a:noFill/>
          <a:ln/>
        </p:spPr>
        <p:txBody>
          <a:bodyPr wrap="square" lIns="0" tIns="0" rIns="0" bIns="0" rtlCol="0" anchor="t"/>
          <a:lstStyle/>
          <a:p>
            <a:pPr algn="l" indent="0" marL="0">
              <a:buNone/>
            </a:pPr>
            <a:r>
              <a:rPr lang="en-US" sz="3400" dirty="0">
                <a:solidFill>
                  <a:schemeClr val="accent1"/>
                </a:solidFill>
                <a:latin typeface="Arial" pitchFamily="34" charset="0"/>
                <a:ea typeface="Arial" pitchFamily="34" charset="-122"/>
                <a:cs typeface="Arial" pitchFamily="34" charset="-120"/>
              </a:rPr>
              <a:t>06</a:t>
            </a:r>
            <a:endParaRPr lang="en-US" sz="3400" dirty="0"/>
          </a:p>
        </p:txBody>
      </p:sp>
      <p:pic>
        <p:nvPicPr>
          <p:cNvPr id="43" name="Chapter icon 06" descr="icon">    </p:cNvPr>
          <p:cNvPicPr>
            <a:picLocks noChangeAspect="1"/>
          </p:cNvPicPr>
          <p:nvPr/>
        </p:nvPicPr>
        <p:blipFill>
          <a:blip r:embed="rId6"/>
          <a:stretch>
            <a:fillRect/>
          </a:stretch>
        </p:blipFill>
        <p:spPr>
          <a:xfrm>
            <a:off x="10863072" y="4279392"/>
            <a:ext cx="411480" cy="411480"/>
          </a:xfrm>
          <a:prstGeom prst="rect">
            <a:avLst/>
          </a:prstGeom>
        </p:spPr>
      </p:pic>
      <p:sp>
        <p:nvSpPr>
          <p:cNvPr id="44" name="Text 36"/>
          <p:cNvSpPr txBox="1"/>
          <p:nvPr/>
        </p:nvSpPr>
        <p:spPr>
          <a:xfrm>
            <a:off x="8366760" y="4937760"/>
            <a:ext cx="2907792" cy="292608"/>
          </a:xfrm>
          <a:prstGeom prst="rect">
            <a:avLst/>
          </a:prstGeom>
          <a:noFill/>
          <a:ln/>
        </p:spPr>
        <p:txBody>
          <a:bodyPr wrap="square" lIns="0" tIns="0" rIns="0" bIns="0" rtlCol="0" anchor="t"/>
          <a:lstStyle/>
          <a:p>
            <a:pPr algn="l" indent="0" marL="0">
              <a:buNone/>
            </a:pPr>
            <a:r>
              <a:rPr lang="en-US" sz="1700" b="1" dirty="0">
                <a:solidFill>
                  <a:schemeClr val="tx1"/>
                </a:solidFill>
                <a:latin typeface="Arial" pitchFamily="34" charset="0"/>
                <a:ea typeface="Arial" pitchFamily="34" charset="-122"/>
                <a:cs typeface="Arial" pitchFamily="34" charset="-120"/>
              </a:rPr>
              <a:t>Ahead</a:t>
            </a:r>
            <a:endParaRPr lang="en-US" sz="1700" dirty="0"/>
          </a:p>
        </p:txBody>
      </p:sp>
      <p:sp>
        <p:nvSpPr>
          <p:cNvPr id="45" name="Text 37"/>
          <p:cNvSpPr txBox="1"/>
          <p:nvPr/>
        </p:nvSpPr>
        <p:spPr>
          <a:xfrm>
            <a:off x="8366760" y="4937760"/>
            <a:ext cx="2907792" cy="292608"/>
          </a:xfrm>
          <a:prstGeom prst="rect">
            <a:avLst/>
          </a:prstGeom>
          <a:noFill/>
          <a:ln/>
        </p:spPr>
        <p:txBody>
          <a:bodyPr wrap="square" lIns="0" tIns="0" rIns="0" bIns="0" rtlCol="0" anchor="t"/>
          <a:lstStyle/>
          <a:p>
            <a:pPr rtl="1" algn="r" indent="0" marL="0">
              <a:buNone/>
            </a:pPr>
            <a:r>
              <a:rPr lang="ar-AE" altLang="en-US" sz="1600" b="1" dirty="0">
                <a:solidFill>
                  <a:schemeClr val="tx1"/>
                </a:solidFill>
                <a:latin typeface="Arial" pitchFamily="34" charset="0"/>
                <a:ea typeface="Arial" pitchFamily="34" charset="-122"/>
                <a:cs typeface="Arial" pitchFamily="34" charset="-120"/>
              </a:rPr>
              <a:t>المستقبل</a:t>
            </a:r>
            <a:endParaRPr lang="ar-AE" sz="1600" dirty="0"/>
          </a:p>
        </p:txBody>
      </p:sp>
      <p:sp>
        <p:nvSpPr>
          <p:cNvPr id="46" name="Text 38"/>
          <p:cNvSpPr txBox="1"/>
          <p:nvPr/>
        </p:nvSpPr>
        <p:spPr>
          <a:xfrm>
            <a:off x="8366760" y="5394960"/>
            <a:ext cx="2084832" cy="411480"/>
          </a:xfrm>
          <a:prstGeom prst="rect">
            <a:avLst/>
          </a:prstGeom>
          <a:noFill/>
          <a:ln/>
        </p:spPr>
        <p:txBody>
          <a:bodyPr wrap="square" lIns="0" tIns="0" rIns="0" bIns="0" rtlCol="0" anchor="t"/>
          <a:lstStyle/>
          <a:p>
            <a:pPr algn="l" indent="0" marL="0">
              <a:buNone/>
            </a:pPr>
            <a:r>
              <a:rPr lang="en-US" sz="1100" dirty="0">
                <a:solidFill>
                  <a:schemeClr val="accent3"/>
                </a:solidFill>
                <a:latin typeface="Arial" pitchFamily="34" charset="0"/>
                <a:ea typeface="Arial" pitchFamily="34" charset="-122"/>
                <a:cs typeface="Arial" pitchFamily="34" charset="-120"/>
              </a:rPr>
              <a:t>Future direction · Contact</a:t>
            </a:r>
            <a:endParaRPr lang="en-US" sz="1100" dirty="0"/>
          </a:p>
        </p:txBody>
      </p:sp>
      <p:sp>
        <p:nvSpPr>
          <p:cNvPr id="47" name="Text 39"/>
          <p:cNvSpPr txBox="1"/>
          <p:nvPr/>
        </p:nvSpPr>
        <p:spPr>
          <a:xfrm>
            <a:off x="10543032" y="5394960"/>
            <a:ext cx="731520" cy="274320"/>
          </a:xfrm>
          <a:prstGeom prst="rect">
            <a:avLst/>
          </a:prstGeom>
          <a:noFill/>
          <a:ln/>
        </p:spPr>
        <p:txBody>
          <a:bodyPr wrap="square" lIns="0" tIns="0" rIns="0" bIns="0" rtlCol="0" anchor="t"/>
          <a:lstStyle/>
          <a:p>
            <a:pPr algn="r" indent="0" marL="0">
              <a:buNone/>
            </a:pPr>
            <a:r>
              <a:rPr lang="en-US" sz="1100" dirty="0">
                <a:solidFill>
                  <a:schemeClr val="accent3"/>
                </a:solidFill>
                <a:latin typeface="Arial" pitchFamily="34" charset="0"/>
                <a:ea typeface="Arial" pitchFamily="34" charset="-122"/>
                <a:cs typeface="Arial" pitchFamily="34" charset="-120"/>
              </a:rPr>
              <a:t>p. 20 – 21</a:t>
            </a:r>
            <a:endParaRPr lang="en-US" sz="1100" dirty="0"/>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A75"/>
                </a:solidFill>
                <a:latin typeface="Arial"/>
                <a:ea typeface="Arial"/>
                <a:cs typeface="Arial"/>
              </a:defRPr>
            </a:lvl1pPr>
          </a:lstStyle>
          <a:p>
            <a:pPr algn="r"/>
            <a:fld id="{F7021451-1387-4CA6-816F-3879F97B5CBC}" type="slidenum">
              <a:rPr b="0" lang="en-US"/>
              <a:t>2</a:t>
            </a:fld>
            <a:endParaRPr lang="en-US"/>
          </a:p>
        </p:txBody>
      </p:sp>
      <p:sp>
        <p:nvSpPr>
          <p:cNvPr id="48" name="Link Who We Are" descr="Go to Who We Are">
            <a:hlinkClick r:id="rId9" action="ppaction://hlinksldjump" tooltip="Go to Who We Are"/>
          </p:cNvPr>
          <p:cNvSpPr/>
          <p:nvPr/>
        </p:nvSpPr>
        <p:spPr>
          <a:xfrm>
            <a:off x="640080" y="1783080"/>
            <a:ext cx="3456432" cy="1965960"/>
          </a:xfrm>
          <a:prstGeom prst="roundRect">
            <a:avLst/>
          </a:prstGeom>
          <a:noFill/>
          <a:ln>
            <a:noFill/>
          </a:ln>
        </p:spPr>
        <p:txBody>
          <a:bodyPr/>
          <a:lstStyle/>
          <a:p>
            <a:endParaRPr lang="en-US"/>
          </a:p>
        </p:txBody>
      </p:sp>
      <p:sp>
        <p:nvSpPr>
          <p:cNvPr id="49" name="Link What We Do" descr="Go to What We Do">
            <a:hlinkClick r:id="rId10" action="ppaction://hlinksldjump" tooltip="Go to What We Do"/>
          </p:cNvPr>
          <p:cNvSpPr/>
          <p:nvPr/>
        </p:nvSpPr>
        <p:spPr>
          <a:xfrm>
            <a:off x="4366260" y="1783080"/>
            <a:ext cx="3456432" cy="1965960"/>
          </a:xfrm>
          <a:prstGeom prst="roundRect">
            <a:avLst/>
          </a:prstGeom>
          <a:noFill/>
          <a:ln>
            <a:noFill/>
          </a:ln>
        </p:spPr>
        <p:txBody>
          <a:bodyPr/>
          <a:lstStyle/>
          <a:p>
            <a:endParaRPr lang="en-US"/>
          </a:p>
        </p:txBody>
      </p:sp>
      <p:sp>
        <p:nvSpPr>
          <p:cNvPr id="50" name="Link Who We Serve" descr="Go to Who We Serve">
            <a:hlinkClick r:id="rId11" action="ppaction://hlinksldjump" tooltip="Go to Who We Serve"/>
          </p:cNvPr>
          <p:cNvSpPr/>
          <p:nvPr/>
        </p:nvSpPr>
        <p:spPr>
          <a:xfrm>
            <a:off x="8092440" y="1783080"/>
            <a:ext cx="3456432" cy="1965960"/>
          </a:xfrm>
          <a:prstGeom prst="roundRect">
            <a:avLst/>
          </a:prstGeom>
          <a:noFill/>
          <a:ln>
            <a:noFill/>
          </a:ln>
        </p:spPr>
        <p:txBody>
          <a:bodyPr/>
          <a:lstStyle/>
          <a:p>
            <a:endParaRPr lang="en-US"/>
          </a:p>
        </p:txBody>
      </p:sp>
      <p:sp>
        <p:nvSpPr>
          <p:cNvPr id="51" name="Link Where We Are" descr="Go to Where We Are">
            <a:hlinkClick r:id="rId12" action="ppaction://hlinksldjump" tooltip="Go to Where We Are"/>
          </p:cNvPr>
          <p:cNvSpPr/>
          <p:nvPr/>
        </p:nvSpPr>
        <p:spPr>
          <a:xfrm>
            <a:off x="640080" y="4023360"/>
            <a:ext cx="3456432" cy="1965960"/>
          </a:xfrm>
          <a:prstGeom prst="roundRect">
            <a:avLst/>
          </a:prstGeom>
          <a:noFill/>
          <a:ln>
            <a:noFill/>
          </a:ln>
        </p:spPr>
        <p:txBody>
          <a:bodyPr/>
          <a:lstStyle/>
          <a:p>
            <a:endParaRPr lang="en-US"/>
          </a:p>
        </p:txBody>
      </p:sp>
      <p:sp>
        <p:nvSpPr>
          <p:cNvPr id="52" name="Link Why EVCARS" descr="Go to Why EVCARS">
            <a:hlinkClick r:id="rId13" action="ppaction://hlinksldjump" tooltip="Go to Why EVCARS"/>
          </p:cNvPr>
          <p:cNvSpPr/>
          <p:nvPr/>
        </p:nvSpPr>
        <p:spPr>
          <a:xfrm>
            <a:off x="4366260" y="4023360"/>
            <a:ext cx="3456432" cy="1965960"/>
          </a:xfrm>
          <a:prstGeom prst="roundRect">
            <a:avLst/>
          </a:prstGeom>
          <a:noFill/>
          <a:ln>
            <a:noFill/>
          </a:ln>
        </p:spPr>
        <p:txBody>
          <a:bodyPr/>
          <a:lstStyle/>
          <a:p>
            <a:endParaRPr lang="en-US"/>
          </a:p>
        </p:txBody>
      </p:sp>
      <p:sp>
        <p:nvSpPr>
          <p:cNvPr id="53" name="Link Ahead" descr="Go to Ahead">
            <a:hlinkClick r:id="rId14" action="ppaction://hlinksldjump" tooltip="Go to Ahead"/>
          </p:cNvPr>
          <p:cNvSpPr/>
          <p:nvPr/>
        </p:nvSpPr>
        <p:spPr>
          <a:xfrm>
            <a:off x="8092440" y="4023360"/>
            <a:ext cx="3456432" cy="1965960"/>
          </a:xfrm>
          <a:prstGeom prst="roundRect">
            <a:avLst/>
          </a:prstGeom>
          <a:noFill/>
          <a:ln>
            <a:noFill/>
          </a:ln>
        </p:spPr>
        <p:txBody>
          <a:bodyPr/>
          <a:lstStyle/>
          <a:p>
            <a:endParaRPr lang="en-US"/>
          </a:p>
        </p:txBody>
      </p:sp>
      <p:sp>
        <p:nvSpPr>
          <p:cNvPr id="54" name="Hint"/>
          <p:cNvSpPr txBox="1"/>
          <p:nvPr/>
        </p:nvSpPr>
        <p:spPr>
          <a:xfrm>
            <a:off x="640080" y="1480000"/>
            <a:ext cx="8000000" cy="200000"/>
          </a:xfrm>
          <a:prstGeom prst="rect">
            <a:avLst/>
          </a:prstGeom>
          <a:noFill/>
        </p:spPr>
        <p:txBody>
          <a:bodyPr wrap="square" lIns="0" tIns="0" rIns="0" bIns="0" rtlCol="0" anchor="t"/>
          <a:lstStyle/>
          <a:p>
            <a:pPr algn="l"/>
            <a:r>
              <a:rPr lang="en-US" sz="900" b="0" spc="0" dirty="0">
                <a:solidFill>
                  <a:schemeClr val="accent3"/>
                </a:solidFill>
                <a:latin typeface="Arial"/>
                <a:cs typeface="Arial"/>
              </a:rPr>
              <a:t>Click any section to jump to it   ·   اضغط على أي قسم للانتقال إليه</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11480"/>
            <a:ext cx="5486400" cy="228600"/>
          </a:xfrm>
          <a:prstGeom prst="rect">
            <a:avLst/>
          </a:prstGeom>
          <a:noFill/>
          <a:ln/>
        </p:spPr>
        <p:txBody>
          <a:bodyPr wrap="square" lIns="0" tIns="0" rIns="0" bIns="0" rtlCol="0" anchor="t"/>
          <a:lstStyle/>
          <a:p>
            <a:pPr algn="l" indent="0" marL="0">
              <a:buNone/>
            </a:pPr>
            <a:r>
              <a:rPr lang="en-US" sz="1000" b="1" spc="300" kern="0" dirty="0">
                <a:solidFill>
                  <a:schemeClr val="accent1"/>
                </a:solidFill>
                <a:latin typeface="Arial" pitchFamily="34" charset="0"/>
                <a:ea typeface="Arial" pitchFamily="34" charset="-122"/>
                <a:cs typeface="Arial" pitchFamily="34" charset="-120"/>
              </a:rPr>
              <a:t>01   ·   WHO WE ARE</a:t>
            </a:r>
            <a:endParaRPr lang="en-US" sz="1000" dirty="0"/>
          </a:p>
        </p:txBody>
      </p:sp>
      <p:sp>
        <p:nvSpPr>
          <p:cNvPr id="3" name="Text 1"/>
          <p:cNvSpPr txBox="1"/>
          <p:nvPr/>
        </p:nvSpPr>
        <p:spPr>
          <a:xfrm>
            <a:off x="6065215" y="411480"/>
            <a:ext cx="5486400" cy="228600"/>
          </a:xfrm>
          <a:prstGeom prst="rect">
            <a:avLst/>
          </a:prstGeom>
          <a:noFill/>
          <a:ln/>
        </p:spPr>
        <p:txBody>
          <a:bodyPr wrap="square" lIns="0" tIns="0" rIns="0" bIns="0" rtlCol="0" anchor="t"/>
          <a:lstStyle/>
          <a:p>
            <a:pPr rtl="1" algn="r" indent="0" marL="0">
              <a:buNone/>
            </a:pPr>
            <a:r>
              <a:rPr lang="ar-AE" altLang="en-US" sz="1100" b="1" dirty="0">
                <a:solidFill>
                  <a:schemeClr val="accent1"/>
                </a:solidFill>
                <a:latin typeface="Arial" pitchFamily="34" charset="0"/>
                <a:ea typeface="Arial" pitchFamily="34" charset="-122"/>
                <a:cs typeface="Arial" pitchFamily="34" charset="-120"/>
              </a:rPr>
              <a:t>من نحن   ·   01</a:t>
            </a:r>
            <a:endParaRPr lang="ar-AE" sz="1100" dirty="0"/>
          </a:p>
        </p:txBody>
      </p:sp>
      <p:sp>
        <p:nvSpPr>
          <p:cNvPr id="4" name="Text 0"/>
          <p:cNvSpPr/>
          <p:nvPr>
            <p:ph idx="100" type="title" hasCustomPrompt="1"/>
          </p:nvPr>
        </p:nvSpPr>
        <p:spPr>
          <a:xfrm>
            <a:off x="640080" y="713232"/>
            <a:ext cx="5486400" cy="685800"/>
          </a:xfrm>
          <a:prstGeom prst="rect">
            <a:avLst/>
          </a:prstGeom>
          <a:noFill/>
          <a:ln/>
        </p:spPr>
        <p:txBody>
          <a:bodyPr wrap="square" lIns="0" tIns="0" rIns="0" bIns="0" rtlCol="0" anchor="t"/>
          <a:lstStyle/>
          <a:p>
            <a:pPr algn="l" indent="0" marL="0">
              <a:buNone/>
            </a:pPr>
            <a:r>
              <a:rPr lang="en-US" sz="3000" dirty="0">
                <a:solidFill>
                  <a:schemeClr val="tx1"/>
                </a:solidFill>
                <a:latin typeface="Arial" pitchFamily="34" charset="0"/>
                <a:ea typeface="Arial" pitchFamily="34" charset="-122"/>
                <a:cs typeface="Arial" pitchFamily="34" charset="-120"/>
              </a:rPr>
              <a:t>About EVCARS</a:t>
            </a:r>
            <a:endParaRPr lang="en-US" sz="3000" dirty="0"/>
          </a:p>
        </p:txBody>
      </p:sp>
      <p:sp>
        <p:nvSpPr>
          <p:cNvPr id="5" name="Text 0"/>
          <p:cNvSpPr/>
          <p:nvPr>
            <p:ph idx="101" type="body" hasCustomPrompt="1"/>
          </p:nvPr>
        </p:nvSpPr>
        <p:spPr>
          <a:xfrm>
            <a:off x="6065215" y="713232"/>
            <a:ext cx="5486400" cy="685800"/>
          </a:xfrm>
          <a:prstGeom prst="rect">
            <a:avLst/>
          </a:prstGeom>
          <a:noFill/>
          <a:ln/>
        </p:spPr>
        <p:txBody>
          <a:bodyPr wrap="square" lIns="0" tIns="0" rIns="0" bIns="0" rtlCol="0" anchor="t"/>
          <a:lstStyle/>
          <a:p>
            <a:pPr rtl="1" algn="r" indent="0" marL="0">
              <a:buNone/>
            </a:pPr>
            <a:r>
              <a:rPr lang="ar-AE" altLang="en-US" sz="3000" dirty="0">
                <a:solidFill>
                  <a:schemeClr val="tx1"/>
                </a:solidFill>
                <a:latin typeface="Arial" pitchFamily="34" charset="0"/>
                <a:ea typeface="Arial" pitchFamily="34" charset="-122"/>
                <a:cs typeface="Arial" pitchFamily="34" charset="-120"/>
              </a:rPr>
              <a:t>من نحن</a:t>
            </a:r>
            <a:endParaRPr lang="ar-AE" sz="3000" dirty="0"/>
          </a:p>
        </p:txBody>
      </p:sp>
      <p:sp>
        <p:nvSpPr>
          <p:cNvPr id="6" name="Text 4"/>
          <p:cNvSpPr txBox="1"/>
          <p:nvPr/>
        </p:nvSpPr>
        <p:spPr>
          <a:xfrm>
            <a:off x="640080" y="1645920"/>
            <a:ext cx="5074920" cy="2468880"/>
          </a:xfrm>
          <a:prstGeom prst="rect">
            <a:avLst/>
          </a:prstGeom>
          <a:noFill/>
          <a:ln/>
        </p:spPr>
        <p:txBody>
          <a:bodyPr wrap="square" lIns="0" tIns="0" rIns="0" bIns="0" rtlCol="0" anchor="t"/>
          <a:lstStyle/>
          <a:p>
            <a:pPr algn="l" indent="0" marL="0">
              <a:lnSpc>
                <a:spcPct val="115000"/>
              </a:lnSpc>
              <a:spcAft>
                <a:spcPts val="1000"/>
              </a:spcAft>
              <a:buNone/>
            </a:pPr>
            <a:r>
              <a:rPr lang="en-US" sz="1400" dirty="0">
                <a:solidFill>
                  <a:schemeClr val="accent4"/>
                </a:solidFill>
                <a:latin typeface="Arial" pitchFamily="34" charset="0"/>
                <a:ea typeface="Arial" pitchFamily="34" charset="-122"/>
                <a:cs typeface="Arial" pitchFamily="34" charset="-120"/>
              </a:rPr>
              <a:t>EVCARS is an Emirati brand specializing in comprehensive electric vehicle solutions, including interior and exterior accessories, EV charging equipment, charging adapters, professional installation, and specialized technical services.</a:t>
            </a:r>
            <a:endParaRPr lang="en-US" sz="1400" dirty="0"/>
          </a:p>
          <a:p>
            <a:pPr algn="l" indent="0" marL="0">
              <a:lnSpc>
                <a:spcPct val="115000"/>
              </a:lnSpc>
              <a:buNone/>
            </a:pPr>
            <a:r>
              <a:rPr lang="en-US" sz="1400" dirty="0">
                <a:solidFill>
                  <a:schemeClr val="accent4"/>
                </a:solidFill>
                <a:latin typeface="Arial" pitchFamily="34" charset="0"/>
                <a:ea typeface="Arial" pitchFamily="34" charset="-122"/>
                <a:cs typeface="Arial" pitchFamily="34" charset="-120"/>
              </a:rPr>
              <a:t>Established in 2023 as an e-commerce business in the United Arab Emirates, EVCARS has grown into a physical retail network serving customers directly, with operations extending into the Sultanate of Oman.</a:t>
            </a:r>
            <a:endParaRPr lang="en-US" sz="1400" dirty="0"/>
          </a:p>
        </p:txBody>
      </p:sp>
      <p:sp>
        <p:nvSpPr>
          <p:cNvPr id="7" name="Text 5"/>
          <p:cNvSpPr txBox="1"/>
          <p:nvPr/>
        </p:nvSpPr>
        <p:spPr>
          <a:xfrm>
            <a:off x="6476695" y="1645920"/>
            <a:ext cx="5074920" cy="2468880"/>
          </a:xfrm>
          <a:prstGeom prst="rect">
            <a:avLst/>
          </a:prstGeom>
          <a:noFill/>
          <a:ln/>
        </p:spPr>
        <p:txBody>
          <a:bodyPr wrap="square" lIns="0" tIns="0" rIns="0" bIns="0" rtlCol="0" anchor="t"/>
          <a:lstStyle/>
          <a:p>
            <a:pPr algn="r" indent="0" marL="0">
              <a:lnSpc>
                <a:spcPct val="115000"/>
              </a:lnSpc>
              <a:spcAft>
                <a:spcPts val="1000"/>
              </a:spcAft>
              <a:buNone/>
            </a:pPr>
            <a:r>
              <a:rPr lang="ar-AE" altLang="en-US" sz="1400" dirty="0">
                <a:solidFill>
                  <a:schemeClr val="accent4"/>
                </a:solidFill>
                <a:latin typeface="Arial" pitchFamily="34" charset="0"/>
                <a:ea typeface="Arial" pitchFamily="34" charset="-122"/>
                <a:cs typeface="Arial" pitchFamily="34" charset="-120"/>
              </a:rPr>
              <a:t>EVCARS علامة تجارية إماراتية متخصصة في تقديم حلول متكاملة للسيارات الكهربائية، تشمل الإكسسوارات الداخلية والخارجية، وشواحن السيارات الكهربائية، ومحولات الشحن، وخدمات التركيب والدعم الفني المتخصص.</a:t>
            </a:r>
            <a:endParaRPr lang="ar-AE" sz="1400" dirty="0"/>
          </a:p>
          <a:p>
            <a:pPr algn="r" indent="0" marL="0">
              <a:lnSpc>
                <a:spcPct val="115000"/>
              </a:lnSpc>
              <a:buNone/>
            </a:pPr>
            <a:r>
              <a:rPr lang="ar-AE" altLang="en-US" sz="1400" dirty="0">
                <a:solidFill>
                  <a:schemeClr val="accent4"/>
                </a:solidFill>
                <a:latin typeface="Arial" pitchFamily="34" charset="0"/>
                <a:ea typeface="Arial" pitchFamily="34" charset="-122"/>
                <a:cs typeface="Arial" pitchFamily="34" charset="-120"/>
              </a:rPr>
              <a:t>انطلقت EVCARS في عام 2023 من خلال التجارة الإلكترونية في دولة الإمارات العربية المتحدة، ثم توسعت إلى شبكة من الفروع الفعلية لخدمة العملاء بصورة مباشرة، وصولاً إلى التوسع في سلطنة عُمان.</a:t>
            </a:r>
            <a:endParaRPr lang="ar-AE" sz="1400" dirty="0"/>
          </a:p>
        </p:txBody>
      </p:sp>
      <p:sp>
        <p:nvSpPr>
          <p:cNvPr id="8" name="hairline"/>
          <p:cNvSpPr/>
          <p:nvPr/>
        </p:nvSpPr>
        <p:spPr>
          <a:xfrm>
            <a:off x="6095848" y="1691640"/>
            <a:ext cx="0" cy="2331720"/>
          </a:xfrm>
          <a:prstGeom prst="line">
            <a:avLst/>
          </a:prstGeom>
          <a:noFill/>
          <a:ln w="9525">
            <a:solidFill>
              <a:schemeClr val="accent5"/>
            </a:solidFill>
            <a:prstDash val="solid"/>
          </a:ln>
        </p:spPr>
      </p:sp>
      <p:sp>
        <p:nvSpPr>
          <p:cNvPr id="9" name="Fact tile 1"/>
          <p:cNvSpPr/>
          <p:nvPr/>
        </p:nvSpPr>
        <p:spPr>
          <a:xfrm>
            <a:off x="640080" y="4389120"/>
            <a:ext cx="2560320" cy="1691640"/>
          </a:xfrm>
          <a:prstGeom prst="roundRect">
            <a:avLst>
              <a:gd name="adj" fmla="val 5405"/>
            </a:avLst>
          </a:prstGeom>
          <a:solidFill>
            <a:schemeClr val="bg2"/>
          </a:solidFill>
          <a:ln/>
        </p:spPr>
      </p:sp>
      <p:sp>
        <p:nvSpPr>
          <p:cNvPr id="10" name="Text 8"/>
          <p:cNvSpPr txBox="1"/>
          <p:nvPr/>
        </p:nvSpPr>
        <p:spPr>
          <a:xfrm>
            <a:off x="914400" y="4572000"/>
            <a:ext cx="1463040" cy="685800"/>
          </a:xfrm>
          <a:prstGeom prst="rect">
            <a:avLst/>
          </a:prstGeom>
          <a:noFill/>
          <a:ln/>
        </p:spPr>
        <p:txBody>
          <a:bodyPr wrap="square" lIns="0" tIns="0" rIns="0" bIns="0" rtlCol="0" anchor="t"/>
          <a:lstStyle/>
          <a:p>
            <a:pPr algn="l" indent="0" marL="0">
              <a:buNone/>
            </a:pPr>
            <a:r>
              <a:rPr lang="en-US" sz="4000" dirty="0">
                <a:solidFill>
                  <a:schemeClr val="tx1"/>
                </a:solidFill>
                <a:latin typeface="Arial" pitchFamily="34" charset="0"/>
                <a:ea typeface="Arial" pitchFamily="34" charset="-122"/>
                <a:cs typeface="Arial" pitchFamily="34" charset="-120"/>
              </a:rPr>
              <a:t>2023</a:t>
            </a:r>
            <a:endParaRPr lang="en-US" sz="4000" dirty="0"/>
          </a:p>
        </p:txBody>
      </p:sp>
      <p:pic>
        <p:nvPicPr>
          <p:cNvPr id="11" name="Fact icon 1" descr="icon">    </p:cNvPr>
          <p:cNvPicPr>
            <a:picLocks noChangeAspect="1"/>
          </p:cNvPicPr>
          <p:nvPr/>
        </p:nvPicPr>
        <p:blipFill>
          <a:blip r:embed="rId1"/>
          <a:stretch>
            <a:fillRect/>
          </a:stretch>
        </p:blipFill>
        <p:spPr>
          <a:xfrm>
            <a:off x="2542032" y="4645152"/>
            <a:ext cx="384048" cy="384048"/>
          </a:xfrm>
          <a:prstGeom prst="rect">
            <a:avLst/>
          </a:prstGeom>
        </p:spPr>
      </p:pic>
      <p:sp>
        <p:nvSpPr>
          <p:cNvPr id="12" name="Text 9"/>
          <p:cNvSpPr txBox="1"/>
          <p:nvPr/>
        </p:nvSpPr>
        <p:spPr>
          <a:xfrm>
            <a:off x="914400" y="5394960"/>
            <a:ext cx="2011680" cy="256032"/>
          </a:xfrm>
          <a:prstGeom prst="rect">
            <a:avLst/>
          </a:prstGeom>
          <a:noFill/>
          <a:ln/>
        </p:spPr>
        <p:txBody>
          <a:bodyPr wrap="square" lIns="0" tIns="0" rIns="0" bIns="0" rtlCol="0" anchor="t"/>
          <a:lstStyle/>
          <a:p>
            <a:pPr algn="l" indent="0" marL="0">
              <a:buNone/>
            </a:pPr>
            <a:r>
              <a:rPr lang="en-US" sz="1200" b="1" dirty="0">
                <a:solidFill>
                  <a:schemeClr val="accent4"/>
                </a:solidFill>
                <a:latin typeface="Arial" pitchFamily="34" charset="0"/>
                <a:ea typeface="Arial" pitchFamily="34" charset="-122"/>
                <a:cs typeface="Arial" pitchFamily="34" charset="-120"/>
              </a:rPr>
              <a:t>Established</a:t>
            </a:r>
            <a:endParaRPr lang="en-US" sz="1200" dirty="0"/>
          </a:p>
        </p:txBody>
      </p:sp>
      <p:sp>
        <p:nvSpPr>
          <p:cNvPr id="13" name="Text 10"/>
          <p:cNvSpPr txBox="1"/>
          <p:nvPr/>
        </p:nvSpPr>
        <p:spPr>
          <a:xfrm>
            <a:off x="914400" y="5669280"/>
            <a:ext cx="2011680" cy="256032"/>
          </a:xfrm>
          <a:prstGeom prst="rect">
            <a:avLst/>
          </a:prstGeom>
          <a:noFill/>
          <a:ln/>
        </p:spPr>
        <p:txBody>
          <a:bodyPr wrap="square" lIns="0" tIns="0" rIns="0" bIns="0" rtlCol="0" anchor="t"/>
          <a:lstStyle/>
          <a:p>
            <a:pPr rtl="1" algn="r" indent="0" marL="0">
              <a:buNone/>
            </a:pPr>
            <a:r>
              <a:rPr lang="ar-AE" altLang="en-US" sz="1200" dirty="0">
                <a:solidFill>
                  <a:schemeClr val="accent3"/>
                </a:solidFill>
                <a:latin typeface="Arial" pitchFamily="34" charset="0"/>
                <a:ea typeface="Arial" pitchFamily="34" charset="-122"/>
                <a:cs typeface="Arial" pitchFamily="34" charset="-120"/>
              </a:rPr>
              <a:t>التأسيس</a:t>
            </a:r>
            <a:endParaRPr lang="ar-AE" sz="1200" dirty="0"/>
          </a:p>
        </p:txBody>
      </p:sp>
      <p:sp>
        <p:nvSpPr>
          <p:cNvPr id="14" name="Fact tile 2"/>
          <p:cNvSpPr/>
          <p:nvPr/>
        </p:nvSpPr>
        <p:spPr>
          <a:xfrm>
            <a:off x="3423818" y="4389120"/>
            <a:ext cx="2560320" cy="1691640"/>
          </a:xfrm>
          <a:prstGeom prst="roundRect">
            <a:avLst>
              <a:gd name="adj" fmla="val 5405"/>
            </a:avLst>
          </a:prstGeom>
          <a:solidFill>
            <a:schemeClr val="bg2"/>
          </a:solidFill>
          <a:ln/>
        </p:spPr>
      </p:sp>
      <p:sp>
        <p:nvSpPr>
          <p:cNvPr id="15" name="Text 12"/>
          <p:cNvSpPr txBox="1"/>
          <p:nvPr/>
        </p:nvSpPr>
        <p:spPr>
          <a:xfrm>
            <a:off x="3698138" y="4572000"/>
            <a:ext cx="1463040" cy="685800"/>
          </a:xfrm>
          <a:prstGeom prst="rect">
            <a:avLst/>
          </a:prstGeom>
          <a:noFill/>
          <a:ln/>
        </p:spPr>
        <p:txBody>
          <a:bodyPr wrap="square" lIns="0" tIns="0" rIns="0" bIns="0" rtlCol="0" anchor="t"/>
          <a:lstStyle/>
          <a:p>
            <a:pPr algn="l" indent="0" marL="0">
              <a:buNone/>
            </a:pPr>
            <a:r>
              <a:rPr lang="en-US" sz="4000" dirty="0">
                <a:solidFill>
                  <a:schemeClr val="tx1"/>
                </a:solidFill>
                <a:latin typeface="Arial" pitchFamily="34" charset="0"/>
                <a:ea typeface="Arial" pitchFamily="34" charset="-122"/>
                <a:cs typeface="Arial" pitchFamily="34" charset="-120"/>
              </a:rPr>
              <a:t>5</a:t>
            </a:r>
            <a:endParaRPr lang="en-US" sz="4000" dirty="0"/>
          </a:p>
        </p:txBody>
      </p:sp>
      <p:pic>
        <p:nvPicPr>
          <p:cNvPr id="16" name="Fact icon 2" descr="icon">    </p:cNvPr>
          <p:cNvPicPr>
            <a:picLocks noChangeAspect="1"/>
          </p:cNvPicPr>
          <p:nvPr/>
        </p:nvPicPr>
        <p:blipFill>
          <a:blip r:embed="rId2"/>
          <a:stretch>
            <a:fillRect/>
          </a:stretch>
        </p:blipFill>
        <p:spPr>
          <a:xfrm>
            <a:off x="5325770" y="4645152"/>
            <a:ext cx="384048" cy="384048"/>
          </a:xfrm>
          <a:prstGeom prst="rect">
            <a:avLst/>
          </a:prstGeom>
        </p:spPr>
      </p:pic>
      <p:sp>
        <p:nvSpPr>
          <p:cNvPr id="17" name="Text 13"/>
          <p:cNvSpPr txBox="1"/>
          <p:nvPr/>
        </p:nvSpPr>
        <p:spPr>
          <a:xfrm>
            <a:off x="3698138" y="5394960"/>
            <a:ext cx="2011680" cy="256032"/>
          </a:xfrm>
          <a:prstGeom prst="rect">
            <a:avLst/>
          </a:prstGeom>
          <a:noFill/>
          <a:ln/>
        </p:spPr>
        <p:txBody>
          <a:bodyPr wrap="square" lIns="0" tIns="0" rIns="0" bIns="0" rtlCol="0" anchor="t"/>
          <a:lstStyle/>
          <a:p>
            <a:pPr algn="l" indent="0" marL="0">
              <a:buNone/>
            </a:pPr>
            <a:r>
              <a:rPr lang="en-US" sz="1200" b="1" dirty="0">
                <a:solidFill>
                  <a:schemeClr val="accent4"/>
                </a:solidFill>
                <a:latin typeface="Arial" pitchFamily="34" charset="0"/>
                <a:ea typeface="Arial" pitchFamily="34" charset="-122"/>
                <a:cs typeface="Arial" pitchFamily="34" charset="-120"/>
              </a:rPr>
              <a:t>Branches</a:t>
            </a:r>
            <a:endParaRPr lang="en-US" sz="1200" dirty="0"/>
          </a:p>
        </p:txBody>
      </p:sp>
      <p:sp>
        <p:nvSpPr>
          <p:cNvPr id="18" name="Text 14"/>
          <p:cNvSpPr txBox="1"/>
          <p:nvPr/>
        </p:nvSpPr>
        <p:spPr>
          <a:xfrm>
            <a:off x="3698138" y="5669280"/>
            <a:ext cx="2011680" cy="256032"/>
          </a:xfrm>
          <a:prstGeom prst="rect">
            <a:avLst/>
          </a:prstGeom>
          <a:noFill/>
          <a:ln/>
        </p:spPr>
        <p:txBody>
          <a:bodyPr wrap="square" lIns="0" tIns="0" rIns="0" bIns="0" rtlCol="0" anchor="t"/>
          <a:lstStyle/>
          <a:p>
            <a:pPr rtl="1" algn="r" indent="0" marL="0">
              <a:buNone/>
            </a:pPr>
            <a:r>
              <a:rPr lang="ar-AE" altLang="en-US" sz="1200" dirty="0">
                <a:solidFill>
                  <a:schemeClr val="accent3"/>
                </a:solidFill>
                <a:latin typeface="Arial" pitchFamily="34" charset="0"/>
                <a:ea typeface="Arial" pitchFamily="34" charset="-122"/>
                <a:cs typeface="Arial" pitchFamily="34" charset="-120"/>
              </a:rPr>
              <a:t>فروع</a:t>
            </a:r>
            <a:endParaRPr lang="ar-AE" sz="1200" dirty="0"/>
          </a:p>
        </p:txBody>
      </p:sp>
      <p:sp>
        <p:nvSpPr>
          <p:cNvPr id="19" name="Fact tile 3"/>
          <p:cNvSpPr/>
          <p:nvPr/>
        </p:nvSpPr>
        <p:spPr>
          <a:xfrm>
            <a:off x="6207557" y="4389120"/>
            <a:ext cx="2560320" cy="1691640"/>
          </a:xfrm>
          <a:prstGeom prst="roundRect">
            <a:avLst>
              <a:gd name="adj" fmla="val 5405"/>
            </a:avLst>
          </a:prstGeom>
          <a:solidFill>
            <a:schemeClr val="bg2"/>
          </a:solidFill>
          <a:ln/>
        </p:spPr>
      </p:sp>
      <p:sp>
        <p:nvSpPr>
          <p:cNvPr id="20" name="Text 16"/>
          <p:cNvSpPr txBox="1"/>
          <p:nvPr/>
        </p:nvSpPr>
        <p:spPr>
          <a:xfrm>
            <a:off x="6481877" y="4572000"/>
            <a:ext cx="1463040" cy="685800"/>
          </a:xfrm>
          <a:prstGeom prst="rect">
            <a:avLst/>
          </a:prstGeom>
          <a:noFill/>
          <a:ln/>
        </p:spPr>
        <p:txBody>
          <a:bodyPr wrap="square" lIns="0" tIns="0" rIns="0" bIns="0" rtlCol="0" anchor="t"/>
          <a:lstStyle/>
          <a:p>
            <a:pPr algn="l" indent="0" marL="0">
              <a:buNone/>
            </a:pPr>
            <a:r>
              <a:rPr lang="en-US" sz="4000" dirty="0">
                <a:solidFill>
                  <a:schemeClr val="tx1"/>
                </a:solidFill>
                <a:latin typeface="Arial" pitchFamily="34" charset="0"/>
                <a:ea typeface="Arial" pitchFamily="34" charset="-122"/>
                <a:cs typeface="Arial" pitchFamily="34" charset="-120"/>
              </a:rPr>
              <a:t>2</a:t>
            </a:r>
            <a:endParaRPr lang="en-US" sz="4000" dirty="0"/>
          </a:p>
        </p:txBody>
      </p:sp>
      <p:pic>
        <p:nvPicPr>
          <p:cNvPr id="21" name="Fact icon 3" descr="icon">    </p:cNvPr>
          <p:cNvPicPr>
            <a:picLocks noChangeAspect="1"/>
          </p:cNvPicPr>
          <p:nvPr/>
        </p:nvPicPr>
        <p:blipFill>
          <a:blip r:embed="rId3"/>
          <a:stretch>
            <a:fillRect/>
          </a:stretch>
        </p:blipFill>
        <p:spPr>
          <a:xfrm>
            <a:off x="8109509" y="4645152"/>
            <a:ext cx="384048" cy="384048"/>
          </a:xfrm>
          <a:prstGeom prst="rect">
            <a:avLst/>
          </a:prstGeom>
        </p:spPr>
      </p:pic>
      <p:sp>
        <p:nvSpPr>
          <p:cNvPr id="22" name="Text 17"/>
          <p:cNvSpPr txBox="1"/>
          <p:nvPr/>
        </p:nvSpPr>
        <p:spPr>
          <a:xfrm>
            <a:off x="6481877" y="5394960"/>
            <a:ext cx="2011680" cy="256032"/>
          </a:xfrm>
          <a:prstGeom prst="rect">
            <a:avLst/>
          </a:prstGeom>
          <a:noFill/>
          <a:ln/>
        </p:spPr>
        <p:txBody>
          <a:bodyPr wrap="square" lIns="0" tIns="0" rIns="0" bIns="0" rtlCol="0" anchor="t"/>
          <a:lstStyle/>
          <a:p>
            <a:pPr algn="l" indent="0" marL="0">
              <a:buNone/>
            </a:pPr>
            <a:r>
              <a:rPr lang="en-US" sz="1200" b="1" dirty="0">
                <a:solidFill>
                  <a:schemeClr val="accent4"/>
                </a:solidFill>
                <a:latin typeface="Arial" pitchFamily="34" charset="0"/>
                <a:ea typeface="Arial" pitchFamily="34" charset="-122"/>
                <a:cs typeface="Arial" pitchFamily="34" charset="-120"/>
              </a:rPr>
              <a:t>Countries</a:t>
            </a:r>
            <a:endParaRPr lang="en-US" sz="1200" dirty="0"/>
          </a:p>
        </p:txBody>
      </p:sp>
      <p:sp>
        <p:nvSpPr>
          <p:cNvPr id="23" name="Text 18"/>
          <p:cNvSpPr txBox="1"/>
          <p:nvPr/>
        </p:nvSpPr>
        <p:spPr>
          <a:xfrm>
            <a:off x="6481877" y="5669280"/>
            <a:ext cx="2011680" cy="256032"/>
          </a:xfrm>
          <a:prstGeom prst="rect">
            <a:avLst/>
          </a:prstGeom>
          <a:noFill/>
          <a:ln/>
        </p:spPr>
        <p:txBody>
          <a:bodyPr wrap="square" lIns="0" tIns="0" rIns="0" bIns="0" rtlCol="0" anchor="t"/>
          <a:lstStyle/>
          <a:p>
            <a:pPr rtl="1" algn="r" indent="0" marL="0">
              <a:buNone/>
            </a:pPr>
            <a:r>
              <a:rPr lang="ar-AE" altLang="en-US" sz="1200" dirty="0">
                <a:solidFill>
                  <a:schemeClr val="accent3"/>
                </a:solidFill>
                <a:latin typeface="Arial" pitchFamily="34" charset="0"/>
                <a:ea typeface="Arial" pitchFamily="34" charset="-122"/>
                <a:cs typeface="Arial" pitchFamily="34" charset="-120"/>
              </a:rPr>
              <a:t>دولتان</a:t>
            </a:r>
            <a:endParaRPr lang="ar-AE" sz="1200" dirty="0"/>
          </a:p>
        </p:txBody>
      </p:sp>
      <p:sp>
        <p:nvSpPr>
          <p:cNvPr id="24" name="Fact tile 4"/>
          <p:cNvSpPr/>
          <p:nvPr/>
        </p:nvSpPr>
        <p:spPr>
          <a:xfrm>
            <a:off x="8991295" y="4389120"/>
            <a:ext cx="2560320" cy="1691640"/>
          </a:xfrm>
          <a:prstGeom prst="roundRect">
            <a:avLst>
              <a:gd name="adj" fmla="val 5405"/>
            </a:avLst>
          </a:prstGeom>
          <a:solidFill>
            <a:schemeClr val="bg2"/>
          </a:solidFill>
          <a:ln/>
        </p:spPr>
      </p:sp>
      <p:sp>
        <p:nvSpPr>
          <p:cNvPr id="25" name="Text 20"/>
          <p:cNvSpPr txBox="1"/>
          <p:nvPr/>
        </p:nvSpPr>
        <p:spPr>
          <a:xfrm>
            <a:off x="9265615" y="4572000"/>
            <a:ext cx="1463040" cy="685800"/>
          </a:xfrm>
          <a:prstGeom prst="rect">
            <a:avLst/>
          </a:prstGeom>
          <a:noFill/>
          <a:ln/>
        </p:spPr>
        <p:txBody>
          <a:bodyPr wrap="square" lIns="0" tIns="0" rIns="0" bIns="0" rtlCol="0" anchor="t"/>
          <a:lstStyle/>
          <a:p>
            <a:pPr algn="l" indent="0" marL="0">
              <a:buNone/>
            </a:pPr>
            <a:r>
              <a:rPr lang="en-US" sz="4000" dirty="0">
                <a:solidFill>
                  <a:schemeClr val="tx1"/>
                </a:solidFill>
                <a:latin typeface="Arial" pitchFamily="34" charset="0"/>
                <a:ea typeface="Arial" pitchFamily="34" charset="-122"/>
                <a:cs typeface="Arial" pitchFamily="34" charset="-120"/>
              </a:rPr>
              <a:t>1</a:t>
            </a:r>
            <a:endParaRPr lang="en-US" sz="4000" dirty="0"/>
          </a:p>
        </p:txBody>
      </p:sp>
      <p:pic>
        <p:nvPicPr>
          <p:cNvPr id="26" name="Fact icon 4" descr="icon">    </p:cNvPr>
          <p:cNvPicPr>
            <a:picLocks noChangeAspect="1"/>
          </p:cNvPicPr>
          <p:nvPr/>
        </p:nvPicPr>
        <p:blipFill>
          <a:blip r:embed="rId4"/>
          <a:stretch>
            <a:fillRect/>
          </a:stretch>
        </p:blipFill>
        <p:spPr>
          <a:xfrm>
            <a:off x="10893247" y="4645152"/>
            <a:ext cx="384048" cy="384048"/>
          </a:xfrm>
          <a:prstGeom prst="rect">
            <a:avLst/>
          </a:prstGeom>
        </p:spPr>
      </p:pic>
      <p:sp>
        <p:nvSpPr>
          <p:cNvPr id="27" name="Text 21"/>
          <p:cNvSpPr txBox="1"/>
          <p:nvPr/>
        </p:nvSpPr>
        <p:spPr>
          <a:xfrm>
            <a:off x="9265615" y="5394960"/>
            <a:ext cx="2011680" cy="256032"/>
          </a:xfrm>
          <a:prstGeom prst="rect">
            <a:avLst/>
          </a:prstGeom>
          <a:noFill/>
          <a:ln/>
        </p:spPr>
        <p:txBody>
          <a:bodyPr wrap="square" lIns="0" tIns="0" rIns="0" bIns="0" rtlCol="0" anchor="t"/>
          <a:lstStyle/>
          <a:p>
            <a:pPr algn="l" indent="0" marL="0">
              <a:buNone/>
            </a:pPr>
            <a:r>
              <a:rPr lang="en-US" sz="1200" b="1" dirty="0">
                <a:solidFill>
                  <a:schemeClr val="accent4"/>
                </a:solidFill>
                <a:latin typeface="Arial" pitchFamily="34" charset="0"/>
                <a:ea typeface="Arial" pitchFamily="34" charset="-122"/>
                <a:cs typeface="Arial" pitchFamily="34" charset="-120"/>
              </a:rPr>
              <a:t>Central warehouse, Dubai</a:t>
            </a:r>
            <a:endParaRPr lang="en-US" sz="1200" dirty="0"/>
          </a:p>
        </p:txBody>
      </p:sp>
      <p:sp>
        <p:nvSpPr>
          <p:cNvPr id="28" name="Text 22"/>
          <p:cNvSpPr txBox="1"/>
          <p:nvPr/>
        </p:nvSpPr>
        <p:spPr>
          <a:xfrm>
            <a:off x="9265615" y="5669280"/>
            <a:ext cx="2011680" cy="256032"/>
          </a:xfrm>
          <a:prstGeom prst="rect">
            <a:avLst/>
          </a:prstGeom>
          <a:noFill/>
          <a:ln/>
        </p:spPr>
        <p:txBody>
          <a:bodyPr wrap="square" lIns="0" tIns="0" rIns="0" bIns="0" rtlCol="0" anchor="t"/>
          <a:lstStyle/>
          <a:p>
            <a:pPr rtl="1" algn="r" indent="0" marL="0">
              <a:buNone/>
            </a:pPr>
            <a:r>
              <a:rPr lang="ar-AE" altLang="en-US" sz="1200" dirty="0">
                <a:solidFill>
                  <a:schemeClr val="accent3"/>
                </a:solidFill>
                <a:latin typeface="Arial" pitchFamily="34" charset="0"/>
                <a:ea typeface="Arial" pitchFamily="34" charset="-122"/>
                <a:cs typeface="Arial" pitchFamily="34" charset="-120"/>
              </a:rPr>
              <a:t>مستودع مركزي في دبي</a:t>
            </a:r>
            <a:endParaRPr lang="ar-AE" sz="1200" dirty="0"/>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A75"/>
                </a:solidFill>
                <a:latin typeface="Arial"/>
                <a:ea typeface="Arial"/>
                <a:cs typeface="Arial"/>
              </a:defRPr>
            </a:lvl1pPr>
          </a:lstStyle>
          <a:p>
            <a:pPr algn="r"/>
            <a:fld id="{F7021451-1387-4CA6-816F-3879F97B5CBC}" type="slidenum">
              <a:rPr b="0" lang="en-US"/>
              <a:t>3</a:t>
            </a:fld>
            <a:endParaRPr lang="en-US"/>
          </a:p>
        </p:txBody>
      </p:sp>
      <p:sp>
        <p:nvSpPr>
          <p:cNvPr id="29" name="Back to contents" descr="Back to contents">
            <a:hlinkClick r:id="rId7" action="ppaction://hlinksldjump" tooltip="Back to Contents / العودة إلى المحتويات"/>
          </p:cNvPr>
          <p:cNvSpPr/>
          <p:nvPr/>
        </p:nvSpPr>
        <p:spPr>
          <a:xfrm>
            <a:off x="8838000" y="6283000"/>
            <a:ext cx="1850000" cy="300000"/>
          </a:xfrm>
          <a:prstGeom prst="roundRect">
            <a:avLst>
              <a:gd name="adj" fmla="val 50000"/>
            </a:avLst>
          </a:prstGeom>
          <a:noFill/>
          <a:ln w="9525">
            <a:solidFill>
              <a:schemeClr val="accent1"/>
            </a:solidFill>
          </a:ln>
        </p:spPr>
        <p:txBody>
          <a:bodyPr wrap="none" lIns="0" tIns="0" rIns="0" bIns="0" rtlCol="0" anchor="ctr"/>
          <a:lstStyle/>
          <a:p>
            <a:pPr algn="ctr"/>
            <a:r>
              <a:rPr lang="en-US" sz="900" b="1" spc="120" dirty="0">
                <a:solidFill>
                  <a:schemeClr val="accent1"/>
                </a:solidFill>
                <a:latin typeface="Arial"/>
                <a:cs typeface="Arial"/>
              </a:rPr>
              <a:t>CONTENTS  ·  </a:t>
            </a:r>
            <a:r>
              <a:rPr lang="ar-AE" sz="900" b="1" dirty="0">
                <a:solidFill>
                  <a:schemeClr val="accent1"/>
                </a:solidFill>
                <a:latin typeface="Arial"/>
                <a:cs typeface="Arial"/>
              </a:rPr>
              <a:t>المحتويات</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11480"/>
            <a:ext cx="5486400" cy="228600"/>
          </a:xfrm>
          <a:prstGeom prst="rect">
            <a:avLst/>
          </a:prstGeom>
          <a:noFill/>
          <a:ln/>
        </p:spPr>
        <p:txBody>
          <a:bodyPr wrap="square" lIns="0" tIns="0" rIns="0" bIns="0" rtlCol="0" anchor="t"/>
          <a:lstStyle/>
          <a:p>
            <a:pPr algn="l" indent="0" marL="0">
              <a:buNone/>
            </a:pPr>
            <a:r>
              <a:rPr lang="en-US" sz="1000" b="1" spc="300" kern="0" dirty="0">
                <a:solidFill>
                  <a:schemeClr val="accent2"/>
                </a:solidFill>
                <a:latin typeface="Arial" pitchFamily="34" charset="0"/>
                <a:ea typeface="Arial" pitchFamily="34" charset="-122"/>
                <a:cs typeface="Arial" pitchFamily="34" charset="-120"/>
              </a:rPr>
              <a:t>01   ·   WHO WE ARE</a:t>
            </a:r>
            <a:endParaRPr lang="en-US" sz="1000" dirty="0"/>
          </a:p>
        </p:txBody>
      </p:sp>
      <p:sp>
        <p:nvSpPr>
          <p:cNvPr id="3" name="Text 1"/>
          <p:cNvSpPr txBox="1"/>
          <p:nvPr/>
        </p:nvSpPr>
        <p:spPr>
          <a:xfrm>
            <a:off x="6065215" y="411480"/>
            <a:ext cx="5486400" cy="228600"/>
          </a:xfrm>
          <a:prstGeom prst="rect">
            <a:avLst/>
          </a:prstGeom>
          <a:noFill/>
          <a:ln/>
        </p:spPr>
        <p:txBody>
          <a:bodyPr wrap="square" lIns="0" tIns="0" rIns="0" bIns="0" rtlCol="0" anchor="t"/>
          <a:lstStyle/>
          <a:p>
            <a:pPr rtl="1" algn="r" indent="0" marL="0">
              <a:buNone/>
            </a:pPr>
            <a:r>
              <a:rPr lang="ar-AE" altLang="en-US" sz="1100" b="1" dirty="0">
                <a:solidFill>
                  <a:schemeClr val="accent2"/>
                </a:solidFill>
                <a:latin typeface="Arial" pitchFamily="34" charset="0"/>
                <a:ea typeface="Arial" pitchFamily="34" charset="-122"/>
                <a:cs typeface="Arial" pitchFamily="34" charset="-120"/>
              </a:rPr>
              <a:t>من نحن   ·   01</a:t>
            </a:r>
            <a:endParaRPr lang="ar-AE" sz="1100" dirty="0"/>
          </a:p>
        </p:txBody>
      </p:sp>
      <p:sp>
        <p:nvSpPr>
          <p:cNvPr id="4" name="Text 0"/>
          <p:cNvSpPr/>
          <p:nvPr>
            <p:ph idx="100" type="title" hasCustomPrompt="1"/>
          </p:nvPr>
        </p:nvSpPr>
        <p:spPr>
          <a:xfrm>
            <a:off x="640080" y="713232"/>
            <a:ext cx="5486400" cy="685800"/>
          </a:xfrm>
          <a:prstGeom prst="rect">
            <a:avLst/>
          </a:prstGeom>
          <a:noFill/>
          <a:ln/>
        </p:spPr>
        <p:txBody>
          <a:bodyPr wrap="square" lIns="0" tIns="0" rIns="0" bIns="0" rtlCol="0" anchor="t"/>
          <a:lstStyle/>
          <a:p>
            <a:pPr algn="l" indent="0" marL="0">
              <a:buNone/>
            </a:pPr>
            <a:r>
              <a:rPr lang="en-US" sz="3000" dirty="0">
                <a:solidFill>
                  <a:schemeClr val="bg1"/>
                </a:solidFill>
                <a:latin typeface="Arial" pitchFamily="34" charset="0"/>
                <a:ea typeface="Arial" pitchFamily="34" charset="-122"/>
                <a:cs typeface="Arial" pitchFamily="34" charset="-120"/>
              </a:rPr>
              <a:t>Founder’s Message</a:t>
            </a:r>
            <a:endParaRPr lang="en-US" sz="3000" dirty="0"/>
          </a:p>
        </p:txBody>
      </p:sp>
      <p:sp>
        <p:nvSpPr>
          <p:cNvPr id="5" name="Text 0"/>
          <p:cNvSpPr/>
          <p:nvPr>
            <p:ph idx="101" type="body" hasCustomPrompt="1"/>
          </p:nvPr>
        </p:nvSpPr>
        <p:spPr>
          <a:xfrm>
            <a:off x="6065215" y="713232"/>
            <a:ext cx="5486400" cy="685800"/>
          </a:xfrm>
          <a:prstGeom prst="rect">
            <a:avLst/>
          </a:prstGeom>
          <a:noFill/>
          <a:ln/>
        </p:spPr>
        <p:txBody>
          <a:bodyPr wrap="square" lIns="0" tIns="0" rIns="0" bIns="0" rtlCol="0" anchor="t"/>
          <a:lstStyle/>
          <a:p>
            <a:pPr rtl="1" algn="r" indent="0" marL="0">
              <a:buNone/>
            </a:pPr>
            <a:r>
              <a:rPr lang="ar-AE" altLang="en-US" sz="3000" dirty="0">
                <a:solidFill>
                  <a:schemeClr val="bg1"/>
                </a:solidFill>
                <a:latin typeface="Arial" pitchFamily="34" charset="0"/>
                <a:ea typeface="Arial" pitchFamily="34" charset="-122"/>
                <a:cs typeface="Arial" pitchFamily="34" charset="-120"/>
              </a:rPr>
              <a:t>كلمة المؤسس</a:t>
            </a:r>
            <a:endParaRPr lang="ar-AE" sz="3000" dirty="0"/>
          </a:p>
        </p:txBody>
      </p:sp>
      <p:pic>
        <p:nvPicPr>
          <p:cNvPr id="6" name="Quote icon" descr="quote mark">    </p:cNvPr>
          <p:cNvPicPr>
            <a:picLocks noChangeAspect="1"/>
          </p:cNvPicPr>
          <p:nvPr/>
        </p:nvPicPr>
        <p:blipFill>
          <a:blip r:embed="rId1"/>
          <a:stretch>
            <a:fillRect/>
          </a:stretch>
        </p:blipFill>
        <p:spPr>
          <a:xfrm>
            <a:off x="5821528" y="1572768"/>
            <a:ext cx="548640" cy="548640"/>
          </a:xfrm>
          <a:prstGeom prst="rect">
            <a:avLst/>
          </a:prstGeom>
        </p:spPr>
      </p:pic>
      <p:sp>
        <p:nvSpPr>
          <p:cNvPr id="7" name="Text 4"/>
          <p:cNvSpPr txBox="1"/>
          <p:nvPr/>
        </p:nvSpPr>
        <p:spPr>
          <a:xfrm>
            <a:off x="640080" y="2331720"/>
            <a:ext cx="5074920" cy="2743200"/>
          </a:xfrm>
          <a:prstGeom prst="rect">
            <a:avLst/>
          </a:prstGeom>
          <a:noFill/>
          <a:ln/>
        </p:spPr>
        <p:txBody>
          <a:bodyPr wrap="square" lIns="0" tIns="0" rIns="0" bIns="0" rtlCol="0" anchor="t"/>
          <a:lstStyle/>
          <a:p>
            <a:pPr algn="l" indent="0" marL="0">
              <a:lnSpc>
                <a:spcPct val="115000"/>
              </a:lnSpc>
              <a:spcAft>
                <a:spcPts val="1000"/>
              </a:spcAft>
              <a:buNone/>
            </a:pPr>
            <a:r>
              <a:rPr lang="en-US" sz="1400" dirty="0">
                <a:solidFill>
                  <a:schemeClr val="bg1"/>
                </a:solidFill>
                <a:latin typeface="Arial" pitchFamily="34" charset="0"/>
                <a:ea typeface="Arial" pitchFamily="34" charset="-122"/>
                <a:cs typeface="Arial" pitchFamily="34" charset="-120"/>
              </a:rPr>
              <a:t>Our journey began as an online store. Through the trust of our customers and the dedication of our team, we have grown into a branch network across the UAE and the Sultanate of Oman.</a:t>
            </a:r>
            <a:endParaRPr lang="en-US" sz="1400" dirty="0"/>
          </a:p>
          <a:p>
            <a:pPr algn="l" indent="0" marL="0">
              <a:lnSpc>
                <a:spcPct val="115000"/>
              </a:lnSpc>
              <a:spcAft>
                <a:spcPts val="1000"/>
              </a:spcAft>
              <a:buNone/>
            </a:pPr>
            <a:r>
              <a:rPr lang="en-US" sz="1400" dirty="0">
                <a:solidFill>
                  <a:schemeClr val="bg1"/>
                </a:solidFill>
                <a:latin typeface="Arial" pitchFamily="34" charset="0"/>
                <a:ea typeface="Arial" pitchFamily="34" charset="-122"/>
                <a:cs typeface="Arial" pitchFamily="34" charset="-120"/>
              </a:rPr>
              <a:t>We believe that the future of electric mobility requires more than vehicles. It also depends on a complete ecosystem of accessories, charging solutions, and specialized services.</a:t>
            </a:r>
            <a:endParaRPr lang="en-US" sz="1400" dirty="0"/>
          </a:p>
          <a:p>
            <a:pPr algn="l" indent="0" marL="0">
              <a:lnSpc>
                <a:spcPct val="115000"/>
              </a:lnSpc>
              <a:buNone/>
            </a:pPr>
            <a:r>
              <a:rPr lang="en-US" sz="1400" dirty="0">
                <a:solidFill>
                  <a:schemeClr val="bg1"/>
                </a:solidFill>
                <a:latin typeface="Arial" pitchFamily="34" charset="0"/>
                <a:ea typeface="Arial" pitchFamily="34" charset="-122"/>
                <a:cs typeface="Arial" pitchFamily="34" charset="-120"/>
              </a:rPr>
              <a:t>Our ambition is to establish EVCARS as a recognized and trusted brand among electric vehicle owners across the region and beyond.</a:t>
            </a:r>
            <a:endParaRPr lang="en-US" sz="1400" dirty="0"/>
          </a:p>
        </p:txBody>
      </p:sp>
      <p:sp>
        <p:nvSpPr>
          <p:cNvPr id="8" name="Text 5"/>
          <p:cNvSpPr txBox="1"/>
          <p:nvPr/>
        </p:nvSpPr>
        <p:spPr>
          <a:xfrm>
            <a:off x="6476695" y="2331720"/>
            <a:ext cx="5074920" cy="2743200"/>
          </a:xfrm>
          <a:prstGeom prst="rect">
            <a:avLst/>
          </a:prstGeom>
          <a:noFill/>
          <a:ln/>
        </p:spPr>
        <p:txBody>
          <a:bodyPr wrap="square" lIns="0" tIns="0" rIns="0" bIns="0" rtlCol="0" anchor="t"/>
          <a:lstStyle/>
          <a:p>
            <a:pPr algn="r" indent="0" marL="0">
              <a:lnSpc>
                <a:spcPct val="115000"/>
              </a:lnSpc>
              <a:spcAft>
                <a:spcPts val="1000"/>
              </a:spcAft>
              <a:buNone/>
            </a:pPr>
            <a:r>
              <a:rPr lang="ar-AE" altLang="en-US" sz="1400" dirty="0">
                <a:solidFill>
                  <a:schemeClr val="bg1"/>
                </a:solidFill>
                <a:latin typeface="Arial" pitchFamily="34" charset="0"/>
                <a:ea typeface="Arial" pitchFamily="34" charset="-122"/>
                <a:cs typeface="Arial" pitchFamily="34" charset="-120"/>
              </a:rPr>
              <a:t>بدأت رحلتنا من متجر إلكتروني، وبفضل ثقة عملائنا والتزام فريق العمل، تطورنا إلى شبكة فروع في دولة الإمارات العربية المتحدة وسلطنة عُمان.</a:t>
            </a:r>
            <a:endParaRPr lang="ar-AE" sz="1400" dirty="0"/>
          </a:p>
          <a:p>
            <a:pPr algn="r" indent="0" marL="0">
              <a:lnSpc>
                <a:spcPct val="115000"/>
              </a:lnSpc>
              <a:spcAft>
                <a:spcPts val="1000"/>
              </a:spcAft>
              <a:buNone/>
            </a:pPr>
            <a:r>
              <a:rPr lang="ar-AE" altLang="en-US" sz="1400" dirty="0">
                <a:solidFill>
                  <a:schemeClr val="bg1"/>
                </a:solidFill>
                <a:latin typeface="Arial" pitchFamily="34" charset="0"/>
                <a:ea typeface="Arial" pitchFamily="34" charset="-122"/>
                <a:cs typeface="Arial" pitchFamily="34" charset="-120"/>
              </a:rPr>
              <a:t>نؤمن بأن مستقبل قطاع السيارات الكهربائية لا يعتمد على المركبات وحدها، بل يحتاج أيضاً إلى منظومة متكاملة من الإكسسوارات وحلول الشحن والخدمات المتخصصة.</a:t>
            </a:r>
            <a:endParaRPr lang="ar-AE" sz="1400" dirty="0"/>
          </a:p>
          <a:p>
            <a:pPr algn="r" indent="0" marL="0">
              <a:lnSpc>
                <a:spcPct val="115000"/>
              </a:lnSpc>
              <a:buNone/>
            </a:pPr>
            <a:r>
              <a:rPr lang="ar-AE" altLang="en-US" sz="1400" dirty="0">
                <a:solidFill>
                  <a:schemeClr val="bg1"/>
                </a:solidFill>
                <a:latin typeface="Arial" pitchFamily="34" charset="0"/>
                <a:ea typeface="Arial" pitchFamily="34" charset="-122"/>
                <a:cs typeface="Arial" pitchFamily="34" charset="-120"/>
              </a:rPr>
              <a:t>طموحنا أن تصبح EVCARS علامة تجارية معروفة وموثوقة لدى ملاك السيارات الكهربائية في المنطقة وخارجها.</a:t>
            </a:r>
            <a:endParaRPr lang="ar-AE" sz="1400" dirty="0"/>
          </a:p>
        </p:txBody>
      </p:sp>
      <p:sp>
        <p:nvSpPr>
          <p:cNvPr id="9" name="hairline"/>
          <p:cNvSpPr/>
          <p:nvPr/>
        </p:nvSpPr>
        <p:spPr>
          <a:xfrm>
            <a:off x="6095848" y="2377440"/>
            <a:ext cx="0" cy="2651760"/>
          </a:xfrm>
          <a:prstGeom prst="line">
            <a:avLst/>
          </a:prstGeom>
          <a:noFill/>
          <a:ln w="9525">
            <a:solidFill>
              <a:schemeClr val="accent3"/>
            </a:solidFill>
            <a:prstDash val="solid"/>
          </a:ln>
        </p:spPr>
      </p:sp>
      <p:sp>
        <p:nvSpPr>
          <p:cNvPr id="10" name="hairline"/>
          <p:cNvSpPr/>
          <p:nvPr/>
        </p:nvSpPr>
        <p:spPr>
          <a:xfrm>
            <a:off x="640080" y="5349240"/>
            <a:ext cx="2743200" cy="0"/>
          </a:xfrm>
          <a:prstGeom prst="line">
            <a:avLst/>
          </a:prstGeom>
          <a:noFill/>
          <a:ln w="9525">
            <a:solidFill>
              <a:schemeClr val="accent3"/>
            </a:solidFill>
            <a:prstDash val="solid"/>
          </a:ln>
        </p:spPr>
      </p:sp>
      <p:sp>
        <p:nvSpPr>
          <p:cNvPr id="11" name="hairline"/>
          <p:cNvSpPr/>
          <p:nvPr/>
        </p:nvSpPr>
        <p:spPr>
          <a:xfrm>
            <a:off x="8808415" y="5349240"/>
            <a:ext cx="2743200" cy="0"/>
          </a:xfrm>
          <a:prstGeom prst="line">
            <a:avLst/>
          </a:prstGeom>
          <a:noFill/>
          <a:ln w="9525">
            <a:solidFill>
              <a:schemeClr val="accent3"/>
            </a:solidFill>
            <a:prstDash val="solid"/>
          </a:ln>
        </p:spPr>
      </p:sp>
      <p:sp>
        <p:nvSpPr>
          <p:cNvPr id="12" name="Text 9"/>
          <p:cNvSpPr txBox="1"/>
          <p:nvPr/>
        </p:nvSpPr>
        <p:spPr>
          <a:xfrm>
            <a:off x="640080" y="5420000"/>
            <a:ext cx="4572000" cy="460000"/>
          </a:xfrm>
          <a:prstGeom prst="rect">
            <a:avLst/>
          </a:prstGeom>
          <a:noFill/>
          <a:ln/>
        </p:spPr>
        <p:txBody>
          <a:bodyPr wrap="square" lIns="0" tIns="0" rIns="0" bIns="0" rtlCol="0" anchor="t"/>
          <a:lstStyle/>
          <a:p>
            <a:pPr algn="l" indent="0" marL="0">
              <a:buNone/>
            </a:pPr>
            <a:r>
              <a:rPr lang="en-US" sz="2600" b="1" dirty="0">
                <a:solidFill>
                  <a:schemeClr val="bg1"/>
                </a:solidFill>
                <a:latin typeface="Arial" pitchFamily="34" charset="0"/>
                <a:ea typeface="Arial" pitchFamily="34" charset="-122"/>
                <a:cs typeface="Arial" pitchFamily="34" charset="-120"/>
              </a:rPr>
              <a:t>Ahmed Al Ketbi</a:t>
            </a:r>
            <a:endParaRPr lang="en-US" sz="2600" dirty="0"/>
          </a:p>
        </p:txBody>
      </p:sp>
      <p:sp>
        <p:nvSpPr>
          <p:cNvPr id="13" name="Text 10"/>
          <p:cNvSpPr txBox="1"/>
          <p:nvPr/>
        </p:nvSpPr>
        <p:spPr>
          <a:xfrm>
            <a:off x="640080" y="5880000"/>
            <a:ext cx="4572000" cy="300000"/>
          </a:xfrm>
          <a:prstGeom prst="rect">
            <a:avLst/>
          </a:prstGeom>
          <a:noFill/>
          <a:ln/>
        </p:spPr>
        <p:txBody>
          <a:bodyPr wrap="square" lIns="0" tIns="0" rIns="0" bIns="0" rtlCol="0" anchor="t"/>
          <a:lstStyle/>
          <a:p>
            <a:pPr algn="l" indent="0" marL="0">
              <a:buNone/>
            </a:pPr>
            <a:r>
              <a:rPr lang="en-US" sz="1500" dirty="0">
                <a:solidFill>
                  <a:schemeClr val="accent2"/>
                </a:solidFill>
                <a:latin typeface="Arial" pitchFamily="34" charset="0"/>
                <a:ea typeface="Arial" pitchFamily="34" charset="-122"/>
                <a:cs typeface="Arial" pitchFamily="34" charset="-120"/>
              </a:rPr>
              <a:t>Founder &amp; General Manager, EVCARS</a:t>
            </a:r>
            <a:endParaRPr lang="en-US" sz="1500" dirty="0"/>
          </a:p>
        </p:txBody>
      </p:sp>
      <p:sp>
        <p:nvSpPr>
          <p:cNvPr id="14" name="Text 11"/>
          <p:cNvSpPr txBox="1"/>
          <p:nvPr/>
        </p:nvSpPr>
        <p:spPr>
          <a:xfrm>
            <a:off x="6979615" y="5420000"/>
            <a:ext cx="4572000" cy="460000"/>
          </a:xfrm>
          <a:prstGeom prst="rect">
            <a:avLst/>
          </a:prstGeom>
          <a:noFill/>
          <a:ln/>
        </p:spPr>
        <p:txBody>
          <a:bodyPr wrap="square" lIns="0" tIns="0" rIns="0" bIns="0" rtlCol="0" anchor="t"/>
          <a:lstStyle/>
          <a:p>
            <a:pPr rtl="1" algn="r" indent="0" marL="0">
              <a:buNone/>
            </a:pPr>
            <a:r>
              <a:rPr lang="ar-AE" altLang="en-US" sz="2600" b="1" dirty="0">
                <a:solidFill>
                  <a:schemeClr val="bg1"/>
                </a:solidFill>
                <a:latin typeface="Arial" pitchFamily="34" charset="0"/>
                <a:ea typeface="Arial" pitchFamily="34" charset="-122"/>
                <a:cs typeface="Arial" pitchFamily="34" charset="-120"/>
              </a:rPr>
              <a:t>أحمد الكتبي</a:t>
            </a:r>
            <a:endParaRPr lang="ar-AE" sz="2600" dirty="0"/>
          </a:p>
        </p:txBody>
      </p:sp>
      <p:sp>
        <p:nvSpPr>
          <p:cNvPr id="15" name="Text 12"/>
          <p:cNvSpPr txBox="1"/>
          <p:nvPr/>
        </p:nvSpPr>
        <p:spPr>
          <a:xfrm>
            <a:off x="6979615" y="5880000"/>
            <a:ext cx="4572000" cy="300000"/>
          </a:xfrm>
          <a:prstGeom prst="rect">
            <a:avLst/>
          </a:prstGeom>
          <a:noFill/>
          <a:ln/>
        </p:spPr>
        <p:txBody>
          <a:bodyPr wrap="square" lIns="0" tIns="0" rIns="0" bIns="0" rtlCol="0" anchor="t"/>
          <a:lstStyle/>
          <a:p>
            <a:pPr rtl="1" algn="r" indent="0" marL="0">
              <a:buNone/>
            </a:pPr>
            <a:r>
              <a:rPr lang="ar-AE" altLang="en-US" sz="1500" dirty="0">
                <a:solidFill>
                  <a:schemeClr val="accent2"/>
                </a:solidFill>
                <a:latin typeface="Arial" pitchFamily="34" charset="0"/>
                <a:ea typeface="Arial" pitchFamily="34" charset="-122"/>
                <a:cs typeface="Arial" pitchFamily="34" charset="-120"/>
              </a:rPr>
              <a:t>المؤسس والمدير العام، EVCARS</a:t>
            </a:r>
            <a:endParaRPr lang="ar-AE" sz="1500" dirty="0"/>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DDE2E7"/>
                </a:solidFill>
                <a:latin typeface="Arial"/>
                <a:ea typeface="Arial"/>
                <a:cs typeface="Arial"/>
              </a:defRPr>
            </a:lvl1pPr>
          </a:lstStyle>
          <a:p>
            <a:pPr algn="r"/>
            <a:fld id="{F7021451-1387-4CA6-816F-3879F97B5CBC}" type="slidenum">
              <a:rPr b="0" lang="en-US"/>
              <a:t>4</a:t>
            </a:fld>
            <a:endParaRPr lang="en-US"/>
          </a:p>
        </p:txBody>
      </p:sp>
      <p:sp>
        <p:nvSpPr>
          <p:cNvPr id="26" name="Back to contents" descr="Back to contents">
            <a:hlinkClick r:id="rId4" action="ppaction://hlinksldjump" tooltip="Back to Contents / العودة إلى المحتويات"/>
          </p:cNvPr>
          <p:cNvSpPr/>
          <p:nvPr/>
        </p:nvSpPr>
        <p:spPr>
          <a:xfrm>
            <a:off x="8838000" y="6283000"/>
            <a:ext cx="1850000" cy="300000"/>
          </a:xfrm>
          <a:prstGeom prst="roundRect">
            <a:avLst>
              <a:gd name="adj" fmla="val 50000"/>
            </a:avLst>
          </a:prstGeom>
          <a:noFill/>
          <a:ln w="9525">
            <a:solidFill>
              <a:schemeClr val="accent1"/>
            </a:solidFill>
          </a:ln>
        </p:spPr>
        <p:txBody>
          <a:bodyPr wrap="none" lIns="0" tIns="0" rIns="0" bIns="0" rtlCol="0" anchor="ctr"/>
          <a:lstStyle/>
          <a:p>
            <a:pPr algn="ctr"/>
            <a:r>
              <a:rPr lang="en-US" sz="900" b="1" spc="120" dirty="0">
                <a:solidFill>
                  <a:schemeClr val="accent1"/>
                </a:solidFill>
                <a:latin typeface="Arial"/>
                <a:cs typeface="Arial"/>
              </a:rPr>
              <a:t>CONTENTS  ·  </a:t>
            </a:r>
            <a:r>
              <a:rPr lang="ar-AE" sz="900" b="1" dirty="0">
                <a:solidFill>
                  <a:schemeClr val="accent1"/>
                </a:solidFill>
                <a:latin typeface="Arial"/>
                <a:cs typeface="Arial"/>
              </a:rPr>
              <a:t>المحتويات</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11480"/>
            <a:ext cx="5486400" cy="228600"/>
          </a:xfrm>
          <a:prstGeom prst="rect">
            <a:avLst/>
          </a:prstGeom>
          <a:noFill/>
          <a:ln/>
        </p:spPr>
        <p:txBody>
          <a:bodyPr wrap="square" lIns="0" tIns="0" rIns="0" bIns="0" rtlCol="0" anchor="t"/>
          <a:lstStyle/>
          <a:p>
            <a:pPr algn="l" indent="0" marL="0">
              <a:buNone/>
            </a:pPr>
            <a:r>
              <a:rPr lang="en-US" sz="1000" b="1" spc="300" kern="0" dirty="0">
                <a:solidFill>
                  <a:schemeClr val="accent1"/>
                </a:solidFill>
                <a:latin typeface="Arial" pitchFamily="34" charset="0"/>
                <a:ea typeface="Arial" pitchFamily="34" charset="-122"/>
                <a:cs typeface="Arial" pitchFamily="34" charset="-120"/>
              </a:rPr>
              <a:t>01   ·   WHO WE ARE</a:t>
            </a:r>
            <a:endParaRPr lang="en-US" sz="1000" dirty="0"/>
          </a:p>
        </p:txBody>
      </p:sp>
      <p:sp>
        <p:nvSpPr>
          <p:cNvPr id="3" name="Text 1"/>
          <p:cNvSpPr txBox="1"/>
          <p:nvPr/>
        </p:nvSpPr>
        <p:spPr>
          <a:xfrm>
            <a:off x="6065215" y="411480"/>
            <a:ext cx="5486400" cy="228600"/>
          </a:xfrm>
          <a:prstGeom prst="rect">
            <a:avLst/>
          </a:prstGeom>
          <a:noFill/>
          <a:ln/>
        </p:spPr>
        <p:txBody>
          <a:bodyPr wrap="square" lIns="0" tIns="0" rIns="0" bIns="0" rtlCol="0" anchor="t"/>
          <a:lstStyle/>
          <a:p>
            <a:pPr rtl="1" algn="r" indent="0" marL="0">
              <a:buNone/>
            </a:pPr>
            <a:r>
              <a:rPr lang="ar-AE" altLang="en-US" sz="1100" b="1" dirty="0">
                <a:solidFill>
                  <a:schemeClr val="accent1"/>
                </a:solidFill>
                <a:latin typeface="Arial" pitchFamily="34" charset="0"/>
                <a:ea typeface="Arial" pitchFamily="34" charset="-122"/>
                <a:cs typeface="Arial" pitchFamily="34" charset="-120"/>
              </a:rPr>
              <a:t>من نحن   ·   01</a:t>
            </a:r>
            <a:endParaRPr lang="ar-AE" sz="1100" dirty="0"/>
          </a:p>
        </p:txBody>
      </p:sp>
      <p:sp>
        <p:nvSpPr>
          <p:cNvPr id="4" name="Text 0"/>
          <p:cNvSpPr/>
          <p:nvPr>
            <p:ph idx="100" type="title" hasCustomPrompt="1"/>
          </p:nvPr>
        </p:nvSpPr>
        <p:spPr>
          <a:xfrm>
            <a:off x="640080" y="713232"/>
            <a:ext cx="5486400" cy="685800"/>
          </a:xfrm>
          <a:prstGeom prst="rect">
            <a:avLst/>
          </a:prstGeom>
          <a:noFill/>
          <a:ln/>
        </p:spPr>
        <p:txBody>
          <a:bodyPr wrap="square" lIns="0" tIns="0" rIns="0" bIns="0" rtlCol="0" anchor="t"/>
          <a:lstStyle/>
          <a:p>
            <a:pPr algn="l" indent="0" marL="0">
              <a:buNone/>
            </a:pPr>
            <a:r>
              <a:rPr lang="en-US" sz="3000" dirty="0">
                <a:solidFill>
                  <a:schemeClr val="tx1"/>
                </a:solidFill>
                <a:latin typeface="Arial" pitchFamily="34" charset="0"/>
                <a:ea typeface="Arial" pitchFamily="34" charset="-122"/>
                <a:cs typeface="Arial" pitchFamily="34" charset="-120"/>
              </a:rPr>
              <a:t>Vision &amp; Mission</a:t>
            </a:r>
            <a:endParaRPr lang="en-US" sz="3000" dirty="0"/>
          </a:p>
        </p:txBody>
      </p:sp>
      <p:sp>
        <p:nvSpPr>
          <p:cNvPr id="5" name="Text 0"/>
          <p:cNvSpPr/>
          <p:nvPr>
            <p:ph idx="101" type="body" hasCustomPrompt="1"/>
          </p:nvPr>
        </p:nvSpPr>
        <p:spPr>
          <a:xfrm>
            <a:off x="6065215" y="713232"/>
            <a:ext cx="5486400" cy="685800"/>
          </a:xfrm>
          <a:prstGeom prst="rect">
            <a:avLst/>
          </a:prstGeom>
          <a:noFill/>
          <a:ln/>
        </p:spPr>
        <p:txBody>
          <a:bodyPr wrap="square" lIns="0" tIns="0" rIns="0" bIns="0" rtlCol="0" anchor="t"/>
          <a:lstStyle/>
          <a:p>
            <a:pPr rtl="1" algn="r" indent="0" marL="0">
              <a:buNone/>
            </a:pPr>
            <a:r>
              <a:rPr lang="ar-AE" altLang="en-US" sz="3000" dirty="0">
                <a:solidFill>
                  <a:schemeClr val="tx1"/>
                </a:solidFill>
                <a:latin typeface="Arial" pitchFamily="34" charset="0"/>
                <a:ea typeface="Arial" pitchFamily="34" charset="-122"/>
                <a:cs typeface="Arial" pitchFamily="34" charset="-120"/>
              </a:rPr>
              <a:t>الرؤية والرسالة</a:t>
            </a:r>
            <a:endParaRPr lang="ar-AE" sz="3000" dirty="0"/>
          </a:p>
        </p:txBody>
      </p:sp>
      <p:sp>
        <p:nvSpPr>
          <p:cNvPr id="6" name="Our Vision card"/>
          <p:cNvSpPr/>
          <p:nvPr/>
        </p:nvSpPr>
        <p:spPr>
          <a:xfrm>
            <a:off x="640080" y="1645920"/>
            <a:ext cx="5349240" cy="4434840"/>
          </a:xfrm>
          <a:prstGeom prst="roundRect">
            <a:avLst>
              <a:gd name="adj" fmla="val 2062"/>
            </a:avLst>
          </a:prstGeom>
          <a:solidFill>
            <a:schemeClr val="tx1"/>
          </a:solidFill>
          <a:ln/>
          <a:effectLst>
            <a:outerShdw sx="100000" sy="100000" kx="0" ky="0" algn="bl" rotWithShape="0" blurRad="177800" dist="38100" dir="5400000">
              <a:srgbClr val="0B0D10">
                <a:alpha val="10000"/>
              </a:srgbClr>
            </a:outerShdw>
          </a:effectLst>
        </p:spPr>
      </p:sp>
      <p:pic>
        <p:nvPicPr>
          <p:cNvPr id="7" name="Our Vision icon" descr="icon">    </p:cNvPr>
          <p:cNvPicPr>
            <a:picLocks noChangeAspect="1"/>
          </p:cNvPicPr>
          <p:nvPr/>
        </p:nvPicPr>
        <p:blipFill>
          <a:blip r:embed="rId1"/>
          <a:stretch>
            <a:fillRect/>
          </a:stretch>
        </p:blipFill>
        <p:spPr>
          <a:xfrm>
            <a:off x="1005840" y="2011680"/>
            <a:ext cx="502920" cy="502920"/>
          </a:xfrm>
          <a:prstGeom prst="rect">
            <a:avLst/>
          </a:prstGeom>
        </p:spPr>
      </p:pic>
      <p:sp>
        <p:nvSpPr>
          <p:cNvPr id="8" name="Text 5"/>
          <p:cNvSpPr txBox="1"/>
          <p:nvPr/>
        </p:nvSpPr>
        <p:spPr>
          <a:xfrm>
            <a:off x="1691640" y="2057400"/>
            <a:ext cx="2011680" cy="274320"/>
          </a:xfrm>
          <a:prstGeom prst="rect">
            <a:avLst/>
          </a:prstGeom>
          <a:noFill/>
          <a:ln/>
        </p:spPr>
        <p:txBody>
          <a:bodyPr wrap="square" lIns="0" tIns="0" rIns="0" bIns="0" rtlCol="0" anchor="t"/>
          <a:lstStyle/>
          <a:p>
            <a:pPr algn="l" indent="0" marL="0">
              <a:buNone/>
            </a:pPr>
            <a:r>
              <a:rPr lang="en-US" sz="1100" b="1" spc="300" kern="0" dirty="0">
                <a:solidFill>
                  <a:schemeClr val="accent2"/>
                </a:solidFill>
                <a:latin typeface="Arial" pitchFamily="34" charset="0"/>
                <a:ea typeface="Arial" pitchFamily="34" charset="-122"/>
                <a:cs typeface="Arial" pitchFamily="34" charset="-120"/>
              </a:rPr>
              <a:t>OUR VISION</a:t>
            </a:r>
            <a:endParaRPr lang="en-US" sz="1100" dirty="0"/>
          </a:p>
        </p:txBody>
      </p:sp>
      <p:sp>
        <p:nvSpPr>
          <p:cNvPr id="9" name="Text 6"/>
          <p:cNvSpPr txBox="1"/>
          <p:nvPr/>
        </p:nvSpPr>
        <p:spPr>
          <a:xfrm>
            <a:off x="3611880" y="2011680"/>
            <a:ext cx="2011680" cy="365760"/>
          </a:xfrm>
          <a:prstGeom prst="rect">
            <a:avLst/>
          </a:prstGeom>
          <a:noFill/>
          <a:ln/>
        </p:spPr>
        <p:txBody>
          <a:bodyPr wrap="square" lIns="0" tIns="0" rIns="0" bIns="0" rtlCol="0" anchor="t"/>
          <a:lstStyle/>
          <a:p>
            <a:pPr rtl="1" algn="r" indent="0" marL="0">
              <a:buNone/>
            </a:pPr>
            <a:r>
              <a:rPr lang="ar-AE" altLang="en-US" sz="2000" b="1" dirty="0">
                <a:solidFill>
                  <a:schemeClr val="bg1"/>
                </a:solidFill>
                <a:latin typeface="Arial" pitchFamily="34" charset="0"/>
                <a:ea typeface="Arial" pitchFamily="34" charset="-122"/>
                <a:cs typeface="Arial" pitchFamily="34" charset="-120"/>
              </a:rPr>
              <a:t>رؤيتنا</a:t>
            </a:r>
            <a:endParaRPr lang="ar-AE" sz="2000" dirty="0"/>
          </a:p>
        </p:txBody>
      </p:sp>
      <p:sp>
        <p:nvSpPr>
          <p:cNvPr id="10" name="Text 7"/>
          <p:cNvSpPr txBox="1"/>
          <p:nvPr/>
        </p:nvSpPr>
        <p:spPr>
          <a:xfrm>
            <a:off x="1005840" y="2788920"/>
            <a:ext cx="4617720" cy="1417320"/>
          </a:xfrm>
          <a:prstGeom prst="rect">
            <a:avLst/>
          </a:prstGeom>
          <a:noFill/>
          <a:ln/>
        </p:spPr>
        <p:txBody>
          <a:bodyPr wrap="square" lIns="0" tIns="0" rIns="0" bIns="0" rtlCol="0" anchor="t"/>
          <a:lstStyle/>
          <a:p>
            <a:pPr algn="l" indent="0" marL="0">
              <a:lnSpc>
                <a:spcPct val="112000"/>
              </a:lnSpc>
              <a:buNone/>
            </a:pPr>
            <a:r>
              <a:rPr lang="en-US" sz="1400" dirty="0">
                <a:solidFill>
                  <a:schemeClr val="accent5"/>
                </a:solidFill>
                <a:latin typeface="Arial" pitchFamily="34" charset="0"/>
                <a:ea typeface="Arial" pitchFamily="34" charset="-122"/>
                <a:cs typeface="Arial" pitchFamily="34" charset="-120"/>
              </a:rPr>
              <a:t>To become a leading brand in electric vehicle solutions across regional and global markets by delivering innovative products and reliable services that enhance the electric vehicle ownership experience.</a:t>
            </a:r>
            <a:endParaRPr lang="en-US" sz="1400" dirty="0"/>
          </a:p>
        </p:txBody>
      </p:sp>
      <p:sp>
        <p:nvSpPr>
          <p:cNvPr id="11" name="hairline"/>
          <p:cNvSpPr/>
          <p:nvPr/>
        </p:nvSpPr>
        <p:spPr>
          <a:xfrm>
            <a:off x="1005840" y="4343400"/>
            <a:ext cx="4617720" cy="0"/>
          </a:xfrm>
          <a:prstGeom prst="line">
            <a:avLst/>
          </a:prstGeom>
          <a:noFill/>
          <a:ln w="9525">
            <a:solidFill>
              <a:schemeClr val="accent3"/>
            </a:solidFill>
            <a:prstDash val="solid"/>
          </a:ln>
        </p:spPr>
      </p:sp>
      <p:sp>
        <p:nvSpPr>
          <p:cNvPr id="12" name="Text 9"/>
          <p:cNvSpPr txBox="1"/>
          <p:nvPr/>
        </p:nvSpPr>
        <p:spPr>
          <a:xfrm>
            <a:off x="1005840" y="4526280"/>
            <a:ext cx="4617720" cy="1417320"/>
          </a:xfrm>
          <a:prstGeom prst="rect">
            <a:avLst/>
          </a:prstGeom>
          <a:noFill/>
          <a:ln/>
        </p:spPr>
        <p:txBody>
          <a:bodyPr wrap="square" lIns="0" tIns="0" rIns="0" bIns="0" rtlCol="0" anchor="t"/>
          <a:lstStyle/>
          <a:p>
            <a:pPr rtl="1" algn="r" indent="0" marL="0">
              <a:lnSpc>
                <a:spcPct val="112000"/>
              </a:lnSpc>
              <a:buNone/>
            </a:pPr>
            <a:r>
              <a:rPr lang="ar-AE" altLang="en-US" sz="1400" dirty="0">
                <a:solidFill>
                  <a:schemeClr val="accent5"/>
                </a:solidFill>
                <a:latin typeface="Arial" pitchFamily="34" charset="0"/>
                <a:ea typeface="Arial" pitchFamily="34" charset="-122"/>
                <a:cs typeface="Arial" pitchFamily="34" charset="-120"/>
              </a:rPr>
              <a:t>أن نكون من أبرز العلامات التجارية المتخصصة في حلول السيارات الكهربائية على المستوى الإقليمي والعالمي، من خلال تقديم منتجات مبتكرة وخدمات موثوقة تسهم في تطوير تجربة امتلاك واستخدام السيارات الكهربائية.</a:t>
            </a:r>
            <a:endParaRPr lang="ar-AE" sz="1400" dirty="0"/>
          </a:p>
        </p:txBody>
      </p:sp>
      <p:sp>
        <p:nvSpPr>
          <p:cNvPr id="13" name="Our Mission card"/>
          <p:cNvSpPr/>
          <p:nvPr/>
        </p:nvSpPr>
        <p:spPr>
          <a:xfrm>
            <a:off x="6202375" y="1645920"/>
            <a:ext cx="5349240" cy="4434840"/>
          </a:xfrm>
          <a:prstGeom prst="roundRect">
            <a:avLst>
              <a:gd name="adj" fmla="val 2062"/>
            </a:avLst>
          </a:prstGeom>
          <a:solidFill>
            <a:schemeClr val="tx1"/>
          </a:solidFill>
          <a:ln/>
          <a:effectLst>
            <a:outerShdw sx="100000" sy="100000" kx="0" ky="0" algn="bl" rotWithShape="0" blurRad="177800" dist="38100" dir="5400000">
              <a:srgbClr val="0B0D10">
                <a:alpha val="10000"/>
              </a:srgbClr>
            </a:outerShdw>
          </a:effectLst>
        </p:spPr>
      </p:sp>
      <p:pic>
        <p:nvPicPr>
          <p:cNvPr id="14" name="Our Mission icon" descr="icon">    </p:cNvPr>
          <p:cNvPicPr>
            <a:picLocks noChangeAspect="1"/>
          </p:cNvPicPr>
          <p:nvPr/>
        </p:nvPicPr>
        <p:blipFill>
          <a:blip r:embed="rId2"/>
          <a:stretch>
            <a:fillRect/>
          </a:stretch>
        </p:blipFill>
        <p:spPr>
          <a:xfrm>
            <a:off x="6568135" y="2011680"/>
            <a:ext cx="502920" cy="502920"/>
          </a:xfrm>
          <a:prstGeom prst="rect">
            <a:avLst/>
          </a:prstGeom>
        </p:spPr>
      </p:pic>
      <p:sp>
        <p:nvSpPr>
          <p:cNvPr id="15" name="Text 11"/>
          <p:cNvSpPr txBox="1"/>
          <p:nvPr/>
        </p:nvSpPr>
        <p:spPr>
          <a:xfrm>
            <a:off x="7253935" y="2057400"/>
            <a:ext cx="2011680" cy="274320"/>
          </a:xfrm>
          <a:prstGeom prst="rect">
            <a:avLst/>
          </a:prstGeom>
          <a:noFill/>
          <a:ln/>
        </p:spPr>
        <p:txBody>
          <a:bodyPr wrap="square" lIns="0" tIns="0" rIns="0" bIns="0" rtlCol="0" anchor="t"/>
          <a:lstStyle/>
          <a:p>
            <a:pPr algn="l" indent="0" marL="0">
              <a:buNone/>
            </a:pPr>
            <a:r>
              <a:rPr lang="en-US" sz="1100" b="1" spc="300" kern="0" dirty="0">
                <a:solidFill>
                  <a:schemeClr val="accent2"/>
                </a:solidFill>
                <a:latin typeface="Arial" pitchFamily="34" charset="0"/>
                <a:ea typeface="Arial" pitchFamily="34" charset="-122"/>
                <a:cs typeface="Arial" pitchFamily="34" charset="-120"/>
              </a:rPr>
              <a:t>OUR MISSION</a:t>
            </a:r>
            <a:endParaRPr lang="en-US" sz="1100" dirty="0"/>
          </a:p>
        </p:txBody>
      </p:sp>
      <p:sp>
        <p:nvSpPr>
          <p:cNvPr id="16" name="Text 12"/>
          <p:cNvSpPr txBox="1"/>
          <p:nvPr/>
        </p:nvSpPr>
        <p:spPr>
          <a:xfrm>
            <a:off x="9174175" y="2011680"/>
            <a:ext cx="2011680" cy="365760"/>
          </a:xfrm>
          <a:prstGeom prst="rect">
            <a:avLst/>
          </a:prstGeom>
          <a:noFill/>
          <a:ln/>
        </p:spPr>
        <p:txBody>
          <a:bodyPr wrap="square" lIns="0" tIns="0" rIns="0" bIns="0" rtlCol="0" anchor="t"/>
          <a:lstStyle/>
          <a:p>
            <a:pPr rtl="1" algn="r" indent="0" marL="0">
              <a:buNone/>
            </a:pPr>
            <a:r>
              <a:rPr lang="ar-AE" altLang="en-US" sz="2000" b="1" dirty="0">
                <a:solidFill>
                  <a:schemeClr val="bg1"/>
                </a:solidFill>
                <a:latin typeface="Arial" pitchFamily="34" charset="0"/>
                <a:ea typeface="Arial" pitchFamily="34" charset="-122"/>
                <a:cs typeface="Arial" pitchFamily="34" charset="-120"/>
              </a:rPr>
              <a:t>رسالتنا</a:t>
            </a:r>
            <a:endParaRPr lang="ar-AE" sz="2000" dirty="0"/>
          </a:p>
        </p:txBody>
      </p:sp>
      <p:sp>
        <p:nvSpPr>
          <p:cNvPr id="17" name="Text 13"/>
          <p:cNvSpPr txBox="1"/>
          <p:nvPr/>
        </p:nvSpPr>
        <p:spPr>
          <a:xfrm>
            <a:off x="6568135" y="2788920"/>
            <a:ext cx="4617720" cy="1417320"/>
          </a:xfrm>
          <a:prstGeom prst="rect">
            <a:avLst/>
          </a:prstGeom>
          <a:noFill/>
          <a:ln/>
        </p:spPr>
        <p:txBody>
          <a:bodyPr wrap="square" lIns="0" tIns="0" rIns="0" bIns="0" rtlCol="0" anchor="t"/>
          <a:lstStyle/>
          <a:p>
            <a:pPr algn="l" indent="0" marL="0">
              <a:lnSpc>
                <a:spcPct val="112000"/>
              </a:lnSpc>
              <a:buNone/>
            </a:pPr>
            <a:r>
              <a:rPr lang="en-US" sz="1400" dirty="0">
                <a:solidFill>
                  <a:schemeClr val="accent5"/>
                </a:solidFill>
                <a:latin typeface="Arial" pitchFamily="34" charset="0"/>
                <a:ea typeface="Arial" pitchFamily="34" charset="-122"/>
                <a:cs typeface="Arial" pitchFamily="34" charset="-120"/>
              </a:rPr>
              <a:t>To provide comprehensive electric vehicle solutions, including specialized accessories, charging systems, and technical services, while maintaining a strong commitment to quality, innovation, and customer satisfaction.</a:t>
            </a:r>
            <a:endParaRPr lang="en-US" sz="1400" dirty="0"/>
          </a:p>
        </p:txBody>
      </p:sp>
      <p:sp>
        <p:nvSpPr>
          <p:cNvPr id="18" name="hairline"/>
          <p:cNvSpPr/>
          <p:nvPr/>
        </p:nvSpPr>
        <p:spPr>
          <a:xfrm>
            <a:off x="6568135" y="4343400"/>
            <a:ext cx="4617720" cy="0"/>
          </a:xfrm>
          <a:prstGeom prst="line">
            <a:avLst/>
          </a:prstGeom>
          <a:noFill/>
          <a:ln w="9525">
            <a:solidFill>
              <a:schemeClr val="accent3"/>
            </a:solidFill>
            <a:prstDash val="solid"/>
          </a:ln>
        </p:spPr>
      </p:sp>
      <p:sp>
        <p:nvSpPr>
          <p:cNvPr id="19" name="Text 15"/>
          <p:cNvSpPr txBox="1"/>
          <p:nvPr/>
        </p:nvSpPr>
        <p:spPr>
          <a:xfrm>
            <a:off x="6568135" y="4526280"/>
            <a:ext cx="4617720" cy="1417320"/>
          </a:xfrm>
          <a:prstGeom prst="rect">
            <a:avLst/>
          </a:prstGeom>
          <a:noFill/>
          <a:ln/>
        </p:spPr>
        <p:txBody>
          <a:bodyPr wrap="square" lIns="0" tIns="0" rIns="0" bIns="0" rtlCol="0" anchor="t"/>
          <a:lstStyle/>
          <a:p>
            <a:pPr rtl="1" algn="r" indent="0" marL="0">
              <a:lnSpc>
                <a:spcPct val="112000"/>
              </a:lnSpc>
              <a:buNone/>
            </a:pPr>
            <a:r>
              <a:rPr lang="ar-AE" altLang="en-US" sz="1400" dirty="0">
                <a:solidFill>
                  <a:schemeClr val="accent5"/>
                </a:solidFill>
                <a:latin typeface="Arial" pitchFamily="34" charset="0"/>
                <a:ea typeface="Arial" pitchFamily="34" charset="-122"/>
                <a:cs typeface="Arial" pitchFamily="34" charset="-120"/>
              </a:rPr>
              <a:t>توفير حلول متكاملة للسيارات الكهربائية تشمل الإكسسوارات المتخصصة، وأنظمة الشحن، والخدمات الفنية، مع الالتزام بالجودة والابتكار ورضا العملاء، وبناء تجربة متكاملة تجمع بين المنتجات الموثوقة والخدمة الاحترافية.</a:t>
            </a:r>
            <a:endParaRPr lang="ar-AE" sz="1400" dirty="0"/>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A75"/>
                </a:solidFill>
                <a:latin typeface="Arial"/>
                <a:ea typeface="Arial"/>
                <a:cs typeface="Arial"/>
              </a:defRPr>
            </a:lvl1pPr>
          </a:lstStyle>
          <a:p>
            <a:pPr algn="r"/>
            <a:fld id="{F7021451-1387-4CA6-816F-3879F97B5CBC}" type="slidenum">
              <a:rPr b="0" lang="en-US"/>
              <a:t>5</a:t>
            </a:fld>
            <a:endParaRPr lang="en-US"/>
          </a:p>
        </p:txBody>
      </p:sp>
      <p:sp>
        <p:nvSpPr>
          <p:cNvPr id="26" name="Back to contents" descr="Back to contents">
            <a:hlinkClick r:id="rId5" action="ppaction://hlinksldjump" tooltip="Back to Contents / العودة إلى المحتويات"/>
          </p:cNvPr>
          <p:cNvSpPr/>
          <p:nvPr/>
        </p:nvSpPr>
        <p:spPr>
          <a:xfrm>
            <a:off x="8838000" y="6283000"/>
            <a:ext cx="1850000" cy="300000"/>
          </a:xfrm>
          <a:prstGeom prst="roundRect">
            <a:avLst>
              <a:gd name="adj" fmla="val 50000"/>
            </a:avLst>
          </a:prstGeom>
          <a:noFill/>
          <a:ln w="9525">
            <a:solidFill>
              <a:schemeClr val="accent1"/>
            </a:solidFill>
          </a:ln>
        </p:spPr>
        <p:txBody>
          <a:bodyPr wrap="none" lIns="0" tIns="0" rIns="0" bIns="0" rtlCol="0" anchor="ctr"/>
          <a:lstStyle/>
          <a:p>
            <a:pPr algn="ctr"/>
            <a:r>
              <a:rPr lang="en-US" sz="900" b="1" spc="120" dirty="0">
                <a:solidFill>
                  <a:schemeClr val="accent1"/>
                </a:solidFill>
                <a:latin typeface="Arial"/>
                <a:cs typeface="Arial"/>
              </a:rPr>
              <a:t>CONTENTS  ·  </a:t>
            </a:r>
            <a:r>
              <a:rPr lang="ar-AE" sz="900" b="1" dirty="0">
                <a:solidFill>
                  <a:schemeClr val="accent1"/>
                </a:solidFill>
                <a:latin typeface="Arial"/>
                <a:cs typeface="Arial"/>
              </a:rPr>
              <a:t>المحتويات</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11480"/>
            <a:ext cx="5486400" cy="228600"/>
          </a:xfrm>
          <a:prstGeom prst="rect">
            <a:avLst/>
          </a:prstGeom>
          <a:noFill/>
          <a:ln/>
        </p:spPr>
        <p:txBody>
          <a:bodyPr wrap="square" lIns="0" tIns="0" rIns="0" bIns="0" rtlCol="0" anchor="t"/>
          <a:lstStyle/>
          <a:p>
            <a:pPr algn="l" indent="0" marL="0">
              <a:buNone/>
            </a:pPr>
            <a:r>
              <a:rPr lang="en-US" sz="1000" b="1" spc="300" kern="0" dirty="0">
                <a:solidFill>
                  <a:schemeClr val="accent1"/>
                </a:solidFill>
                <a:latin typeface="Arial" pitchFamily="34" charset="0"/>
                <a:ea typeface="Arial" pitchFamily="34" charset="-122"/>
                <a:cs typeface="Arial" pitchFamily="34" charset="-120"/>
              </a:rPr>
              <a:t>01   ·   WHO WE ARE</a:t>
            </a:r>
            <a:endParaRPr lang="en-US" sz="1000" dirty="0"/>
          </a:p>
        </p:txBody>
      </p:sp>
      <p:sp>
        <p:nvSpPr>
          <p:cNvPr id="3" name="Text 1"/>
          <p:cNvSpPr txBox="1"/>
          <p:nvPr/>
        </p:nvSpPr>
        <p:spPr>
          <a:xfrm>
            <a:off x="6065215" y="411480"/>
            <a:ext cx="5486400" cy="228600"/>
          </a:xfrm>
          <a:prstGeom prst="rect">
            <a:avLst/>
          </a:prstGeom>
          <a:noFill/>
          <a:ln/>
        </p:spPr>
        <p:txBody>
          <a:bodyPr wrap="square" lIns="0" tIns="0" rIns="0" bIns="0" rtlCol="0" anchor="t"/>
          <a:lstStyle/>
          <a:p>
            <a:pPr rtl="1" algn="r" indent="0" marL="0">
              <a:buNone/>
            </a:pPr>
            <a:r>
              <a:rPr lang="ar-AE" altLang="en-US" sz="1100" b="1" dirty="0">
                <a:solidFill>
                  <a:schemeClr val="accent1"/>
                </a:solidFill>
                <a:latin typeface="Arial" pitchFamily="34" charset="0"/>
                <a:ea typeface="Arial" pitchFamily="34" charset="-122"/>
                <a:cs typeface="Arial" pitchFamily="34" charset="-120"/>
              </a:rPr>
              <a:t>من نحن   ·   01</a:t>
            </a:r>
            <a:endParaRPr lang="ar-AE" sz="1100" dirty="0"/>
          </a:p>
        </p:txBody>
      </p:sp>
      <p:sp>
        <p:nvSpPr>
          <p:cNvPr id="4" name="Text 0"/>
          <p:cNvSpPr/>
          <p:nvPr>
            <p:ph idx="100" type="title" hasCustomPrompt="1"/>
          </p:nvPr>
        </p:nvSpPr>
        <p:spPr>
          <a:xfrm>
            <a:off x="640080" y="713232"/>
            <a:ext cx="5486400" cy="685800"/>
          </a:xfrm>
          <a:prstGeom prst="rect">
            <a:avLst/>
          </a:prstGeom>
          <a:noFill/>
          <a:ln/>
        </p:spPr>
        <p:txBody>
          <a:bodyPr wrap="square" lIns="0" tIns="0" rIns="0" bIns="0" rtlCol="0" anchor="t"/>
          <a:lstStyle/>
          <a:p>
            <a:pPr algn="l" indent="0" marL="0">
              <a:buNone/>
            </a:pPr>
            <a:r>
              <a:rPr lang="en-US" sz="3000" dirty="0">
                <a:solidFill>
                  <a:schemeClr val="tx1"/>
                </a:solidFill>
                <a:latin typeface="Arial" pitchFamily="34" charset="0"/>
                <a:ea typeface="Arial" pitchFamily="34" charset="-122"/>
                <a:cs typeface="Arial" pitchFamily="34" charset="-120"/>
              </a:rPr>
              <a:t>Our Core Values</a:t>
            </a:r>
            <a:endParaRPr lang="en-US" sz="3000" dirty="0"/>
          </a:p>
        </p:txBody>
      </p:sp>
      <p:sp>
        <p:nvSpPr>
          <p:cNvPr id="5" name="Text 0"/>
          <p:cNvSpPr/>
          <p:nvPr>
            <p:ph idx="101" type="body" hasCustomPrompt="1"/>
          </p:nvPr>
        </p:nvSpPr>
        <p:spPr>
          <a:xfrm>
            <a:off x="6065215" y="713232"/>
            <a:ext cx="5486400" cy="685800"/>
          </a:xfrm>
          <a:prstGeom prst="rect">
            <a:avLst/>
          </a:prstGeom>
          <a:noFill/>
          <a:ln/>
        </p:spPr>
        <p:txBody>
          <a:bodyPr wrap="square" lIns="0" tIns="0" rIns="0" bIns="0" rtlCol="0" anchor="t"/>
          <a:lstStyle/>
          <a:p>
            <a:pPr rtl="1" algn="r" indent="0" marL="0">
              <a:buNone/>
            </a:pPr>
            <a:r>
              <a:rPr lang="ar-AE" altLang="en-US" sz="3000" dirty="0">
                <a:solidFill>
                  <a:schemeClr val="tx1"/>
                </a:solidFill>
                <a:latin typeface="Arial" pitchFamily="34" charset="0"/>
                <a:ea typeface="Arial" pitchFamily="34" charset="-122"/>
                <a:cs typeface="Arial" pitchFamily="34" charset="-120"/>
              </a:rPr>
              <a:t>قيمنا</a:t>
            </a:r>
            <a:endParaRPr lang="ar-AE" sz="3000" dirty="0"/>
          </a:p>
        </p:txBody>
      </p:sp>
      <p:sp>
        <p:nvSpPr>
          <p:cNvPr id="6" name="Value card 1"/>
          <p:cNvSpPr/>
          <p:nvPr/>
        </p:nvSpPr>
        <p:spPr>
          <a:xfrm>
            <a:off x="640080" y="1691640"/>
            <a:ext cx="2048256" cy="4389120"/>
          </a:xfrm>
          <a:prstGeom prst="roundRect">
            <a:avLst>
              <a:gd name="adj" fmla="val 4464"/>
            </a:avLst>
          </a:prstGeom>
          <a:solidFill>
            <a:schemeClr val="bg1"/>
          </a:solidFill>
          <a:ln/>
          <a:effectLst>
            <a:outerShdw sx="100000" sy="100000" kx="0" ky="0" algn="bl" rotWithShape="0" blurRad="177800" dist="38100" dir="5400000">
              <a:srgbClr val="0B0D10">
                <a:alpha val="10000"/>
              </a:srgbClr>
            </a:outerShdw>
          </a:effectLst>
        </p:spPr>
      </p:sp>
      <p:sp>
        <p:nvSpPr>
          <p:cNvPr id="7" name="Value icon 1 circle"/>
          <p:cNvSpPr/>
          <p:nvPr/>
        </p:nvSpPr>
        <p:spPr>
          <a:xfrm>
            <a:off x="896112" y="1965960"/>
            <a:ext cx="685800" cy="685800"/>
          </a:xfrm>
          <a:prstGeom prst="ellipse">
            <a:avLst/>
          </a:prstGeom>
          <a:solidFill>
            <a:schemeClr val="accent6"/>
          </a:solidFill>
          <a:ln/>
        </p:spPr>
      </p:sp>
      <p:pic>
        <p:nvPicPr>
          <p:cNvPr id="8" name="Value icon 1" descr="icon">    </p:cNvPr>
          <p:cNvPicPr>
            <a:picLocks noChangeAspect="1"/>
          </p:cNvPicPr>
          <p:nvPr/>
        </p:nvPicPr>
        <p:blipFill>
          <a:blip r:embed="rId1"/>
          <a:stretch>
            <a:fillRect/>
          </a:stretch>
        </p:blipFill>
        <p:spPr>
          <a:xfrm>
            <a:off x="1060704" y="2130552"/>
            <a:ext cx="356616" cy="356616"/>
          </a:xfrm>
          <a:prstGeom prst="rect">
            <a:avLst/>
          </a:prstGeom>
        </p:spPr>
      </p:pic>
      <p:sp>
        <p:nvSpPr>
          <p:cNvPr id="9" name="Text 6"/>
          <p:cNvSpPr txBox="1"/>
          <p:nvPr/>
        </p:nvSpPr>
        <p:spPr>
          <a:xfrm>
            <a:off x="896112" y="2880360"/>
            <a:ext cx="1591056" cy="457200"/>
          </a:xfrm>
          <a:prstGeom prst="rect">
            <a:avLst/>
          </a:prstGeom>
          <a:noFill/>
          <a:ln/>
        </p:spPr>
        <p:txBody>
          <a:bodyPr wrap="squar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Quality</a:t>
            </a:r>
            <a:endParaRPr lang="en-US" sz="1500" dirty="0"/>
          </a:p>
        </p:txBody>
      </p:sp>
      <p:sp>
        <p:nvSpPr>
          <p:cNvPr id="10" name="Text 7"/>
          <p:cNvSpPr txBox="1"/>
          <p:nvPr/>
        </p:nvSpPr>
        <p:spPr>
          <a:xfrm>
            <a:off x="896112" y="3520440"/>
            <a:ext cx="1591056" cy="274320"/>
          </a:xfrm>
          <a:prstGeom prst="rect">
            <a:avLst/>
          </a:prstGeom>
          <a:noFill/>
          <a:ln/>
        </p:spPr>
        <p:txBody>
          <a:bodyPr wrap="square" lIns="0" tIns="0" rIns="0" bIns="0" rtlCol="0" anchor="t"/>
          <a:lstStyle/>
          <a:p>
            <a:pPr rtl="1" algn="r" indent="0" marL="0">
              <a:buNone/>
            </a:pPr>
            <a:r>
              <a:rPr lang="ar-AE" altLang="en-US" sz="1400" b="1" dirty="0">
                <a:solidFill>
                  <a:schemeClr val="accent1"/>
                </a:solidFill>
                <a:latin typeface="Arial" pitchFamily="34" charset="0"/>
                <a:ea typeface="Arial" pitchFamily="34" charset="-122"/>
                <a:cs typeface="Arial" pitchFamily="34" charset="-120"/>
              </a:rPr>
              <a:t>الجودة</a:t>
            </a:r>
            <a:endParaRPr lang="ar-AE" sz="1400" dirty="0"/>
          </a:p>
        </p:txBody>
      </p:sp>
      <p:sp>
        <p:nvSpPr>
          <p:cNvPr id="11" name="Text 8"/>
          <p:cNvSpPr txBox="1"/>
          <p:nvPr/>
        </p:nvSpPr>
        <p:spPr>
          <a:xfrm>
            <a:off x="896112" y="3931920"/>
            <a:ext cx="1591056" cy="1005840"/>
          </a:xfrm>
          <a:prstGeom prst="rect">
            <a:avLst/>
          </a:prstGeom>
          <a:noFill/>
          <a:ln/>
        </p:spPr>
        <p:txBody>
          <a:bodyPr wrap="square" lIns="0" tIns="0" rIns="0" bIns="0" rtlCol="0" anchor="t"/>
          <a:lstStyle/>
          <a:p>
            <a:pPr algn="l" indent="0" marL="0">
              <a:buNone/>
            </a:pPr>
            <a:r>
              <a:rPr lang="en-US" sz="1200" dirty="0">
                <a:solidFill>
                  <a:schemeClr val="accent3"/>
                </a:solidFill>
                <a:latin typeface="Arial" pitchFamily="34" charset="0"/>
                <a:ea typeface="Arial" pitchFamily="34" charset="-122"/>
                <a:cs typeface="Arial" pitchFamily="34" charset="-120"/>
              </a:rPr>
              <a:t>Products and services that meet quality and reliability standards.</a:t>
            </a:r>
            <a:endParaRPr lang="en-US" sz="1200" dirty="0"/>
          </a:p>
        </p:txBody>
      </p:sp>
      <p:sp>
        <p:nvSpPr>
          <p:cNvPr id="12" name="Text 9"/>
          <p:cNvSpPr txBox="1"/>
          <p:nvPr/>
        </p:nvSpPr>
        <p:spPr>
          <a:xfrm>
            <a:off x="896112" y="4983480"/>
            <a:ext cx="1591056" cy="1005840"/>
          </a:xfrm>
          <a:prstGeom prst="rect">
            <a:avLst/>
          </a:prstGeom>
          <a:noFill/>
          <a:ln/>
        </p:spPr>
        <p:txBody>
          <a:bodyPr wrap="square" lIns="0" tIns="0" rIns="0" bIns="0" rtlCol="0" anchor="t"/>
          <a:lstStyle/>
          <a:p>
            <a:pPr rtl="1" algn="r" indent="0" marL="0">
              <a:buNone/>
            </a:pPr>
            <a:r>
              <a:rPr lang="ar-AE" altLang="en-US" sz="1200" dirty="0">
                <a:solidFill>
                  <a:schemeClr val="accent3"/>
                </a:solidFill>
                <a:latin typeface="Arial" pitchFamily="34" charset="0"/>
                <a:ea typeface="Arial" pitchFamily="34" charset="-122"/>
                <a:cs typeface="Arial" pitchFamily="34" charset="-120"/>
              </a:rPr>
              <a:t>منتجات وخدمات تحقق معايير الجودة والاعتمادية.</a:t>
            </a:r>
            <a:endParaRPr lang="ar-AE" sz="1200" dirty="0"/>
          </a:p>
        </p:txBody>
      </p:sp>
      <p:sp>
        <p:nvSpPr>
          <p:cNvPr id="13" name="Value card 2"/>
          <p:cNvSpPr/>
          <p:nvPr/>
        </p:nvSpPr>
        <p:spPr>
          <a:xfrm>
            <a:off x="2855900" y="1691640"/>
            <a:ext cx="2048256" cy="4389120"/>
          </a:xfrm>
          <a:prstGeom prst="roundRect">
            <a:avLst>
              <a:gd name="adj" fmla="val 4464"/>
            </a:avLst>
          </a:prstGeom>
          <a:solidFill>
            <a:schemeClr val="bg1"/>
          </a:solidFill>
          <a:ln/>
          <a:effectLst>
            <a:outerShdw sx="100000" sy="100000" kx="0" ky="0" algn="bl" rotWithShape="0" blurRad="177800" dist="38100" dir="5400000">
              <a:srgbClr val="0B0D10">
                <a:alpha val="10000"/>
              </a:srgbClr>
            </a:outerShdw>
          </a:effectLst>
        </p:spPr>
      </p:sp>
      <p:sp>
        <p:nvSpPr>
          <p:cNvPr id="14" name="Value icon 2 circle"/>
          <p:cNvSpPr/>
          <p:nvPr/>
        </p:nvSpPr>
        <p:spPr>
          <a:xfrm>
            <a:off x="3111932" y="1965960"/>
            <a:ext cx="685800" cy="685800"/>
          </a:xfrm>
          <a:prstGeom prst="ellipse">
            <a:avLst/>
          </a:prstGeom>
          <a:solidFill>
            <a:schemeClr val="accent6"/>
          </a:solidFill>
          <a:ln/>
        </p:spPr>
      </p:sp>
      <p:pic>
        <p:nvPicPr>
          <p:cNvPr id="15" name="Value icon 2" descr="icon">    </p:cNvPr>
          <p:cNvPicPr>
            <a:picLocks noChangeAspect="1"/>
          </p:cNvPicPr>
          <p:nvPr/>
        </p:nvPicPr>
        <p:blipFill>
          <a:blip r:embed="rId2"/>
          <a:stretch>
            <a:fillRect/>
          </a:stretch>
        </p:blipFill>
        <p:spPr>
          <a:xfrm>
            <a:off x="3276524" y="2130552"/>
            <a:ext cx="356616" cy="356616"/>
          </a:xfrm>
          <a:prstGeom prst="rect">
            <a:avLst/>
          </a:prstGeom>
        </p:spPr>
      </p:pic>
      <p:sp>
        <p:nvSpPr>
          <p:cNvPr id="16" name="Text 12"/>
          <p:cNvSpPr txBox="1"/>
          <p:nvPr/>
        </p:nvSpPr>
        <p:spPr>
          <a:xfrm>
            <a:off x="3111932" y="2880360"/>
            <a:ext cx="1591056" cy="457200"/>
          </a:xfrm>
          <a:prstGeom prst="rect">
            <a:avLst/>
          </a:prstGeom>
          <a:noFill/>
          <a:ln/>
        </p:spPr>
        <p:txBody>
          <a:bodyPr wrap="squar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Innovation</a:t>
            </a:r>
            <a:endParaRPr lang="en-US" sz="1500" dirty="0"/>
          </a:p>
        </p:txBody>
      </p:sp>
      <p:sp>
        <p:nvSpPr>
          <p:cNvPr id="17" name="Text 13"/>
          <p:cNvSpPr txBox="1"/>
          <p:nvPr/>
        </p:nvSpPr>
        <p:spPr>
          <a:xfrm>
            <a:off x="3111932" y="3520440"/>
            <a:ext cx="1591056" cy="274320"/>
          </a:xfrm>
          <a:prstGeom prst="rect">
            <a:avLst/>
          </a:prstGeom>
          <a:noFill/>
          <a:ln/>
        </p:spPr>
        <p:txBody>
          <a:bodyPr wrap="square" lIns="0" tIns="0" rIns="0" bIns="0" rtlCol="0" anchor="t"/>
          <a:lstStyle/>
          <a:p>
            <a:pPr rtl="1" algn="r" indent="0" marL="0">
              <a:buNone/>
            </a:pPr>
            <a:r>
              <a:rPr lang="ar-AE" altLang="en-US" sz="1400" b="1" dirty="0">
                <a:solidFill>
                  <a:schemeClr val="accent1"/>
                </a:solidFill>
                <a:latin typeface="Arial" pitchFamily="34" charset="0"/>
                <a:ea typeface="Arial" pitchFamily="34" charset="-122"/>
                <a:cs typeface="Arial" pitchFamily="34" charset="-120"/>
              </a:rPr>
              <a:t>الابتكار</a:t>
            </a:r>
            <a:endParaRPr lang="ar-AE" sz="1400" dirty="0"/>
          </a:p>
        </p:txBody>
      </p:sp>
      <p:sp>
        <p:nvSpPr>
          <p:cNvPr id="18" name="Text 14"/>
          <p:cNvSpPr txBox="1"/>
          <p:nvPr/>
        </p:nvSpPr>
        <p:spPr>
          <a:xfrm>
            <a:off x="3111932" y="3931920"/>
            <a:ext cx="1591056" cy="1005840"/>
          </a:xfrm>
          <a:prstGeom prst="rect">
            <a:avLst/>
          </a:prstGeom>
          <a:noFill/>
          <a:ln/>
        </p:spPr>
        <p:txBody>
          <a:bodyPr wrap="square" lIns="0" tIns="0" rIns="0" bIns="0" rtlCol="0" anchor="t"/>
          <a:lstStyle/>
          <a:p>
            <a:pPr algn="l" indent="0" marL="0">
              <a:buNone/>
            </a:pPr>
            <a:r>
              <a:rPr lang="en-US" sz="1200" dirty="0">
                <a:solidFill>
                  <a:schemeClr val="accent3"/>
                </a:solidFill>
                <a:latin typeface="Arial" pitchFamily="34" charset="0"/>
                <a:ea typeface="Arial" pitchFamily="34" charset="-122"/>
                <a:cs typeface="Arial" pitchFamily="34" charset="-120"/>
              </a:rPr>
              <a:t>Keeping pace with the EV sector and delivering fresh solutions.</a:t>
            </a:r>
            <a:endParaRPr lang="en-US" sz="1200" dirty="0"/>
          </a:p>
        </p:txBody>
      </p:sp>
      <p:sp>
        <p:nvSpPr>
          <p:cNvPr id="19" name="Text 15"/>
          <p:cNvSpPr txBox="1"/>
          <p:nvPr/>
        </p:nvSpPr>
        <p:spPr>
          <a:xfrm>
            <a:off x="3111932" y="4983480"/>
            <a:ext cx="1591056" cy="1005840"/>
          </a:xfrm>
          <a:prstGeom prst="rect">
            <a:avLst/>
          </a:prstGeom>
          <a:noFill/>
          <a:ln/>
        </p:spPr>
        <p:txBody>
          <a:bodyPr wrap="square" lIns="0" tIns="0" rIns="0" bIns="0" rtlCol="0" anchor="t"/>
          <a:lstStyle/>
          <a:p>
            <a:pPr rtl="1" algn="r" indent="0" marL="0">
              <a:buNone/>
            </a:pPr>
            <a:r>
              <a:rPr lang="ar-AE" altLang="en-US" sz="1200" dirty="0">
                <a:solidFill>
                  <a:schemeClr val="accent3"/>
                </a:solidFill>
                <a:latin typeface="Arial" pitchFamily="34" charset="0"/>
                <a:ea typeface="Arial" pitchFamily="34" charset="-122"/>
                <a:cs typeface="Arial" pitchFamily="34" charset="-120"/>
              </a:rPr>
              <a:t>مواكبة التطورات في قطاع السيارات الكهربائية وتقديم حلول متجددة.</a:t>
            </a:r>
            <a:endParaRPr lang="ar-AE" sz="1200" dirty="0"/>
          </a:p>
        </p:txBody>
      </p:sp>
      <p:sp>
        <p:nvSpPr>
          <p:cNvPr id="20" name="Value card 3"/>
          <p:cNvSpPr/>
          <p:nvPr/>
        </p:nvSpPr>
        <p:spPr>
          <a:xfrm>
            <a:off x="5071720" y="1691640"/>
            <a:ext cx="2048256" cy="4389120"/>
          </a:xfrm>
          <a:prstGeom prst="roundRect">
            <a:avLst>
              <a:gd name="adj" fmla="val 4464"/>
            </a:avLst>
          </a:prstGeom>
          <a:solidFill>
            <a:schemeClr val="bg1"/>
          </a:solidFill>
          <a:ln/>
          <a:effectLst>
            <a:outerShdw sx="100000" sy="100000" kx="0" ky="0" algn="bl" rotWithShape="0" blurRad="177800" dist="38100" dir="5400000">
              <a:srgbClr val="0B0D10">
                <a:alpha val="10000"/>
              </a:srgbClr>
            </a:outerShdw>
          </a:effectLst>
        </p:spPr>
      </p:sp>
      <p:sp>
        <p:nvSpPr>
          <p:cNvPr id="21" name="Value icon 3 circle"/>
          <p:cNvSpPr/>
          <p:nvPr/>
        </p:nvSpPr>
        <p:spPr>
          <a:xfrm>
            <a:off x="5327752" y="1965960"/>
            <a:ext cx="685800" cy="685800"/>
          </a:xfrm>
          <a:prstGeom prst="ellipse">
            <a:avLst/>
          </a:prstGeom>
          <a:solidFill>
            <a:schemeClr val="accent6"/>
          </a:solidFill>
          <a:ln/>
        </p:spPr>
      </p:sp>
      <p:pic>
        <p:nvPicPr>
          <p:cNvPr id="22" name="Value icon 3" descr="icon">    </p:cNvPr>
          <p:cNvPicPr>
            <a:picLocks noChangeAspect="1"/>
          </p:cNvPicPr>
          <p:nvPr/>
        </p:nvPicPr>
        <p:blipFill>
          <a:blip r:embed="rId3"/>
          <a:stretch>
            <a:fillRect/>
          </a:stretch>
        </p:blipFill>
        <p:spPr>
          <a:xfrm>
            <a:off x="5492344" y="2130552"/>
            <a:ext cx="356616" cy="356616"/>
          </a:xfrm>
          <a:prstGeom prst="rect">
            <a:avLst/>
          </a:prstGeom>
        </p:spPr>
      </p:pic>
      <p:sp>
        <p:nvSpPr>
          <p:cNvPr id="23" name="Text 18"/>
          <p:cNvSpPr txBox="1"/>
          <p:nvPr/>
        </p:nvSpPr>
        <p:spPr>
          <a:xfrm>
            <a:off x="5327752" y="2880360"/>
            <a:ext cx="1591056" cy="457200"/>
          </a:xfrm>
          <a:prstGeom prst="rect">
            <a:avLst/>
          </a:prstGeom>
          <a:noFill/>
          <a:ln/>
        </p:spPr>
        <p:txBody>
          <a:bodyPr wrap="squar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Trust &amp; Integrity</a:t>
            </a:r>
            <a:endParaRPr lang="en-US" sz="1500" dirty="0"/>
          </a:p>
        </p:txBody>
      </p:sp>
      <p:sp>
        <p:nvSpPr>
          <p:cNvPr id="24" name="Text 19"/>
          <p:cNvSpPr txBox="1"/>
          <p:nvPr/>
        </p:nvSpPr>
        <p:spPr>
          <a:xfrm>
            <a:off x="5327752" y="3520440"/>
            <a:ext cx="1591056" cy="274320"/>
          </a:xfrm>
          <a:prstGeom prst="rect">
            <a:avLst/>
          </a:prstGeom>
          <a:noFill/>
          <a:ln/>
        </p:spPr>
        <p:txBody>
          <a:bodyPr wrap="square" lIns="0" tIns="0" rIns="0" bIns="0" rtlCol="0" anchor="t"/>
          <a:lstStyle/>
          <a:p>
            <a:pPr rtl="1" algn="r" indent="0" marL="0">
              <a:buNone/>
            </a:pPr>
            <a:r>
              <a:rPr lang="ar-AE" altLang="en-US" sz="1400" b="1" dirty="0">
                <a:solidFill>
                  <a:schemeClr val="accent1"/>
                </a:solidFill>
                <a:latin typeface="Arial" pitchFamily="34" charset="0"/>
                <a:ea typeface="Arial" pitchFamily="34" charset="-122"/>
                <a:cs typeface="Arial" pitchFamily="34" charset="-120"/>
              </a:rPr>
              <a:t>الثقة والمصداقية</a:t>
            </a:r>
            <a:endParaRPr lang="ar-AE" sz="1400" dirty="0"/>
          </a:p>
        </p:txBody>
      </p:sp>
      <p:sp>
        <p:nvSpPr>
          <p:cNvPr id="25" name="Text 20"/>
          <p:cNvSpPr txBox="1"/>
          <p:nvPr/>
        </p:nvSpPr>
        <p:spPr>
          <a:xfrm>
            <a:off x="5327752" y="3931920"/>
            <a:ext cx="1591056" cy="1005840"/>
          </a:xfrm>
          <a:prstGeom prst="rect">
            <a:avLst/>
          </a:prstGeom>
          <a:noFill/>
          <a:ln/>
        </p:spPr>
        <p:txBody>
          <a:bodyPr wrap="square" lIns="0" tIns="0" rIns="0" bIns="0" rtlCol="0" anchor="t"/>
          <a:lstStyle/>
          <a:p>
            <a:pPr algn="l" indent="0" marL="0">
              <a:buNone/>
            </a:pPr>
            <a:r>
              <a:rPr lang="en-US" sz="1200" dirty="0">
                <a:solidFill>
                  <a:schemeClr val="accent3"/>
                </a:solidFill>
                <a:latin typeface="Arial" pitchFamily="34" charset="0"/>
                <a:ea typeface="Arial" pitchFamily="34" charset="-122"/>
                <a:cs typeface="Arial" pitchFamily="34" charset="-120"/>
              </a:rPr>
              <a:t>Long-term customer relationships built on clarity and credibility.</a:t>
            </a:r>
            <a:endParaRPr lang="en-US" sz="1200" dirty="0"/>
          </a:p>
        </p:txBody>
      </p:sp>
      <p:sp>
        <p:nvSpPr>
          <p:cNvPr id="26" name="Text 21"/>
          <p:cNvSpPr txBox="1"/>
          <p:nvPr/>
        </p:nvSpPr>
        <p:spPr>
          <a:xfrm>
            <a:off x="5327752" y="4983480"/>
            <a:ext cx="1591056" cy="1005840"/>
          </a:xfrm>
          <a:prstGeom prst="rect">
            <a:avLst/>
          </a:prstGeom>
          <a:noFill/>
          <a:ln/>
        </p:spPr>
        <p:txBody>
          <a:bodyPr wrap="square" lIns="0" tIns="0" rIns="0" bIns="0" rtlCol="0" anchor="t"/>
          <a:lstStyle/>
          <a:p>
            <a:pPr rtl="1" algn="r" indent="0" marL="0">
              <a:buNone/>
            </a:pPr>
            <a:r>
              <a:rPr lang="ar-AE" altLang="en-US" sz="1200" dirty="0">
                <a:solidFill>
                  <a:schemeClr val="accent3"/>
                </a:solidFill>
                <a:latin typeface="Arial" pitchFamily="34" charset="0"/>
                <a:ea typeface="Arial" pitchFamily="34" charset="-122"/>
                <a:cs typeface="Arial" pitchFamily="34" charset="-120"/>
              </a:rPr>
              <a:t>علاقات طويلة الأمد مع العملاء قائمة على الوضوح والمصداقية.</a:t>
            </a:r>
            <a:endParaRPr lang="ar-AE" sz="1200" dirty="0"/>
          </a:p>
        </p:txBody>
      </p:sp>
      <p:sp>
        <p:nvSpPr>
          <p:cNvPr id="27" name="Value card 4"/>
          <p:cNvSpPr/>
          <p:nvPr/>
        </p:nvSpPr>
        <p:spPr>
          <a:xfrm>
            <a:off x="7287539" y="1691640"/>
            <a:ext cx="2048256" cy="4389120"/>
          </a:xfrm>
          <a:prstGeom prst="roundRect">
            <a:avLst>
              <a:gd name="adj" fmla="val 4464"/>
            </a:avLst>
          </a:prstGeom>
          <a:solidFill>
            <a:schemeClr val="bg1"/>
          </a:solidFill>
          <a:ln/>
          <a:effectLst>
            <a:outerShdw sx="100000" sy="100000" kx="0" ky="0" algn="bl" rotWithShape="0" blurRad="177800" dist="38100" dir="5400000">
              <a:srgbClr val="0B0D10">
                <a:alpha val="10000"/>
              </a:srgbClr>
            </a:outerShdw>
          </a:effectLst>
        </p:spPr>
      </p:sp>
      <p:sp>
        <p:nvSpPr>
          <p:cNvPr id="28" name="Value icon 4 circle"/>
          <p:cNvSpPr/>
          <p:nvPr/>
        </p:nvSpPr>
        <p:spPr>
          <a:xfrm>
            <a:off x="7543571" y="1965960"/>
            <a:ext cx="685800" cy="685800"/>
          </a:xfrm>
          <a:prstGeom prst="ellipse">
            <a:avLst/>
          </a:prstGeom>
          <a:solidFill>
            <a:schemeClr val="accent6"/>
          </a:solidFill>
          <a:ln/>
        </p:spPr>
      </p:sp>
      <p:pic>
        <p:nvPicPr>
          <p:cNvPr id="29" name="Value icon 4" descr="icon">    </p:cNvPr>
          <p:cNvPicPr>
            <a:picLocks noChangeAspect="1"/>
          </p:cNvPicPr>
          <p:nvPr/>
        </p:nvPicPr>
        <p:blipFill>
          <a:blip r:embed="rId4"/>
          <a:stretch>
            <a:fillRect/>
          </a:stretch>
        </p:blipFill>
        <p:spPr>
          <a:xfrm>
            <a:off x="7708163" y="2130552"/>
            <a:ext cx="356616" cy="356616"/>
          </a:xfrm>
          <a:prstGeom prst="rect">
            <a:avLst/>
          </a:prstGeom>
        </p:spPr>
      </p:pic>
      <p:sp>
        <p:nvSpPr>
          <p:cNvPr id="30" name="Text 24"/>
          <p:cNvSpPr txBox="1"/>
          <p:nvPr/>
        </p:nvSpPr>
        <p:spPr>
          <a:xfrm>
            <a:off x="7543571" y="2880360"/>
            <a:ext cx="1591056" cy="457200"/>
          </a:xfrm>
          <a:prstGeom prst="rect">
            <a:avLst/>
          </a:prstGeom>
          <a:noFill/>
          <a:ln/>
        </p:spPr>
        <p:txBody>
          <a:bodyPr wrap="squar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Customer Focus</a:t>
            </a:r>
            <a:endParaRPr lang="en-US" sz="1500" dirty="0"/>
          </a:p>
        </p:txBody>
      </p:sp>
      <p:sp>
        <p:nvSpPr>
          <p:cNvPr id="31" name="Text 25"/>
          <p:cNvSpPr txBox="1"/>
          <p:nvPr/>
        </p:nvSpPr>
        <p:spPr>
          <a:xfrm>
            <a:off x="7543571" y="3520440"/>
            <a:ext cx="1591056" cy="274320"/>
          </a:xfrm>
          <a:prstGeom prst="rect">
            <a:avLst/>
          </a:prstGeom>
          <a:noFill/>
          <a:ln/>
        </p:spPr>
        <p:txBody>
          <a:bodyPr wrap="square" lIns="0" tIns="0" rIns="0" bIns="0" rtlCol="0" anchor="t"/>
          <a:lstStyle/>
          <a:p>
            <a:pPr rtl="1" algn="r" indent="0" marL="0">
              <a:buNone/>
            </a:pPr>
            <a:r>
              <a:rPr lang="ar-AE" altLang="en-US" sz="1400" b="1" dirty="0">
                <a:solidFill>
                  <a:schemeClr val="accent1"/>
                </a:solidFill>
                <a:latin typeface="Arial" pitchFamily="34" charset="0"/>
                <a:ea typeface="Arial" pitchFamily="34" charset="-122"/>
                <a:cs typeface="Arial" pitchFamily="34" charset="-120"/>
              </a:rPr>
              <a:t>التركيز على العملاء</a:t>
            </a:r>
            <a:endParaRPr lang="ar-AE" sz="1400" dirty="0"/>
          </a:p>
        </p:txBody>
      </p:sp>
      <p:sp>
        <p:nvSpPr>
          <p:cNvPr id="32" name="Text 26"/>
          <p:cNvSpPr txBox="1"/>
          <p:nvPr/>
        </p:nvSpPr>
        <p:spPr>
          <a:xfrm>
            <a:off x="7543571" y="3931920"/>
            <a:ext cx="1591056" cy="1005840"/>
          </a:xfrm>
          <a:prstGeom prst="rect">
            <a:avLst/>
          </a:prstGeom>
          <a:noFill/>
          <a:ln/>
        </p:spPr>
        <p:txBody>
          <a:bodyPr wrap="square" lIns="0" tIns="0" rIns="0" bIns="0" rtlCol="0" anchor="t"/>
          <a:lstStyle/>
          <a:p>
            <a:pPr algn="l" indent="0" marL="0">
              <a:buNone/>
            </a:pPr>
            <a:r>
              <a:rPr lang="en-US" sz="1200" dirty="0">
                <a:solidFill>
                  <a:schemeClr val="accent3"/>
                </a:solidFill>
                <a:latin typeface="Arial" pitchFamily="34" charset="0"/>
                <a:ea typeface="Arial" pitchFamily="34" charset="-122"/>
                <a:cs typeface="Arial" pitchFamily="34" charset="-120"/>
              </a:rPr>
              <a:t>Understanding customer needs and continually improving their experience.</a:t>
            </a:r>
            <a:endParaRPr lang="en-US" sz="1200" dirty="0"/>
          </a:p>
        </p:txBody>
      </p:sp>
      <p:sp>
        <p:nvSpPr>
          <p:cNvPr id="33" name="Text 27"/>
          <p:cNvSpPr txBox="1"/>
          <p:nvPr/>
        </p:nvSpPr>
        <p:spPr>
          <a:xfrm>
            <a:off x="7543571" y="4983480"/>
            <a:ext cx="1591056" cy="1005840"/>
          </a:xfrm>
          <a:prstGeom prst="rect">
            <a:avLst/>
          </a:prstGeom>
          <a:noFill/>
          <a:ln/>
        </p:spPr>
        <p:txBody>
          <a:bodyPr wrap="square" lIns="0" tIns="0" rIns="0" bIns="0" rtlCol="0" anchor="t"/>
          <a:lstStyle/>
          <a:p>
            <a:pPr rtl="1" algn="r" indent="0" marL="0">
              <a:buNone/>
            </a:pPr>
            <a:r>
              <a:rPr lang="ar-AE" altLang="en-US" sz="1200" dirty="0">
                <a:solidFill>
                  <a:schemeClr val="accent3"/>
                </a:solidFill>
                <a:latin typeface="Arial" pitchFamily="34" charset="0"/>
                <a:ea typeface="Arial" pitchFamily="34" charset="-122"/>
                <a:cs typeface="Arial" pitchFamily="34" charset="-120"/>
              </a:rPr>
              <a:t>فهم احتياجات العملاء وتحسين تجربتهم باستمرار.</a:t>
            </a:r>
            <a:endParaRPr lang="ar-AE" sz="1200" dirty="0"/>
          </a:p>
        </p:txBody>
      </p:sp>
      <p:sp>
        <p:nvSpPr>
          <p:cNvPr id="34" name="Value card 5"/>
          <p:cNvSpPr/>
          <p:nvPr/>
        </p:nvSpPr>
        <p:spPr>
          <a:xfrm>
            <a:off x="9503359" y="1691640"/>
            <a:ext cx="2048256" cy="4389120"/>
          </a:xfrm>
          <a:prstGeom prst="roundRect">
            <a:avLst>
              <a:gd name="adj" fmla="val 4464"/>
            </a:avLst>
          </a:prstGeom>
          <a:solidFill>
            <a:schemeClr val="bg1"/>
          </a:solidFill>
          <a:ln/>
          <a:effectLst>
            <a:outerShdw sx="100000" sy="100000" kx="0" ky="0" algn="bl" rotWithShape="0" blurRad="177800" dist="38100" dir="5400000">
              <a:srgbClr val="0B0D10">
                <a:alpha val="10000"/>
              </a:srgbClr>
            </a:outerShdw>
          </a:effectLst>
        </p:spPr>
      </p:sp>
      <p:sp>
        <p:nvSpPr>
          <p:cNvPr id="35" name="Value icon 5 circle"/>
          <p:cNvSpPr/>
          <p:nvPr/>
        </p:nvSpPr>
        <p:spPr>
          <a:xfrm>
            <a:off x="9759391" y="1965960"/>
            <a:ext cx="685800" cy="685800"/>
          </a:xfrm>
          <a:prstGeom prst="ellipse">
            <a:avLst/>
          </a:prstGeom>
          <a:solidFill>
            <a:schemeClr val="accent6"/>
          </a:solidFill>
          <a:ln/>
        </p:spPr>
      </p:sp>
      <p:pic>
        <p:nvPicPr>
          <p:cNvPr id="36" name="Value icon 5" descr="icon">    </p:cNvPr>
          <p:cNvPicPr>
            <a:picLocks noChangeAspect="1"/>
          </p:cNvPicPr>
          <p:nvPr/>
        </p:nvPicPr>
        <p:blipFill>
          <a:blip r:embed="rId5"/>
          <a:stretch>
            <a:fillRect/>
          </a:stretch>
        </p:blipFill>
        <p:spPr>
          <a:xfrm>
            <a:off x="9923983" y="2130552"/>
            <a:ext cx="356616" cy="356616"/>
          </a:xfrm>
          <a:prstGeom prst="rect">
            <a:avLst/>
          </a:prstGeom>
        </p:spPr>
      </p:pic>
      <p:sp>
        <p:nvSpPr>
          <p:cNvPr id="37" name="Text 30"/>
          <p:cNvSpPr txBox="1"/>
          <p:nvPr/>
        </p:nvSpPr>
        <p:spPr>
          <a:xfrm>
            <a:off x="9759391" y="2880360"/>
            <a:ext cx="1591056" cy="457200"/>
          </a:xfrm>
          <a:prstGeom prst="rect">
            <a:avLst/>
          </a:prstGeom>
          <a:noFill/>
          <a:ln/>
        </p:spPr>
        <p:txBody>
          <a:bodyPr wrap="squar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Continuous Improvement</a:t>
            </a:r>
            <a:endParaRPr lang="en-US" sz="1500" dirty="0"/>
          </a:p>
        </p:txBody>
      </p:sp>
      <p:sp>
        <p:nvSpPr>
          <p:cNvPr id="38" name="Text 31"/>
          <p:cNvSpPr txBox="1"/>
          <p:nvPr/>
        </p:nvSpPr>
        <p:spPr>
          <a:xfrm>
            <a:off x="9759391" y="3520440"/>
            <a:ext cx="1591056" cy="274320"/>
          </a:xfrm>
          <a:prstGeom prst="rect">
            <a:avLst/>
          </a:prstGeom>
          <a:noFill/>
          <a:ln/>
        </p:spPr>
        <p:txBody>
          <a:bodyPr wrap="square" lIns="0" tIns="0" rIns="0" bIns="0" rtlCol="0" anchor="t"/>
          <a:lstStyle/>
          <a:p>
            <a:pPr rtl="1" algn="r" indent="0" marL="0">
              <a:buNone/>
            </a:pPr>
            <a:r>
              <a:rPr lang="ar-AE" altLang="en-US" sz="1400" b="1" dirty="0">
                <a:solidFill>
                  <a:schemeClr val="accent1"/>
                </a:solidFill>
                <a:latin typeface="Arial" pitchFamily="34" charset="0"/>
                <a:ea typeface="Arial" pitchFamily="34" charset="-122"/>
                <a:cs typeface="Arial" pitchFamily="34" charset="-120"/>
              </a:rPr>
              <a:t>التطوير المستمر</a:t>
            </a:r>
            <a:endParaRPr lang="ar-AE" sz="1400" dirty="0"/>
          </a:p>
        </p:txBody>
      </p:sp>
      <p:sp>
        <p:nvSpPr>
          <p:cNvPr id="39" name="Text 32"/>
          <p:cNvSpPr txBox="1"/>
          <p:nvPr/>
        </p:nvSpPr>
        <p:spPr>
          <a:xfrm>
            <a:off x="9759391" y="3931920"/>
            <a:ext cx="1591056" cy="1005840"/>
          </a:xfrm>
          <a:prstGeom prst="rect">
            <a:avLst/>
          </a:prstGeom>
          <a:noFill/>
          <a:ln/>
        </p:spPr>
        <p:txBody>
          <a:bodyPr wrap="square" lIns="0" tIns="0" rIns="0" bIns="0" rtlCol="0" anchor="t"/>
          <a:lstStyle/>
          <a:p>
            <a:pPr algn="l" indent="0" marL="0">
              <a:buNone/>
            </a:pPr>
            <a:r>
              <a:rPr lang="en-US" sz="1200" dirty="0">
                <a:solidFill>
                  <a:schemeClr val="accent3"/>
                </a:solidFill>
                <a:latin typeface="Arial" pitchFamily="34" charset="0"/>
                <a:ea typeface="Arial" pitchFamily="34" charset="-122"/>
                <a:cs typeface="Arial" pitchFamily="34" charset="-120"/>
              </a:rPr>
              <a:t>Ongoing development of products, services and technical capabilities.</a:t>
            </a:r>
            <a:endParaRPr lang="en-US" sz="1200" dirty="0"/>
          </a:p>
        </p:txBody>
      </p:sp>
      <p:sp>
        <p:nvSpPr>
          <p:cNvPr id="40" name="Text 33"/>
          <p:cNvSpPr txBox="1"/>
          <p:nvPr/>
        </p:nvSpPr>
        <p:spPr>
          <a:xfrm>
            <a:off x="9759391" y="4983480"/>
            <a:ext cx="1591056" cy="1005840"/>
          </a:xfrm>
          <a:prstGeom prst="rect">
            <a:avLst/>
          </a:prstGeom>
          <a:noFill/>
          <a:ln/>
        </p:spPr>
        <p:txBody>
          <a:bodyPr wrap="square" lIns="0" tIns="0" rIns="0" bIns="0" rtlCol="0" anchor="t"/>
          <a:lstStyle/>
          <a:p>
            <a:pPr rtl="1" algn="r" indent="0" marL="0">
              <a:buNone/>
            </a:pPr>
            <a:r>
              <a:rPr lang="ar-AE" altLang="en-US" sz="1200" dirty="0">
                <a:solidFill>
                  <a:schemeClr val="accent3"/>
                </a:solidFill>
                <a:latin typeface="Arial" pitchFamily="34" charset="0"/>
                <a:ea typeface="Arial" pitchFamily="34" charset="-122"/>
                <a:cs typeface="Arial" pitchFamily="34" charset="-120"/>
              </a:rPr>
              <a:t>تطوير المنتجات والخدمات والقدرات الفنية بصورة مستمرة.</a:t>
            </a:r>
            <a:endParaRPr lang="ar-AE" sz="1200" dirty="0"/>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A75"/>
                </a:solidFill>
                <a:latin typeface="Arial"/>
                <a:ea typeface="Arial"/>
                <a:cs typeface="Arial"/>
              </a:defRPr>
            </a:lvl1pPr>
          </a:lstStyle>
          <a:p>
            <a:pPr algn="r"/>
            <a:fld id="{F7021451-1387-4CA6-816F-3879F97B5CBC}" type="slidenum">
              <a:rPr b="0" lang="en-US"/>
              <a:t>6</a:t>
            </a:fld>
            <a:endParaRPr lang="en-US"/>
          </a:p>
        </p:txBody>
      </p:sp>
      <p:sp>
        <p:nvSpPr>
          <p:cNvPr id="41" name="Back to contents" descr="Back to contents">
            <a:hlinkClick r:id="rId8" action="ppaction://hlinksldjump" tooltip="Back to Contents / العودة إلى المحتويات"/>
          </p:cNvPr>
          <p:cNvSpPr/>
          <p:nvPr/>
        </p:nvSpPr>
        <p:spPr>
          <a:xfrm>
            <a:off x="8838000" y="6283000"/>
            <a:ext cx="1850000" cy="300000"/>
          </a:xfrm>
          <a:prstGeom prst="roundRect">
            <a:avLst>
              <a:gd name="adj" fmla="val 50000"/>
            </a:avLst>
          </a:prstGeom>
          <a:noFill/>
          <a:ln w="9525">
            <a:solidFill>
              <a:schemeClr val="accent1"/>
            </a:solidFill>
          </a:ln>
        </p:spPr>
        <p:txBody>
          <a:bodyPr wrap="none" lIns="0" tIns="0" rIns="0" bIns="0" rtlCol="0" anchor="ctr"/>
          <a:lstStyle/>
          <a:p>
            <a:pPr algn="ctr"/>
            <a:r>
              <a:rPr lang="en-US" sz="900" b="1" spc="120" dirty="0">
                <a:solidFill>
                  <a:schemeClr val="accent1"/>
                </a:solidFill>
                <a:latin typeface="Arial"/>
                <a:cs typeface="Arial"/>
              </a:rPr>
              <a:t>CONTENTS  ·  </a:t>
            </a:r>
            <a:r>
              <a:rPr lang="ar-AE" sz="900" b="1" dirty="0">
                <a:solidFill>
                  <a:schemeClr val="accent1"/>
                </a:solidFill>
                <a:latin typeface="Arial"/>
                <a:cs typeface="Arial"/>
              </a:rPr>
              <a:t>المحتويات</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5486400" cy="228600"/>
          </a:xfrm>
          <a:prstGeom prst="rect">
            <a:avLst/>
          </a:prstGeom>
          <a:noFill/>
          <a:ln/>
        </p:spPr>
        <p:txBody>
          <a:bodyPr wrap="square" lIns="0" tIns="0" rIns="0" bIns="0" rtlCol="0" anchor="t"/>
          <a:lstStyle/>
          <a:p>
            <a:pPr algn="l" indent="0" marL="0">
              <a:buNone/>
            </a:pPr>
            <a:r>
              <a:rPr lang="en-US" sz="1000" b="1" spc="300" kern="0" dirty="0">
                <a:solidFill>
                  <a:schemeClr val="accent2"/>
                </a:solidFill>
                <a:latin typeface="Arial" pitchFamily="34" charset="0"/>
                <a:ea typeface="Arial" pitchFamily="34" charset="-122"/>
                <a:cs typeface="Arial" pitchFamily="34" charset="-120"/>
              </a:rPr>
              <a:t>01   ·   WHO WE ARE</a:t>
            </a:r>
            <a:endParaRPr lang="en-US" sz="1000" dirty="0"/>
          </a:p>
        </p:txBody>
      </p:sp>
      <p:sp>
        <p:nvSpPr>
          <p:cNvPr id="3" name="Text 1"/>
          <p:cNvSpPr txBox="1"/>
          <p:nvPr/>
        </p:nvSpPr>
        <p:spPr>
          <a:xfrm>
            <a:off x="6065215" y="411480"/>
            <a:ext cx="5486400" cy="228600"/>
          </a:xfrm>
          <a:prstGeom prst="rect">
            <a:avLst/>
          </a:prstGeom>
          <a:noFill/>
          <a:ln/>
        </p:spPr>
        <p:txBody>
          <a:bodyPr wrap="square" lIns="0" tIns="0" rIns="0" bIns="0" rtlCol="0" anchor="t"/>
          <a:lstStyle/>
          <a:p>
            <a:pPr rtl="1" algn="r" indent="0" marL="0">
              <a:buNone/>
            </a:pPr>
            <a:r>
              <a:rPr lang="ar-AE" altLang="en-US" sz="1100" b="1" dirty="0">
                <a:solidFill>
                  <a:schemeClr val="accent2"/>
                </a:solidFill>
                <a:latin typeface="Arial" pitchFamily="34" charset="0"/>
                <a:ea typeface="Arial" pitchFamily="34" charset="-122"/>
                <a:cs typeface="Arial" pitchFamily="34" charset="-120"/>
              </a:rPr>
              <a:t>من نحن   ·   01</a:t>
            </a:r>
            <a:endParaRPr lang="ar-AE" sz="1100" dirty="0"/>
          </a:p>
        </p:txBody>
      </p:sp>
      <p:sp>
        <p:nvSpPr>
          <p:cNvPr id="4" name="Text 0"/>
          <p:cNvSpPr/>
          <p:nvPr>
            <p:ph idx="100" type="title" hasCustomPrompt="1"/>
          </p:nvPr>
        </p:nvSpPr>
        <p:spPr>
          <a:xfrm>
            <a:off x="640080" y="713232"/>
            <a:ext cx="5486400" cy="685800"/>
          </a:xfrm>
          <a:prstGeom prst="rect">
            <a:avLst/>
          </a:prstGeom>
          <a:noFill/>
          <a:ln/>
        </p:spPr>
        <p:txBody>
          <a:bodyPr wrap="square" lIns="0" tIns="0" rIns="0" bIns="0" rtlCol="0" anchor="t"/>
          <a:lstStyle/>
          <a:p>
            <a:pPr algn="l" indent="0" marL="0">
              <a:buNone/>
            </a:pPr>
            <a:r>
              <a:rPr lang="en-US" sz="3000" dirty="0">
                <a:solidFill>
                  <a:schemeClr val="bg1"/>
                </a:solidFill>
                <a:latin typeface="Arial" pitchFamily="34" charset="0"/>
                <a:ea typeface="Arial" pitchFamily="34" charset="-122"/>
                <a:cs typeface="Arial" pitchFamily="34" charset="-120"/>
              </a:rPr>
              <a:t>Our Journey</a:t>
            </a:r>
            <a:endParaRPr lang="en-US" sz="3000" dirty="0"/>
          </a:p>
        </p:txBody>
      </p:sp>
      <p:sp>
        <p:nvSpPr>
          <p:cNvPr id="5" name="Text 0"/>
          <p:cNvSpPr/>
          <p:nvPr>
            <p:ph idx="101" type="body" hasCustomPrompt="1"/>
          </p:nvPr>
        </p:nvSpPr>
        <p:spPr>
          <a:xfrm>
            <a:off x="6065215" y="713232"/>
            <a:ext cx="5486400" cy="685800"/>
          </a:xfrm>
          <a:prstGeom prst="rect">
            <a:avLst/>
          </a:prstGeom>
          <a:noFill/>
          <a:ln/>
        </p:spPr>
        <p:txBody>
          <a:bodyPr wrap="square" lIns="0" tIns="0" rIns="0" bIns="0" rtlCol="0" anchor="t"/>
          <a:lstStyle/>
          <a:p>
            <a:pPr rtl="1" algn="r" indent="0" marL="0">
              <a:buNone/>
            </a:pPr>
            <a:r>
              <a:rPr lang="ar-AE" altLang="en-US" sz="3000" dirty="0">
                <a:solidFill>
                  <a:schemeClr val="bg1"/>
                </a:solidFill>
                <a:latin typeface="Arial" pitchFamily="34" charset="0"/>
                <a:ea typeface="Arial" pitchFamily="34" charset="-122"/>
                <a:cs typeface="Arial" pitchFamily="34" charset="-120"/>
              </a:rPr>
              <a:t>رحلتنا</a:t>
            </a:r>
            <a:endParaRPr lang="ar-AE" sz="3000" dirty="0"/>
          </a:p>
        </p:txBody>
      </p:sp>
      <p:sp>
        <p:nvSpPr>
          <p:cNvPr id="6" name="hairline"/>
          <p:cNvSpPr/>
          <p:nvPr/>
        </p:nvSpPr>
        <p:spPr>
          <a:xfrm>
            <a:off x="640080" y="2542032"/>
            <a:ext cx="10911535" cy="0"/>
          </a:xfrm>
          <a:prstGeom prst="line">
            <a:avLst/>
          </a:prstGeom>
          <a:noFill/>
          <a:ln w="9525">
            <a:solidFill>
              <a:schemeClr val="accent3"/>
            </a:solidFill>
            <a:prstDash val="solid"/>
          </a:ln>
        </p:spPr>
      </p:sp>
      <p:sp>
        <p:nvSpPr>
          <p:cNvPr id="7" name="Text 5"/>
          <p:cNvSpPr txBox="1"/>
          <p:nvPr/>
        </p:nvSpPr>
        <p:spPr>
          <a:xfrm>
            <a:off x="640080" y="1600200"/>
            <a:ext cx="2468880" cy="731520"/>
          </a:xfrm>
          <a:prstGeom prst="rect">
            <a:avLst/>
          </a:prstGeom>
          <a:noFill/>
          <a:ln/>
        </p:spPr>
        <p:txBody>
          <a:bodyPr wrap="square" lIns="0" tIns="0" rIns="0" bIns="0" rtlCol="0" anchor="t"/>
          <a:lstStyle/>
          <a:p>
            <a:pPr algn="l" indent="0" marL="0">
              <a:buNone/>
            </a:pPr>
            <a:r>
              <a:rPr lang="en-US" sz="4400" dirty="0">
                <a:solidFill>
                  <a:schemeClr val="bg1"/>
                </a:solidFill>
                <a:latin typeface="Arial" pitchFamily="34" charset="0"/>
                <a:ea typeface="Arial" pitchFamily="34" charset="-122"/>
                <a:cs typeface="Arial" pitchFamily="34" charset="-120"/>
              </a:rPr>
              <a:t>2023</a:t>
            </a:r>
            <a:endParaRPr lang="en-US" sz="4400" dirty="0"/>
          </a:p>
        </p:txBody>
      </p:sp>
      <p:sp>
        <p:nvSpPr>
          <p:cNvPr id="8" name="Timeline dot 2023"/>
          <p:cNvSpPr/>
          <p:nvPr/>
        </p:nvSpPr>
        <p:spPr>
          <a:xfrm>
            <a:off x="640080" y="2450592"/>
            <a:ext cx="182880" cy="182880"/>
          </a:xfrm>
          <a:prstGeom prst="ellipse">
            <a:avLst/>
          </a:prstGeom>
          <a:solidFill>
            <a:schemeClr val="accent1"/>
          </a:solidFill>
          <a:ln/>
        </p:spPr>
      </p:sp>
      <p:pic>
        <p:nvPicPr>
          <p:cNvPr id="9" name="Journey icon 2023" descr="icon">    </p:cNvPr>
          <p:cNvPicPr>
            <a:picLocks noChangeAspect="1"/>
          </p:cNvPicPr>
          <p:nvPr/>
        </p:nvPicPr>
        <p:blipFill>
          <a:blip r:embed="rId2"/>
          <a:stretch>
            <a:fillRect/>
          </a:stretch>
        </p:blipFill>
        <p:spPr>
          <a:xfrm>
            <a:off x="640080" y="2926080"/>
            <a:ext cx="411480" cy="411480"/>
          </a:xfrm>
          <a:prstGeom prst="rect">
            <a:avLst/>
          </a:prstGeom>
        </p:spPr>
      </p:pic>
      <p:sp>
        <p:nvSpPr>
          <p:cNvPr id="10" name="Text 7"/>
          <p:cNvSpPr txBox="1"/>
          <p:nvPr/>
        </p:nvSpPr>
        <p:spPr>
          <a:xfrm>
            <a:off x="640080" y="3520440"/>
            <a:ext cx="2468880" cy="274320"/>
          </a:xfrm>
          <a:prstGeom prst="rect">
            <a:avLst/>
          </a:prstGeom>
          <a:noFill/>
          <a:ln/>
        </p:spPr>
        <p:txBody>
          <a:bodyPr wrap="square" lIns="0" tIns="0" rIns="0" bIns="0" rtlCol="0" anchor="t"/>
          <a:lstStyle/>
          <a:p>
            <a:pPr algn="l" indent="0" marL="0">
              <a:buNone/>
            </a:pPr>
            <a:r>
              <a:rPr lang="en-US" sz="1500" b="1" dirty="0">
                <a:solidFill>
                  <a:schemeClr val="bg1"/>
                </a:solidFill>
                <a:latin typeface="Arial" pitchFamily="34" charset="0"/>
                <a:ea typeface="Arial" pitchFamily="34" charset="-122"/>
                <a:cs typeface="Arial" pitchFamily="34" charset="-120"/>
              </a:rPr>
              <a:t>The Beginning</a:t>
            </a:r>
            <a:endParaRPr lang="en-US" sz="1500" dirty="0"/>
          </a:p>
        </p:txBody>
      </p:sp>
      <p:sp>
        <p:nvSpPr>
          <p:cNvPr id="11" name="Text 8"/>
          <p:cNvSpPr txBox="1"/>
          <p:nvPr/>
        </p:nvSpPr>
        <p:spPr>
          <a:xfrm>
            <a:off x="640080" y="3822192"/>
            <a:ext cx="2468880" cy="274320"/>
          </a:xfrm>
          <a:prstGeom prst="rect">
            <a:avLst/>
          </a:prstGeom>
          <a:noFill/>
          <a:ln/>
        </p:spPr>
        <p:txBody>
          <a:bodyPr wrap="square" lIns="0" tIns="0" rIns="0" bIns="0" rtlCol="0" anchor="t"/>
          <a:lstStyle/>
          <a:p>
            <a:pPr rtl="1" algn="r" indent="0" marL="0">
              <a:buNone/>
            </a:pPr>
            <a:r>
              <a:rPr lang="ar-AE" altLang="en-US" sz="1400" b="1" dirty="0">
                <a:solidFill>
                  <a:schemeClr val="accent2"/>
                </a:solidFill>
                <a:latin typeface="Arial" pitchFamily="34" charset="0"/>
                <a:ea typeface="Arial" pitchFamily="34" charset="-122"/>
                <a:cs typeface="Arial" pitchFamily="34" charset="-120"/>
              </a:rPr>
              <a:t>الانطلاقة</a:t>
            </a:r>
            <a:endParaRPr lang="ar-AE" sz="1400" dirty="0"/>
          </a:p>
        </p:txBody>
      </p:sp>
      <p:sp>
        <p:nvSpPr>
          <p:cNvPr id="12" name="Text 9"/>
          <p:cNvSpPr txBox="1"/>
          <p:nvPr/>
        </p:nvSpPr>
        <p:spPr>
          <a:xfrm>
            <a:off x="640080" y="4251960"/>
            <a:ext cx="2468880" cy="914400"/>
          </a:xfrm>
          <a:prstGeom prst="rect">
            <a:avLst/>
          </a:prstGeom>
          <a:noFill/>
          <a:ln/>
        </p:spPr>
        <p:txBody>
          <a:bodyPr wrap="square" lIns="0" tIns="0" rIns="0" bIns="0" rtlCol="0" anchor="t"/>
          <a:lstStyle/>
          <a:p>
            <a:pPr algn="l" indent="0" marL="0">
              <a:buNone/>
            </a:pPr>
            <a:r>
              <a:rPr lang="en-US" sz="1200" dirty="0">
                <a:solidFill>
                  <a:schemeClr val="accent5"/>
                </a:solidFill>
                <a:latin typeface="Arial" pitchFamily="34" charset="0"/>
                <a:ea typeface="Arial" pitchFamily="34" charset="-122"/>
                <a:cs typeface="Arial" pitchFamily="34" charset="-120"/>
              </a:rPr>
              <a:t>Launched as an online EV accessories store in the UAE; first physical branch opened in Dubai later that year.</a:t>
            </a:r>
            <a:endParaRPr lang="en-US" sz="1200" dirty="0"/>
          </a:p>
        </p:txBody>
      </p:sp>
      <p:sp>
        <p:nvSpPr>
          <p:cNvPr id="13" name="Text 10"/>
          <p:cNvSpPr txBox="1"/>
          <p:nvPr/>
        </p:nvSpPr>
        <p:spPr>
          <a:xfrm>
            <a:off x="640080" y="5212080"/>
            <a:ext cx="2468880" cy="914400"/>
          </a:xfrm>
          <a:prstGeom prst="rect">
            <a:avLst/>
          </a:prstGeom>
          <a:noFill/>
          <a:ln/>
        </p:spPr>
        <p:txBody>
          <a:bodyPr wrap="square" lIns="0" tIns="0" rIns="0" bIns="0" rtlCol="0" anchor="t"/>
          <a:lstStyle/>
          <a:p>
            <a:pPr rtl="1" algn="r" indent="0" marL="0">
              <a:buNone/>
            </a:pPr>
            <a:r>
              <a:rPr lang="ar-AE" altLang="en-US" sz="1200" dirty="0">
                <a:solidFill>
                  <a:schemeClr val="accent5"/>
                </a:solidFill>
                <a:latin typeface="Arial" pitchFamily="34" charset="0"/>
                <a:ea typeface="Arial" pitchFamily="34" charset="-122"/>
                <a:cs typeface="Arial" pitchFamily="34" charset="-120"/>
              </a:rPr>
              <a:t>انطلقت كمتجر إلكتروني لإكسسوارات السيارات الكهربائية في الإمارات، وافتتحت أول فرع في دبي أواخر العام.</a:t>
            </a:r>
            <a:endParaRPr lang="ar-AE" sz="1200" dirty="0"/>
          </a:p>
        </p:txBody>
      </p:sp>
      <p:sp>
        <p:nvSpPr>
          <p:cNvPr id="14" name="Text 11"/>
          <p:cNvSpPr txBox="1"/>
          <p:nvPr/>
        </p:nvSpPr>
        <p:spPr>
          <a:xfrm>
            <a:off x="3454298" y="1600200"/>
            <a:ext cx="2468880" cy="731520"/>
          </a:xfrm>
          <a:prstGeom prst="rect">
            <a:avLst/>
          </a:prstGeom>
          <a:noFill/>
          <a:ln/>
        </p:spPr>
        <p:txBody>
          <a:bodyPr wrap="square" lIns="0" tIns="0" rIns="0" bIns="0" rtlCol="0" anchor="t"/>
          <a:lstStyle/>
          <a:p>
            <a:pPr algn="l" indent="0" marL="0">
              <a:buNone/>
            </a:pPr>
            <a:r>
              <a:rPr lang="en-US" sz="4400" dirty="0">
                <a:solidFill>
                  <a:schemeClr val="bg1"/>
                </a:solidFill>
                <a:latin typeface="Arial" pitchFamily="34" charset="0"/>
                <a:ea typeface="Arial" pitchFamily="34" charset="-122"/>
                <a:cs typeface="Arial" pitchFamily="34" charset="-120"/>
              </a:rPr>
              <a:t>2024</a:t>
            </a:r>
            <a:endParaRPr lang="en-US" sz="4400" dirty="0"/>
          </a:p>
        </p:txBody>
      </p:sp>
      <p:sp>
        <p:nvSpPr>
          <p:cNvPr id="15" name="Timeline dot 2024"/>
          <p:cNvSpPr/>
          <p:nvPr/>
        </p:nvSpPr>
        <p:spPr>
          <a:xfrm>
            <a:off x="3454298" y="2450592"/>
            <a:ext cx="182880" cy="182880"/>
          </a:xfrm>
          <a:prstGeom prst="ellipse">
            <a:avLst/>
          </a:prstGeom>
          <a:solidFill>
            <a:schemeClr val="accent1"/>
          </a:solidFill>
          <a:ln/>
        </p:spPr>
      </p:sp>
      <p:pic>
        <p:nvPicPr>
          <p:cNvPr id="16" name="Journey icon 2024" descr="icon">    </p:cNvPr>
          <p:cNvPicPr>
            <a:picLocks noChangeAspect="1"/>
          </p:cNvPicPr>
          <p:nvPr/>
        </p:nvPicPr>
        <p:blipFill>
          <a:blip r:embed="rId3"/>
          <a:stretch>
            <a:fillRect/>
          </a:stretch>
        </p:blipFill>
        <p:spPr>
          <a:xfrm>
            <a:off x="3454298" y="2926080"/>
            <a:ext cx="411480" cy="411480"/>
          </a:xfrm>
          <a:prstGeom prst="rect">
            <a:avLst/>
          </a:prstGeom>
        </p:spPr>
      </p:pic>
      <p:sp>
        <p:nvSpPr>
          <p:cNvPr id="17" name="Text 13"/>
          <p:cNvSpPr txBox="1"/>
          <p:nvPr/>
        </p:nvSpPr>
        <p:spPr>
          <a:xfrm>
            <a:off x="3454298" y="3520440"/>
            <a:ext cx="2468880" cy="274320"/>
          </a:xfrm>
          <a:prstGeom prst="rect">
            <a:avLst/>
          </a:prstGeom>
          <a:noFill/>
          <a:ln/>
        </p:spPr>
        <p:txBody>
          <a:bodyPr wrap="square" lIns="0" tIns="0" rIns="0" bIns="0" rtlCol="0" anchor="t"/>
          <a:lstStyle/>
          <a:p>
            <a:pPr algn="l" indent="0" marL="0">
              <a:buNone/>
            </a:pPr>
            <a:r>
              <a:rPr lang="en-US" sz="1500" b="1" dirty="0">
                <a:solidFill>
                  <a:schemeClr val="bg1"/>
                </a:solidFill>
                <a:latin typeface="Arial" pitchFamily="34" charset="0"/>
                <a:ea typeface="Arial" pitchFamily="34" charset="-122"/>
                <a:cs typeface="Arial" pitchFamily="34" charset="-120"/>
              </a:rPr>
              <a:t>UAE Expansion</a:t>
            </a:r>
            <a:endParaRPr lang="en-US" sz="1500" dirty="0"/>
          </a:p>
        </p:txBody>
      </p:sp>
      <p:sp>
        <p:nvSpPr>
          <p:cNvPr id="18" name="Text 14"/>
          <p:cNvSpPr txBox="1"/>
          <p:nvPr/>
        </p:nvSpPr>
        <p:spPr>
          <a:xfrm>
            <a:off x="3454298" y="3822192"/>
            <a:ext cx="2468880" cy="274320"/>
          </a:xfrm>
          <a:prstGeom prst="rect">
            <a:avLst/>
          </a:prstGeom>
          <a:noFill/>
          <a:ln/>
        </p:spPr>
        <p:txBody>
          <a:bodyPr wrap="square" lIns="0" tIns="0" rIns="0" bIns="0" rtlCol="0" anchor="t"/>
          <a:lstStyle/>
          <a:p>
            <a:pPr rtl="1" algn="r" indent="0" marL="0">
              <a:buNone/>
            </a:pPr>
            <a:r>
              <a:rPr lang="ar-AE" altLang="en-US" sz="1400" b="1" dirty="0">
                <a:solidFill>
                  <a:schemeClr val="accent2"/>
                </a:solidFill>
                <a:latin typeface="Arial" pitchFamily="34" charset="0"/>
                <a:ea typeface="Arial" pitchFamily="34" charset="-122"/>
                <a:cs typeface="Arial" pitchFamily="34" charset="-120"/>
              </a:rPr>
              <a:t>التوسع المحلي</a:t>
            </a:r>
            <a:endParaRPr lang="ar-AE" sz="1400" dirty="0"/>
          </a:p>
        </p:txBody>
      </p:sp>
      <p:sp>
        <p:nvSpPr>
          <p:cNvPr id="19" name="Text 15"/>
          <p:cNvSpPr txBox="1"/>
          <p:nvPr/>
        </p:nvSpPr>
        <p:spPr>
          <a:xfrm>
            <a:off x="3454298" y="4251960"/>
            <a:ext cx="2468880" cy="914400"/>
          </a:xfrm>
          <a:prstGeom prst="rect">
            <a:avLst/>
          </a:prstGeom>
          <a:noFill/>
          <a:ln/>
        </p:spPr>
        <p:txBody>
          <a:bodyPr wrap="square" lIns="0" tIns="0" rIns="0" bIns="0" rtlCol="0" anchor="t"/>
          <a:lstStyle/>
          <a:p>
            <a:pPr algn="l" indent="0" marL="0">
              <a:buNone/>
            </a:pPr>
            <a:r>
              <a:rPr lang="en-US" sz="1200" dirty="0">
                <a:solidFill>
                  <a:schemeClr val="accent5"/>
                </a:solidFill>
                <a:latin typeface="Arial" pitchFamily="34" charset="0"/>
                <a:ea typeface="Arial" pitchFamily="34" charset="-122"/>
                <a:cs typeface="Arial" pitchFamily="34" charset="-120"/>
              </a:rPr>
              <a:t>Expanded its UAE retail presence through branches in Al Ain and Sharjah.</a:t>
            </a:r>
            <a:endParaRPr lang="en-US" sz="1200" dirty="0"/>
          </a:p>
        </p:txBody>
      </p:sp>
      <p:sp>
        <p:nvSpPr>
          <p:cNvPr id="20" name="Text 16"/>
          <p:cNvSpPr txBox="1"/>
          <p:nvPr/>
        </p:nvSpPr>
        <p:spPr>
          <a:xfrm>
            <a:off x="3454298" y="5212080"/>
            <a:ext cx="2468880" cy="914400"/>
          </a:xfrm>
          <a:prstGeom prst="rect">
            <a:avLst/>
          </a:prstGeom>
          <a:noFill/>
          <a:ln/>
        </p:spPr>
        <p:txBody>
          <a:bodyPr wrap="square" lIns="0" tIns="0" rIns="0" bIns="0" rtlCol="0" anchor="t"/>
          <a:lstStyle/>
          <a:p>
            <a:pPr rtl="1" algn="r" indent="0" marL="0">
              <a:buNone/>
            </a:pPr>
            <a:r>
              <a:rPr lang="ar-AE" altLang="en-US" sz="1200" dirty="0">
                <a:solidFill>
                  <a:schemeClr val="accent5"/>
                </a:solidFill>
                <a:latin typeface="Arial" pitchFamily="34" charset="0"/>
                <a:ea typeface="Arial" pitchFamily="34" charset="-122"/>
                <a:cs typeface="Arial" pitchFamily="34" charset="-120"/>
              </a:rPr>
              <a:t>التوسع في دولة الإمارات العربية المتحدة بافتتاح فروع في العين والشارقة.</a:t>
            </a:r>
            <a:endParaRPr lang="ar-AE" sz="1200" dirty="0"/>
          </a:p>
        </p:txBody>
      </p:sp>
      <p:sp>
        <p:nvSpPr>
          <p:cNvPr id="21" name="Text 17"/>
          <p:cNvSpPr txBox="1"/>
          <p:nvPr/>
        </p:nvSpPr>
        <p:spPr>
          <a:xfrm>
            <a:off x="6268517" y="1600200"/>
            <a:ext cx="2468880" cy="731520"/>
          </a:xfrm>
          <a:prstGeom prst="rect">
            <a:avLst/>
          </a:prstGeom>
          <a:noFill/>
          <a:ln/>
        </p:spPr>
        <p:txBody>
          <a:bodyPr wrap="square" lIns="0" tIns="0" rIns="0" bIns="0" rtlCol="0" anchor="t"/>
          <a:lstStyle/>
          <a:p>
            <a:pPr algn="l" indent="0" marL="0">
              <a:buNone/>
            </a:pPr>
            <a:r>
              <a:rPr lang="en-US" sz="4400" dirty="0">
                <a:solidFill>
                  <a:schemeClr val="bg1"/>
                </a:solidFill>
                <a:latin typeface="Arial" pitchFamily="34" charset="0"/>
                <a:ea typeface="Arial" pitchFamily="34" charset="-122"/>
                <a:cs typeface="Arial" pitchFamily="34" charset="-120"/>
              </a:rPr>
              <a:t>2025</a:t>
            </a:r>
            <a:endParaRPr lang="en-US" sz="4400" dirty="0"/>
          </a:p>
        </p:txBody>
      </p:sp>
      <p:sp>
        <p:nvSpPr>
          <p:cNvPr id="22" name="Timeline dot 2025"/>
          <p:cNvSpPr/>
          <p:nvPr/>
        </p:nvSpPr>
        <p:spPr>
          <a:xfrm>
            <a:off x="6268517" y="2450592"/>
            <a:ext cx="182880" cy="182880"/>
          </a:xfrm>
          <a:prstGeom prst="ellipse">
            <a:avLst/>
          </a:prstGeom>
          <a:solidFill>
            <a:schemeClr val="accent1"/>
          </a:solidFill>
          <a:ln/>
        </p:spPr>
      </p:sp>
      <p:pic>
        <p:nvPicPr>
          <p:cNvPr id="23" name="Journey icon 2025" descr="icon">    </p:cNvPr>
          <p:cNvPicPr>
            <a:picLocks noChangeAspect="1"/>
          </p:cNvPicPr>
          <p:nvPr/>
        </p:nvPicPr>
        <p:blipFill>
          <a:blip r:embed="rId4"/>
          <a:stretch>
            <a:fillRect/>
          </a:stretch>
        </p:blipFill>
        <p:spPr>
          <a:xfrm>
            <a:off x="6268517" y="2926080"/>
            <a:ext cx="411480" cy="411480"/>
          </a:xfrm>
          <a:prstGeom prst="rect">
            <a:avLst/>
          </a:prstGeom>
        </p:spPr>
      </p:pic>
      <p:sp>
        <p:nvSpPr>
          <p:cNvPr id="24" name="Text 19"/>
          <p:cNvSpPr txBox="1"/>
          <p:nvPr/>
        </p:nvSpPr>
        <p:spPr>
          <a:xfrm>
            <a:off x="6268517" y="3520440"/>
            <a:ext cx="2468880" cy="274320"/>
          </a:xfrm>
          <a:prstGeom prst="rect">
            <a:avLst/>
          </a:prstGeom>
          <a:noFill/>
          <a:ln/>
        </p:spPr>
        <p:txBody>
          <a:bodyPr wrap="square" lIns="0" tIns="0" rIns="0" bIns="0" rtlCol="0" anchor="t"/>
          <a:lstStyle/>
          <a:p>
            <a:pPr algn="l" indent="0" marL="0">
              <a:buNone/>
            </a:pPr>
            <a:r>
              <a:rPr lang="en-US" sz="1500" b="1" dirty="0">
                <a:solidFill>
                  <a:schemeClr val="bg1"/>
                </a:solidFill>
                <a:latin typeface="Arial" pitchFamily="34" charset="0"/>
                <a:ea typeface="Arial" pitchFamily="34" charset="-122"/>
                <a:cs typeface="Arial" pitchFamily="34" charset="-120"/>
              </a:rPr>
              <a:t>Regional Expansion</a:t>
            </a:r>
            <a:endParaRPr lang="en-US" sz="1500" dirty="0"/>
          </a:p>
        </p:txBody>
      </p:sp>
      <p:sp>
        <p:nvSpPr>
          <p:cNvPr id="25" name="Text 20"/>
          <p:cNvSpPr txBox="1"/>
          <p:nvPr/>
        </p:nvSpPr>
        <p:spPr>
          <a:xfrm>
            <a:off x="6268517" y="3822192"/>
            <a:ext cx="2468880" cy="274320"/>
          </a:xfrm>
          <a:prstGeom prst="rect">
            <a:avLst/>
          </a:prstGeom>
          <a:noFill/>
          <a:ln/>
        </p:spPr>
        <p:txBody>
          <a:bodyPr wrap="square" lIns="0" tIns="0" rIns="0" bIns="0" rtlCol="0" anchor="t"/>
          <a:lstStyle/>
          <a:p>
            <a:pPr rtl="1" algn="r" indent="0" marL="0">
              <a:buNone/>
            </a:pPr>
            <a:r>
              <a:rPr lang="ar-AE" altLang="en-US" sz="1400" b="1" dirty="0">
                <a:solidFill>
                  <a:schemeClr val="accent2"/>
                </a:solidFill>
                <a:latin typeface="Arial" pitchFamily="34" charset="0"/>
                <a:ea typeface="Arial" pitchFamily="34" charset="-122"/>
                <a:cs typeface="Arial" pitchFamily="34" charset="-120"/>
              </a:rPr>
              <a:t>التوسع الإقليمي</a:t>
            </a:r>
            <a:endParaRPr lang="ar-AE" sz="1400" dirty="0"/>
          </a:p>
        </p:txBody>
      </p:sp>
      <p:sp>
        <p:nvSpPr>
          <p:cNvPr id="26" name="Text 21"/>
          <p:cNvSpPr txBox="1"/>
          <p:nvPr/>
        </p:nvSpPr>
        <p:spPr>
          <a:xfrm>
            <a:off x="6268517" y="4251960"/>
            <a:ext cx="2468880" cy="914400"/>
          </a:xfrm>
          <a:prstGeom prst="rect">
            <a:avLst/>
          </a:prstGeom>
          <a:noFill/>
          <a:ln/>
        </p:spPr>
        <p:txBody>
          <a:bodyPr wrap="square" lIns="0" tIns="0" rIns="0" bIns="0" rtlCol="0" anchor="t"/>
          <a:lstStyle/>
          <a:p>
            <a:pPr algn="l" indent="0" marL="0">
              <a:buNone/>
            </a:pPr>
            <a:r>
              <a:rPr lang="en-US" sz="1200" dirty="0">
                <a:solidFill>
                  <a:schemeClr val="accent5"/>
                </a:solidFill>
                <a:latin typeface="Arial" pitchFamily="34" charset="0"/>
                <a:ea typeface="Arial" pitchFamily="34" charset="-122"/>
                <a:cs typeface="Arial" pitchFamily="34" charset="-120"/>
              </a:rPr>
              <a:t>Entered Oman with branches in Muscat and North Al Batinah, and strengthened presence at industry exhibitions.</a:t>
            </a:r>
            <a:endParaRPr lang="en-US" sz="1200" dirty="0"/>
          </a:p>
        </p:txBody>
      </p:sp>
      <p:sp>
        <p:nvSpPr>
          <p:cNvPr id="27" name="Text 22"/>
          <p:cNvSpPr txBox="1"/>
          <p:nvPr/>
        </p:nvSpPr>
        <p:spPr>
          <a:xfrm>
            <a:off x="6268517" y="5212080"/>
            <a:ext cx="2468880" cy="914400"/>
          </a:xfrm>
          <a:prstGeom prst="rect">
            <a:avLst/>
          </a:prstGeom>
          <a:noFill/>
          <a:ln/>
        </p:spPr>
        <p:txBody>
          <a:bodyPr wrap="square" lIns="0" tIns="0" rIns="0" bIns="0" rtlCol="0" anchor="t"/>
          <a:lstStyle/>
          <a:p>
            <a:pPr rtl="1" algn="r" indent="0" marL="0">
              <a:buNone/>
            </a:pPr>
            <a:r>
              <a:rPr lang="ar-AE" altLang="en-US" sz="1200" dirty="0">
                <a:solidFill>
                  <a:schemeClr val="accent5"/>
                </a:solidFill>
                <a:latin typeface="Arial" pitchFamily="34" charset="0"/>
                <a:ea typeface="Arial" pitchFamily="34" charset="-122"/>
                <a:cs typeface="Arial" pitchFamily="34" charset="-120"/>
              </a:rPr>
              <a:t>دخول السوق العُماني بفروع في مسقط وشمال الباطنة، وتعزيز الحضور في المعارض المتخصصة.</a:t>
            </a:r>
            <a:endParaRPr lang="ar-AE" sz="1200" dirty="0"/>
          </a:p>
        </p:txBody>
      </p:sp>
      <p:sp>
        <p:nvSpPr>
          <p:cNvPr id="28" name="Text 23"/>
          <p:cNvSpPr txBox="1"/>
          <p:nvPr/>
        </p:nvSpPr>
        <p:spPr>
          <a:xfrm>
            <a:off x="9082735" y="1600200"/>
            <a:ext cx="2468880" cy="731520"/>
          </a:xfrm>
          <a:prstGeom prst="rect">
            <a:avLst/>
          </a:prstGeom>
          <a:noFill/>
          <a:ln/>
        </p:spPr>
        <p:txBody>
          <a:bodyPr wrap="square" lIns="0" tIns="0" rIns="0" bIns="0" rtlCol="0" anchor="t"/>
          <a:lstStyle/>
          <a:p>
            <a:pPr algn="l" indent="0" marL="0">
              <a:buNone/>
            </a:pPr>
            <a:r>
              <a:rPr lang="en-US" sz="4400" dirty="0">
                <a:solidFill>
                  <a:schemeClr val="accent2"/>
                </a:solidFill>
                <a:latin typeface="Arial" pitchFamily="34" charset="0"/>
                <a:ea typeface="Arial" pitchFamily="34" charset="-122"/>
                <a:cs typeface="Arial" pitchFamily="34" charset="-120"/>
              </a:rPr>
              <a:t>2026</a:t>
            </a:r>
            <a:endParaRPr lang="en-US" sz="4400" dirty="0"/>
          </a:p>
        </p:txBody>
      </p:sp>
      <p:sp>
        <p:nvSpPr>
          <p:cNvPr id="29" name="Timeline dot 2026"/>
          <p:cNvSpPr/>
          <p:nvPr/>
        </p:nvSpPr>
        <p:spPr>
          <a:xfrm>
            <a:off x="9082735" y="2450592"/>
            <a:ext cx="182880" cy="182880"/>
          </a:xfrm>
          <a:prstGeom prst="ellipse">
            <a:avLst/>
          </a:prstGeom>
          <a:solidFill>
            <a:schemeClr val="accent2"/>
          </a:solidFill>
          <a:ln/>
        </p:spPr>
      </p:sp>
      <p:pic>
        <p:nvPicPr>
          <p:cNvPr id="30" name="Journey icon 2026" descr="icon">    </p:cNvPr>
          <p:cNvPicPr>
            <a:picLocks noChangeAspect="1"/>
          </p:cNvPicPr>
          <p:nvPr/>
        </p:nvPicPr>
        <p:blipFill>
          <a:blip r:embed="rId5"/>
          <a:stretch>
            <a:fillRect/>
          </a:stretch>
        </p:blipFill>
        <p:spPr>
          <a:xfrm>
            <a:off x="9082735" y="2926080"/>
            <a:ext cx="411480" cy="411480"/>
          </a:xfrm>
          <a:prstGeom prst="rect">
            <a:avLst/>
          </a:prstGeom>
        </p:spPr>
      </p:pic>
      <p:sp>
        <p:nvSpPr>
          <p:cNvPr id="31" name="Text 25"/>
          <p:cNvSpPr txBox="1"/>
          <p:nvPr/>
        </p:nvSpPr>
        <p:spPr>
          <a:xfrm>
            <a:off x="9082735" y="3520440"/>
            <a:ext cx="2468880" cy="274320"/>
          </a:xfrm>
          <a:prstGeom prst="rect">
            <a:avLst/>
          </a:prstGeom>
          <a:noFill/>
          <a:ln/>
        </p:spPr>
        <p:txBody>
          <a:bodyPr wrap="square" lIns="0" tIns="0" rIns="0" bIns="0" rtlCol="0" anchor="t"/>
          <a:lstStyle/>
          <a:p>
            <a:pPr algn="l" indent="0" marL="0">
              <a:buNone/>
            </a:pPr>
            <a:r>
              <a:rPr lang="en-US" sz="1500" b="1" dirty="0">
                <a:solidFill>
                  <a:schemeClr val="bg1"/>
                </a:solidFill>
                <a:latin typeface="Arial" pitchFamily="34" charset="0"/>
                <a:ea typeface="Arial" pitchFamily="34" charset="-122"/>
                <a:cs typeface="Arial" pitchFamily="34" charset="-120"/>
              </a:rPr>
              <a:t>Development &amp; Growth</a:t>
            </a:r>
            <a:endParaRPr lang="en-US" sz="1500" dirty="0"/>
          </a:p>
        </p:txBody>
      </p:sp>
      <p:sp>
        <p:nvSpPr>
          <p:cNvPr id="32" name="Text 26"/>
          <p:cNvSpPr txBox="1"/>
          <p:nvPr/>
        </p:nvSpPr>
        <p:spPr>
          <a:xfrm>
            <a:off x="9082735" y="3822192"/>
            <a:ext cx="2468880" cy="274320"/>
          </a:xfrm>
          <a:prstGeom prst="rect">
            <a:avLst/>
          </a:prstGeom>
          <a:noFill/>
          <a:ln/>
        </p:spPr>
        <p:txBody>
          <a:bodyPr wrap="square" lIns="0" tIns="0" rIns="0" bIns="0" rtlCol="0" anchor="t"/>
          <a:lstStyle/>
          <a:p>
            <a:pPr rtl="1" algn="r" indent="0" marL="0">
              <a:buNone/>
            </a:pPr>
            <a:r>
              <a:rPr lang="ar-AE" altLang="en-US" sz="1400" b="1" dirty="0">
                <a:solidFill>
                  <a:schemeClr val="accent2"/>
                </a:solidFill>
                <a:latin typeface="Arial" pitchFamily="34" charset="0"/>
                <a:ea typeface="Arial" pitchFamily="34" charset="-122"/>
                <a:cs typeface="Arial" pitchFamily="34" charset="-120"/>
              </a:rPr>
              <a:t>التطوير والنمو</a:t>
            </a:r>
            <a:endParaRPr lang="ar-AE" sz="1400" dirty="0"/>
          </a:p>
        </p:txBody>
      </p:sp>
      <p:sp>
        <p:nvSpPr>
          <p:cNvPr id="33" name="Text 27"/>
          <p:cNvSpPr txBox="1"/>
          <p:nvPr/>
        </p:nvSpPr>
        <p:spPr>
          <a:xfrm>
            <a:off x="9082735" y="4251960"/>
            <a:ext cx="2468880" cy="914400"/>
          </a:xfrm>
          <a:prstGeom prst="rect">
            <a:avLst/>
          </a:prstGeom>
          <a:noFill/>
          <a:ln/>
        </p:spPr>
        <p:txBody>
          <a:bodyPr wrap="square" lIns="0" tIns="0" rIns="0" bIns="0" rtlCol="0" anchor="t"/>
          <a:lstStyle/>
          <a:p>
            <a:pPr algn="l" indent="0" marL="0">
              <a:buNone/>
            </a:pPr>
            <a:r>
              <a:rPr lang="en-US" sz="1200" dirty="0">
                <a:solidFill>
                  <a:schemeClr val="accent5"/>
                </a:solidFill>
                <a:latin typeface="Arial" pitchFamily="34" charset="0"/>
                <a:ea typeface="Arial" pitchFamily="34" charset="-122"/>
                <a:cs typeface="Arial" pitchFamily="34" charset="-120"/>
              </a:rPr>
              <a:t>Developing branches, technical services and charging solutions, with expansion plans for Riyadh, Saudi Arabia.</a:t>
            </a:r>
            <a:endParaRPr lang="en-US" sz="1200" dirty="0"/>
          </a:p>
        </p:txBody>
      </p:sp>
      <p:sp>
        <p:nvSpPr>
          <p:cNvPr id="34" name="Text 28"/>
          <p:cNvSpPr txBox="1"/>
          <p:nvPr/>
        </p:nvSpPr>
        <p:spPr>
          <a:xfrm>
            <a:off x="9082735" y="5212080"/>
            <a:ext cx="2468880" cy="914400"/>
          </a:xfrm>
          <a:prstGeom prst="rect">
            <a:avLst/>
          </a:prstGeom>
          <a:noFill/>
          <a:ln/>
        </p:spPr>
        <p:txBody>
          <a:bodyPr wrap="square" lIns="0" tIns="0" rIns="0" bIns="0" rtlCol="0" anchor="t"/>
          <a:lstStyle/>
          <a:p>
            <a:pPr rtl="1" algn="r" indent="0" marL="0">
              <a:buNone/>
            </a:pPr>
            <a:r>
              <a:rPr lang="ar-AE" altLang="en-US" sz="1200" dirty="0">
                <a:solidFill>
                  <a:schemeClr val="accent5"/>
                </a:solidFill>
                <a:latin typeface="Arial" pitchFamily="34" charset="0"/>
                <a:ea typeface="Arial" pitchFamily="34" charset="-122"/>
                <a:cs typeface="Arial" pitchFamily="34" charset="-120"/>
              </a:rPr>
              <a:t>مواصلة تطوير الفروع والخدمات الفنية وحلول الشحن، مع خطط للتوسع في الرياض بالمملكة العربية السعودية.</a:t>
            </a:r>
            <a:endParaRPr lang="ar-AE" sz="1200" dirty="0"/>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DDE2E7"/>
                </a:solidFill>
                <a:latin typeface="Arial"/>
                <a:ea typeface="Arial"/>
                <a:cs typeface="Arial"/>
              </a:defRPr>
            </a:lvl1pPr>
          </a:lstStyle>
          <a:p>
            <a:pPr algn="r"/>
            <a:fld id="{F7021451-1387-4CA6-816F-3879F97B5CBC}" type="slidenum">
              <a:rPr b="0" lang="en-US"/>
              <a:t>7</a:t>
            </a:fld>
            <a:endParaRPr lang="en-US"/>
          </a:p>
        </p:txBody>
      </p:sp>
      <p:sp>
        <p:nvSpPr>
          <p:cNvPr id="35" name="Back to contents" descr="Back to contents">
            <a:hlinkClick r:id="rId8" action="ppaction://hlinksldjump" tooltip="Back to Contents / العودة إلى المحتويات"/>
          </p:cNvPr>
          <p:cNvSpPr/>
          <p:nvPr/>
        </p:nvSpPr>
        <p:spPr>
          <a:xfrm>
            <a:off x="8838000" y="6283000"/>
            <a:ext cx="1850000" cy="300000"/>
          </a:xfrm>
          <a:prstGeom prst="roundRect">
            <a:avLst>
              <a:gd name="adj" fmla="val 50000"/>
            </a:avLst>
          </a:prstGeom>
          <a:noFill/>
          <a:ln w="9525">
            <a:solidFill>
              <a:schemeClr val="accent1"/>
            </a:solidFill>
          </a:ln>
        </p:spPr>
        <p:txBody>
          <a:bodyPr wrap="none" lIns="0" tIns="0" rIns="0" bIns="0" rtlCol="0" anchor="ctr"/>
          <a:lstStyle/>
          <a:p>
            <a:pPr algn="ctr"/>
            <a:r>
              <a:rPr lang="en-US" sz="900" b="1" spc="120" dirty="0">
                <a:solidFill>
                  <a:schemeClr val="accent1"/>
                </a:solidFill>
                <a:latin typeface="Arial"/>
                <a:cs typeface="Arial"/>
              </a:rPr>
              <a:t>CONTENTS  ·  </a:t>
            </a:r>
            <a:r>
              <a:rPr lang="ar-AE" sz="900" b="1" dirty="0">
                <a:solidFill>
                  <a:schemeClr val="accent1"/>
                </a:solidFill>
                <a:latin typeface="Arial"/>
                <a:cs typeface="Arial"/>
              </a:rPr>
              <a:t>المحتويات</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411480"/>
            <a:ext cx="5486400" cy="228600"/>
          </a:xfrm>
          <a:prstGeom prst="rect">
            <a:avLst/>
          </a:prstGeom>
          <a:noFill/>
          <a:ln/>
        </p:spPr>
        <p:txBody>
          <a:bodyPr wrap="square" lIns="0" tIns="0" rIns="0" bIns="0" rtlCol="0" anchor="t"/>
          <a:lstStyle/>
          <a:p>
            <a:pPr algn="l" indent="0" marL="0">
              <a:buNone/>
            </a:pPr>
            <a:r>
              <a:rPr lang="en-US" sz="1000" b="1" spc="300" kern="0" dirty="0">
                <a:solidFill>
                  <a:schemeClr val="accent1"/>
                </a:solidFill>
                <a:latin typeface="Arial" pitchFamily="34" charset="0"/>
                <a:ea typeface="Arial" pitchFamily="34" charset="-122"/>
                <a:cs typeface="Arial" pitchFamily="34" charset="-120"/>
              </a:rPr>
              <a:t>02   ·   WHAT WE DO</a:t>
            </a:r>
            <a:endParaRPr lang="en-US" sz="1000" dirty="0"/>
          </a:p>
        </p:txBody>
      </p:sp>
      <p:sp>
        <p:nvSpPr>
          <p:cNvPr id="3" name="Text 1"/>
          <p:cNvSpPr txBox="1"/>
          <p:nvPr/>
        </p:nvSpPr>
        <p:spPr>
          <a:xfrm>
            <a:off x="6065215" y="411480"/>
            <a:ext cx="5486400" cy="228600"/>
          </a:xfrm>
          <a:prstGeom prst="rect">
            <a:avLst/>
          </a:prstGeom>
          <a:noFill/>
          <a:ln/>
        </p:spPr>
        <p:txBody>
          <a:bodyPr wrap="square" lIns="0" tIns="0" rIns="0" bIns="0" rtlCol="0" anchor="t"/>
          <a:lstStyle/>
          <a:p>
            <a:pPr rtl="1" algn="r" indent="0" marL="0">
              <a:buNone/>
            </a:pPr>
            <a:r>
              <a:rPr lang="ar-AE" altLang="en-US" sz="1100" b="1" dirty="0">
                <a:solidFill>
                  <a:schemeClr val="accent1"/>
                </a:solidFill>
                <a:latin typeface="Arial" pitchFamily="34" charset="0"/>
                <a:ea typeface="Arial" pitchFamily="34" charset="-122"/>
                <a:cs typeface="Arial" pitchFamily="34" charset="-120"/>
              </a:rPr>
              <a:t>ماذا نقدم   ·   02</a:t>
            </a:r>
            <a:endParaRPr lang="ar-AE" sz="1100" dirty="0"/>
          </a:p>
        </p:txBody>
      </p:sp>
      <p:sp>
        <p:nvSpPr>
          <p:cNvPr id="4" name="Text 0"/>
          <p:cNvSpPr/>
          <p:nvPr>
            <p:ph idx="100" type="title" hasCustomPrompt="1"/>
          </p:nvPr>
        </p:nvSpPr>
        <p:spPr>
          <a:xfrm>
            <a:off x="640080" y="713232"/>
            <a:ext cx="5486400" cy="685800"/>
          </a:xfrm>
          <a:prstGeom prst="rect">
            <a:avLst/>
          </a:prstGeom>
          <a:noFill/>
          <a:ln/>
        </p:spPr>
        <p:txBody>
          <a:bodyPr wrap="square" lIns="0" tIns="0" rIns="0" bIns="0" rtlCol="0" anchor="t"/>
          <a:lstStyle/>
          <a:p>
            <a:pPr algn="l" indent="0" marL="0">
              <a:buNone/>
            </a:pPr>
            <a:r>
              <a:rPr lang="en-US" sz="3000" dirty="0">
                <a:solidFill>
                  <a:schemeClr val="tx1"/>
                </a:solidFill>
                <a:latin typeface="Arial" pitchFamily="34" charset="0"/>
                <a:ea typeface="Arial" pitchFamily="34" charset="-122"/>
                <a:cs typeface="Arial" pitchFamily="34" charset="-120"/>
              </a:rPr>
              <a:t>Our Business Areas</a:t>
            </a:r>
            <a:endParaRPr lang="en-US" sz="3000" dirty="0"/>
          </a:p>
        </p:txBody>
      </p:sp>
      <p:sp>
        <p:nvSpPr>
          <p:cNvPr id="5" name="Text 0"/>
          <p:cNvSpPr/>
          <p:nvPr>
            <p:ph idx="101" type="body" hasCustomPrompt="1"/>
          </p:nvPr>
        </p:nvSpPr>
        <p:spPr>
          <a:xfrm>
            <a:off x="6065215" y="713232"/>
            <a:ext cx="5486400" cy="685800"/>
          </a:xfrm>
          <a:prstGeom prst="rect">
            <a:avLst/>
          </a:prstGeom>
          <a:noFill/>
          <a:ln/>
        </p:spPr>
        <p:txBody>
          <a:bodyPr wrap="square" lIns="0" tIns="0" rIns="0" bIns="0" rtlCol="0" anchor="t"/>
          <a:lstStyle/>
          <a:p>
            <a:pPr rtl="1" algn="r" indent="0" marL="0">
              <a:buNone/>
            </a:pPr>
            <a:r>
              <a:rPr lang="ar-AE" altLang="en-US" sz="3000" dirty="0">
                <a:solidFill>
                  <a:schemeClr val="tx1"/>
                </a:solidFill>
                <a:latin typeface="Arial" pitchFamily="34" charset="0"/>
                <a:ea typeface="Arial" pitchFamily="34" charset="-122"/>
                <a:cs typeface="Arial" pitchFamily="34" charset="-120"/>
              </a:rPr>
              <a:t>مجالات أعمالنا</a:t>
            </a:r>
            <a:endParaRPr lang="ar-AE" sz="3000" dirty="0"/>
          </a:p>
        </p:txBody>
      </p:sp>
      <p:sp>
        <p:nvSpPr>
          <p:cNvPr id="6" name="Business tile 1"/>
          <p:cNvSpPr/>
          <p:nvPr/>
        </p:nvSpPr>
        <p:spPr>
          <a:xfrm>
            <a:off x="640080" y="1691640"/>
            <a:ext cx="3456432" cy="2011680"/>
          </a:xfrm>
          <a:prstGeom prst="roundRect">
            <a:avLst>
              <a:gd name="adj" fmla="val 4545"/>
            </a:avLst>
          </a:prstGeom>
          <a:solidFill>
            <a:schemeClr val="bg2"/>
          </a:solidFill>
          <a:ln/>
        </p:spPr>
      </p:sp>
      <p:sp>
        <p:nvSpPr>
          <p:cNvPr id="7" name="Business icon 1 circle"/>
          <p:cNvSpPr/>
          <p:nvPr/>
        </p:nvSpPr>
        <p:spPr>
          <a:xfrm>
            <a:off x="914400" y="1947672"/>
            <a:ext cx="731520" cy="731520"/>
          </a:xfrm>
          <a:prstGeom prst="ellipse">
            <a:avLst/>
          </a:prstGeom>
          <a:solidFill>
            <a:schemeClr val="accent6"/>
          </a:solidFill>
          <a:ln/>
        </p:spPr>
      </p:sp>
      <p:pic>
        <p:nvPicPr>
          <p:cNvPr id="8" name="Business icon 1" descr="icon">    </p:cNvPr>
          <p:cNvPicPr>
            <a:picLocks noChangeAspect="1"/>
          </p:cNvPicPr>
          <p:nvPr/>
        </p:nvPicPr>
        <p:blipFill>
          <a:blip r:embed="rId1"/>
          <a:stretch>
            <a:fillRect/>
          </a:stretch>
        </p:blipFill>
        <p:spPr>
          <a:xfrm>
            <a:off x="1089965" y="2123237"/>
            <a:ext cx="380390" cy="380390"/>
          </a:xfrm>
          <a:prstGeom prst="rect">
            <a:avLst/>
          </a:prstGeom>
        </p:spPr>
      </p:pic>
      <p:sp>
        <p:nvSpPr>
          <p:cNvPr id="9" name="Text 6"/>
          <p:cNvSpPr txBox="1"/>
          <p:nvPr/>
        </p:nvSpPr>
        <p:spPr>
          <a:xfrm>
            <a:off x="2907792" y="1947672"/>
            <a:ext cx="914400" cy="365760"/>
          </a:xfrm>
          <a:prstGeom prst="rect">
            <a:avLst/>
          </a:prstGeom>
          <a:noFill/>
          <a:ln/>
        </p:spPr>
        <p:txBody>
          <a:bodyPr wrap="square" lIns="0" tIns="0" rIns="0" bIns="0" rtlCol="0" anchor="t"/>
          <a:lstStyle/>
          <a:p>
            <a:pPr algn="r" indent="0" marL="0">
              <a:buNone/>
            </a:pPr>
            <a:r>
              <a:rPr lang="en-US" sz="2000" dirty="0">
                <a:solidFill>
                  <a:schemeClr val="accent3"/>
                </a:solidFill>
                <a:latin typeface="Arial" pitchFamily="34" charset="0"/>
                <a:ea typeface="Arial" pitchFamily="34" charset="-122"/>
                <a:cs typeface="Arial" pitchFamily="34" charset="-120"/>
              </a:rPr>
              <a:t>01</a:t>
            </a:r>
            <a:endParaRPr lang="en-US" sz="2000" dirty="0"/>
          </a:p>
        </p:txBody>
      </p:sp>
      <p:sp>
        <p:nvSpPr>
          <p:cNvPr id="10" name="Text 7"/>
          <p:cNvSpPr txBox="1"/>
          <p:nvPr/>
        </p:nvSpPr>
        <p:spPr>
          <a:xfrm>
            <a:off x="914400" y="2926080"/>
            <a:ext cx="2907792" cy="274320"/>
          </a:xfrm>
          <a:prstGeom prst="rect">
            <a:avLst/>
          </a:prstGeom>
          <a:noFill/>
          <a:ln/>
        </p:spPr>
        <p:txBody>
          <a:bodyPr wrap="squar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Electric Vehicle Accessories</a:t>
            </a:r>
            <a:endParaRPr lang="en-US" sz="1500" dirty="0"/>
          </a:p>
        </p:txBody>
      </p:sp>
      <p:sp>
        <p:nvSpPr>
          <p:cNvPr id="11" name="Text 8"/>
          <p:cNvSpPr txBox="1"/>
          <p:nvPr/>
        </p:nvSpPr>
        <p:spPr>
          <a:xfrm>
            <a:off x="914400" y="3264408"/>
            <a:ext cx="2907792" cy="274320"/>
          </a:xfrm>
          <a:prstGeom prst="rect">
            <a:avLst/>
          </a:prstGeom>
          <a:noFill/>
          <a:ln/>
        </p:spPr>
        <p:txBody>
          <a:bodyPr wrap="square" lIns="0" tIns="0" rIns="0" bIns="0" rtlCol="0" anchor="t"/>
          <a:lstStyle/>
          <a:p>
            <a:pPr rtl="1" algn="r" indent="0" marL="0">
              <a:buNone/>
            </a:pPr>
            <a:r>
              <a:rPr lang="ar-AE" altLang="en-US" sz="1400" b="1" dirty="0">
                <a:solidFill>
                  <a:schemeClr val="accent1"/>
                </a:solidFill>
                <a:latin typeface="Arial" pitchFamily="34" charset="0"/>
                <a:ea typeface="Arial" pitchFamily="34" charset="-122"/>
                <a:cs typeface="Arial" pitchFamily="34" charset="-120"/>
              </a:rPr>
              <a:t>إكسسوارات السيارات الكهربائية</a:t>
            </a:r>
            <a:endParaRPr lang="ar-AE" sz="1400" dirty="0"/>
          </a:p>
        </p:txBody>
      </p:sp>
      <p:sp>
        <p:nvSpPr>
          <p:cNvPr id="12" name="Business tile 2"/>
          <p:cNvSpPr/>
          <p:nvPr/>
        </p:nvSpPr>
        <p:spPr>
          <a:xfrm>
            <a:off x="4366260" y="1691640"/>
            <a:ext cx="3456432" cy="2011680"/>
          </a:xfrm>
          <a:prstGeom prst="roundRect">
            <a:avLst>
              <a:gd name="adj" fmla="val 4545"/>
            </a:avLst>
          </a:prstGeom>
          <a:solidFill>
            <a:schemeClr val="bg2"/>
          </a:solidFill>
          <a:ln/>
        </p:spPr>
      </p:sp>
      <p:sp>
        <p:nvSpPr>
          <p:cNvPr id="13" name="Business icon 2 circle"/>
          <p:cNvSpPr/>
          <p:nvPr/>
        </p:nvSpPr>
        <p:spPr>
          <a:xfrm>
            <a:off x="4640580" y="1947672"/>
            <a:ext cx="731520" cy="731520"/>
          </a:xfrm>
          <a:prstGeom prst="ellipse">
            <a:avLst/>
          </a:prstGeom>
          <a:solidFill>
            <a:schemeClr val="accent6"/>
          </a:solidFill>
          <a:ln/>
        </p:spPr>
      </p:sp>
      <p:pic>
        <p:nvPicPr>
          <p:cNvPr id="14" name="Business icon 2" descr="icon">    </p:cNvPr>
          <p:cNvPicPr>
            <a:picLocks noChangeAspect="1"/>
          </p:cNvPicPr>
          <p:nvPr/>
        </p:nvPicPr>
        <p:blipFill>
          <a:blip r:embed="rId2"/>
          <a:stretch>
            <a:fillRect/>
          </a:stretch>
        </p:blipFill>
        <p:spPr>
          <a:xfrm>
            <a:off x="4816145" y="2123237"/>
            <a:ext cx="380390" cy="380390"/>
          </a:xfrm>
          <a:prstGeom prst="rect">
            <a:avLst/>
          </a:prstGeom>
        </p:spPr>
      </p:pic>
      <p:sp>
        <p:nvSpPr>
          <p:cNvPr id="15" name="Text 11"/>
          <p:cNvSpPr txBox="1"/>
          <p:nvPr/>
        </p:nvSpPr>
        <p:spPr>
          <a:xfrm>
            <a:off x="6633972" y="1947672"/>
            <a:ext cx="914400" cy="365760"/>
          </a:xfrm>
          <a:prstGeom prst="rect">
            <a:avLst/>
          </a:prstGeom>
          <a:noFill/>
          <a:ln/>
        </p:spPr>
        <p:txBody>
          <a:bodyPr wrap="square" lIns="0" tIns="0" rIns="0" bIns="0" rtlCol="0" anchor="t"/>
          <a:lstStyle/>
          <a:p>
            <a:pPr algn="r" indent="0" marL="0">
              <a:buNone/>
            </a:pPr>
            <a:r>
              <a:rPr lang="en-US" sz="2000" dirty="0">
                <a:solidFill>
                  <a:schemeClr val="accent3"/>
                </a:solidFill>
                <a:latin typeface="Arial" pitchFamily="34" charset="0"/>
                <a:ea typeface="Arial" pitchFamily="34" charset="-122"/>
                <a:cs typeface="Arial" pitchFamily="34" charset="-120"/>
              </a:rPr>
              <a:t>02</a:t>
            </a:r>
            <a:endParaRPr lang="en-US" sz="2000" dirty="0"/>
          </a:p>
        </p:txBody>
      </p:sp>
      <p:sp>
        <p:nvSpPr>
          <p:cNvPr id="16" name="Text 12"/>
          <p:cNvSpPr txBox="1"/>
          <p:nvPr/>
        </p:nvSpPr>
        <p:spPr>
          <a:xfrm>
            <a:off x="4640580" y="2926080"/>
            <a:ext cx="2907792" cy="274320"/>
          </a:xfrm>
          <a:prstGeom prst="rect">
            <a:avLst/>
          </a:prstGeom>
          <a:noFill/>
          <a:ln/>
        </p:spPr>
        <p:txBody>
          <a:bodyPr wrap="squar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EV Charging Solutions</a:t>
            </a:r>
            <a:endParaRPr lang="en-US" sz="1500" dirty="0"/>
          </a:p>
        </p:txBody>
      </p:sp>
      <p:sp>
        <p:nvSpPr>
          <p:cNvPr id="17" name="Text 13"/>
          <p:cNvSpPr txBox="1"/>
          <p:nvPr/>
        </p:nvSpPr>
        <p:spPr>
          <a:xfrm>
            <a:off x="4640580" y="3264408"/>
            <a:ext cx="2907792" cy="274320"/>
          </a:xfrm>
          <a:prstGeom prst="rect">
            <a:avLst/>
          </a:prstGeom>
          <a:noFill/>
          <a:ln/>
        </p:spPr>
        <p:txBody>
          <a:bodyPr wrap="square" lIns="0" tIns="0" rIns="0" bIns="0" rtlCol="0" anchor="t"/>
          <a:lstStyle/>
          <a:p>
            <a:pPr rtl="1" algn="r" indent="0" marL="0">
              <a:buNone/>
            </a:pPr>
            <a:r>
              <a:rPr lang="ar-AE" altLang="en-US" sz="1400" b="1" dirty="0">
                <a:solidFill>
                  <a:schemeClr val="accent1"/>
                </a:solidFill>
                <a:latin typeface="Arial" pitchFamily="34" charset="0"/>
                <a:ea typeface="Arial" pitchFamily="34" charset="-122"/>
                <a:cs typeface="Arial" pitchFamily="34" charset="-120"/>
              </a:rPr>
              <a:t>شواحن السيارات الكهربائية</a:t>
            </a:r>
            <a:endParaRPr lang="ar-AE" sz="1400" dirty="0"/>
          </a:p>
        </p:txBody>
      </p:sp>
      <p:sp>
        <p:nvSpPr>
          <p:cNvPr id="18" name="Business tile 3"/>
          <p:cNvSpPr/>
          <p:nvPr/>
        </p:nvSpPr>
        <p:spPr>
          <a:xfrm>
            <a:off x="8092440" y="1691640"/>
            <a:ext cx="3456432" cy="2011680"/>
          </a:xfrm>
          <a:prstGeom prst="roundRect">
            <a:avLst>
              <a:gd name="adj" fmla="val 4545"/>
            </a:avLst>
          </a:prstGeom>
          <a:solidFill>
            <a:schemeClr val="bg2"/>
          </a:solidFill>
          <a:ln/>
        </p:spPr>
      </p:sp>
      <p:sp>
        <p:nvSpPr>
          <p:cNvPr id="19" name="Business icon 3 circle"/>
          <p:cNvSpPr/>
          <p:nvPr/>
        </p:nvSpPr>
        <p:spPr>
          <a:xfrm>
            <a:off x="8366760" y="1947672"/>
            <a:ext cx="731520" cy="731520"/>
          </a:xfrm>
          <a:prstGeom prst="ellipse">
            <a:avLst/>
          </a:prstGeom>
          <a:solidFill>
            <a:schemeClr val="accent6"/>
          </a:solidFill>
          <a:ln/>
        </p:spPr>
      </p:sp>
      <p:pic>
        <p:nvPicPr>
          <p:cNvPr id="20" name="Business icon 3" descr="icon">    </p:cNvPr>
          <p:cNvPicPr>
            <a:picLocks noChangeAspect="1"/>
          </p:cNvPicPr>
          <p:nvPr/>
        </p:nvPicPr>
        <p:blipFill>
          <a:blip r:embed="rId3"/>
          <a:stretch>
            <a:fillRect/>
          </a:stretch>
        </p:blipFill>
        <p:spPr>
          <a:xfrm>
            <a:off x="8542325" y="2123237"/>
            <a:ext cx="380390" cy="380390"/>
          </a:xfrm>
          <a:prstGeom prst="rect">
            <a:avLst/>
          </a:prstGeom>
        </p:spPr>
      </p:pic>
      <p:sp>
        <p:nvSpPr>
          <p:cNvPr id="21" name="Text 16"/>
          <p:cNvSpPr txBox="1"/>
          <p:nvPr/>
        </p:nvSpPr>
        <p:spPr>
          <a:xfrm>
            <a:off x="10360152" y="1947672"/>
            <a:ext cx="914400" cy="365760"/>
          </a:xfrm>
          <a:prstGeom prst="rect">
            <a:avLst/>
          </a:prstGeom>
          <a:noFill/>
          <a:ln/>
        </p:spPr>
        <p:txBody>
          <a:bodyPr wrap="square" lIns="0" tIns="0" rIns="0" bIns="0" rtlCol="0" anchor="t"/>
          <a:lstStyle/>
          <a:p>
            <a:pPr algn="r" indent="0" marL="0">
              <a:buNone/>
            </a:pPr>
            <a:r>
              <a:rPr lang="en-US" sz="2000" dirty="0">
                <a:solidFill>
                  <a:schemeClr val="accent3"/>
                </a:solidFill>
                <a:latin typeface="Arial" pitchFamily="34" charset="0"/>
                <a:ea typeface="Arial" pitchFamily="34" charset="-122"/>
                <a:cs typeface="Arial" pitchFamily="34" charset="-120"/>
              </a:rPr>
              <a:t>03</a:t>
            </a:r>
            <a:endParaRPr lang="en-US" sz="2000" dirty="0"/>
          </a:p>
        </p:txBody>
      </p:sp>
      <p:sp>
        <p:nvSpPr>
          <p:cNvPr id="22" name="Text 17"/>
          <p:cNvSpPr txBox="1"/>
          <p:nvPr/>
        </p:nvSpPr>
        <p:spPr>
          <a:xfrm>
            <a:off x="8366760" y="2926080"/>
            <a:ext cx="2907792" cy="274320"/>
          </a:xfrm>
          <a:prstGeom prst="rect">
            <a:avLst/>
          </a:prstGeom>
          <a:noFill/>
          <a:ln/>
        </p:spPr>
        <p:txBody>
          <a:bodyPr wrap="squar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EV Charging Adapters</a:t>
            </a:r>
            <a:endParaRPr lang="en-US" sz="1500" dirty="0"/>
          </a:p>
        </p:txBody>
      </p:sp>
      <p:sp>
        <p:nvSpPr>
          <p:cNvPr id="23" name="Text 18"/>
          <p:cNvSpPr txBox="1"/>
          <p:nvPr/>
        </p:nvSpPr>
        <p:spPr>
          <a:xfrm>
            <a:off x="8366760" y="3264408"/>
            <a:ext cx="2907792" cy="274320"/>
          </a:xfrm>
          <a:prstGeom prst="rect">
            <a:avLst/>
          </a:prstGeom>
          <a:noFill/>
          <a:ln/>
        </p:spPr>
        <p:txBody>
          <a:bodyPr wrap="square" lIns="0" tIns="0" rIns="0" bIns="0" rtlCol="0" anchor="t"/>
          <a:lstStyle/>
          <a:p>
            <a:pPr rtl="1" algn="r" indent="0" marL="0">
              <a:buNone/>
            </a:pPr>
            <a:r>
              <a:rPr lang="ar-AE" altLang="en-US" sz="1400" b="1" dirty="0">
                <a:solidFill>
                  <a:schemeClr val="accent1"/>
                </a:solidFill>
                <a:latin typeface="Arial" pitchFamily="34" charset="0"/>
                <a:ea typeface="Arial" pitchFamily="34" charset="-122"/>
                <a:cs typeface="Arial" pitchFamily="34" charset="-120"/>
              </a:rPr>
              <a:t>محولات الشحن</a:t>
            </a:r>
            <a:endParaRPr lang="ar-AE" sz="1400" dirty="0"/>
          </a:p>
        </p:txBody>
      </p:sp>
      <p:sp>
        <p:nvSpPr>
          <p:cNvPr id="24" name="Business tile 4"/>
          <p:cNvSpPr/>
          <p:nvPr/>
        </p:nvSpPr>
        <p:spPr>
          <a:xfrm>
            <a:off x="640080" y="3959352"/>
            <a:ext cx="3456432" cy="2011680"/>
          </a:xfrm>
          <a:prstGeom prst="roundRect">
            <a:avLst>
              <a:gd name="adj" fmla="val 4545"/>
            </a:avLst>
          </a:prstGeom>
          <a:solidFill>
            <a:schemeClr val="bg2"/>
          </a:solidFill>
          <a:ln/>
        </p:spPr>
      </p:sp>
      <p:sp>
        <p:nvSpPr>
          <p:cNvPr id="25" name="Business icon 4 circle"/>
          <p:cNvSpPr/>
          <p:nvPr/>
        </p:nvSpPr>
        <p:spPr>
          <a:xfrm>
            <a:off x="914400" y="4215384"/>
            <a:ext cx="731520" cy="731520"/>
          </a:xfrm>
          <a:prstGeom prst="ellipse">
            <a:avLst/>
          </a:prstGeom>
          <a:solidFill>
            <a:schemeClr val="accent6"/>
          </a:solidFill>
          <a:ln/>
        </p:spPr>
      </p:sp>
      <p:pic>
        <p:nvPicPr>
          <p:cNvPr id="26" name="Business icon 4" descr="icon">    </p:cNvPr>
          <p:cNvPicPr>
            <a:picLocks noChangeAspect="1"/>
          </p:cNvPicPr>
          <p:nvPr/>
        </p:nvPicPr>
        <p:blipFill>
          <a:blip r:embed="rId4"/>
          <a:stretch>
            <a:fillRect/>
          </a:stretch>
        </p:blipFill>
        <p:spPr>
          <a:xfrm>
            <a:off x="1089965" y="4390949"/>
            <a:ext cx="380390" cy="380390"/>
          </a:xfrm>
          <a:prstGeom prst="rect">
            <a:avLst/>
          </a:prstGeom>
        </p:spPr>
      </p:pic>
      <p:sp>
        <p:nvSpPr>
          <p:cNvPr id="27" name="Text 21"/>
          <p:cNvSpPr txBox="1"/>
          <p:nvPr/>
        </p:nvSpPr>
        <p:spPr>
          <a:xfrm>
            <a:off x="2907792" y="4215384"/>
            <a:ext cx="914400" cy="365760"/>
          </a:xfrm>
          <a:prstGeom prst="rect">
            <a:avLst/>
          </a:prstGeom>
          <a:noFill/>
          <a:ln/>
        </p:spPr>
        <p:txBody>
          <a:bodyPr wrap="square" lIns="0" tIns="0" rIns="0" bIns="0" rtlCol="0" anchor="t"/>
          <a:lstStyle/>
          <a:p>
            <a:pPr algn="r" indent="0" marL="0">
              <a:buNone/>
            </a:pPr>
            <a:r>
              <a:rPr lang="en-US" sz="2000" dirty="0">
                <a:solidFill>
                  <a:schemeClr val="accent3"/>
                </a:solidFill>
                <a:latin typeface="Arial" pitchFamily="34" charset="0"/>
                <a:ea typeface="Arial" pitchFamily="34" charset="-122"/>
                <a:cs typeface="Arial" pitchFamily="34" charset="-120"/>
              </a:rPr>
              <a:t>04</a:t>
            </a:r>
            <a:endParaRPr lang="en-US" sz="2000" dirty="0"/>
          </a:p>
        </p:txBody>
      </p:sp>
      <p:sp>
        <p:nvSpPr>
          <p:cNvPr id="28" name="Text 22"/>
          <p:cNvSpPr txBox="1"/>
          <p:nvPr/>
        </p:nvSpPr>
        <p:spPr>
          <a:xfrm>
            <a:off x="914400" y="5193792"/>
            <a:ext cx="2907792" cy="274320"/>
          </a:xfrm>
          <a:prstGeom prst="rect">
            <a:avLst/>
          </a:prstGeom>
          <a:noFill/>
          <a:ln/>
        </p:spPr>
        <p:txBody>
          <a:bodyPr wrap="squar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EV Charger Installation</a:t>
            </a:r>
            <a:endParaRPr lang="en-US" sz="1500" dirty="0"/>
          </a:p>
        </p:txBody>
      </p:sp>
      <p:sp>
        <p:nvSpPr>
          <p:cNvPr id="29" name="Text 23"/>
          <p:cNvSpPr txBox="1"/>
          <p:nvPr/>
        </p:nvSpPr>
        <p:spPr>
          <a:xfrm>
            <a:off x="914400" y="5532120"/>
            <a:ext cx="2907792" cy="274320"/>
          </a:xfrm>
          <a:prstGeom prst="rect">
            <a:avLst/>
          </a:prstGeom>
          <a:noFill/>
          <a:ln/>
        </p:spPr>
        <p:txBody>
          <a:bodyPr wrap="square" lIns="0" tIns="0" rIns="0" bIns="0" rtlCol="0" anchor="t"/>
          <a:lstStyle/>
          <a:p>
            <a:pPr rtl="1" algn="r" indent="0" marL="0">
              <a:buNone/>
            </a:pPr>
            <a:r>
              <a:rPr lang="ar-AE" altLang="en-US" sz="1400" b="1" dirty="0">
                <a:solidFill>
                  <a:schemeClr val="accent1"/>
                </a:solidFill>
                <a:latin typeface="Arial" pitchFamily="34" charset="0"/>
                <a:ea typeface="Arial" pitchFamily="34" charset="-122"/>
                <a:cs typeface="Arial" pitchFamily="34" charset="-120"/>
              </a:rPr>
              <a:t>تركيب شواحن السيارات الكهربائية</a:t>
            </a:r>
            <a:endParaRPr lang="ar-AE" sz="1400" dirty="0"/>
          </a:p>
        </p:txBody>
      </p:sp>
      <p:sp>
        <p:nvSpPr>
          <p:cNvPr id="30" name="Business tile 5"/>
          <p:cNvSpPr/>
          <p:nvPr/>
        </p:nvSpPr>
        <p:spPr>
          <a:xfrm>
            <a:off x="4366260" y="3959352"/>
            <a:ext cx="3456432" cy="2011680"/>
          </a:xfrm>
          <a:prstGeom prst="roundRect">
            <a:avLst>
              <a:gd name="adj" fmla="val 4545"/>
            </a:avLst>
          </a:prstGeom>
          <a:solidFill>
            <a:schemeClr val="bg2"/>
          </a:solidFill>
          <a:ln/>
        </p:spPr>
      </p:sp>
      <p:sp>
        <p:nvSpPr>
          <p:cNvPr id="31" name="Business icon 5 circle"/>
          <p:cNvSpPr/>
          <p:nvPr/>
        </p:nvSpPr>
        <p:spPr>
          <a:xfrm>
            <a:off x="4640580" y="4215384"/>
            <a:ext cx="731520" cy="731520"/>
          </a:xfrm>
          <a:prstGeom prst="ellipse">
            <a:avLst/>
          </a:prstGeom>
          <a:solidFill>
            <a:schemeClr val="accent6"/>
          </a:solidFill>
          <a:ln/>
        </p:spPr>
      </p:sp>
      <p:pic>
        <p:nvPicPr>
          <p:cNvPr id="32" name="Business icon 5" descr="icon">    </p:cNvPr>
          <p:cNvPicPr>
            <a:picLocks noChangeAspect="1"/>
          </p:cNvPicPr>
          <p:nvPr/>
        </p:nvPicPr>
        <p:blipFill>
          <a:blip r:embed="rId5"/>
          <a:stretch>
            <a:fillRect/>
          </a:stretch>
        </p:blipFill>
        <p:spPr>
          <a:xfrm>
            <a:off x="4816145" y="4390949"/>
            <a:ext cx="380390" cy="380390"/>
          </a:xfrm>
          <a:prstGeom prst="rect">
            <a:avLst/>
          </a:prstGeom>
        </p:spPr>
      </p:pic>
      <p:sp>
        <p:nvSpPr>
          <p:cNvPr id="33" name="Text 26"/>
          <p:cNvSpPr txBox="1"/>
          <p:nvPr/>
        </p:nvSpPr>
        <p:spPr>
          <a:xfrm>
            <a:off x="6633972" y="4215384"/>
            <a:ext cx="914400" cy="365760"/>
          </a:xfrm>
          <a:prstGeom prst="rect">
            <a:avLst/>
          </a:prstGeom>
          <a:noFill/>
          <a:ln/>
        </p:spPr>
        <p:txBody>
          <a:bodyPr wrap="square" lIns="0" tIns="0" rIns="0" bIns="0" rtlCol="0" anchor="t"/>
          <a:lstStyle/>
          <a:p>
            <a:pPr algn="r" indent="0" marL="0">
              <a:buNone/>
            </a:pPr>
            <a:r>
              <a:rPr lang="en-US" sz="2000" dirty="0">
                <a:solidFill>
                  <a:schemeClr val="accent3"/>
                </a:solidFill>
                <a:latin typeface="Arial" pitchFamily="34" charset="0"/>
                <a:ea typeface="Arial" pitchFamily="34" charset="-122"/>
                <a:cs typeface="Arial" pitchFamily="34" charset="-120"/>
              </a:rPr>
              <a:t>05</a:t>
            </a:r>
            <a:endParaRPr lang="en-US" sz="2000" dirty="0"/>
          </a:p>
        </p:txBody>
      </p:sp>
      <p:sp>
        <p:nvSpPr>
          <p:cNvPr id="34" name="Text 27"/>
          <p:cNvSpPr txBox="1"/>
          <p:nvPr/>
        </p:nvSpPr>
        <p:spPr>
          <a:xfrm>
            <a:off x="4640580" y="5193792"/>
            <a:ext cx="2907792" cy="274320"/>
          </a:xfrm>
          <a:prstGeom prst="rect">
            <a:avLst/>
          </a:prstGeom>
          <a:noFill/>
          <a:ln/>
        </p:spPr>
        <p:txBody>
          <a:bodyPr wrap="squar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Accessory Sales &amp; Installation</a:t>
            </a:r>
            <a:endParaRPr lang="en-US" sz="1500" dirty="0"/>
          </a:p>
        </p:txBody>
      </p:sp>
      <p:sp>
        <p:nvSpPr>
          <p:cNvPr id="35" name="Text 28"/>
          <p:cNvSpPr txBox="1"/>
          <p:nvPr/>
        </p:nvSpPr>
        <p:spPr>
          <a:xfrm>
            <a:off x="4640580" y="5532120"/>
            <a:ext cx="2907792" cy="274320"/>
          </a:xfrm>
          <a:prstGeom prst="rect">
            <a:avLst/>
          </a:prstGeom>
          <a:noFill/>
          <a:ln/>
        </p:spPr>
        <p:txBody>
          <a:bodyPr wrap="square" lIns="0" tIns="0" rIns="0" bIns="0" rtlCol="0" anchor="t"/>
          <a:lstStyle/>
          <a:p>
            <a:pPr rtl="1" algn="r" indent="0" marL="0">
              <a:buNone/>
            </a:pPr>
            <a:r>
              <a:rPr lang="ar-AE" altLang="en-US" sz="1400" b="1" dirty="0">
                <a:solidFill>
                  <a:schemeClr val="accent1"/>
                </a:solidFill>
                <a:latin typeface="Arial" pitchFamily="34" charset="0"/>
                <a:ea typeface="Arial" pitchFamily="34" charset="-122"/>
                <a:cs typeface="Arial" pitchFamily="34" charset="-120"/>
              </a:rPr>
              <a:t>بيع وتركيب الإكسسوارات</a:t>
            </a:r>
            <a:endParaRPr lang="ar-AE" sz="1400" dirty="0"/>
          </a:p>
        </p:txBody>
      </p:sp>
      <p:sp>
        <p:nvSpPr>
          <p:cNvPr id="36" name="Business tile 6"/>
          <p:cNvSpPr/>
          <p:nvPr/>
        </p:nvSpPr>
        <p:spPr>
          <a:xfrm>
            <a:off x="8092440" y="3959352"/>
            <a:ext cx="3456432" cy="2011680"/>
          </a:xfrm>
          <a:prstGeom prst="roundRect">
            <a:avLst>
              <a:gd name="adj" fmla="val 4545"/>
            </a:avLst>
          </a:prstGeom>
          <a:solidFill>
            <a:schemeClr val="bg2"/>
          </a:solidFill>
          <a:ln/>
        </p:spPr>
      </p:sp>
      <p:sp>
        <p:nvSpPr>
          <p:cNvPr id="37" name="Business icon 6 circle"/>
          <p:cNvSpPr/>
          <p:nvPr/>
        </p:nvSpPr>
        <p:spPr>
          <a:xfrm>
            <a:off x="8366760" y="4215384"/>
            <a:ext cx="731520" cy="731520"/>
          </a:xfrm>
          <a:prstGeom prst="ellipse">
            <a:avLst/>
          </a:prstGeom>
          <a:solidFill>
            <a:schemeClr val="accent6"/>
          </a:solidFill>
          <a:ln/>
        </p:spPr>
      </p:sp>
      <p:pic>
        <p:nvPicPr>
          <p:cNvPr id="38" name="Business icon 6" descr="icon">    </p:cNvPr>
          <p:cNvPicPr>
            <a:picLocks noChangeAspect="1"/>
          </p:cNvPicPr>
          <p:nvPr/>
        </p:nvPicPr>
        <p:blipFill>
          <a:blip r:embed="rId6"/>
          <a:stretch>
            <a:fillRect/>
          </a:stretch>
        </p:blipFill>
        <p:spPr>
          <a:xfrm>
            <a:off x="8542325" y="4390949"/>
            <a:ext cx="380390" cy="380390"/>
          </a:xfrm>
          <a:prstGeom prst="rect">
            <a:avLst/>
          </a:prstGeom>
        </p:spPr>
      </p:pic>
      <p:sp>
        <p:nvSpPr>
          <p:cNvPr id="39" name="Text 31"/>
          <p:cNvSpPr txBox="1"/>
          <p:nvPr/>
        </p:nvSpPr>
        <p:spPr>
          <a:xfrm>
            <a:off x="10360152" y="4215384"/>
            <a:ext cx="914400" cy="365760"/>
          </a:xfrm>
          <a:prstGeom prst="rect">
            <a:avLst/>
          </a:prstGeom>
          <a:noFill/>
          <a:ln/>
        </p:spPr>
        <p:txBody>
          <a:bodyPr wrap="square" lIns="0" tIns="0" rIns="0" bIns="0" rtlCol="0" anchor="t"/>
          <a:lstStyle/>
          <a:p>
            <a:pPr algn="r" indent="0" marL="0">
              <a:buNone/>
            </a:pPr>
            <a:r>
              <a:rPr lang="en-US" sz="2000" dirty="0">
                <a:solidFill>
                  <a:schemeClr val="accent3"/>
                </a:solidFill>
                <a:latin typeface="Arial" pitchFamily="34" charset="0"/>
                <a:ea typeface="Arial" pitchFamily="34" charset="-122"/>
                <a:cs typeface="Arial" pitchFamily="34" charset="-120"/>
              </a:rPr>
              <a:t>06</a:t>
            </a:r>
            <a:endParaRPr lang="en-US" sz="2000" dirty="0"/>
          </a:p>
        </p:txBody>
      </p:sp>
      <p:sp>
        <p:nvSpPr>
          <p:cNvPr id="40" name="Text 32"/>
          <p:cNvSpPr txBox="1"/>
          <p:nvPr/>
        </p:nvSpPr>
        <p:spPr>
          <a:xfrm>
            <a:off x="8366760" y="5193792"/>
            <a:ext cx="2907792" cy="274320"/>
          </a:xfrm>
          <a:prstGeom prst="rect">
            <a:avLst/>
          </a:prstGeom>
          <a:noFill/>
          <a:ln/>
        </p:spPr>
        <p:txBody>
          <a:bodyPr wrap="squar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Tesla Air-Conditioning Care</a:t>
            </a:r>
            <a:endParaRPr lang="en-US" sz="1500" dirty="0"/>
          </a:p>
        </p:txBody>
      </p:sp>
      <p:sp>
        <p:nvSpPr>
          <p:cNvPr id="41" name="Text 33"/>
          <p:cNvSpPr txBox="1"/>
          <p:nvPr/>
        </p:nvSpPr>
        <p:spPr>
          <a:xfrm>
            <a:off x="8366760" y="5532120"/>
            <a:ext cx="2907792" cy="274320"/>
          </a:xfrm>
          <a:prstGeom prst="rect">
            <a:avLst/>
          </a:prstGeom>
          <a:noFill/>
          <a:ln/>
        </p:spPr>
        <p:txBody>
          <a:bodyPr wrap="square" lIns="0" tIns="0" rIns="0" bIns="0" rtlCol="0" anchor="t"/>
          <a:lstStyle/>
          <a:p>
            <a:pPr rtl="1" algn="r" indent="0" marL="0">
              <a:buNone/>
            </a:pPr>
            <a:r>
              <a:rPr lang="ar-AE" altLang="en-US" sz="1400" b="1" dirty="0">
                <a:solidFill>
                  <a:schemeClr val="accent1"/>
                </a:solidFill>
                <a:latin typeface="Arial" pitchFamily="34" charset="0"/>
                <a:ea typeface="Arial" pitchFamily="34" charset="-122"/>
                <a:cs typeface="Arial" pitchFamily="34" charset="-120"/>
              </a:rPr>
              <a:t>خدمات تكييف سيارات تسلا</a:t>
            </a:r>
            <a:endParaRPr lang="ar-AE" sz="1400" dirty="0"/>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A75"/>
                </a:solidFill>
                <a:latin typeface="Arial"/>
                <a:ea typeface="Arial"/>
                <a:cs typeface="Arial"/>
              </a:defRPr>
            </a:lvl1pPr>
          </a:lstStyle>
          <a:p>
            <a:pPr algn="r"/>
            <a:fld id="{F7021451-1387-4CA6-816F-3879F97B5CBC}" type="slidenum">
              <a:rPr b="0" lang="en-US"/>
              <a:t>8</a:t>
            </a:fld>
            <a:endParaRPr lang="en-US"/>
          </a:p>
        </p:txBody>
      </p:sp>
      <p:sp>
        <p:nvSpPr>
          <p:cNvPr id="42" name="Back to contents" descr="Back to contents">
            <a:hlinkClick r:id="rId9" action="ppaction://hlinksldjump" tooltip="Back to Contents / العودة إلى المحتويات"/>
          </p:cNvPr>
          <p:cNvSpPr/>
          <p:nvPr/>
        </p:nvSpPr>
        <p:spPr>
          <a:xfrm>
            <a:off x="8838000" y="6283000"/>
            <a:ext cx="1850000" cy="300000"/>
          </a:xfrm>
          <a:prstGeom prst="roundRect">
            <a:avLst>
              <a:gd name="adj" fmla="val 50000"/>
            </a:avLst>
          </a:prstGeom>
          <a:noFill/>
          <a:ln w="9525">
            <a:solidFill>
              <a:schemeClr val="accent1"/>
            </a:solidFill>
          </a:ln>
        </p:spPr>
        <p:txBody>
          <a:bodyPr wrap="none" lIns="0" tIns="0" rIns="0" bIns="0" rtlCol="0" anchor="ctr"/>
          <a:lstStyle/>
          <a:p>
            <a:pPr algn="ctr"/>
            <a:r>
              <a:rPr lang="en-US" sz="900" b="1" spc="120" dirty="0">
                <a:solidFill>
                  <a:schemeClr val="accent1"/>
                </a:solidFill>
                <a:latin typeface="Arial"/>
                <a:cs typeface="Arial"/>
              </a:rPr>
              <a:t>CONTENTS  ·  </a:t>
            </a:r>
            <a:r>
              <a:rPr lang="ar-AE" sz="900" b="1" dirty="0">
                <a:solidFill>
                  <a:schemeClr val="accent1"/>
                </a:solidFill>
                <a:latin typeface="Arial"/>
                <a:cs typeface="Arial"/>
              </a:rPr>
              <a:t>المحتويات</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Accessories panel" descr="Electric vehicle illustration on dark panel">    </p:cNvPr>
          <p:cNvPicPr>
            <a:picLocks noChangeAspect="1"/>
          </p:cNvPicPr>
          <p:nvPr/>
        </p:nvPicPr>
        <p:blipFill>
          <a:blip r:embed="rId1"/>
          <a:stretch>
            <a:fillRect/>
          </a:stretch>
        </p:blipFill>
        <p:spPr>
          <a:xfrm>
            <a:off x="640080" y="1691640"/>
            <a:ext cx="4023360" cy="4389120"/>
          </a:xfrm>
          <a:prstGeom prst="rect">
            <a:avLst/>
          </a:prstGeom>
        </p:spPr>
      </p:pic>
      <p:sp>
        <p:nvSpPr>
          <p:cNvPr id="3" name="Text 0"/>
          <p:cNvSpPr txBox="1"/>
          <p:nvPr/>
        </p:nvSpPr>
        <p:spPr>
          <a:xfrm>
            <a:off x="1005840" y="1920240"/>
            <a:ext cx="2286000" cy="914400"/>
          </a:xfrm>
          <a:prstGeom prst="rect">
            <a:avLst/>
          </a:prstGeom>
          <a:noFill/>
          <a:ln/>
        </p:spPr>
        <p:txBody>
          <a:bodyPr wrap="square" lIns="0" tIns="0" rIns="0" bIns="0" rtlCol="0" anchor="t"/>
          <a:lstStyle/>
          <a:p>
            <a:pPr algn="l" indent="0" marL="0">
              <a:buNone/>
            </a:pPr>
            <a:r>
              <a:rPr lang="en-US" sz="6400" dirty="0">
                <a:solidFill>
                  <a:schemeClr val="accent2"/>
                </a:solidFill>
                <a:latin typeface="Arial" pitchFamily="34" charset="0"/>
                <a:ea typeface="Arial" pitchFamily="34" charset="-122"/>
                <a:cs typeface="Arial" pitchFamily="34" charset="-120"/>
              </a:rPr>
              <a:t>8</a:t>
            </a:r>
            <a:endParaRPr lang="en-US" sz="6400" dirty="0"/>
          </a:p>
        </p:txBody>
      </p:sp>
      <p:sp>
        <p:nvSpPr>
          <p:cNvPr id="4" name="Text 1"/>
          <p:cNvSpPr txBox="1"/>
          <p:nvPr/>
        </p:nvSpPr>
        <p:spPr>
          <a:xfrm>
            <a:off x="1005840" y="2926080"/>
            <a:ext cx="3291840" cy="274320"/>
          </a:xfrm>
          <a:prstGeom prst="rect">
            <a:avLst/>
          </a:prstGeom>
          <a:noFill/>
          <a:ln/>
        </p:spPr>
        <p:txBody>
          <a:bodyPr wrap="square" lIns="0" tIns="0" rIns="0" bIns="0" rtlCol="0" anchor="t"/>
          <a:lstStyle/>
          <a:p>
            <a:pPr algn="l" indent="0" marL="0">
              <a:buNone/>
            </a:pPr>
            <a:r>
              <a:rPr lang="en-US" sz="1300" b="1" dirty="0">
                <a:solidFill>
                  <a:schemeClr val="bg1"/>
                </a:solidFill>
                <a:latin typeface="Arial" pitchFamily="34" charset="0"/>
                <a:ea typeface="Arial" pitchFamily="34" charset="-122"/>
                <a:cs typeface="Arial" pitchFamily="34" charset="-120"/>
              </a:rPr>
              <a:t>Product categories</a:t>
            </a:r>
            <a:endParaRPr lang="en-US" sz="1300" dirty="0"/>
          </a:p>
        </p:txBody>
      </p:sp>
      <p:sp>
        <p:nvSpPr>
          <p:cNvPr id="5" name="Text 2"/>
          <p:cNvSpPr txBox="1"/>
          <p:nvPr/>
        </p:nvSpPr>
        <p:spPr>
          <a:xfrm>
            <a:off x="1005840" y="3246120"/>
            <a:ext cx="3291840" cy="274320"/>
          </a:xfrm>
          <a:prstGeom prst="rect">
            <a:avLst/>
          </a:prstGeom>
          <a:noFill/>
          <a:ln/>
        </p:spPr>
        <p:txBody>
          <a:bodyPr wrap="square" lIns="0" tIns="0" rIns="0" bIns="0" rtlCol="0" anchor="t"/>
          <a:lstStyle/>
          <a:p>
            <a:pPr rtl="1" algn="r" indent="0" marL="0">
              <a:buNone/>
            </a:pPr>
            <a:r>
              <a:rPr lang="ar-AE" altLang="en-US" sz="1300" dirty="0">
                <a:solidFill>
                  <a:schemeClr val="accent5"/>
                </a:solidFill>
                <a:latin typeface="Arial" pitchFamily="34" charset="0"/>
                <a:ea typeface="Arial" pitchFamily="34" charset="-122"/>
                <a:cs typeface="Arial" pitchFamily="34" charset="-120"/>
              </a:rPr>
              <a:t>فئات المنتجات</a:t>
            </a:r>
            <a:endParaRPr lang="ar-AE" sz="1300" dirty="0"/>
          </a:p>
        </p:txBody>
      </p:sp>
      <p:sp>
        <p:nvSpPr>
          <p:cNvPr id="6" name="Text 3"/>
          <p:cNvSpPr txBox="1"/>
          <p:nvPr/>
        </p:nvSpPr>
        <p:spPr>
          <a:xfrm>
            <a:off x="5029200" y="411480"/>
            <a:ext cx="3657600" cy="228600"/>
          </a:xfrm>
          <a:prstGeom prst="rect">
            <a:avLst/>
          </a:prstGeom>
          <a:noFill/>
          <a:ln/>
        </p:spPr>
        <p:txBody>
          <a:bodyPr wrap="square" lIns="0" tIns="0" rIns="0" bIns="0" rtlCol="0" anchor="t"/>
          <a:lstStyle/>
          <a:p>
            <a:pPr algn="l" indent="0" marL="0">
              <a:buNone/>
            </a:pPr>
            <a:r>
              <a:rPr lang="en-US" sz="1000" b="1" spc="300" kern="0" dirty="0">
                <a:solidFill>
                  <a:schemeClr val="accent1"/>
                </a:solidFill>
                <a:latin typeface="Arial" pitchFamily="34" charset="0"/>
                <a:ea typeface="Arial" pitchFamily="34" charset="-122"/>
                <a:cs typeface="Arial" pitchFamily="34" charset="-120"/>
              </a:rPr>
              <a:t>02   ·   WHAT WE DO</a:t>
            </a:r>
            <a:endParaRPr lang="en-US" sz="1000" dirty="0"/>
          </a:p>
        </p:txBody>
      </p:sp>
      <p:sp>
        <p:nvSpPr>
          <p:cNvPr id="7" name="Text 4"/>
          <p:cNvSpPr txBox="1"/>
          <p:nvPr/>
        </p:nvSpPr>
        <p:spPr>
          <a:xfrm>
            <a:off x="8808415" y="411480"/>
            <a:ext cx="2743200" cy="228600"/>
          </a:xfrm>
          <a:prstGeom prst="rect">
            <a:avLst/>
          </a:prstGeom>
          <a:noFill/>
          <a:ln/>
        </p:spPr>
        <p:txBody>
          <a:bodyPr wrap="square" lIns="0" tIns="0" rIns="0" bIns="0" rtlCol="0" anchor="t"/>
          <a:lstStyle/>
          <a:p>
            <a:pPr rtl="1" algn="r" indent="0" marL="0">
              <a:buNone/>
            </a:pPr>
            <a:r>
              <a:rPr lang="ar-AE" altLang="en-US" sz="1100" b="1" dirty="0">
                <a:solidFill>
                  <a:schemeClr val="accent1"/>
                </a:solidFill>
                <a:latin typeface="Arial" pitchFamily="34" charset="0"/>
                <a:ea typeface="Arial" pitchFamily="34" charset="-122"/>
                <a:cs typeface="Arial" pitchFamily="34" charset="-120"/>
              </a:rPr>
              <a:t>ماذا نقدم   ·   02</a:t>
            </a:r>
            <a:endParaRPr lang="ar-AE" sz="1100" dirty="0"/>
          </a:p>
        </p:txBody>
      </p:sp>
      <p:sp>
        <p:nvSpPr>
          <p:cNvPr id="8" name="Text 5"/>
          <p:cNvSpPr txBox="1"/>
          <p:nvPr/>
        </p:nvSpPr>
        <p:spPr>
          <a:xfrm>
            <a:off x="5029200" y="713232"/>
            <a:ext cx="3108960" cy="685800"/>
          </a:xfrm>
          <a:prstGeom prst="rect">
            <a:avLst/>
          </a:prstGeom>
          <a:noFill/>
          <a:ln/>
        </p:spPr>
        <p:txBody>
          <a:bodyPr wrap="square" lIns="0" tIns="0" rIns="0" bIns="0" rtlCol="0" anchor="t"/>
          <a:lstStyle/>
          <a:p>
            <a:pPr algn="l" indent="0" marL="0">
              <a:buNone/>
            </a:pPr>
            <a:r>
              <a:rPr lang="en-US" sz="3000" dirty="0">
                <a:solidFill>
                  <a:schemeClr val="tx1"/>
                </a:solidFill>
                <a:latin typeface="Arial" pitchFamily="34" charset="0"/>
                <a:ea typeface="Arial" pitchFamily="34" charset="-122"/>
                <a:cs typeface="Arial" pitchFamily="34" charset="-120"/>
              </a:rPr>
              <a:t>EV Accessories</a:t>
            </a:r>
            <a:endParaRPr lang="en-US" sz="3000" dirty="0"/>
          </a:p>
        </p:txBody>
      </p:sp>
      <p:sp>
        <p:nvSpPr>
          <p:cNvPr id="9" name="Text 6"/>
          <p:cNvSpPr txBox="1"/>
          <p:nvPr/>
        </p:nvSpPr>
        <p:spPr>
          <a:xfrm>
            <a:off x="7010400" y="713232"/>
            <a:ext cx="4541215" cy="685800"/>
          </a:xfrm>
          <a:prstGeom prst="rect">
            <a:avLst/>
          </a:prstGeom>
          <a:noFill/>
          <a:ln/>
        </p:spPr>
        <p:txBody>
          <a:bodyPr wrap="square" lIns="0" tIns="0" rIns="0" bIns="0" rtlCol="0" anchor="t"/>
          <a:lstStyle/>
          <a:p>
            <a:pPr rtl="1" algn="r" indent="0" marL="0">
              <a:buNone/>
            </a:pPr>
            <a:r>
              <a:rPr lang="ar-AE" altLang="en-US" sz="2000" dirty="0">
                <a:solidFill>
                  <a:schemeClr val="tx1"/>
                </a:solidFill>
                <a:latin typeface="Arial" pitchFamily="34" charset="0"/>
                <a:ea typeface="Arial" pitchFamily="34" charset="-122"/>
                <a:cs typeface="Arial" pitchFamily="34" charset="-120"/>
              </a:rPr>
              <a:t>إكسسوارات السيارات الكهربائية</a:t>
            </a:r>
            <a:endParaRPr lang="ar-AE" sz="2000" dirty="0"/>
          </a:p>
        </p:txBody>
      </p:sp>
      <p:sp>
        <p:nvSpPr>
          <p:cNvPr id="10" name="Text 7"/>
          <p:cNvSpPr txBox="1"/>
          <p:nvPr/>
        </p:nvSpPr>
        <p:spPr>
          <a:xfrm>
            <a:off x="5029200" y="1371600"/>
            <a:ext cx="3200400" cy="457200"/>
          </a:xfrm>
          <a:prstGeom prst="rect">
            <a:avLst/>
          </a:prstGeom>
          <a:noFill/>
          <a:ln/>
        </p:spPr>
        <p:txBody>
          <a:bodyPr wrap="square" lIns="0" tIns="0" rIns="0" bIns="0" rtlCol="0" anchor="t"/>
          <a:lstStyle/>
          <a:p>
            <a:pPr algn="l" indent="0" marL="0">
              <a:buNone/>
            </a:pPr>
            <a:r>
              <a:rPr lang="en-US" sz="1150" dirty="0">
                <a:solidFill>
                  <a:schemeClr val="accent3"/>
                </a:solidFill>
                <a:latin typeface="Arial" pitchFamily="34" charset="0"/>
                <a:ea typeface="Arial" pitchFamily="34" charset="-122"/>
                <a:cs typeface="Arial" pitchFamily="34" charset="-120"/>
              </a:rPr>
              <a:t>Specialized accessories across multiple categories for electric vehicle owners.</a:t>
            </a:r>
            <a:endParaRPr lang="en-US" sz="1150" dirty="0"/>
          </a:p>
        </p:txBody>
      </p:sp>
      <p:sp>
        <p:nvSpPr>
          <p:cNvPr id="11" name="Text 8"/>
          <p:cNvSpPr txBox="1"/>
          <p:nvPr/>
        </p:nvSpPr>
        <p:spPr>
          <a:xfrm>
            <a:off x="8321040" y="1371600"/>
            <a:ext cx="3227832" cy="457200"/>
          </a:xfrm>
          <a:prstGeom prst="rect">
            <a:avLst/>
          </a:prstGeom>
          <a:noFill/>
          <a:ln/>
        </p:spPr>
        <p:txBody>
          <a:bodyPr wrap="square" lIns="0" tIns="0" rIns="0" bIns="0" rtlCol="0" anchor="t"/>
          <a:lstStyle/>
          <a:p>
            <a:pPr rtl="1" algn="r" indent="0" marL="0">
              <a:buNone/>
            </a:pPr>
            <a:r>
              <a:rPr lang="ar-AE" altLang="en-US" sz="1150" dirty="0">
                <a:solidFill>
                  <a:schemeClr val="accent3"/>
                </a:solidFill>
                <a:latin typeface="Arial" pitchFamily="34" charset="0"/>
                <a:ea typeface="Arial" pitchFamily="34" charset="-122"/>
                <a:cs typeface="Arial" pitchFamily="34" charset="-120"/>
              </a:rPr>
              <a:t>منتجات متخصصة لملاك السيارات الكهربائية، تشمل فئات متعددة من الإكسسوارات.</a:t>
            </a:r>
            <a:endParaRPr lang="ar-AE" sz="1150" dirty="0"/>
          </a:p>
        </p:txBody>
      </p:sp>
      <p:sp>
        <p:nvSpPr>
          <p:cNvPr id="12" name="Category row 1"/>
          <p:cNvSpPr/>
          <p:nvPr/>
        </p:nvSpPr>
        <p:spPr>
          <a:xfrm>
            <a:off x="5029200" y="2011680"/>
            <a:ext cx="6522415" cy="448056"/>
          </a:xfrm>
          <a:prstGeom prst="roundRect">
            <a:avLst>
              <a:gd name="adj" fmla="val 14286"/>
            </a:avLst>
          </a:prstGeom>
          <a:solidFill>
            <a:schemeClr val="bg2"/>
          </a:solidFill>
          <a:ln/>
        </p:spPr>
      </p:sp>
      <p:pic>
        <p:nvPicPr>
          <p:cNvPr id="13" name="Category icon 1" descr="icon">    </p:cNvPr>
          <p:cNvPicPr>
            <a:picLocks noChangeAspect="1"/>
          </p:cNvPicPr>
          <p:nvPr/>
        </p:nvPicPr>
        <p:blipFill>
          <a:blip r:embed="rId2"/>
          <a:stretch>
            <a:fillRect/>
          </a:stretch>
        </p:blipFill>
        <p:spPr>
          <a:xfrm>
            <a:off x="5166360" y="2093976"/>
            <a:ext cx="283464" cy="283464"/>
          </a:xfrm>
          <a:prstGeom prst="rect">
            <a:avLst/>
          </a:prstGeom>
        </p:spPr>
      </p:pic>
      <p:sp>
        <p:nvSpPr>
          <p:cNvPr id="14" name="Text 10"/>
          <p:cNvSpPr txBox="1"/>
          <p:nvPr/>
        </p:nvSpPr>
        <p:spPr>
          <a:xfrm>
            <a:off x="5623560" y="2084832"/>
            <a:ext cx="3246120" cy="301752"/>
          </a:xfrm>
          <a:prstGeom prst="rect">
            <a:avLst/>
          </a:prstGeom>
          <a:noFill/>
          <a:ln/>
        </p:spPr>
        <p:txBody>
          <a:bodyPr wrap="square" lIns="0" tIns="0" rIns="0" bIns="0" rtlCol="0" anchor="ctr"/>
          <a:lstStyle/>
          <a:p>
            <a:pPr algn="l" indent="0" marL="0">
              <a:buNone/>
            </a:pPr>
            <a:r>
              <a:rPr lang="en-US" sz="1200" b="1" dirty="0">
                <a:solidFill>
                  <a:schemeClr val="tx1"/>
                </a:solidFill>
                <a:latin typeface="Arial" pitchFamily="34" charset="0"/>
                <a:ea typeface="Arial" pitchFamily="34" charset="-122"/>
                <a:cs typeface="Arial" pitchFamily="34" charset="-120"/>
              </a:rPr>
              <a:t>Interior Accessories</a:t>
            </a:r>
            <a:endParaRPr lang="en-US" sz="1200" dirty="0"/>
          </a:p>
        </p:txBody>
      </p:sp>
      <p:sp>
        <p:nvSpPr>
          <p:cNvPr id="15" name="Text 11"/>
          <p:cNvSpPr txBox="1"/>
          <p:nvPr/>
        </p:nvSpPr>
        <p:spPr>
          <a:xfrm>
            <a:off x="8854135" y="2084832"/>
            <a:ext cx="2514600" cy="301752"/>
          </a:xfrm>
          <a:prstGeom prst="rect">
            <a:avLst/>
          </a:prstGeom>
          <a:noFill/>
          <a:ln/>
        </p:spPr>
        <p:txBody>
          <a:bodyPr wrap="square" lIns="0" tIns="0" rIns="0" bIns="0" rtlCol="0" anchor="ctr"/>
          <a:lstStyle/>
          <a:p>
            <a:pPr rtl="1" algn="r" indent="0" marL="0">
              <a:buNone/>
            </a:pPr>
            <a:r>
              <a:rPr lang="ar-AE" altLang="en-US" sz="1200" dirty="0">
                <a:solidFill>
                  <a:schemeClr val="accent3"/>
                </a:solidFill>
                <a:latin typeface="Arial" pitchFamily="34" charset="0"/>
                <a:ea typeface="Arial" pitchFamily="34" charset="-122"/>
                <a:cs typeface="Arial" pitchFamily="34" charset="-120"/>
              </a:rPr>
              <a:t>الإكسسوارات الداخلية</a:t>
            </a:r>
            <a:endParaRPr lang="ar-AE" sz="1200" dirty="0"/>
          </a:p>
        </p:txBody>
      </p:sp>
      <p:sp>
        <p:nvSpPr>
          <p:cNvPr id="16" name="Category row 2"/>
          <p:cNvSpPr/>
          <p:nvPr/>
        </p:nvSpPr>
        <p:spPr>
          <a:xfrm>
            <a:off x="5029200" y="2519172"/>
            <a:ext cx="6522415" cy="448056"/>
          </a:xfrm>
          <a:prstGeom prst="roundRect">
            <a:avLst>
              <a:gd name="adj" fmla="val 14286"/>
            </a:avLst>
          </a:prstGeom>
          <a:solidFill>
            <a:schemeClr val="bg2"/>
          </a:solidFill>
          <a:ln/>
        </p:spPr>
      </p:sp>
      <p:pic>
        <p:nvPicPr>
          <p:cNvPr id="17" name="Category icon 2" descr="icon">    </p:cNvPr>
          <p:cNvPicPr>
            <a:picLocks noChangeAspect="1"/>
          </p:cNvPicPr>
          <p:nvPr/>
        </p:nvPicPr>
        <p:blipFill>
          <a:blip r:embed="rId3"/>
          <a:stretch>
            <a:fillRect/>
          </a:stretch>
        </p:blipFill>
        <p:spPr>
          <a:xfrm>
            <a:off x="5166360" y="2601468"/>
            <a:ext cx="283464" cy="283464"/>
          </a:xfrm>
          <a:prstGeom prst="rect">
            <a:avLst/>
          </a:prstGeom>
        </p:spPr>
      </p:pic>
      <p:sp>
        <p:nvSpPr>
          <p:cNvPr id="18" name="Text 13"/>
          <p:cNvSpPr txBox="1"/>
          <p:nvPr/>
        </p:nvSpPr>
        <p:spPr>
          <a:xfrm>
            <a:off x="5623560" y="2592324"/>
            <a:ext cx="3246120" cy="301752"/>
          </a:xfrm>
          <a:prstGeom prst="rect">
            <a:avLst/>
          </a:prstGeom>
          <a:noFill/>
          <a:ln/>
        </p:spPr>
        <p:txBody>
          <a:bodyPr wrap="square" lIns="0" tIns="0" rIns="0" bIns="0" rtlCol="0" anchor="ctr"/>
          <a:lstStyle/>
          <a:p>
            <a:pPr algn="l" indent="0" marL="0">
              <a:buNone/>
            </a:pPr>
            <a:r>
              <a:rPr lang="en-US" sz="1200" b="1" dirty="0">
                <a:solidFill>
                  <a:schemeClr val="tx1"/>
                </a:solidFill>
                <a:latin typeface="Arial" pitchFamily="34" charset="0"/>
                <a:ea typeface="Arial" pitchFamily="34" charset="-122"/>
                <a:cs typeface="Arial" pitchFamily="34" charset="-120"/>
              </a:rPr>
              <a:t>Exterior Accessories</a:t>
            </a:r>
            <a:endParaRPr lang="en-US" sz="1200" dirty="0"/>
          </a:p>
        </p:txBody>
      </p:sp>
      <p:sp>
        <p:nvSpPr>
          <p:cNvPr id="19" name="Text 14"/>
          <p:cNvSpPr txBox="1"/>
          <p:nvPr/>
        </p:nvSpPr>
        <p:spPr>
          <a:xfrm>
            <a:off x="8854135" y="2592324"/>
            <a:ext cx="2514600" cy="301752"/>
          </a:xfrm>
          <a:prstGeom prst="rect">
            <a:avLst/>
          </a:prstGeom>
          <a:noFill/>
          <a:ln/>
        </p:spPr>
        <p:txBody>
          <a:bodyPr wrap="square" lIns="0" tIns="0" rIns="0" bIns="0" rtlCol="0" anchor="ctr"/>
          <a:lstStyle/>
          <a:p>
            <a:pPr rtl="1" algn="r" indent="0" marL="0">
              <a:buNone/>
            </a:pPr>
            <a:r>
              <a:rPr lang="ar-AE" altLang="en-US" sz="1200" dirty="0">
                <a:solidFill>
                  <a:schemeClr val="accent3"/>
                </a:solidFill>
                <a:latin typeface="Arial" pitchFamily="34" charset="0"/>
                <a:ea typeface="Arial" pitchFamily="34" charset="-122"/>
                <a:cs typeface="Arial" pitchFamily="34" charset="-120"/>
              </a:rPr>
              <a:t>الإكسسوارات الخارجية</a:t>
            </a:r>
            <a:endParaRPr lang="ar-AE" sz="1200" dirty="0"/>
          </a:p>
        </p:txBody>
      </p:sp>
      <p:sp>
        <p:nvSpPr>
          <p:cNvPr id="20" name="Category row 3"/>
          <p:cNvSpPr/>
          <p:nvPr/>
        </p:nvSpPr>
        <p:spPr>
          <a:xfrm>
            <a:off x="5029200" y="3026664"/>
            <a:ext cx="6522415" cy="448056"/>
          </a:xfrm>
          <a:prstGeom prst="roundRect">
            <a:avLst>
              <a:gd name="adj" fmla="val 14286"/>
            </a:avLst>
          </a:prstGeom>
          <a:solidFill>
            <a:schemeClr val="bg2"/>
          </a:solidFill>
          <a:ln/>
        </p:spPr>
      </p:sp>
      <p:pic>
        <p:nvPicPr>
          <p:cNvPr id="21" name="Category icon 3" descr="icon">    </p:cNvPr>
          <p:cNvPicPr>
            <a:picLocks noChangeAspect="1"/>
          </p:cNvPicPr>
          <p:nvPr/>
        </p:nvPicPr>
        <p:blipFill>
          <a:blip r:embed="rId4"/>
          <a:stretch>
            <a:fillRect/>
          </a:stretch>
        </p:blipFill>
        <p:spPr>
          <a:xfrm>
            <a:off x="5166360" y="3108960"/>
            <a:ext cx="283464" cy="283464"/>
          </a:xfrm>
          <a:prstGeom prst="rect">
            <a:avLst/>
          </a:prstGeom>
        </p:spPr>
      </p:pic>
      <p:sp>
        <p:nvSpPr>
          <p:cNvPr id="22" name="Text 16"/>
          <p:cNvSpPr txBox="1"/>
          <p:nvPr/>
        </p:nvSpPr>
        <p:spPr>
          <a:xfrm>
            <a:off x="5623560" y="3099816"/>
            <a:ext cx="3246120" cy="301752"/>
          </a:xfrm>
          <a:prstGeom prst="rect">
            <a:avLst/>
          </a:prstGeom>
          <a:noFill/>
          <a:ln/>
        </p:spPr>
        <p:txBody>
          <a:bodyPr wrap="square" lIns="0" tIns="0" rIns="0" bIns="0" rtlCol="0" anchor="ctr"/>
          <a:lstStyle/>
          <a:p>
            <a:pPr algn="l" indent="0" marL="0">
              <a:buNone/>
            </a:pPr>
            <a:r>
              <a:rPr lang="en-US" sz="1200" b="1" dirty="0">
                <a:solidFill>
                  <a:schemeClr val="tx1"/>
                </a:solidFill>
                <a:latin typeface="Arial" pitchFamily="34" charset="0"/>
                <a:ea typeface="Arial" pitchFamily="34" charset="-122"/>
                <a:cs typeface="Arial" pitchFamily="34" charset="-120"/>
              </a:rPr>
              <a:t>Protection &amp; Organization</a:t>
            </a:r>
            <a:endParaRPr lang="en-US" sz="1200" dirty="0"/>
          </a:p>
        </p:txBody>
      </p:sp>
      <p:sp>
        <p:nvSpPr>
          <p:cNvPr id="23" name="Text 17"/>
          <p:cNvSpPr txBox="1"/>
          <p:nvPr/>
        </p:nvSpPr>
        <p:spPr>
          <a:xfrm>
            <a:off x="8854135" y="3099816"/>
            <a:ext cx="2514600" cy="301752"/>
          </a:xfrm>
          <a:prstGeom prst="rect">
            <a:avLst/>
          </a:prstGeom>
          <a:noFill/>
          <a:ln/>
        </p:spPr>
        <p:txBody>
          <a:bodyPr wrap="square" lIns="0" tIns="0" rIns="0" bIns="0" rtlCol="0" anchor="ctr"/>
          <a:lstStyle/>
          <a:p>
            <a:pPr rtl="1" algn="r" indent="0" marL="0">
              <a:buNone/>
            </a:pPr>
            <a:r>
              <a:rPr lang="ar-AE" altLang="en-US" sz="1200" dirty="0">
                <a:solidFill>
                  <a:schemeClr val="accent3"/>
                </a:solidFill>
                <a:latin typeface="Arial" pitchFamily="34" charset="0"/>
                <a:ea typeface="Arial" pitchFamily="34" charset="-122"/>
                <a:cs typeface="Arial" pitchFamily="34" charset="-120"/>
              </a:rPr>
              <a:t>الحماية والتنظيم</a:t>
            </a:r>
            <a:endParaRPr lang="ar-AE" sz="1200" dirty="0"/>
          </a:p>
        </p:txBody>
      </p:sp>
      <p:sp>
        <p:nvSpPr>
          <p:cNvPr id="24" name="Category row 4"/>
          <p:cNvSpPr/>
          <p:nvPr/>
        </p:nvSpPr>
        <p:spPr>
          <a:xfrm>
            <a:off x="5029200" y="3534156"/>
            <a:ext cx="6522415" cy="448056"/>
          </a:xfrm>
          <a:prstGeom prst="roundRect">
            <a:avLst>
              <a:gd name="adj" fmla="val 14286"/>
            </a:avLst>
          </a:prstGeom>
          <a:solidFill>
            <a:schemeClr val="bg2"/>
          </a:solidFill>
          <a:ln/>
        </p:spPr>
      </p:sp>
      <p:pic>
        <p:nvPicPr>
          <p:cNvPr id="25" name="Category icon 4" descr="icon">    </p:cNvPr>
          <p:cNvPicPr>
            <a:picLocks noChangeAspect="1"/>
          </p:cNvPicPr>
          <p:nvPr/>
        </p:nvPicPr>
        <p:blipFill>
          <a:blip r:embed="rId5"/>
          <a:stretch>
            <a:fillRect/>
          </a:stretch>
        </p:blipFill>
        <p:spPr>
          <a:xfrm>
            <a:off x="5166360" y="3616452"/>
            <a:ext cx="283464" cy="283464"/>
          </a:xfrm>
          <a:prstGeom prst="rect">
            <a:avLst/>
          </a:prstGeom>
        </p:spPr>
      </p:pic>
      <p:sp>
        <p:nvSpPr>
          <p:cNvPr id="26" name="Text 19"/>
          <p:cNvSpPr txBox="1"/>
          <p:nvPr/>
        </p:nvSpPr>
        <p:spPr>
          <a:xfrm>
            <a:off x="5623560" y="3607308"/>
            <a:ext cx="3246120" cy="301752"/>
          </a:xfrm>
          <a:prstGeom prst="rect">
            <a:avLst/>
          </a:prstGeom>
          <a:noFill/>
          <a:ln/>
        </p:spPr>
        <p:txBody>
          <a:bodyPr wrap="square" lIns="0" tIns="0" rIns="0" bIns="0" rtlCol="0" anchor="ctr"/>
          <a:lstStyle/>
          <a:p>
            <a:pPr algn="l" indent="0" marL="0">
              <a:buNone/>
            </a:pPr>
            <a:r>
              <a:rPr lang="en-US" sz="1200" b="1" dirty="0">
                <a:solidFill>
                  <a:schemeClr val="tx1"/>
                </a:solidFill>
                <a:latin typeface="Arial" pitchFamily="34" charset="0"/>
                <a:ea typeface="Arial" pitchFamily="34" charset="-122"/>
                <a:cs typeface="Arial" pitchFamily="34" charset="-120"/>
              </a:rPr>
              <a:t>Sunshades &amp; Heat Protection</a:t>
            </a:r>
            <a:endParaRPr lang="en-US" sz="1200" dirty="0"/>
          </a:p>
        </p:txBody>
      </p:sp>
      <p:sp>
        <p:nvSpPr>
          <p:cNvPr id="27" name="Text 20"/>
          <p:cNvSpPr txBox="1"/>
          <p:nvPr/>
        </p:nvSpPr>
        <p:spPr>
          <a:xfrm>
            <a:off x="8854135" y="3607308"/>
            <a:ext cx="2514600" cy="301752"/>
          </a:xfrm>
          <a:prstGeom prst="rect">
            <a:avLst/>
          </a:prstGeom>
          <a:noFill/>
          <a:ln/>
        </p:spPr>
        <p:txBody>
          <a:bodyPr wrap="square" lIns="0" tIns="0" rIns="0" bIns="0" rtlCol="0" anchor="ctr"/>
          <a:lstStyle/>
          <a:p>
            <a:pPr rtl="1" algn="r" indent="0" marL="0">
              <a:buNone/>
            </a:pPr>
            <a:r>
              <a:rPr lang="ar-AE" altLang="en-US" sz="1200" dirty="0">
                <a:solidFill>
                  <a:schemeClr val="accent3"/>
                </a:solidFill>
                <a:latin typeface="Arial" pitchFamily="34" charset="0"/>
                <a:ea typeface="Arial" pitchFamily="34" charset="-122"/>
                <a:cs typeface="Arial" pitchFamily="34" charset="-120"/>
              </a:rPr>
              <a:t>المظلات والعوازل</a:t>
            </a:r>
            <a:endParaRPr lang="ar-AE" sz="1200" dirty="0"/>
          </a:p>
        </p:txBody>
      </p:sp>
      <p:sp>
        <p:nvSpPr>
          <p:cNvPr id="28" name="Category row 5"/>
          <p:cNvSpPr/>
          <p:nvPr/>
        </p:nvSpPr>
        <p:spPr>
          <a:xfrm>
            <a:off x="5029200" y="4041648"/>
            <a:ext cx="6522415" cy="448056"/>
          </a:xfrm>
          <a:prstGeom prst="roundRect">
            <a:avLst>
              <a:gd name="adj" fmla="val 14286"/>
            </a:avLst>
          </a:prstGeom>
          <a:solidFill>
            <a:schemeClr val="bg2"/>
          </a:solidFill>
          <a:ln/>
        </p:spPr>
      </p:sp>
      <p:pic>
        <p:nvPicPr>
          <p:cNvPr id="29" name="Category icon 5" descr="icon">    </p:cNvPr>
          <p:cNvPicPr>
            <a:picLocks noChangeAspect="1"/>
          </p:cNvPicPr>
          <p:nvPr/>
        </p:nvPicPr>
        <p:blipFill>
          <a:blip r:embed="rId6"/>
          <a:stretch>
            <a:fillRect/>
          </a:stretch>
        </p:blipFill>
        <p:spPr>
          <a:xfrm>
            <a:off x="5166360" y="4123944"/>
            <a:ext cx="283464" cy="283464"/>
          </a:xfrm>
          <a:prstGeom prst="rect">
            <a:avLst/>
          </a:prstGeom>
        </p:spPr>
      </p:pic>
      <p:sp>
        <p:nvSpPr>
          <p:cNvPr id="30" name="Text 22"/>
          <p:cNvSpPr txBox="1"/>
          <p:nvPr/>
        </p:nvSpPr>
        <p:spPr>
          <a:xfrm>
            <a:off x="5623560" y="4114800"/>
            <a:ext cx="3246120" cy="301752"/>
          </a:xfrm>
          <a:prstGeom prst="rect">
            <a:avLst/>
          </a:prstGeom>
          <a:noFill/>
          <a:ln/>
        </p:spPr>
        <p:txBody>
          <a:bodyPr wrap="square" lIns="0" tIns="0" rIns="0" bIns="0" rtlCol="0" anchor="ctr"/>
          <a:lstStyle/>
          <a:p>
            <a:pPr algn="l" indent="0" marL="0">
              <a:buNone/>
            </a:pPr>
            <a:r>
              <a:rPr lang="en-US" sz="1200" b="1" dirty="0">
                <a:solidFill>
                  <a:schemeClr val="tx1"/>
                </a:solidFill>
                <a:latin typeface="Arial" pitchFamily="34" charset="0"/>
                <a:ea typeface="Arial" pitchFamily="34" charset="-122"/>
                <a:cs typeface="Arial" pitchFamily="34" charset="-120"/>
              </a:rPr>
              <a:t>Floor Mats &amp; Interior Protection</a:t>
            </a:r>
            <a:endParaRPr lang="en-US" sz="1200" dirty="0"/>
          </a:p>
        </p:txBody>
      </p:sp>
      <p:sp>
        <p:nvSpPr>
          <p:cNvPr id="31" name="Text 23"/>
          <p:cNvSpPr txBox="1"/>
          <p:nvPr/>
        </p:nvSpPr>
        <p:spPr>
          <a:xfrm>
            <a:off x="8854135" y="4114800"/>
            <a:ext cx="2514600" cy="301752"/>
          </a:xfrm>
          <a:prstGeom prst="rect">
            <a:avLst/>
          </a:prstGeom>
          <a:noFill/>
          <a:ln/>
        </p:spPr>
        <p:txBody>
          <a:bodyPr wrap="square" lIns="0" tIns="0" rIns="0" bIns="0" rtlCol="0" anchor="ctr"/>
          <a:lstStyle/>
          <a:p>
            <a:pPr rtl="1" algn="r" indent="0" marL="0">
              <a:buNone/>
            </a:pPr>
            <a:r>
              <a:rPr lang="ar-AE" altLang="en-US" sz="1200" dirty="0">
                <a:solidFill>
                  <a:schemeClr val="accent3"/>
                </a:solidFill>
                <a:latin typeface="Arial" pitchFamily="34" charset="0"/>
                <a:ea typeface="Arial" pitchFamily="34" charset="-122"/>
                <a:cs typeface="Arial" pitchFamily="34" charset="-120"/>
              </a:rPr>
              <a:t>الفرش والأرضيات</a:t>
            </a:r>
            <a:endParaRPr lang="ar-AE" sz="1200" dirty="0"/>
          </a:p>
        </p:txBody>
      </p:sp>
      <p:sp>
        <p:nvSpPr>
          <p:cNvPr id="32" name="Category row 6"/>
          <p:cNvSpPr/>
          <p:nvPr/>
        </p:nvSpPr>
        <p:spPr>
          <a:xfrm>
            <a:off x="5029200" y="4549140"/>
            <a:ext cx="6522415" cy="448056"/>
          </a:xfrm>
          <a:prstGeom prst="roundRect">
            <a:avLst>
              <a:gd name="adj" fmla="val 14286"/>
            </a:avLst>
          </a:prstGeom>
          <a:solidFill>
            <a:schemeClr val="bg2"/>
          </a:solidFill>
          <a:ln/>
        </p:spPr>
      </p:sp>
      <p:pic>
        <p:nvPicPr>
          <p:cNvPr id="33" name="Category icon 6" descr="icon">    </p:cNvPr>
          <p:cNvPicPr>
            <a:picLocks noChangeAspect="1"/>
          </p:cNvPicPr>
          <p:nvPr/>
        </p:nvPicPr>
        <p:blipFill>
          <a:blip r:embed="rId7"/>
          <a:stretch>
            <a:fillRect/>
          </a:stretch>
        </p:blipFill>
        <p:spPr>
          <a:xfrm>
            <a:off x="5166360" y="4631436"/>
            <a:ext cx="283464" cy="283464"/>
          </a:xfrm>
          <a:prstGeom prst="rect">
            <a:avLst/>
          </a:prstGeom>
        </p:spPr>
      </p:pic>
      <p:sp>
        <p:nvSpPr>
          <p:cNvPr id="34" name="Text 25"/>
          <p:cNvSpPr txBox="1"/>
          <p:nvPr/>
        </p:nvSpPr>
        <p:spPr>
          <a:xfrm>
            <a:off x="5623560" y="4622292"/>
            <a:ext cx="3246120" cy="301752"/>
          </a:xfrm>
          <a:prstGeom prst="rect">
            <a:avLst/>
          </a:prstGeom>
          <a:noFill/>
          <a:ln/>
        </p:spPr>
        <p:txBody>
          <a:bodyPr wrap="square" lIns="0" tIns="0" rIns="0" bIns="0" rtlCol="0" anchor="ctr"/>
          <a:lstStyle/>
          <a:p>
            <a:pPr algn="l" indent="0" marL="0">
              <a:buNone/>
            </a:pPr>
            <a:r>
              <a:rPr lang="en-US" sz="1200" b="1" dirty="0">
                <a:solidFill>
                  <a:schemeClr val="tx1"/>
                </a:solidFill>
                <a:latin typeface="Arial" pitchFamily="34" charset="0"/>
                <a:ea typeface="Arial" pitchFamily="34" charset="-122"/>
                <a:cs typeface="Arial" pitchFamily="34" charset="-120"/>
              </a:rPr>
              <a:t>Wheel Covers &amp; Exterior Enhancements</a:t>
            </a:r>
            <a:endParaRPr lang="en-US" sz="1200" dirty="0"/>
          </a:p>
        </p:txBody>
      </p:sp>
      <p:sp>
        <p:nvSpPr>
          <p:cNvPr id="35" name="Text 26"/>
          <p:cNvSpPr txBox="1"/>
          <p:nvPr/>
        </p:nvSpPr>
        <p:spPr>
          <a:xfrm>
            <a:off x="8854135" y="4622292"/>
            <a:ext cx="2514600" cy="301752"/>
          </a:xfrm>
          <a:prstGeom prst="rect">
            <a:avLst/>
          </a:prstGeom>
          <a:noFill/>
          <a:ln/>
        </p:spPr>
        <p:txBody>
          <a:bodyPr wrap="square" lIns="0" tIns="0" rIns="0" bIns="0" rtlCol="0" anchor="ctr"/>
          <a:lstStyle/>
          <a:p>
            <a:pPr rtl="1" algn="r" indent="0" marL="0">
              <a:buNone/>
            </a:pPr>
            <a:r>
              <a:rPr lang="ar-AE" altLang="en-US" sz="1200" dirty="0">
                <a:solidFill>
                  <a:schemeClr val="accent3"/>
                </a:solidFill>
                <a:latin typeface="Arial" pitchFamily="34" charset="0"/>
                <a:ea typeface="Arial" pitchFamily="34" charset="-122"/>
                <a:cs typeface="Arial" pitchFamily="34" charset="-120"/>
              </a:rPr>
              <a:t>أغطية العجلات والإضافات الخارجية</a:t>
            </a:r>
            <a:endParaRPr lang="ar-AE" sz="1200" dirty="0"/>
          </a:p>
        </p:txBody>
      </p:sp>
      <p:sp>
        <p:nvSpPr>
          <p:cNvPr id="36" name="Category row 7"/>
          <p:cNvSpPr/>
          <p:nvPr/>
        </p:nvSpPr>
        <p:spPr>
          <a:xfrm>
            <a:off x="5029200" y="5056632"/>
            <a:ext cx="6522415" cy="448056"/>
          </a:xfrm>
          <a:prstGeom prst="roundRect">
            <a:avLst>
              <a:gd name="adj" fmla="val 14286"/>
            </a:avLst>
          </a:prstGeom>
          <a:solidFill>
            <a:schemeClr val="bg2"/>
          </a:solidFill>
          <a:ln/>
        </p:spPr>
      </p:sp>
      <p:pic>
        <p:nvPicPr>
          <p:cNvPr id="37" name="Category icon 7" descr="icon">    </p:cNvPr>
          <p:cNvPicPr>
            <a:picLocks noChangeAspect="1"/>
          </p:cNvPicPr>
          <p:nvPr/>
        </p:nvPicPr>
        <p:blipFill>
          <a:blip r:embed="rId8"/>
          <a:stretch>
            <a:fillRect/>
          </a:stretch>
        </p:blipFill>
        <p:spPr>
          <a:xfrm>
            <a:off x="5166360" y="5138928"/>
            <a:ext cx="283464" cy="283464"/>
          </a:xfrm>
          <a:prstGeom prst="rect">
            <a:avLst/>
          </a:prstGeom>
        </p:spPr>
      </p:pic>
      <p:sp>
        <p:nvSpPr>
          <p:cNvPr id="38" name="Text 28"/>
          <p:cNvSpPr txBox="1"/>
          <p:nvPr/>
        </p:nvSpPr>
        <p:spPr>
          <a:xfrm>
            <a:off x="5623560" y="5129784"/>
            <a:ext cx="3246120" cy="301752"/>
          </a:xfrm>
          <a:prstGeom prst="rect">
            <a:avLst/>
          </a:prstGeom>
          <a:noFill/>
          <a:ln/>
        </p:spPr>
        <p:txBody>
          <a:bodyPr wrap="square" lIns="0" tIns="0" rIns="0" bIns="0" rtlCol="0" anchor="ctr"/>
          <a:lstStyle/>
          <a:p>
            <a:pPr algn="l" indent="0" marL="0">
              <a:buNone/>
            </a:pPr>
            <a:r>
              <a:rPr lang="en-US" sz="1200" b="1" dirty="0">
                <a:solidFill>
                  <a:schemeClr val="tx1"/>
                </a:solidFill>
                <a:latin typeface="Arial" pitchFamily="34" charset="0"/>
                <a:ea typeface="Arial" pitchFamily="34" charset="-122"/>
                <a:cs typeface="Arial" pitchFamily="34" charset="-120"/>
              </a:rPr>
              <a:t>Cabin Air Filters</a:t>
            </a:r>
            <a:endParaRPr lang="en-US" sz="1200" dirty="0"/>
          </a:p>
        </p:txBody>
      </p:sp>
      <p:sp>
        <p:nvSpPr>
          <p:cNvPr id="39" name="Text 29"/>
          <p:cNvSpPr txBox="1"/>
          <p:nvPr/>
        </p:nvSpPr>
        <p:spPr>
          <a:xfrm>
            <a:off x="8854135" y="5129784"/>
            <a:ext cx="2514600" cy="301752"/>
          </a:xfrm>
          <a:prstGeom prst="rect">
            <a:avLst/>
          </a:prstGeom>
          <a:noFill/>
          <a:ln/>
        </p:spPr>
        <p:txBody>
          <a:bodyPr wrap="square" lIns="0" tIns="0" rIns="0" bIns="0" rtlCol="0" anchor="ctr"/>
          <a:lstStyle/>
          <a:p>
            <a:pPr rtl="1" algn="r" indent="0" marL="0">
              <a:buNone/>
            </a:pPr>
            <a:r>
              <a:rPr lang="ar-AE" altLang="en-US" sz="1200" dirty="0">
                <a:solidFill>
                  <a:schemeClr val="accent3"/>
                </a:solidFill>
                <a:latin typeface="Arial" pitchFamily="34" charset="0"/>
                <a:ea typeface="Arial" pitchFamily="34" charset="-122"/>
                <a:cs typeface="Arial" pitchFamily="34" charset="-120"/>
              </a:rPr>
              <a:t>فلاتر المقصورة</a:t>
            </a:r>
            <a:endParaRPr lang="ar-AE" sz="1200" dirty="0"/>
          </a:p>
        </p:txBody>
      </p:sp>
      <p:sp>
        <p:nvSpPr>
          <p:cNvPr id="40" name="Category row 8"/>
          <p:cNvSpPr/>
          <p:nvPr/>
        </p:nvSpPr>
        <p:spPr>
          <a:xfrm>
            <a:off x="5029200" y="5564124"/>
            <a:ext cx="6522415" cy="448056"/>
          </a:xfrm>
          <a:prstGeom prst="roundRect">
            <a:avLst>
              <a:gd name="adj" fmla="val 14286"/>
            </a:avLst>
          </a:prstGeom>
          <a:solidFill>
            <a:schemeClr val="bg2"/>
          </a:solidFill>
          <a:ln/>
        </p:spPr>
      </p:sp>
      <p:pic>
        <p:nvPicPr>
          <p:cNvPr id="41" name="Category icon 8" descr="icon">    </p:cNvPr>
          <p:cNvPicPr>
            <a:picLocks noChangeAspect="1"/>
          </p:cNvPicPr>
          <p:nvPr/>
        </p:nvPicPr>
        <p:blipFill>
          <a:blip r:embed="rId9"/>
          <a:stretch>
            <a:fillRect/>
          </a:stretch>
        </p:blipFill>
        <p:spPr>
          <a:xfrm>
            <a:off x="5166360" y="5646420"/>
            <a:ext cx="283464" cy="283464"/>
          </a:xfrm>
          <a:prstGeom prst="rect">
            <a:avLst/>
          </a:prstGeom>
        </p:spPr>
      </p:pic>
      <p:sp>
        <p:nvSpPr>
          <p:cNvPr id="42" name="Text 31"/>
          <p:cNvSpPr txBox="1"/>
          <p:nvPr/>
        </p:nvSpPr>
        <p:spPr>
          <a:xfrm>
            <a:off x="5623560" y="5637276"/>
            <a:ext cx="3246120" cy="301752"/>
          </a:xfrm>
          <a:prstGeom prst="rect">
            <a:avLst/>
          </a:prstGeom>
          <a:noFill/>
          <a:ln/>
        </p:spPr>
        <p:txBody>
          <a:bodyPr wrap="square" lIns="0" tIns="0" rIns="0" bIns="0" rtlCol="0" anchor="ctr"/>
          <a:lstStyle/>
          <a:p>
            <a:pPr algn="l" indent="0" marL="0">
              <a:buNone/>
            </a:pPr>
            <a:r>
              <a:rPr lang="en-US" sz="1200" b="1" dirty="0">
                <a:solidFill>
                  <a:schemeClr val="tx1"/>
                </a:solidFill>
                <a:latin typeface="Arial" pitchFamily="34" charset="0"/>
                <a:ea typeface="Arial" pitchFamily="34" charset="-122"/>
                <a:cs typeface="Arial" pitchFamily="34" charset="-120"/>
              </a:rPr>
              <a:t>Smart &amp; Functional Accessories</a:t>
            </a:r>
            <a:endParaRPr lang="en-US" sz="1200" dirty="0"/>
          </a:p>
        </p:txBody>
      </p:sp>
      <p:sp>
        <p:nvSpPr>
          <p:cNvPr id="43" name="Text 32"/>
          <p:cNvSpPr txBox="1"/>
          <p:nvPr/>
        </p:nvSpPr>
        <p:spPr>
          <a:xfrm>
            <a:off x="8854135" y="5637276"/>
            <a:ext cx="2514600" cy="301752"/>
          </a:xfrm>
          <a:prstGeom prst="rect">
            <a:avLst/>
          </a:prstGeom>
          <a:noFill/>
          <a:ln/>
        </p:spPr>
        <p:txBody>
          <a:bodyPr wrap="square" lIns="0" tIns="0" rIns="0" bIns="0" rtlCol="0" anchor="ctr"/>
          <a:lstStyle/>
          <a:p>
            <a:pPr rtl="1" algn="r" indent="0" marL="0">
              <a:buNone/>
            </a:pPr>
            <a:r>
              <a:rPr lang="ar-AE" altLang="en-US" sz="1200" dirty="0">
                <a:solidFill>
                  <a:schemeClr val="accent3"/>
                </a:solidFill>
                <a:latin typeface="Arial" pitchFamily="34" charset="0"/>
                <a:ea typeface="Arial" pitchFamily="34" charset="-122"/>
                <a:cs typeface="Arial" pitchFamily="34" charset="-120"/>
              </a:rPr>
              <a:t>المنتجات الذكية والعملية</a:t>
            </a:r>
            <a:endParaRPr lang="ar-AE" sz="1200" dirty="0"/>
          </a:p>
        </p:txBody>
      </p:sp>
      <p:sp>
        <p:nvSpPr>
          <p:cNvPr id="44" name="Text 0"/>
          <p:cNvSpPr/>
          <p:nvPr>
            <p:ph idx="100" type="title" hasCustomPrompt="1"/>
          </p:nvPr>
        </p:nvSpPr>
        <p:spPr>
          <a:xfrm>
            <a:off x="640080" y="713232"/>
            <a:ext cx="5486400" cy="685800"/>
          </a:xfrm>
          <a:prstGeom prst="rect">
            <a:avLst/>
          </a:prstGeom>
          <a:noFill/>
          <a:ln/>
        </p:spPr>
        <p:txBody>
          <a:bodyPr wrap="square" lIns="0" tIns="0" rIns="0" bIns="0" rtlCol="0" anchor="t"/>
          <a:lstStyle/>
          <a:p>
            <a:pPr algn="l" indent="0" marL="0">
              <a:buNone/>
            </a:pPr>
            <a:endParaRPr lang="en-US" sz="3000" dirty="0"/>
          </a:p>
        </p:txBody>
      </p:sp>
      <p:sp>
        <p:nvSpPr>
          <p:cNvPr id="45" name="Text 0"/>
          <p:cNvSpPr/>
          <p:nvPr>
            <p:ph idx="101" type="body" hasCustomPrompt="1"/>
          </p:nvPr>
        </p:nvSpPr>
        <p:spPr>
          <a:xfrm>
            <a:off x="6065215" y="713232"/>
            <a:ext cx="5486400" cy="685800"/>
          </a:xfrm>
          <a:prstGeom prst="rect">
            <a:avLst/>
          </a:prstGeom>
          <a:noFill/>
          <a:ln/>
        </p:spPr>
        <p:txBody>
          <a:bodyPr wrap="square" lIns="0" tIns="0" rIns="0" bIns="0" rtlCol="0" anchor="t"/>
          <a:lstStyle/>
          <a:p>
            <a:pPr algn="r" indent="0" marL="0">
              <a:buNone/>
            </a:pPr>
            <a:endParaRPr lang="en-US" sz="3000" dirty="0"/>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A75"/>
                </a:solidFill>
                <a:latin typeface="Arial"/>
                <a:ea typeface="Arial"/>
                <a:cs typeface="Arial"/>
              </a:defRPr>
            </a:lvl1pPr>
          </a:lstStyle>
          <a:p>
            <a:pPr algn="r"/>
            <a:fld id="{F7021451-1387-4CA6-816F-3879F97B5CBC}" type="slidenum">
              <a:rPr b="0" lang="en-US"/>
              <a:t>9</a:t>
            </a:fld>
            <a:endParaRPr lang="en-US"/>
          </a:p>
        </p:txBody>
      </p:sp>
      <p:sp>
        <p:nvSpPr>
          <p:cNvPr id="46" name="Back to contents" descr="Back to contents">
            <a:hlinkClick r:id="rId12" action="ppaction://hlinksldjump" tooltip="Back to Contents / العودة إلى المحتويات"/>
          </p:cNvPr>
          <p:cNvSpPr/>
          <p:nvPr/>
        </p:nvSpPr>
        <p:spPr>
          <a:xfrm>
            <a:off x="8838000" y="6283000"/>
            <a:ext cx="1850000" cy="300000"/>
          </a:xfrm>
          <a:prstGeom prst="roundRect">
            <a:avLst>
              <a:gd name="adj" fmla="val 50000"/>
            </a:avLst>
          </a:prstGeom>
          <a:noFill/>
          <a:ln w="9525">
            <a:solidFill>
              <a:schemeClr val="accent1"/>
            </a:solidFill>
          </a:ln>
        </p:spPr>
        <p:txBody>
          <a:bodyPr wrap="none" lIns="0" tIns="0" rIns="0" bIns="0" rtlCol="0" anchor="ctr"/>
          <a:lstStyle/>
          <a:p>
            <a:pPr algn="ctr"/>
            <a:r>
              <a:rPr lang="en-US" sz="900" b="1" spc="120" dirty="0">
                <a:solidFill>
                  <a:schemeClr val="accent1"/>
                </a:solidFill>
                <a:latin typeface="Arial"/>
                <a:cs typeface="Arial"/>
              </a:rPr>
              <a:t>CONTENTS  ·  </a:t>
            </a:r>
            <a:r>
              <a:rPr lang="ar-AE" sz="900" b="1" dirty="0">
                <a:solidFill>
                  <a:schemeClr val="accent1"/>
                </a:solidFill>
                <a:latin typeface="Arial"/>
                <a:cs typeface="Arial"/>
              </a:rPr>
              <a:t>المحتويات</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411480"/>
            <a:ext cx="5486400" cy="228600"/>
          </a:xfrm>
          <a:prstGeom prst="rect">
            <a:avLst/>
          </a:prstGeom>
          <a:noFill/>
          <a:ln/>
        </p:spPr>
        <p:txBody>
          <a:bodyPr wrap="square" lIns="0" tIns="0" rIns="0" bIns="0" rtlCol="0" anchor="t"/>
          <a:lstStyle/>
          <a:p>
            <a:pPr algn="l" indent="0" marL="0">
              <a:buNone/>
            </a:pPr>
            <a:r>
              <a:rPr lang="en-US" sz="1000" b="1" spc="300" kern="0" dirty="0">
                <a:solidFill>
                  <a:schemeClr val="accent2"/>
                </a:solidFill>
                <a:latin typeface="Arial" pitchFamily="34" charset="0"/>
                <a:ea typeface="Arial" pitchFamily="34" charset="-122"/>
                <a:cs typeface="Arial" pitchFamily="34" charset="-120"/>
              </a:rPr>
              <a:t>02   ·   WHAT WE DO</a:t>
            </a:r>
            <a:endParaRPr lang="en-US" sz="1000" dirty="0"/>
          </a:p>
        </p:txBody>
      </p:sp>
      <p:sp>
        <p:nvSpPr>
          <p:cNvPr id="3" name="Text 1"/>
          <p:cNvSpPr txBox="1"/>
          <p:nvPr/>
        </p:nvSpPr>
        <p:spPr>
          <a:xfrm>
            <a:off x="6065215" y="411480"/>
            <a:ext cx="5486400" cy="228600"/>
          </a:xfrm>
          <a:prstGeom prst="rect">
            <a:avLst/>
          </a:prstGeom>
          <a:noFill/>
          <a:ln/>
        </p:spPr>
        <p:txBody>
          <a:bodyPr wrap="square" lIns="0" tIns="0" rIns="0" bIns="0" rtlCol="0" anchor="t"/>
          <a:lstStyle/>
          <a:p>
            <a:pPr rtl="1" algn="r" indent="0" marL="0">
              <a:buNone/>
            </a:pPr>
            <a:r>
              <a:rPr lang="ar-AE" altLang="en-US" sz="1100" b="1" dirty="0">
                <a:solidFill>
                  <a:schemeClr val="accent2"/>
                </a:solidFill>
                <a:latin typeface="Arial" pitchFamily="34" charset="0"/>
                <a:ea typeface="Arial" pitchFamily="34" charset="-122"/>
                <a:cs typeface="Arial" pitchFamily="34" charset="-120"/>
              </a:rPr>
              <a:t>ماذا نقدم   ·   02</a:t>
            </a:r>
            <a:endParaRPr lang="ar-AE" sz="1100" dirty="0"/>
          </a:p>
        </p:txBody>
      </p:sp>
      <p:sp>
        <p:nvSpPr>
          <p:cNvPr id="4" name="Text 0"/>
          <p:cNvSpPr/>
          <p:nvPr>
            <p:ph idx="100" type="title" hasCustomPrompt="1"/>
          </p:nvPr>
        </p:nvSpPr>
        <p:spPr>
          <a:xfrm>
            <a:off x="640080" y="713232"/>
            <a:ext cx="5486400" cy="685800"/>
          </a:xfrm>
          <a:prstGeom prst="rect">
            <a:avLst/>
          </a:prstGeom>
          <a:noFill/>
          <a:ln/>
        </p:spPr>
        <p:txBody>
          <a:bodyPr wrap="square" lIns="0" tIns="0" rIns="0" bIns="0" rtlCol="0" anchor="t"/>
          <a:lstStyle/>
          <a:p>
            <a:pPr algn="l" indent="0" marL="0">
              <a:buNone/>
            </a:pPr>
            <a:r>
              <a:rPr lang="en-US" sz="3000" dirty="0">
                <a:solidFill>
                  <a:schemeClr val="bg1"/>
                </a:solidFill>
                <a:latin typeface="Arial" pitchFamily="34" charset="0"/>
                <a:ea typeface="Arial" pitchFamily="34" charset="-122"/>
                <a:cs typeface="Arial" pitchFamily="34" charset="-120"/>
              </a:rPr>
              <a:t>EV Charging Solutions</a:t>
            </a:r>
            <a:endParaRPr lang="en-US" sz="3000" dirty="0"/>
          </a:p>
        </p:txBody>
      </p:sp>
      <p:sp>
        <p:nvSpPr>
          <p:cNvPr id="5" name="Text 0"/>
          <p:cNvSpPr/>
          <p:nvPr>
            <p:ph idx="101" type="body" hasCustomPrompt="1"/>
          </p:nvPr>
        </p:nvSpPr>
        <p:spPr>
          <a:xfrm>
            <a:off x="6065215" y="713232"/>
            <a:ext cx="5486400" cy="685800"/>
          </a:xfrm>
          <a:prstGeom prst="rect">
            <a:avLst/>
          </a:prstGeom>
          <a:noFill/>
          <a:ln/>
        </p:spPr>
        <p:txBody>
          <a:bodyPr wrap="square" lIns="0" tIns="0" rIns="0" bIns="0" rtlCol="0" anchor="t"/>
          <a:lstStyle/>
          <a:p>
            <a:pPr rtl="1" algn="r" indent="0" marL="0">
              <a:buNone/>
            </a:pPr>
            <a:r>
              <a:rPr lang="ar-AE" altLang="en-US" sz="3000" dirty="0">
                <a:solidFill>
                  <a:schemeClr val="bg1"/>
                </a:solidFill>
                <a:latin typeface="Arial" pitchFamily="34" charset="0"/>
                <a:ea typeface="Arial" pitchFamily="34" charset="-122"/>
                <a:cs typeface="Arial" pitchFamily="34" charset="-120"/>
              </a:rPr>
              <a:t>حلول الشحن</a:t>
            </a:r>
            <a:endParaRPr lang="ar-AE" sz="3000" dirty="0"/>
          </a:p>
        </p:txBody>
      </p:sp>
      <p:pic>
        <p:nvPicPr>
          <p:cNvPr id="6" name="Charger" descr="EV wall charger illustration">    </p:cNvPr>
          <p:cNvPicPr>
            <a:picLocks noChangeAspect="1"/>
          </p:cNvPicPr>
          <p:nvPr/>
        </p:nvPicPr>
        <p:blipFill>
          <a:blip r:embed="rId1"/>
          <a:srcRect l="0" r="0" t="0" b="0"/>
          <a:stretch/>
        </p:blipFill>
        <p:spPr>
          <a:xfrm>
            <a:off x="548640" y="1417320"/>
            <a:ext cx="4069080" cy="4575454"/>
          </a:xfrm>
          <a:prstGeom prst="rect">
            <a:avLst/>
          </a:prstGeom>
        </p:spPr>
      </p:pic>
      <p:sp>
        <p:nvSpPr>
          <p:cNvPr id="7" name="Charging icon 1 circle"/>
          <p:cNvSpPr/>
          <p:nvPr/>
        </p:nvSpPr>
        <p:spPr>
          <a:xfrm>
            <a:off x="4846320" y="1691640"/>
            <a:ext cx="566928" cy="566928"/>
          </a:xfrm>
          <a:prstGeom prst="ellipse">
            <a:avLst/>
          </a:prstGeom>
          <a:solidFill>
            <a:schemeClr val="bg1">
              <a:alpha val="10000"/>
            </a:schemeClr>
          </a:solidFill>
          <a:ln/>
        </p:spPr>
      </p:sp>
      <p:pic>
        <p:nvPicPr>
          <p:cNvPr id="8" name="Charging icon 1" descr="icon">    </p:cNvPr>
          <p:cNvPicPr>
            <a:picLocks noChangeAspect="1"/>
          </p:cNvPicPr>
          <p:nvPr/>
        </p:nvPicPr>
        <p:blipFill>
          <a:blip r:embed="rId2"/>
          <a:stretch>
            <a:fillRect/>
          </a:stretch>
        </p:blipFill>
        <p:spPr>
          <a:xfrm>
            <a:off x="4982383" y="1827703"/>
            <a:ext cx="294803" cy="294803"/>
          </a:xfrm>
          <a:prstGeom prst="rect">
            <a:avLst/>
          </a:prstGeom>
        </p:spPr>
      </p:pic>
      <p:sp>
        <p:nvSpPr>
          <p:cNvPr id="9" name="Text 5"/>
          <p:cNvSpPr txBox="1"/>
          <p:nvPr/>
        </p:nvSpPr>
        <p:spPr>
          <a:xfrm>
            <a:off x="5623560" y="1673352"/>
            <a:ext cx="2926080" cy="274320"/>
          </a:xfrm>
          <a:prstGeom prst="rect">
            <a:avLst/>
          </a:prstGeom>
          <a:noFill/>
          <a:ln/>
        </p:spPr>
        <p:txBody>
          <a:bodyPr wrap="square" lIns="0" tIns="0" rIns="0" bIns="0" rtlCol="0" anchor="t"/>
          <a:lstStyle/>
          <a:p>
            <a:pPr algn="l" indent="0" marL="0">
              <a:buNone/>
            </a:pPr>
            <a:r>
              <a:rPr lang="en-US" sz="1400" b="1" dirty="0">
                <a:solidFill>
                  <a:schemeClr val="bg1"/>
                </a:solidFill>
                <a:latin typeface="Arial" pitchFamily="34" charset="0"/>
                <a:ea typeface="Arial" pitchFamily="34" charset="-122"/>
                <a:cs typeface="Arial" pitchFamily="34" charset="-120"/>
              </a:rPr>
              <a:t>Matched to your vehicle</a:t>
            </a:r>
            <a:endParaRPr lang="en-US" sz="1400" dirty="0"/>
          </a:p>
        </p:txBody>
      </p:sp>
      <p:sp>
        <p:nvSpPr>
          <p:cNvPr id="10" name="Text 6"/>
          <p:cNvSpPr txBox="1"/>
          <p:nvPr/>
        </p:nvSpPr>
        <p:spPr>
          <a:xfrm>
            <a:off x="8641080" y="1673352"/>
            <a:ext cx="2910535" cy="274320"/>
          </a:xfrm>
          <a:prstGeom prst="rect">
            <a:avLst/>
          </a:prstGeom>
          <a:noFill/>
          <a:ln/>
        </p:spPr>
        <p:txBody>
          <a:bodyPr wrap="square" lIns="0" tIns="0" rIns="0" bIns="0" rtlCol="0" anchor="t"/>
          <a:lstStyle/>
          <a:p>
            <a:pPr rtl="1" algn="r" indent="0" marL="0">
              <a:buNone/>
            </a:pPr>
            <a:r>
              <a:rPr lang="ar-AE" altLang="en-US" sz="1400" b="1" dirty="0">
                <a:solidFill>
                  <a:schemeClr val="accent2"/>
                </a:solidFill>
                <a:latin typeface="Arial" pitchFamily="34" charset="0"/>
                <a:ea typeface="Arial" pitchFamily="34" charset="-122"/>
                <a:cs typeface="Arial" pitchFamily="34" charset="-120"/>
              </a:rPr>
              <a:t>حلول مناسبة لمركبتك</a:t>
            </a:r>
            <a:endParaRPr lang="ar-AE" sz="1400" dirty="0"/>
          </a:p>
        </p:txBody>
      </p:sp>
      <p:sp>
        <p:nvSpPr>
          <p:cNvPr id="11" name="Text 7"/>
          <p:cNvSpPr txBox="1"/>
          <p:nvPr/>
        </p:nvSpPr>
        <p:spPr>
          <a:xfrm>
            <a:off x="5623560" y="2039112"/>
            <a:ext cx="2926080" cy="914400"/>
          </a:xfrm>
          <a:prstGeom prst="rect">
            <a:avLst/>
          </a:prstGeom>
          <a:noFill/>
          <a:ln/>
        </p:spPr>
        <p:txBody>
          <a:bodyPr wrap="square" lIns="0" tIns="0" rIns="0" bIns="0" rtlCol="0" anchor="t"/>
          <a:lstStyle/>
          <a:p>
            <a:pPr algn="l" indent="0" marL="0">
              <a:buNone/>
            </a:pPr>
            <a:r>
              <a:rPr lang="en-US" sz="1150" dirty="0">
                <a:solidFill>
                  <a:schemeClr val="accent5"/>
                </a:solidFill>
                <a:latin typeface="Arial" pitchFamily="34" charset="0"/>
                <a:ea typeface="Arial" pitchFamily="34" charset="-122"/>
                <a:cs typeface="Arial" pitchFamily="34" charset="-120"/>
              </a:rPr>
              <a:t>We help customers choose the right charging solution based on vehicle compatibility, usage and technical specifications.</a:t>
            </a:r>
            <a:endParaRPr lang="en-US" sz="1150" dirty="0"/>
          </a:p>
        </p:txBody>
      </p:sp>
      <p:sp>
        <p:nvSpPr>
          <p:cNvPr id="12" name="Text 8"/>
          <p:cNvSpPr txBox="1"/>
          <p:nvPr/>
        </p:nvSpPr>
        <p:spPr>
          <a:xfrm>
            <a:off x="8641080" y="2039112"/>
            <a:ext cx="2910535" cy="914400"/>
          </a:xfrm>
          <a:prstGeom prst="rect">
            <a:avLst/>
          </a:prstGeom>
          <a:noFill/>
          <a:ln/>
        </p:spPr>
        <p:txBody>
          <a:bodyPr wrap="square" lIns="0" tIns="0" rIns="0" bIns="0" rtlCol="0" anchor="t"/>
          <a:lstStyle/>
          <a:p>
            <a:pPr rtl="1" algn="r" indent="0" marL="0">
              <a:buNone/>
            </a:pPr>
            <a:r>
              <a:rPr lang="ar-AE" altLang="en-US" sz="1150" dirty="0">
                <a:solidFill>
                  <a:schemeClr val="accent5"/>
                </a:solidFill>
                <a:latin typeface="Arial" pitchFamily="34" charset="0"/>
                <a:ea typeface="Arial" pitchFamily="34" charset="-122"/>
                <a:cs typeface="Arial" pitchFamily="34" charset="-120"/>
              </a:rPr>
              <a:t>نساعد العملاء في اختيار حلول الشحن المناسبة بناءً على نوع المركبة ومتطلبات الاستخدام والمواصفات الفنية.</a:t>
            </a:r>
            <a:endParaRPr lang="ar-AE" sz="1150" dirty="0"/>
          </a:p>
        </p:txBody>
      </p:sp>
      <p:sp>
        <p:nvSpPr>
          <p:cNvPr id="13" name="Charging icon 2 circle"/>
          <p:cNvSpPr/>
          <p:nvPr/>
        </p:nvSpPr>
        <p:spPr>
          <a:xfrm>
            <a:off x="4846320" y="3172968"/>
            <a:ext cx="566928" cy="566928"/>
          </a:xfrm>
          <a:prstGeom prst="ellipse">
            <a:avLst/>
          </a:prstGeom>
          <a:solidFill>
            <a:schemeClr val="bg1">
              <a:alpha val="10000"/>
            </a:schemeClr>
          </a:solidFill>
          <a:ln/>
        </p:spPr>
      </p:sp>
      <p:pic>
        <p:nvPicPr>
          <p:cNvPr id="14" name="Charging icon 2" descr="icon">    </p:cNvPr>
          <p:cNvPicPr>
            <a:picLocks noChangeAspect="1"/>
          </p:cNvPicPr>
          <p:nvPr/>
        </p:nvPicPr>
        <p:blipFill>
          <a:blip r:embed="rId3"/>
          <a:stretch>
            <a:fillRect/>
          </a:stretch>
        </p:blipFill>
        <p:spPr>
          <a:xfrm>
            <a:off x="4982383" y="3309031"/>
            <a:ext cx="294803" cy="294803"/>
          </a:xfrm>
          <a:prstGeom prst="rect">
            <a:avLst/>
          </a:prstGeom>
        </p:spPr>
      </p:pic>
      <p:sp>
        <p:nvSpPr>
          <p:cNvPr id="15" name="Text 10"/>
          <p:cNvSpPr txBox="1"/>
          <p:nvPr/>
        </p:nvSpPr>
        <p:spPr>
          <a:xfrm>
            <a:off x="5623560" y="3154680"/>
            <a:ext cx="2926080" cy="274320"/>
          </a:xfrm>
          <a:prstGeom prst="rect">
            <a:avLst/>
          </a:prstGeom>
          <a:noFill/>
          <a:ln/>
        </p:spPr>
        <p:txBody>
          <a:bodyPr wrap="square" lIns="0" tIns="0" rIns="0" bIns="0" rtlCol="0" anchor="t"/>
          <a:lstStyle/>
          <a:p>
            <a:pPr algn="l" indent="0" marL="0">
              <a:buNone/>
            </a:pPr>
            <a:r>
              <a:rPr lang="en-US" sz="1400" b="1" dirty="0">
                <a:solidFill>
                  <a:schemeClr val="bg1"/>
                </a:solidFill>
                <a:latin typeface="Arial" pitchFamily="34" charset="0"/>
                <a:ea typeface="Arial" pitchFamily="34" charset="-122"/>
                <a:cs typeface="Arial" pitchFamily="34" charset="-120"/>
              </a:rPr>
              <a:t>Professional installation</a:t>
            </a:r>
            <a:endParaRPr lang="en-US" sz="1400" dirty="0"/>
          </a:p>
        </p:txBody>
      </p:sp>
      <p:sp>
        <p:nvSpPr>
          <p:cNvPr id="16" name="Text 11"/>
          <p:cNvSpPr txBox="1"/>
          <p:nvPr/>
        </p:nvSpPr>
        <p:spPr>
          <a:xfrm>
            <a:off x="8641080" y="3154680"/>
            <a:ext cx="2910535" cy="274320"/>
          </a:xfrm>
          <a:prstGeom prst="rect">
            <a:avLst/>
          </a:prstGeom>
          <a:noFill/>
          <a:ln/>
        </p:spPr>
        <p:txBody>
          <a:bodyPr wrap="square" lIns="0" tIns="0" rIns="0" bIns="0" rtlCol="0" anchor="t"/>
          <a:lstStyle/>
          <a:p>
            <a:pPr rtl="1" algn="r" indent="0" marL="0">
              <a:buNone/>
            </a:pPr>
            <a:r>
              <a:rPr lang="ar-AE" altLang="en-US" sz="1400" b="1" dirty="0">
                <a:solidFill>
                  <a:schemeClr val="accent2"/>
                </a:solidFill>
                <a:latin typeface="Arial" pitchFamily="34" charset="0"/>
                <a:ea typeface="Arial" pitchFamily="34" charset="-122"/>
                <a:cs typeface="Arial" pitchFamily="34" charset="-120"/>
              </a:rPr>
              <a:t>تركيب احترافي</a:t>
            </a:r>
            <a:endParaRPr lang="ar-AE" sz="1400" dirty="0"/>
          </a:p>
        </p:txBody>
      </p:sp>
      <p:sp>
        <p:nvSpPr>
          <p:cNvPr id="17" name="Text 12"/>
          <p:cNvSpPr txBox="1"/>
          <p:nvPr/>
        </p:nvSpPr>
        <p:spPr>
          <a:xfrm>
            <a:off x="5623560" y="3520440"/>
            <a:ext cx="2926080" cy="914400"/>
          </a:xfrm>
          <a:prstGeom prst="rect">
            <a:avLst/>
          </a:prstGeom>
          <a:noFill/>
          <a:ln/>
        </p:spPr>
        <p:txBody>
          <a:bodyPr wrap="square" lIns="0" tIns="0" rIns="0" bIns="0" rtlCol="0" anchor="t"/>
          <a:lstStyle/>
          <a:p>
            <a:pPr algn="l" indent="0" marL="0">
              <a:buNone/>
            </a:pPr>
            <a:r>
              <a:rPr lang="en-US" sz="1150" dirty="0">
                <a:solidFill>
                  <a:schemeClr val="accent5"/>
                </a:solidFill>
                <a:latin typeface="Arial" pitchFamily="34" charset="0"/>
                <a:ea typeface="Arial" pitchFamily="34" charset="-122"/>
                <a:cs typeface="Arial" pitchFamily="34" charset="-120"/>
              </a:rPr>
              <a:t>A dedicated technical team installs chargers and adapters for homes, workplaces and other suitable locations.</a:t>
            </a:r>
            <a:endParaRPr lang="en-US" sz="1150" dirty="0"/>
          </a:p>
        </p:txBody>
      </p:sp>
      <p:sp>
        <p:nvSpPr>
          <p:cNvPr id="18" name="Text 13"/>
          <p:cNvSpPr txBox="1"/>
          <p:nvPr/>
        </p:nvSpPr>
        <p:spPr>
          <a:xfrm>
            <a:off x="8641080" y="3520440"/>
            <a:ext cx="2910535" cy="914400"/>
          </a:xfrm>
          <a:prstGeom prst="rect">
            <a:avLst/>
          </a:prstGeom>
          <a:noFill/>
          <a:ln/>
        </p:spPr>
        <p:txBody>
          <a:bodyPr wrap="square" lIns="0" tIns="0" rIns="0" bIns="0" rtlCol="0" anchor="t"/>
          <a:lstStyle/>
          <a:p>
            <a:pPr rtl="1" algn="r" indent="0" marL="0">
              <a:buNone/>
            </a:pPr>
            <a:r>
              <a:rPr lang="ar-AE" altLang="en-US" sz="1150" dirty="0">
                <a:solidFill>
                  <a:schemeClr val="accent5"/>
                </a:solidFill>
                <a:latin typeface="Arial" pitchFamily="34" charset="0"/>
                <a:ea typeface="Arial" pitchFamily="34" charset="-122"/>
                <a:cs typeface="Arial" pitchFamily="34" charset="-120"/>
              </a:rPr>
              <a:t>فريق فني متخصص يتولى تركيب الشواحن والمحولات للمنازل ومواقع العمل وغيرها من المواقع المناسبة.</a:t>
            </a:r>
            <a:endParaRPr lang="ar-AE" sz="1150" dirty="0"/>
          </a:p>
        </p:txBody>
      </p:sp>
      <p:sp>
        <p:nvSpPr>
          <p:cNvPr id="19" name="Charging icon 3 circle"/>
          <p:cNvSpPr/>
          <p:nvPr/>
        </p:nvSpPr>
        <p:spPr>
          <a:xfrm>
            <a:off x="4846320" y="4654296"/>
            <a:ext cx="566928" cy="566928"/>
          </a:xfrm>
          <a:prstGeom prst="ellipse">
            <a:avLst/>
          </a:prstGeom>
          <a:solidFill>
            <a:schemeClr val="bg1">
              <a:alpha val="10000"/>
            </a:schemeClr>
          </a:solidFill>
          <a:ln/>
        </p:spPr>
      </p:sp>
      <p:pic>
        <p:nvPicPr>
          <p:cNvPr id="20" name="Charging icon 3" descr="icon">    </p:cNvPr>
          <p:cNvPicPr>
            <a:picLocks noChangeAspect="1"/>
          </p:cNvPicPr>
          <p:nvPr/>
        </p:nvPicPr>
        <p:blipFill>
          <a:blip r:embed="rId4"/>
          <a:stretch>
            <a:fillRect/>
          </a:stretch>
        </p:blipFill>
        <p:spPr>
          <a:xfrm>
            <a:off x="4982383" y="4790359"/>
            <a:ext cx="294803" cy="294803"/>
          </a:xfrm>
          <a:prstGeom prst="rect">
            <a:avLst/>
          </a:prstGeom>
        </p:spPr>
      </p:pic>
      <p:sp>
        <p:nvSpPr>
          <p:cNvPr id="21" name="Text 15"/>
          <p:cNvSpPr txBox="1"/>
          <p:nvPr/>
        </p:nvSpPr>
        <p:spPr>
          <a:xfrm>
            <a:off x="5623560" y="4636008"/>
            <a:ext cx="2926080" cy="274320"/>
          </a:xfrm>
          <a:prstGeom prst="rect">
            <a:avLst/>
          </a:prstGeom>
          <a:noFill/>
          <a:ln/>
        </p:spPr>
        <p:txBody>
          <a:bodyPr wrap="square" lIns="0" tIns="0" rIns="0" bIns="0" rtlCol="0" anchor="t"/>
          <a:lstStyle/>
          <a:p>
            <a:pPr algn="l" indent="0" marL="0">
              <a:buNone/>
            </a:pPr>
            <a:r>
              <a:rPr lang="en-US" sz="1400" b="1" dirty="0">
                <a:solidFill>
                  <a:schemeClr val="bg1"/>
                </a:solidFill>
                <a:latin typeface="Arial" pitchFamily="34" charset="0"/>
                <a:ea typeface="Arial" pitchFamily="34" charset="-122"/>
                <a:cs typeface="Arial" pitchFamily="34" charset="-120"/>
              </a:rPr>
              <a:t>Warranty-backed service</a:t>
            </a:r>
            <a:endParaRPr lang="en-US" sz="1400" dirty="0"/>
          </a:p>
        </p:txBody>
      </p:sp>
      <p:sp>
        <p:nvSpPr>
          <p:cNvPr id="22" name="Text 16"/>
          <p:cNvSpPr txBox="1"/>
          <p:nvPr/>
        </p:nvSpPr>
        <p:spPr>
          <a:xfrm>
            <a:off x="8641080" y="4636008"/>
            <a:ext cx="2910535" cy="274320"/>
          </a:xfrm>
          <a:prstGeom prst="rect">
            <a:avLst/>
          </a:prstGeom>
          <a:noFill/>
          <a:ln/>
        </p:spPr>
        <p:txBody>
          <a:bodyPr wrap="square" lIns="0" tIns="0" rIns="0" bIns="0" rtlCol="0" anchor="t"/>
          <a:lstStyle/>
          <a:p>
            <a:pPr rtl="1" algn="r" indent="0" marL="0">
              <a:buNone/>
            </a:pPr>
            <a:r>
              <a:rPr lang="ar-AE" altLang="en-US" sz="1400" b="1" dirty="0">
                <a:solidFill>
                  <a:schemeClr val="accent2"/>
                </a:solidFill>
                <a:latin typeface="Arial" pitchFamily="34" charset="0"/>
                <a:ea typeface="Arial" pitchFamily="34" charset="-122"/>
                <a:cs typeface="Arial" pitchFamily="34" charset="-120"/>
              </a:rPr>
              <a:t>خدمة مدعومة بالضمان</a:t>
            </a:r>
            <a:endParaRPr lang="ar-AE" sz="1400" dirty="0"/>
          </a:p>
        </p:txBody>
      </p:sp>
      <p:sp>
        <p:nvSpPr>
          <p:cNvPr id="23" name="Text 17"/>
          <p:cNvSpPr txBox="1"/>
          <p:nvPr/>
        </p:nvSpPr>
        <p:spPr>
          <a:xfrm>
            <a:off x="5623560" y="5001768"/>
            <a:ext cx="2926080" cy="914400"/>
          </a:xfrm>
          <a:prstGeom prst="rect">
            <a:avLst/>
          </a:prstGeom>
          <a:noFill/>
          <a:ln/>
        </p:spPr>
        <p:txBody>
          <a:bodyPr wrap="square" lIns="0" tIns="0" rIns="0" bIns="0" rtlCol="0" anchor="t"/>
          <a:lstStyle/>
          <a:p>
            <a:pPr algn="l" indent="0" marL="0">
              <a:buNone/>
            </a:pPr>
            <a:r>
              <a:rPr lang="en-US" sz="1150" dirty="0">
                <a:solidFill>
                  <a:schemeClr val="accent5"/>
                </a:solidFill>
                <a:latin typeface="Arial" pitchFamily="34" charset="0"/>
                <a:ea typeface="Arial" pitchFamily="34" charset="-122"/>
                <a:cs typeface="Arial" pitchFamily="34" charset="-120"/>
              </a:rPr>
              <a:t>Installation services come with a warranty, subject to the applicable terms and conditions.</a:t>
            </a:r>
            <a:endParaRPr lang="en-US" sz="1150" dirty="0"/>
          </a:p>
        </p:txBody>
      </p:sp>
      <p:sp>
        <p:nvSpPr>
          <p:cNvPr id="24" name="Text 18"/>
          <p:cNvSpPr txBox="1"/>
          <p:nvPr/>
        </p:nvSpPr>
        <p:spPr>
          <a:xfrm>
            <a:off x="8641080" y="5001768"/>
            <a:ext cx="2910535" cy="914400"/>
          </a:xfrm>
          <a:prstGeom prst="rect">
            <a:avLst/>
          </a:prstGeom>
          <a:noFill/>
          <a:ln/>
        </p:spPr>
        <p:txBody>
          <a:bodyPr wrap="square" lIns="0" tIns="0" rIns="0" bIns="0" rtlCol="0" anchor="t"/>
          <a:lstStyle/>
          <a:p>
            <a:pPr rtl="1" algn="r" indent="0" marL="0">
              <a:buNone/>
            </a:pPr>
            <a:r>
              <a:rPr lang="ar-AE" altLang="en-US" sz="1150" dirty="0">
                <a:solidFill>
                  <a:schemeClr val="accent5"/>
                </a:solidFill>
                <a:latin typeface="Arial" pitchFamily="34" charset="0"/>
                <a:ea typeface="Arial" pitchFamily="34" charset="-122"/>
                <a:cs typeface="Arial" pitchFamily="34" charset="-120"/>
              </a:rPr>
              <a:t>نوفر ضماناً على خدمات التركيب وفقاً للشروط المعتمدة.</a:t>
            </a:r>
            <a:endParaRPr lang="ar-AE" sz="1150" dirty="0"/>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DDE2E7"/>
                </a:solidFill>
                <a:latin typeface="Arial"/>
                <a:ea typeface="Arial"/>
                <a:cs typeface="Arial"/>
              </a:defRPr>
            </a:lvl1pPr>
          </a:lstStyle>
          <a:p>
            <a:pPr algn="r"/>
            <a:fld id="{F7021451-1387-4CA6-816F-3879F97B5CBC}" type="slidenum">
              <a:rPr b="0" lang="en-US"/>
              <a:t>10</a:t>
            </a:fld>
            <a:endParaRPr lang="en-US"/>
          </a:p>
        </p:txBody>
      </p:sp>
      <p:sp>
        <p:nvSpPr>
          <p:cNvPr id="26" name="Back to contents" descr="Back to contents">
            <a:hlinkClick r:id="rId7" action="ppaction://hlinksldjump" tooltip="Back to Contents / العودة إلى المحتويات"/>
          </p:cNvPr>
          <p:cNvSpPr/>
          <p:nvPr/>
        </p:nvSpPr>
        <p:spPr>
          <a:xfrm>
            <a:off x="8838000" y="6283000"/>
            <a:ext cx="1850000" cy="300000"/>
          </a:xfrm>
          <a:prstGeom prst="roundRect">
            <a:avLst>
              <a:gd name="adj" fmla="val 50000"/>
            </a:avLst>
          </a:prstGeom>
          <a:noFill/>
          <a:ln w="9525">
            <a:solidFill>
              <a:schemeClr val="accent1"/>
            </a:solidFill>
          </a:ln>
        </p:spPr>
        <p:txBody>
          <a:bodyPr wrap="none" lIns="0" tIns="0" rIns="0" bIns="0" rtlCol="0" anchor="ctr"/>
          <a:lstStyle/>
          <a:p>
            <a:pPr algn="ctr"/>
            <a:r>
              <a:rPr lang="en-US" sz="900" b="1" spc="120" dirty="0">
                <a:solidFill>
                  <a:schemeClr val="accent1"/>
                </a:solidFill>
                <a:latin typeface="Arial"/>
                <a:cs typeface="Arial"/>
              </a:rPr>
              <a:t>CONTENTS  ·  </a:t>
            </a:r>
            <a:r>
              <a:rPr lang="ar-AE" sz="900" b="1" dirty="0">
                <a:solidFill>
                  <a:schemeClr val="accent1"/>
                </a:solidFill>
                <a:latin typeface="Arial"/>
                <a:cs typeface="Arial"/>
              </a:rPr>
              <a:t>المحتويات</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411480"/>
            <a:ext cx="5486400" cy="228600"/>
          </a:xfrm>
          <a:prstGeom prst="rect">
            <a:avLst/>
          </a:prstGeom>
          <a:noFill/>
          <a:ln/>
        </p:spPr>
        <p:txBody>
          <a:bodyPr wrap="square" lIns="0" tIns="0" rIns="0" bIns="0" rtlCol="0" anchor="t"/>
          <a:lstStyle/>
          <a:p>
            <a:pPr algn="l" indent="0" marL="0">
              <a:buNone/>
            </a:pPr>
            <a:r>
              <a:rPr lang="en-US" sz="1000" b="1" spc="300" kern="0" dirty="0">
                <a:solidFill>
                  <a:schemeClr val="accent1"/>
                </a:solidFill>
                <a:latin typeface="Arial" pitchFamily="34" charset="0"/>
                <a:ea typeface="Arial" pitchFamily="34" charset="-122"/>
                <a:cs typeface="Arial" pitchFamily="34" charset="-120"/>
              </a:rPr>
              <a:t>02   ·   WHAT WE DO</a:t>
            </a:r>
            <a:endParaRPr lang="en-US" sz="1000" dirty="0"/>
          </a:p>
        </p:txBody>
      </p:sp>
      <p:sp>
        <p:nvSpPr>
          <p:cNvPr id="3" name="Text 1"/>
          <p:cNvSpPr txBox="1"/>
          <p:nvPr/>
        </p:nvSpPr>
        <p:spPr>
          <a:xfrm>
            <a:off x="6065215" y="411480"/>
            <a:ext cx="5486400" cy="228600"/>
          </a:xfrm>
          <a:prstGeom prst="rect">
            <a:avLst/>
          </a:prstGeom>
          <a:noFill/>
          <a:ln/>
        </p:spPr>
        <p:txBody>
          <a:bodyPr wrap="square" lIns="0" tIns="0" rIns="0" bIns="0" rtlCol="0" anchor="t"/>
          <a:lstStyle/>
          <a:p>
            <a:pPr rtl="1" algn="r" indent="0" marL="0">
              <a:buNone/>
            </a:pPr>
            <a:r>
              <a:rPr lang="ar-AE" altLang="en-US" sz="1100" b="1" dirty="0">
                <a:solidFill>
                  <a:schemeClr val="accent1"/>
                </a:solidFill>
                <a:latin typeface="Arial" pitchFamily="34" charset="0"/>
                <a:ea typeface="Arial" pitchFamily="34" charset="-122"/>
                <a:cs typeface="Arial" pitchFamily="34" charset="-120"/>
              </a:rPr>
              <a:t>ماذا نقدم   ·   02</a:t>
            </a:r>
            <a:endParaRPr lang="ar-AE" sz="1100" dirty="0"/>
          </a:p>
        </p:txBody>
      </p:sp>
      <p:sp>
        <p:nvSpPr>
          <p:cNvPr id="4" name="Text 0"/>
          <p:cNvSpPr/>
          <p:nvPr>
            <p:ph idx="100" type="title" hasCustomPrompt="1"/>
          </p:nvPr>
        </p:nvSpPr>
        <p:spPr>
          <a:xfrm>
            <a:off x="640080" y="713232"/>
            <a:ext cx="5486400" cy="685800"/>
          </a:xfrm>
          <a:prstGeom prst="rect">
            <a:avLst/>
          </a:prstGeom>
          <a:noFill/>
          <a:ln/>
        </p:spPr>
        <p:txBody>
          <a:bodyPr wrap="square" lIns="0" tIns="0" rIns="0" bIns="0" rtlCol="0" anchor="t"/>
          <a:lstStyle/>
          <a:p>
            <a:pPr algn="l" indent="0" marL="0">
              <a:buNone/>
            </a:pPr>
            <a:r>
              <a:rPr lang="en-US" sz="3000" dirty="0">
                <a:solidFill>
                  <a:schemeClr val="tx1"/>
                </a:solidFill>
                <a:latin typeface="Arial" pitchFamily="34" charset="0"/>
                <a:ea typeface="Arial" pitchFamily="34" charset="-122"/>
                <a:cs typeface="Arial" pitchFamily="34" charset="-120"/>
              </a:rPr>
              <a:t>Technical Services</a:t>
            </a:r>
            <a:endParaRPr lang="en-US" sz="3000" dirty="0"/>
          </a:p>
        </p:txBody>
      </p:sp>
      <p:sp>
        <p:nvSpPr>
          <p:cNvPr id="5" name="Text 0"/>
          <p:cNvSpPr/>
          <p:nvPr>
            <p:ph idx="101" type="body" hasCustomPrompt="1"/>
          </p:nvPr>
        </p:nvSpPr>
        <p:spPr>
          <a:xfrm>
            <a:off x="6065215" y="713232"/>
            <a:ext cx="5486400" cy="685800"/>
          </a:xfrm>
          <a:prstGeom prst="rect">
            <a:avLst/>
          </a:prstGeom>
          <a:noFill/>
          <a:ln/>
        </p:spPr>
        <p:txBody>
          <a:bodyPr wrap="square" lIns="0" tIns="0" rIns="0" bIns="0" rtlCol="0" anchor="t"/>
          <a:lstStyle/>
          <a:p>
            <a:pPr rtl="1" algn="r" indent="0" marL="0">
              <a:buNone/>
            </a:pPr>
            <a:r>
              <a:rPr lang="ar-AE" altLang="en-US" sz="3000" dirty="0">
                <a:solidFill>
                  <a:schemeClr val="tx1"/>
                </a:solidFill>
                <a:latin typeface="Arial" pitchFamily="34" charset="0"/>
                <a:ea typeface="Arial" pitchFamily="34" charset="-122"/>
                <a:cs typeface="Arial" pitchFamily="34" charset="-120"/>
              </a:rPr>
              <a:t>خدماتنا الفنية</a:t>
            </a:r>
            <a:endParaRPr lang="ar-AE" sz="3000" dirty="0"/>
          </a:p>
        </p:txBody>
      </p:sp>
      <p:sp>
        <p:nvSpPr>
          <p:cNvPr id="6" name="Service card 1"/>
          <p:cNvSpPr/>
          <p:nvPr/>
        </p:nvSpPr>
        <p:spPr>
          <a:xfrm>
            <a:off x="640080" y="1691640"/>
            <a:ext cx="3456432" cy="4389120"/>
          </a:xfrm>
          <a:prstGeom prst="roundRect">
            <a:avLst>
              <a:gd name="adj" fmla="val 2646"/>
            </a:avLst>
          </a:prstGeom>
          <a:solidFill>
            <a:schemeClr val="bg1"/>
          </a:solidFill>
          <a:ln/>
          <a:effectLst>
            <a:outerShdw sx="100000" sy="100000" kx="0" ky="0" algn="bl" rotWithShape="0" blurRad="177800" dist="38100" dir="5400000">
              <a:srgbClr val="0B0D10">
                <a:alpha val="10000"/>
              </a:srgbClr>
            </a:outerShdw>
          </a:effectLst>
        </p:spPr>
      </p:sp>
      <p:sp>
        <p:nvSpPr>
          <p:cNvPr id="7" name="Service icon 1 circle"/>
          <p:cNvSpPr/>
          <p:nvPr/>
        </p:nvSpPr>
        <p:spPr>
          <a:xfrm>
            <a:off x="960120" y="2011680"/>
            <a:ext cx="822960" cy="822960"/>
          </a:xfrm>
          <a:prstGeom prst="ellipse">
            <a:avLst/>
          </a:prstGeom>
          <a:solidFill>
            <a:schemeClr val="accent6"/>
          </a:solidFill>
          <a:ln/>
        </p:spPr>
      </p:sp>
      <p:pic>
        <p:nvPicPr>
          <p:cNvPr id="8" name="Service icon 1" descr="icon">    </p:cNvPr>
          <p:cNvPicPr>
            <a:picLocks noChangeAspect="1"/>
          </p:cNvPicPr>
          <p:nvPr/>
        </p:nvPicPr>
        <p:blipFill>
          <a:blip r:embed="rId1"/>
          <a:stretch>
            <a:fillRect/>
          </a:stretch>
        </p:blipFill>
        <p:spPr>
          <a:xfrm>
            <a:off x="1157630" y="2209190"/>
            <a:ext cx="427939" cy="427939"/>
          </a:xfrm>
          <a:prstGeom prst="rect">
            <a:avLst/>
          </a:prstGeom>
        </p:spPr>
      </p:pic>
      <p:sp>
        <p:nvSpPr>
          <p:cNvPr id="9" name="Text 6"/>
          <p:cNvSpPr txBox="1"/>
          <p:nvPr/>
        </p:nvSpPr>
        <p:spPr>
          <a:xfrm>
            <a:off x="960120" y="3063240"/>
            <a:ext cx="2816352" cy="292608"/>
          </a:xfrm>
          <a:prstGeom prst="rect">
            <a:avLst/>
          </a:prstGeom>
          <a:noFill/>
          <a:ln/>
        </p:spPr>
        <p:txBody>
          <a:bodyPr wrap="square" lIns="0" tIns="0" rIns="0" bIns="0" rtlCol="0" anchor="t"/>
          <a:lstStyle/>
          <a:p>
            <a:pPr algn="l" indent="0" marL="0">
              <a:buNone/>
            </a:pPr>
            <a:r>
              <a:rPr lang="en-US" sz="1700" b="1" dirty="0">
                <a:solidFill>
                  <a:schemeClr val="tx1"/>
                </a:solidFill>
                <a:latin typeface="Arial" pitchFamily="34" charset="0"/>
                <a:ea typeface="Arial" pitchFamily="34" charset="-122"/>
                <a:cs typeface="Arial" pitchFamily="34" charset="-120"/>
              </a:rPr>
              <a:t>Charger Installation</a:t>
            </a:r>
            <a:endParaRPr lang="en-US" sz="1700" dirty="0"/>
          </a:p>
        </p:txBody>
      </p:sp>
      <p:sp>
        <p:nvSpPr>
          <p:cNvPr id="10" name="Text 7"/>
          <p:cNvSpPr txBox="1"/>
          <p:nvPr/>
        </p:nvSpPr>
        <p:spPr>
          <a:xfrm>
            <a:off x="960120" y="3410712"/>
            <a:ext cx="2816352" cy="292608"/>
          </a:xfrm>
          <a:prstGeom prst="rect">
            <a:avLst/>
          </a:prstGeom>
          <a:noFill/>
          <a:ln/>
        </p:spPr>
        <p:txBody>
          <a:bodyPr wrap="square" lIns="0" tIns="0" rIns="0" bIns="0" rtlCol="0" anchor="t"/>
          <a:lstStyle/>
          <a:p>
            <a:pPr rtl="1" algn="r" indent="0" marL="0">
              <a:buNone/>
            </a:pPr>
            <a:r>
              <a:rPr lang="ar-AE" altLang="en-US" sz="1500" b="1" dirty="0">
                <a:solidFill>
                  <a:schemeClr val="accent1"/>
                </a:solidFill>
                <a:latin typeface="Arial" pitchFamily="34" charset="0"/>
                <a:ea typeface="Arial" pitchFamily="34" charset="-122"/>
                <a:cs typeface="Arial" pitchFamily="34" charset="-120"/>
              </a:rPr>
              <a:t>تركيب الشواحن</a:t>
            </a:r>
            <a:endParaRPr lang="ar-AE" sz="1500" dirty="0"/>
          </a:p>
        </p:txBody>
      </p:sp>
      <p:sp>
        <p:nvSpPr>
          <p:cNvPr id="11" name="Text 8"/>
          <p:cNvSpPr txBox="1"/>
          <p:nvPr/>
        </p:nvSpPr>
        <p:spPr>
          <a:xfrm>
            <a:off x="960120" y="3840480"/>
            <a:ext cx="2816352" cy="777240"/>
          </a:xfrm>
          <a:prstGeom prst="rect">
            <a:avLst/>
          </a:prstGeom>
          <a:noFill/>
          <a:ln/>
        </p:spPr>
        <p:txBody>
          <a:bodyPr wrap="square" lIns="0" tIns="0" rIns="0" bIns="0" rtlCol="0" anchor="t"/>
          <a:lstStyle/>
          <a:p>
            <a:pPr algn="l" indent="0" marL="0">
              <a:buNone/>
            </a:pPr>
            <a:r>
              <a:rPr lang="en-US" sz="1200" dirty="0">
                <a:solidFill>
                  <a:schemeClr val="accent3"/>
                </a:solidFill>
                <a:latin typeface="Arial" pitchFamily="34" charset="0"/>
                <a:ea typeface="Arial" pitchFamily="34" charset="-122"/>
                <a:cs typeface="Arial" pitchFamily="34" charset="-120"/>
              </a:rPr>
              <a:t>Carried out by EVCARS’ dedicated technical team after assessing the installation requirements.</a:t>
            </a:r>
            <a:endParaRPr lang="en-US" sz="1200" dirty="0"/>
          </a:p>
        </p:txBody>
      </p:sp>
      <p:sp>
        <p:nvSpPr>
          <p:cNvPr id="12" name="Text 9"/>
          <p:cNvSpPr txBox="1"/>
          <p:nvPr/>
        </p:nvSpPr>
        <p:spPr>
          <a:xfrm>
            <a:off x="960120" y="4709160"/>
            <a:ext cx="2816352" cy="777240"/>
          </a:xfrm>
          <a:prstGeom prst="rect">
            <a:avLst/>
          </a:prstGeom>
          <a:noFill/>
          <a:ln/>
        </p:spPr>
        <p:txBody>
          <a:bodyPr wrap="square" lIns="0" tIns="0" rIns="0" bIns="0" rtlCol="0" anchor="t"/>
          <a:lstStyle/>
          <a:p>
            <a:pPr rtl="1" algn="r" indent="0" marL="0">
              <a:buNone/>
            </a:pPr>
            <a:r>
              <a:rPr lang="ar-AE" altLang="en-US" sz="1200" dirty="0">
                <a:solidFill>
                  <a:schemeClr val="accent3"/>
                </a:solidFill>
                <a:latin typeface="Arial" pitchFamily="34" charset="0"/>
                <a:ea typeface="Arial" pitchFamily="34" charset="-122"/>
                <a:cs typeface="Arial" pitchFamily="34" charset="-120"/>
              </a:rPr>
              <a:t>يتولاها فريق فني متخصص تابع للشركة بعد تقييم متطلبات التركيب.</a:t>
            </a:r>
            <a:endParaRPr lang="ar-AE" sz="1200" dirty="0"/>
          </a:p>
        </p:txBody>
      </p:sp>
      <p:sp>
        <p:nvSpPr>
          <p:cNvPr id="13" name="hairline"/>
          <p:cNvSpPr/>
          <p:nvPr/>
        </p:nvSpPr>
        <p:spPr>
          <a:xfrm>
            <a:off x="960120" y="5532120"/>
            <a:ext cx="2816352" cy="0"/>
          </a:xfrm>
          <a:prstGeom prst="line">
            <a:avLst/>
          </a:prstGeom>
          <a:noFill/>
          <a:ln w="9525">
            <a:solidFill>
              <a:schemeClr val="accent5"/>
            </a:solidFill>
            <a:prstDash val="solid"/>
          </a:ln>
        </p:spPr>
      </p:sp>
      <p:sp>
        <p:nvSpPr>
          <p:cNvPr id="14" name="Text 11"/>
          <p:cNvSpPr txBox="1"/>
          <p:nvPr/>
        </p:nvSpPr>
        <p:spPr>
          <a:xfrm>
            <a:off x="960120" y="5650992"/>
            <a:ext cx="2816352" cy="274320"/>
          </a:xfrm>
          <a:prstGeom prst="rect">
            <a:avLst/>
          </a:prstGeom>
          <a:noFill/>
          <a:ln/>
        </p:spPr>
        <p:txBody>
          <a:bodyPr wrap="square" lIns="0" tIns="0" rIns="0" bIns="0" rtlCol="0" anchor="t"/>
          <a:lstStyle/>
          <a:p>
            <a:pPr algn="ctr" indent="0" marL="0">
              <a:buNone/>
            </a:pPr>
            <a:r>
              <a:rPr lang="en-US" sz="1000" dirty="0">
                <a:solidFill>
                  <a:schemeClr val="accent3"/>
                </a:solidFill>
                <a:latin typeface="Arial" pitchFamily="34" charset="0"/>
                <a:ea typeface="Arial" pitchFamily="34" charset="-122"/>
                <a:cs typeface="Arial" pitchFamily="34" charset="-120"/>
              </a:rPr>
              <a:t>Warranty on installation  ·  ضمان على التركيب</a:t>
            </a:r>
            <a:endParaRPr lang="en-US" sz="1000" dirty="0"/>
          </a:p>
        </p:txBody>
      </p:sp>
      <p:sp>
        <p:nvSpPr>
          <p:cNvPr id="15" name="Service card 2"/>
          <p:cNvSpPr/>
          <p:nvPr/>
        </p:nvSpPr>
        <p:spPr>
          <a:xfrm>
            <a:off x="4366260" y="1691640"/>
            <a:ext cx="3456432" cy="4389120"/>
          </a:xfrm>
          <a:prstGeom prst="roundRect">
            <a:avLst>
              <a:gd name="adj" fmla="val 2646"/>
            </a:avLst>
          </a:prstGeom>
          <a:solidFill>
            <a:schemeClr val="bg1"/>
          </a:solidFill>
          <a:ln/>
          <a:effectLst>
            <a:outerShdw sx="100000" sy="100000" kx="0" ky="0" algn="bl" rotWithShape="0" blurRad="177800" dist="38100" dir="5400000">
              <a:srgbClr val="0B0D10">
                <a:alpha val="10000"/>
              </a:srgbClr>
            </a:outerShdw>
          </a:effectLst>
        </p:spPr>
      </p:sp>
      <p:sp>
        <p:nvSpPr>
          <p:cNvPr id="16" name="Service icon 2 circle"/>
          <p:cNvSpPr/>
          <p:nvPr/>
        </p:nvSpPr>
        <p:spPr>
          <a:xfrm>
            <a:off x="4686300" y="2011680"/>
            <a:ext cx="822960" cy="822960"/>
          </a:xfrm>
          <a:prstGeom prst="ellipse">
            <a:avLst/>
          </a:prstGeom>
          <a:solidFill>
            <a:schemeClr val="accent6"/>
          </a:solidFill>
          <a:ln/>
        </p:spPr>
      </p:sp>
      <p:pic>
        <p:nvPicPr>
          <p:cNvPr id="17" name="Service icon 2" descr="icon">    </p:cNvPr>
          <p:cNvPicPr>
            <a:picLocks noChangeAspect="1"/>
          </p:cNvPicPr>
          <p:nvPr/>
        </p:nvPicPr>
        <p:blipFill>
          <a:blip r:embed="rId2"/>
          <a:stretch>
            <a:fillRect/>
          </a:stretch>
        </p:blipFill>
        <p:spPr>
          <a:xfrm>
            <a:off x="4883810" y="2209190"/>
            <a:ext cx="427939" cy="427939"/>
          </a:xfrm>
          <a:prstGeom prst="rect">
            <a:avLst/>
          </a:prstGeom>
        </p:spPr>
      </p:pic>
      <p:sp>
        <p:nvSpPr>
          <p:cNvPr id="18" name="Text 14"/>
          <p:cNvSpPr txBox="1"/>
          <p:nvPr/>
        </p:nvSpPr>
        <p:spPr>
          <a:xfrm>
            <a:off x="4686300" y="3063240"/>
            <a:ext cx="2816352" cy="292608"/>
          </a:xfrm>
          <a:prstGeom prst="rect">
            <a:avLst/>
          </a:prstGeom>
          <a:noFill/>
          <a:ln/>
        </p:spPr>
        <p:txBody>
          <a:bodyPr wrap="square" lIns="0" tIns="0" rIns="0" bIns="0" rtlCol="0" anchor="t"/>
          <a:lstStyle/>
          <a:p>
            <a:pPr algn="l" indent="0" marL="0">
              <a:buNone/>
            </a:pPr>
            <a:r>
              <a:rPr lang="en-US" sz="1700" b="1" dirty="0">
                <a:solidFill>
                  <a:schemeClr val="tx1"/>
                </a:solidFill>
                <a:latin typeface="Arial" pitchFamily="34" charset="0"/>
                <a:ea typeface="Arial" pitchFamily="34" charset="-122"/>
                <a:cs typeface="Arial" pitchFamily="34" charset="-120"/>
              </a:rPr>
              <a:t>Accessory Installation</a:t>
            </a:r>
            <a:endParaRPr lang="en-US" sz="1700" dirty="0"/>
          </a:p>
        </p:txBody>
      </p:sp>
      <p:sp>
        <p:nvSpPr>
          <p:cNvPr id="19" name="Text 15"/>
          <p:cNvSpPr txBox="1"/>
          <p:nvPr/>
        </p:nvSpPr>
        <p:spPr>
          <a:xfrm>
            <a:off x="4686300" y="3410712"/>
            <a:ext cx="2816352" cy="292608"/>
          </a:xfrm>
          <a:prstGeom prst="rect">
            <a:avLst/>
          </a:prstGeom>
          <a:noFill/>
          <a:ln/>
        </p:spPr>
        <p:txBody>
          <a:bodyPr wrap="square" lIns="0" tIns="0" rIns="0" bIns="0" rtlCol="0" anchor="t"/>
          <a:lstStyle/>
          <a:p>
            <a:pPr rtl="1" algn="r" indent="0" marL="0">
              <a:buNone/>
            </a:pPr>
            <a:r>
              <a:rPr lang="ar-AE" altLang="en-US" sz="1500" b="1" dirty="0">
                <a:solidFill>
                  <a:schemeClr val="accent1"/>
                </a:solidFill>
                <a:latin typeface="Arial" pitchFamily="34" charset="0"/>
                <a:ea typeface="Arial" pitchFamily="34" charset="-122"/>
                <a:cs typeface="Arial" pitchFamily="34" charset="-120"/>
              </a:rPr>
              <a:t>تركيب الإكسسوارات</a:t>
            </a:r>
            <a:endParaRPr lang="ar-AE" sz="1500" dirty="0"/>
          </a:p>
        </p:txBody>
      </p:sp>
      <p:sp>
        <p:nvSpPr>
          <p:cNvPr id="20" name="Text 16"/>
          <p:cNvSpPr txBox="1"/>
          <p:nvPr/>
        </p:nvSpPr>
        <p:spPr>
          <a:xfrm>
            <a:off x="4686300" y="3840480"/>
            <a:ext cx="2816352" cy="777240"/>
          </a:xfrm>
          <a:prstGeom prst="rect">
            <a:avLst/>
          </a:prstGeom>
          <a:noFill/>
          <a:ln/>
        </p:spPr>
        <p:txBody>
          <a:bodyPr wrap="square" lIns="0" tIns="0" rIns="0" bIns="0" rtlCol="0" anchor="t"/>
          <a:lstStyle/>
          <a:p>
            <a:pPr algn="l" indent="0" marL="0">
              <a:buNone/>
            </a:pPr>
            <a:r>
              <a:rPr lang="en-US" sz="1200" dirty="0">
                <a:solidFill>
                  <a:schemeClr val="accent3"/>
                </a:solidFill>
                <a:latin typeface="Arial" pitchFamily="34" charset="0"/>
                <a:ea typeface="Arial" pitchFamily="34" charset="-122"/>
                <a:cs typeface="Arial" pitchFamily="34" charset="-120"/>
              </a:rPr>
              <a:t>Complimentary in-branch installation for eligible accessories purchased from EVCARS.</a:t>
            </a:r>
            <a:endParaRPr lang="en-US" sz="1200" dirty="0"/>
          </a:p>
        </p:txBody>
      </p:sp>
      <p:sp>
        <p:nvSpPr>
          <p:cNvPr id="21" name="Text 17"/>
          <p:cNvSpPr txBox="1"/>
          <p:nvPr/>
        </p:nvSpPr>
        <p:spPr>
          <a:xfrm>
            <a:off x="4686300" y="4709160"/>
            <a:ext cx="2816352" cy="777240"/>
          </a:xfrm>
          <a:prstGeom prst="rect">
            <a:avLst/>
          </a:prstGeom>
          <a:noFill/>
          <a:ln/>
        </p:spPr>
        <p:txBody>
          <a:bodyPr wrap="square" lIns="0" tIns="0" rIns="0" bIns="0" rtlCol="0" anchor="t"/>
          <a:lstStyle/>
          <a:p>
            <a:pPr rtl="1" algn="r" indent="0" marL="0">
              <a:buNone/>
            </a:pPr>
            <a:r>
              <a:rPr lang="ar-AE" altLang="en-US" sz="1200" dirty="0">
                <a:solidFill>
                  <a:schemeClr val="accent3"/>
                </a:solidFill>
                <a:latin typeface="Arial" pitchFamily="34" charset="0"/>
                <a:ea typeface="Arial" pitchFamily="34" charset="-122"/>
                <a:cs typeface="Arial" pitchFamily="34" charset="-120"/>
              </a:rPr>
              <a:t>تركيب مجاني داخل الفروع للإكسسوارات المؤهلة التي يتم شراؤها من الشركة.</a:t>
            </a:r>
            <a:endParaRPr lang="ar-AE" sz="1200" dirty="0"/>
          </a:p>
        </p:txBody>
      </p:sp>
      <p:sp>
        <p:nvSpPr>
          <p:cNvPr id="22" name="hairline"/>
          <p:cNvSpPr/>
          <p:nvPr/>
        </p:nvSpPr>
        <p:spPr>
          <a:xfrm>
            <a:off x="4686300" y="5532120"/>
            <a:ext cx="2816352" cy="0"/>
          </a:xfrm>
          <a:prstGeom prst="line">
            <a:avLst/>
          </a:prstGeom>
          <a:noFill/>
          <a:ln w="9525">
            <a:solidFill>
              <a:schemeClr val="accent5"/>
            </a:solidFill>
            <a:prstDash val="solid"/>
          </a:ln>
        </p:spPr>
      </p:sp>
      <p:sp>
        <p:nvSpPr>
          <p:cNvPr id="23" name="Text 19"/>
          <p:cNvSpPr txBox="1"/>
          <p:nvPr/>
        </p:nvSpPr>
        <p:spPr>
          <a:xfrm>
            <a:off x="4686300" y="5650992"/>
            <a:ext cx="2816352" cy="274320"/>
          </a:xfrm>
          <a:prstGeom prst="rect">
            <a:avLst/>
          </a:prstGeom>
          <a:noFill/>
          <a:ln/>
        </p:spPr>
        <p:txBody>
          <a:bodyPr wrap="square" lIns="0" tIns="0" rIns="0" bIns="0" rtlCol="0" anchor="t"/>
          <a:lstStyle/>
          <a:p>
            <a:pPr algn="ctr" indent="0" marL="0">
              <a:buNone/>
            </a:pPr>
            <a:r>
              <a:rPr lang="en-US" sz="1000" dirty="0">
                <a:solidFill>
                  <a:schemeClr val="accent3"/>
                </a:solidFill>
                <a:latin typeface="Arial" pitchFamily="34" charset="0"/>
                <a:ea typeface="Arial" pitchFamily="34" charset="-122"/>
                <a:cs typeface="Arial" pitchFamily="34" charset="-120"/>
              </a:rPr>
              <a:t>UAE &amp; Oman branches  ·  فروع الإمارات وعُمان</a:t>
            </a:r>
            <a:endParaRPr lang="en-US" sz="1000" dirty="0"/>
          </a:p>
        </p:txBody>
      </p:sp>
      <p:sp>
        <p:nvSpPr>
          <p:cNvPr id="24" name="Service card 3"/>
          <p:cNvSpPr/>
          <p:nvPr/>
        </p:nvSpPr>
        <p:spPr>
          <a:xfrm>
            <a:off x="8092440" y="1691640"/>
            <a:ext cx="3456432" cy="4389120"/>
          </a:xfrm>
          <a:prstGeom prst="roundRect">
            <a:avLst>
              <a:gd name="adj" fmla="val 2646"/>
            </a:avLst>
          </a:prstGeom>
          <a:solidFill>
            <a:schemeClr val="bg1"/>
          </a:solidFill>
          <a:ln/>
          <a:effectLst>
            <a:outerShdw sx="100000" sy="100000" kx="0" ky="0" algn="bl" rotWithShape="0" blurRad="177800" dist="38100" dir="5400000">
              <a:srgbClr val="0B0D10">
                <a:alpha val="10000"/>
              </a:srgbClr>
            </a:outerShdw>
          </a:effectLst>
        </p:spPr>
      </p:sp>
      <p:sp>
        <p:nvSpPr>
          <p:cNvPr id="25" name="Service icon 3 circle"/>
          <p:cNvSpPr/>
          <p:nvPr/>
        </p:nvSpPr>
        <p:spPr>
          <a:xfrm>
            <a:off x="8412480" y="2011680"/>
            <a:ext cx="822960" cy="822960"/>
          </a:xfrm>
          <a:prstGeom prst="ellipse">
            <a:avLst/>
          </a:prstGeom>
          <a:solidFill>
            <a:schemeClr val="accent6"/>
          </a:solidFill>
          <a:ln/>
        </p:spPr>
      </p:sp>
      <p:pic>
        <p:nvPicPr>
          <p:cNvPr id="26" name="Service icon 3" descr="icon">    </p:cNvPr>
          <p:cNvPicPr>
            <a:picLocks noChangeAspect="1"/>
          </p:cNvPicPr>
          <p:nvPr/>
        </p:nvPicPr>
        <p:blipFill>
          <a:blip r:embed="rId3"/>
          <a:stretch>
            <a:fillRect/>
          </a:stretch>
        </p:blipFill>
        <p:spPr>
          <a:xfrm>
            <a:off x="8609990" y="2209190"/>
            <a:ext cx="427939" cy="427939"/>
          </a:xfrm>
          <a:prstGeom prst="rect">
            <a:avLst/>
          </a:prstGeom>
        </p:spPr>
      </p:pic>
      <p:sp>
        <p:nvSpPr>
          <p:cNvPr id="27" name="Text 22"/>
          <p:cNvSpPr txBox="1"/>
          <p:nvPr/>
        </p:nvSpPr>
        <p:spPr>
          <a:xfrm>
            <a:off x="8412480" y="3063240"/>
            <a:ext cx="2816352" cy="292608"/>
          </a:xfrm>
          <a:prstGeom prst="rect">
            <a:avLst/>
          </a:prstGeom>
          <a:noFill/>
          <a:ln/>
        </p:spPr>
        <p:txBody>
          <a:bodyPr wrap="square" lIns="0" tIns="0" rIns="0" bIns="0" rtlCol="0" anchor="t"/>
          <a:lstStyle/>
          <a:p>
            <a:pPr algn="l" indent="0" marL="0">
              <a:buNone/>
            </a:pPr>
            <a:r>
              <a:rPr lang="en-US" sz="1700" b="1" dirty="0">
                <a:solidFill>
                  <a:schemeClr val="tx1"/>
                </a:solidFill>
                <a:latin typeface="Arial" pitchFamily="34" charset="0"/>
                <a:ea typeface="Arial" pitchFamily="34" charset="-122"/>
                <a:cs typeface="Arial" pitchFamily="34" charset="-120"/>
              </a:rPr>
              <a:t>Tesla AC Care</a:t>
            </a:r>
            <a:endParaRPr lang="en-US" sz="1700" dirty="0"/>
          </a:p>
        </p:txBody>
      </p:sp>
      <p:sp>
        <p:nvSpPr>
          <p:cNvPr id="28" name="Text 23"/>
          <p:cNvSpPr txBox="1"/>
          <p:nvPr/>
        </p:nvSpPr>
        <p:spPr>
          <a:xfrm>
            <a:off x="8412480" y="3410712"/>
            <a:ext cx="2816352" cy="292608"/>
          </a:xfrm>
          <a:prstGeom prst="rect">
            <a:avLst/>
          </a:prstGeom>
          <a:noFill/>
          <a:ln/>
        </p:spPr>
        <p:txBody>
          <a:bodyPr wrap="square" lIns="0" tIns="0" rIns="0" bIns="0" rtlCol="0" anchor="t"/>
          <a:lstStyle/>
          <a:p>
            <a:pPr rtl="1" algn="r" indent="0" marL="0">
              <a:buNone/>
            </a:pPr>
            <a:r>
              <a:rPr lang="ar-AE" altLang="en-US" sz="1500" b="1" dirty="0">
                <a:solidFill>
                  <a:schemeClr val="accent1"/>
                </a:solidFill>
                <a:latin typeface="Arial" pitchFamily="34" charset="0"/>
                <a:ea typeface="Arial" pitchFamily="34" charset="-122"/>
                <a:cs typeface="Arial" pitchFamily="34" charset="-120"/>
              </a:rPr>
              <a:t>العناية بتكييف تسلا</a:t>
            </a:r>
            <a:endParaRPr lang="ar-AE" sz="1500" dirty="0"/>
          </a:p>
        </p:txBody>
      </p:sp>
      <p:sp>
        <p:nvSpPr>
          <p:cNvPr id="29" name="Text 24"/>
          <p:cNvSpPr txBox="1"/>
          <p:nvPr/>
        </p:nvSpPr>
        <p:spPr>
          <a:xfrm>
            <a:off x="8412480" y="3840480"/>
            <a:ext cx="2816352" cy="777240"/>
          </a:xfrm>
          <a:prstGeom prst="rect">
            <a:avLst/>
          </a:prstGeom>
          <a:noFill/>
          <a:ln/>
        </p:spPr>
        <p:txBody>
          <a:bodyPr wrap="square" lIns="0" tIns="0" rIns="0" bIns="0" rtlCol="0" anchor="t"/>
          <a:lstStyle/>
          <a:p>
            <a:pPr algn="l" indent="0" marL="0">
              <a:buNone/>
            </a:pPr>
            <a:r>
              <a:rPr lang="en-US" sz="1200" dirty="0">
                <a:solidFill>
                  <a:schemeClr val="accent3"/>
                </a:solidFill>
                <a:latin typeface="Arial" pitchFamily="34" charset="0"/>
                <a:ea typeface="Arial" pitchFamily="34" charset="-122"/>
                <a:cs typeface="Arial" pitchFamily="34" charset="-120"/>
              </a:rPr>
              <a:t>Quick, focused care for Tesla AC systems: filter replacement, cleaning and cooling checks.</a:t>
            </a:r>
            <a:endParaRPr lang="en-US" sz="1200" dirty="0"/>
          </a:p>
        </p:txBody>
      </p:sp>
      <p:sp>
        <p:nvSpPr>
          <p:cNvPr id="30" name="Text 25"/>
          <p:cNvSpPr txBox="1"/>
          <p:nvPr/>
        </p:nvSpPr>
        <p:spPr>
          <a:xfrm>
            <a:off x="8412480" y="4709160"/>
            <a:ext cx="2816352" cy="777240"/>
          </a:xfrm>
          <a:prstGeom prst="rect">
            <a:avLst/>
          </a:prstGeom>
          <a:noFill/>
          <a:ln/>
        </p:spPr>
        <p:txBody>
          <a:bodyPr wrap="square" lIns="0" tIns="0" rIns="0" bIns="0" rtlCol="0" anchor="t"/>
          <a:lstStyle/>
          <a:p>
            <a:pPr rtl="1" algn="r" indent="0" marL="0">
              <a:buNone/>
            </a:pPr>
            <a:r>
              <a:rPr lang="ar-AE" altLang="en-US" sz="1200" dirty="0">
                <a:solidFill>
                  <a:schemeClr val="accent3"/>
                </a:solidFill>
                <a:latin typeface="Arial" pitchFamily="34" charset="0"/>
                <a:ea typeface="Arial" pitchFamily="34" charset="-122"/>
                <a:cs typeface="Arial" pitchFamily="34" charset="-120"/>
              </a:rPr>
              <a:t>صيانة سريعة ومحددة لتكييف تسلا: تبديل الفلاتر، التنظيف، وفحص أداء التبريد.</a:t>
            </a:r>
            <a:endParaRPr lang="ar-AE" sz="1200" dirty="0"/>
          </a:p>
        </p:txBody>
      </p:sp>
      <p:sp>
        <p:nvSpPr>
          <p:cNvPr id="31" name="hairline"/>
          <p:cNvSpPr/>
          <p:nvPr/>
        </p:nvSpPr>
        <p:spPr>
          <a:xfrm>
            <a:off x="8412480" y="5532120"/>
            <a:ext cx="2816352" cy="0"/>
          </a:xfrm>
          <a:prstGeom prst="line">
            <a:avLst/>
          </a:prstGeom>
          <a:noFill/>
          <a:ln w="9525">
            <a:solidFill>
              <a:schemeClr val="accent5"/>
            </a:solidFill>
            <a:prstDash val="solid"/>
          </a:ln>
        </p:spPr>
      </p:sp>
      <p:sp>
        <p:nvSpPr>
          <p:cNvPr id="32" name="Text 27"/>
          <p:cNvSpPr txBox="1"/>
          <p:nvPr/>
        </p:nvSpPr>
        <p:spPr>
          <a:xfrm>
            <a:off x="8412480" y="5650992"/>
            <a:ext cx="2816352" cy="274320"/>
          </a:xfrm>
          <a:prstGeom prst="rect">
            <a:avLst/>
          </a:prstGeom>
          <a:noFill/>
          <a:ln/>
        </p:spPr>
        <p:txBody>
          <a:bodyPr wrap="square" lIns="0" tIns="0" rIns="0" bIns="0" rtlCol="0" anchor="t"/>
          <a:lstStyle/>
          <a:p>
            <a:pPr algn="ctr" indent="0" marL="0">
              <a:buNone/>
            </a:pPr>
            <a:r>
              <a:rPr lang="en-US" sz="1000" dirty="0">
                <a:solidFill>
                  <a:schemeClr val="accent3"/>
                </a:solidFill>
                <a:latin typeface="Arial" pitchFamily="34" charset="0"/>
                <a:ea typeface="Arial" pitchFamily="34" charset="-122"/>
                <a:cs typeface="Arial" pitchFamily="34" charset="-120"/>
              </a:rPr>
              <a:t>Dubai · Sharjah · Al Ain  ·  دبي · الشارقة · العين</a:t>
            </a:r>
            <a:endParaRPr lang="en-US" sz="1000" dirty="0"/>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A75"/>
                </a:solidFill>
                <a:latin typeface="Arial"/>
                <a:ea typeface="Arial"/>
                <a:cs typeface="Arial"/>
              </a:defRPr>
            </a:lvl1pPr>
          </a:lstStyle>
          <a:p>
            <a:pPr algn="r"/>
            <a:fld id="{F7021451-1387-4CA6-816F-3879F97B5CBC}" type="slidenum">
              <a:rPr b="0" lang="en-US"/>
              <a:t>11</a:t>
            </a:fld>
            <a:endParaRPr lang="en-US"/>
          </a:p>
        </p:txBody>
      </p:sp>
      <p:sp>
        <p:nvSpPr>
          <p:cNvPr id="33" name="Back to contents" descr="Back to contents">
            <a:hlinkClick r:id="rId6" action="ppaction://hlinksldjump" tooltip="Back to Contents / العودة إلى المحتويات"/>
          </p:cNvPr>
          <p:cNvSpPr/>
          <p:nvPr/>
        </p:nvSpPr>
        <p:spPr>
          <a:xfrm>
            <a:off x="8838000" y="6283000"/>
            <a:ext cx="1850000" cy="300000"/>
          </a:xfrm>
          <a:prstGeom prst="roundRect">
            <a:avLst>
              <a:gd name="adj" fmla="val 50000"/>
            </a:avLst>
          </a:prstGeom>
          <a:noFill/>
          <a:ln w="9525">
            <a:solidFill>
              <a:schemeClr val="accent1"/>
            </a:solidFill>
          </a:ln>
        </p:spPr>
        <p:txBody>
          <a:bodyPr wrap="none" lIns="0" tIns="0" rIns="0" bIns="0" rtlCol="0" anchor="ctr"/>
          <a:lstStyle/>
          <a:p>
            <a:pPr algn="ctr"/>
            <a:r>
              <a:rPr lang="en-US" sz="900" b="1" spc="120" dirty="0">
                <a:solidFill>
                  <a:schemeClr val="accent1"/>
                </a:solidFill>
                <a:latin typeface="Arial"/>
                <a:cs typeface="Arial"/>
              </a:rPr>
              <a:t>CONTENTS  ·  </a:t>
            </a:r>
            <a:r>
              <a:rPr lang="ar-AE" sz="900" b="1" dirty="0">
                <a:solidFill>
                  <a:schemeClr val="accent1"/>
                </a:solidFill>
                <a:latin typeface="Arial"/>
                <a:cs typeface="Arial"/>
              </a:rPr>
              <a:t>المحتويات</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5486400" cy="228600"/>
          </a:xfrm>
          <a:prstGeom prst="rect">
            <a:avLst/>
          </a:prstGeom>
          <a:noFill/>
          <a:ln/>
        </p:spPr>
        <p:txBody>
          <a:bodyPr wrap="square" lIns="0" tIns="0" rIns="0" bIns="0" rtlCol="0" anchor="t"/>
          <a:lstStyle/>
          <a:p>
            <a:pPr algn="l" indent="0" marL="0">
              <a:buNone/>
            </a:pPr>
            <a:r>
              <a:rPr lang="en-US" sz="1000" b="1" spc="300" kern="0" dirty="0">
                <a:solidFill>
                  <a:schemeClr val="accent2"/>
                </a:solidFill>
                <a:latin typeface="Arial" pitchFamily="34" charset="0"/>
                <a:ea typeface="Arial" pitchFamily="34" charset="-122"/>
                <a:cs typeface="Arial" pitchFamily="34" charset="-120"/>
              </a:rPr>
              <a:t>03   ·   WHO WE SERVE</a:t>
            </a:r>
            <a:endParaRPr lang="en-US" sz="1000" dirty="0"/>
          </a:p>
        </p:txBody>
      </p:sp>
      <p:sp>
        <p:nvSpPr>
          <p:cNvPr id="3" name="Text 1"/>
          <p:cNvSpPr txBox="1"/>
          <p:nvPr/>
        </p:nvSpPr>
        <p:spPr>
          <a:xfrm>
            <a:off x="6065215" y="411480"/>
            <a:ext cx="5486400" cy="228600"/>
          </a:xfrm>
          <a:prstGeom prst="rect">
            <a:avLst/>
          </a:prstGeom>
          <a:noFill/>
          <a:ln/>
        </p:spPr>
        <p:txBody>
          <a:bodyPr wrap="square" lIns="0" tIns="0" rIns="0" bIns="0" rtlCol="0" anchor="t"/>
          <a:lstStyle/>
          <a:p>
            <a:pPr rtl="1" algn="r" indent="0" marL="0">
              <a:buNone/>
            </a:pPr>
            <a:r>
              <a:rPr lang="ar-AE" altLang="en-US" sz="1100" b="1" dirty="0">
                <a:solidFill>
                  <a:schemeClr val="accent2"/>
                </a:solidFill>
                <a:latin typeface="Arial" pitchFamily="34" charset="0"/>
                <a:ea typeface="Arial" pitchFamily="34" charset="-122"/>
                <a:cs typeface="Arial" pitchFamily="34" charset="-120"/>
              </a:rPr>
              <a:t>من نخدم   ·   03</a:t>
            </a:r>
            <a:endParaRPr lang="ar-AE" sz="1100" dirty="0"/>
          </a:p>
        </p:txBody>
      </p:sp>
      <p:sp>
        <p:nvSpPr>
          <p:cNvPr id="4" name="Text 0"/>
          <p:cNvSpPr/>
          <p:nvPr>
            <p:ph idx="100" type="title" hasCustomPrompt="1"/>
          </p:nvPr>
        </p:nvSpPr>
        <p:spPr>
          <a:xfrm>
            <a:off x="640080" y="713232"/>
            <a:ext cx="5486400" cy="685800"/>
          </a:xfrm>
          <a:prstGeom prst="rect">
            <a:avLst/>
          </a:prstGeom>
          <a:noFill/>
          <a:ln/>
        </p:spPr>
        <p:txBody>
          <a:bodyPr wrap="square" lIns="0" tIns="0" rIns="0" bIns="0" rtlCol="0" anchor="t"/>
          <a:lstStyle/>
          <a:p>
            <a:pPr algn="l" indent="0" marL="0">
              <a:buNone/>
            </a:pPr>
            <a:r>
              <a:rPr lang="en-US" sz="3000" dirty="0">
                <a:solidFill>
                  <a:schemeClr val="bg1"/>
                </a:solidFill>
                <a:latin typeface="Arial" pitchFamily="34" charset="0"/>
                <a:ea typeface="Arial" pitchFamily="34" charset="-122"/>
                <a:cs typeface="Arial" pitchFamily="34" charset="-120"/>
              </a:rPr>
              <a:t>Vehicle Brands We Serve</a:t>
            </a:r>
            <a:endParaRPr lang="en-US" sz="3000" dirty="0"/>
          </a:p>
        </p:txBody>
      </p:sp>
      <p:sp>
        <p:nvSpPr>
          <p:cNvPr id="5" name="Text 0"/>
          <p:cNvSpPr/>
          <p:nvPr>
            <p:ph idx="101" type="body" hasCustomPrompt="1"/>
          </p:nvPr>
        </p:nvSpPr>
        <p:spPr>
          <a:xfrm>
            <a:off x="6065215" y="713232"/>
            <a:ext cx="5486400" cy="685800"/>
          </a:xfrm>
          <a:prstGeom prst="rect">
            <a:avLst/>
          </a:prstGeom>
          <a:noFill/>
          <a:ln/>
        </p:spPr>
        <p:txBody>
          <a:bodyPr wrap="square" lIns="0" tIns="0" rIns="0" bIns="0" rtlCol="0" anchor="t"/>
          <a:lstStyle/>
          <a:p>
            <a:pPr rtl="1" algn="r" indent="0" marL="0">
              <a:buNone/>
            </a:pPr>
            <a:r>
              <a:rPr lang="ar-AE" altLang="en-US" sz="3000" dirty="0">
                <a:solidFill>
                  <a:schemeClr val="bg1"/>
                </a:solidFill>
                <a:latin typeface="Arial" pitchFamily="34" charset="0"/>
                <a:ea typeface="Arial" pitchFamily="34" charset="-122"/>
                <a:cs typeface="Arial" pitchFamily="34" charset="-120"/>
              </a:rPr>
              <a:t>السيارات التي نخدمها</a:t>
            </a:r>
            <a:endParaRPr lang="ar-AE" sz="3000" dirty="0"/>
          </a:p>
        </p:txBody>
      </p:sp>
      <p:sp>
        <p:nvSpPr>
          <p:cNvPr id="6" name="TESLA panel"/>
          <p:cNvSpPr/>
          <p:nvPr/>
        </p:nvSpPr>
        <p:spPr>
          <a:xfrm>
            <a:off x="640080" y="1691640"/>
            <a:ext cx="3456432" cy="3429000"/>
          </a:xfrm>
          <a:prstGeom prst="roundRect">
            <a:avLst>
              <a:gd name="adj" fmla="val 2667"/>
            </a:avLst>
          </a:prstGeom>
          <a:solidFill>
            <a:schemeClr val="bg1">
              <a:alpha val="6000"/>
            </a:schemeClr>
          </a:solidFill>
          <a:ln w="9525">
            <a:solidFill>
              <a:schemeClr val="bg1">
                <a:alpha val="18000"/>
              </a:schemeClr>
            </a:solidFill>
            <a:prstDash val="solid"/>
          </a:ln>
        </p:spPr>
      </p:sp>
      <p:pic>
        <p:nvPicPr>
          <p:cNvPr id="7" name="TESLA icon" descr="icon">    </p:cNvPr>
          <p:cNvPicPr>
            <a:picLocks noChangeAspect="1"/>
          </p:cNvPicPr>
          <p:nvPr/>
        </p:nvPicPr>
        <p:blipFill>
          <a:blip r:embed="rId2"/>
          <a:stretch>
            <a:fillRect/>
          </a:stretch>
        </p:blipFill>
        <p:spPr>
          <a:xfrm>
            <a:off x="1005840" y="2057400"/>
            <a:ext cx="457200" cy="457200"/>
          </a:xfrm>
          <a:prstGeom prst="rect">
            <a:avLst/>
          </a:prstGeom>
        </p:spPr>
      </p:pic>
      <p:sp>
        <p:nvSpPr>
          <p:cNvPr id="8" name="Text 5"/>
          <p:cNvSpPr txBox="1"/>
          <p:nvPr/>
        </p:nvSpPr>
        <p:spPr>
          <a:xfrm>
            <a:off x="1005840" y="2743200"/>
            <a:ext cx="2724912" cy="640080"/>
          </a:xfrm>
          <a:prstGeom prst="rect">
            <a:avLst/>
          </a:prstGeom>
          <a:noFill/>
          <a:ln/>
        </p:spPr>
        <p:txBody>
          <a:bodyPr wrap="square" lIns="0" tIns="0" rIns="0" bIns="0" rtlCol="0" anchor="t"/>
          <a:lstStyle/>
          <a:p>
            <a:pPr algn="l" indent="0" marL="0">
              <a:buNone/>
            </a:pPr>
            <a:r>
              <a:rPr lang="en-US" sz="3600" spc="600" kern="0" dirty="0">
                <a:solidFill>
                  <a:schemeClr val="bg1"/>
                </a:solidFill>
                <a:latin typeface="Arial" pitchFamily="34" charset="0"/>
                <a:ea typeface="Arial" pitchFamily="34" charset="-122"/>
                <a:cs typeface="Arial" pitchFamily="34" charset="-120"/>
              </a:rPr>
              <a:t>TESLA</a:t>
            </a:r>
            <a:endParaRPr lang="en-US" sz="3600" dirty="0"/>
          </a:p>
        </p:txBody>
      </p:sp>
      <p:sp>
        <p:nvSpPr>
          <p:cNvPr id="9" name="Text 6"/>
          <p:cNvSpPr txBox="1"/>
          <p:nvPr/>
        </p:nvSpPr>
        <p:spPr>
          <a:xfrm>
            <a:off x="1005840" y="3520440"/>
            <a:ext cx="2724912" cy="731520"/>
          </a:xfrm>
          <a:prstGeom prst="rect">
            <a:avLst/>
          </a:prstGeom>
          <a:noFill/>
          <a:ln/>
        </p:spPr>
        <p:txBody>
          <a:bodyPr wrap="square" lIns="0" tIns="0" rIns="0" bIns="0" rtlCol="0" anchor="t"/>
          <a:lstStyle/>
          <a:p>
            <a:pPr algn="l" indent="0" marL="0">
              <a:buNone/>
            </a:pPr>
            <a:r>
              <a:rPr lang="en-US" sz="1200" dirty="0">
                <a:solidFill>
                  <a:schemeClr val="accent5"/>
                </a:solidFill>
                <a:latin typeface="Arial" pitchFamily="34" charset="0"/>
                <a:ea typeface="Arial" pitchFamily="34" charset="-122"/>
                <a:cs typeface="Arial" pitchFamily="34" charset="-120"/>
              </a:rPr>
              <a:t>Interior and exterior accessories, charging solutions, and specialized products and services.</a:t>
            </a:r>
            <a:endParaRPr lang="en-US" sz="1200" dirty="0"/>
          </a:p>
        </p:txBody>
      </p:sp>
      <p:sp>
        <p:nvSpPr>
          <p:cNvPr id="10" name="Text 7"/>
          <p:cNvSpPr txBox="1"/>
          <p:nvPr/>
        </p:nvSpPr>
        <p:spPr>
          <a:xfrm>
            <a:off x="1005840" y="4297680"/>
            <a:ext cx="2724912" cy="640080"/>
          </a:xfrm>
          <a:prstGeom prst="rect">
            <a:avLst/>
          </a:prstGeom>
          <a:noFill/>
          <a:ln/>
        </p:spPr>
        <p:txBody>
          <a:bodyPr wrap="square" lIns="0" tIns="0" rIns="0" bIns="0" rtlCol="0" anchor="t"/>
          <a:lstStyle/>
          <a:p>
            <a:pPr rtl="1" algn="r" indent="0" marL="0">
              <a:buNone/>
            </a:pPr>
            <a:r>
              <a:rPr lang="ar-AE" altLang="en-US" sz="1200" dirty="0">
                <a:solidFill>
                  <a:schemeClr val="accent5"/>
                </a:solidFill>
                <a:latin typeface="Arial" pitchFamily="34" charset="0"/>
                <a:ea typeface="Arial" pitchFamily="34" charset="-122"/>
                <a:cs typeface="Arial" pitchFamily="34" charset="-120"/>
              </a:rPr>
              <a:t>إكسسوارات داخلية وخارجية، حلول شحن، ومنتجات وخدمات متخصصة.</a:t>
            </a:r>
            <a:endParaRPr lang="ar-AE" sz="1200" dirty="0"/>
          </a:p>
        </p:txBody>
      </p:sp>
      <p:sp>
        <p:nvSpPr>
          <p:cNvPr id="11" name="ROX panel"/>
          <p:cNvSpPr/>
          <p:nvPr/>
        </p:nvSpPr>
        <p:spPr>
          <a:xfrm>
            <a:off x="4366260" y="1691640"/>
            <a:ext cx="3456432" cy="3429000"/>
          </a:xfrm>
          <a:prstGeom prst="roundRect">
            <a:avLst>
              <a:gd name="adj" fmla="val 2667"/>
            </a:avLst>
          </a:prstGeom>
          <a:solidFill>
            <a:schemeClr val="bg1">
              <a:alpha val="6000"/>
            </a:schemeClr>
          </a:solidFill>
          <a:ln w="9525">
            <a:solidFill>
              <a:schemeClr val="bg1">
                <a:alpha val="18000"/>
              </a:schemeClr>
            </a:solidFill>
            <a:prstDash val="solid"/>
          </a:ln>
        </p:spPr>
      </p:sp>
      <p:pic>
        <p:nvPicPr>
          <p:cNvPr id="12" name="ROX icon" descr="icon">    </p:cNvPr>
          <p:cNvPicPr>
            <a:picLocks noChangeAspect="1"/>
          </p:cNvPicPr>
          <p:nvPr/>
        </p:nvPicPr>
        <p:blipFill>
          <a:blip r:embed="rId3"/>
          <a:stretch>
            <a:fillRect/>
          </a:stretch>
        </p:blipFill>
        <p:spPr>
          <a:xfrm>
            <a:off x="4732020" y="2057400"/>
            <a:ext cx="457200" cy="457200"/>
          </a:xfrm>
          <a:prstGeom prst="rect">
            <a:avLst/>
          </a:prstGeom>
        </p:spPr>
      </p:pic>
      <p:sp>
        <p:nvSpPr>
          <p:cNvPr id="13" name="Text 9"/>
          <p:cNvSpPr txBox="1"/>
          <p:nvPr/>
        </p:nvSpPr>
        <p:spPr>
          <a:xfrm>
            <a:off x="4732020" y="2743200"/>
            <a:ext cx="2724912" cy="640080"/>
          </a:xfrm>
          <a:prstGeom prst="rect">
            <a:avLst/>
          </a:prstGeom>
          <a:noFill/>
          <a:ln/>
        </p:spPr>
        <p:txBody>
          <a:bodyPr wrap="square" lIns="0" tIns="0" rIns="0" bIns="0" rtlCol="0" anchor="t"/>
          <a:lstStyle/>
          <a:p>
            <a:pPr algn="l" indent="0" marL="0">
              <a:buNone/>
            </a:pPr>
            <a:r>
              <a:rPr lang="en-US" sz="3600" spc="600" kern="0" dirty="0">
                <a:solidFill>
                  <a:schemeClr val="bg1"/>
                </a:solidFill>
                <a:latin typeface="Arial" pitchFamily="34" charset="0"/>
                <a:ea typeface="Arial" pitchFamily="34" charset="-122"/>
                <a:cs typeface="Arial" pitchFamily="34" charset="-120"/>
              </a:rPr>
              <a:t>ROX</a:t>
            </a:r>
            <a:endParaRPr lang="en-US" sz="3600" dirty="0"/>
          </a:p>
        </p:txBody>
      </p:sp>
      <p:sp>
        <p:nvSpPr>
          <p:cNvPr id="14" name="Text 10"/>
          <p:cNvSpPr txBox="1"/>
          <p:nvPr/>
        </p:nvSpPr>
        <p:spPr>
          <a:xfrm>
            <a:off x="4732020" y="3520440"/>
            <a:ext cx="2724912" cy="731520"/>
          </a:xfrm>
          <a:prstGeom prst="rect">
            <a:avLst/>
          </a:prstGeom>
          <a:noFill/>
          <a:ln/>
        </p:spPr>
        <p:txBody>
          <a:bodyPr wrap="square" lIns="0" tIns="0" rIns="0" bIns="0" rtlCol="0" anchor="t"/>
          <a:lstStyle/>
          <a:p>
            <a:pPr algn="l" indent="0" marL="0">
              <a:buNone/>
            </a:pPr>
            <a:r>
              <a:rPr lang="en-US" sz="1200" dirty="0">
                <a:solidFill>
                  <a:schemeClr val="accent5"/>
                </a:solidFill>
                <a:latin typeface="Arial" pitchFamily="34" charset="0"/>
                <a:ea typeface="Arial" pitchFamily="34" charset="-122"/>
                <a:cs typeface="Arial" pitchFamily="34" charset="-120"/>
              </a:rPr>
              <a:t>Specialized accessories and products for selected ROX models.</a:t>
            </a:r>
            <a:endParaRPr lang="en-US" sz="1200" dirty="0"/>
          </a:p>
        </p:txBody>
      </p:sp>
      <p:sp>
        <p:nvSpPr>
          <p:cNvPr id="15" name="Text 11"/>
          <p:cNvSpPr txBox="1"/>
          <p:nvPr/>
        </p:nvSpPr>
        <p:spPr>
          <a:xfrm>
            <a:off x="4732020" y="4297680"/>
            <a:ext cx="2724912" cy="640080"/>
          </a:xfrm>
          <a:prstGeom prst="rect">
            <a:avLst/>
          </a:prstGeom>
          <a:noFill/>
          <a:ln/>
        </p:spPr>
        <p:txBody>
          <a:bodyPr wrap="square" lIns="0" tIns="0" rIns="0" bIns="0" rtlCol="0" anchor="t"/>
          <a:lstStyle/>
          <a:p>
            <a:pPr rtl="1" algn="r" indent="0" marL="0">
              <a:buNone/>
            </a:pPr>
            <a:r>
              <a:rPr lang="ar-AE" altLang="en-US" sz="1200" dirty="0">
                <a:solidFill>
                  <a:schemeClr val="accent5"/>
                </a:solidFill>
                <a:latin typeface="Arial" pitchFamily="34" charset="0"/>
                <a:ea typeface="Arial" pitchFamily="34" charset="-122"/>
                <a:cs typeface="Arial" pitchFamily="34" charset="-120"/>
              </a:rPr>
              <a:t>إكسسوارات ومنتجات متخصصة تناسب طرازات مختارة من سيارات ROX.</a:t>
            </a:r>
            <a:endParaRPr lang="ar-AE" sz="1200" dirty="0"/>
          </a:p>
        </p:txBody>
      </p:sp>
      <p:sp>
        <p:nvSpPr>
          <p:cNvPr id="16" name="LEOPARD panel"/>
          <p:cNvSpPr/>
          <p:nvPr/>
        </p:nvSpPr>
        <p:spPr>
          <a:xfrm>
            <a:off x="8092440" y="1691640"/>
            <a:ext cx="3456432" cy="3429000"/>
          </a:xfrm>
          <a:prstGeom prst="roundRect">
            <a:avLst>
              <a:gd name="adj" fmla="val 2667"/>
            </a:avLst>
          </a:prstGeom>
          <a:solidFill>
            <a:schemeClr val="bg1">
              <a:alpha val="6000"/>
            </a:schemeClr>
          </a:solidFill>
          <a:ln w="9525">
            <a:solidFill>
              <a:schemeClr val="bg1">
                <a:alpha val="18000"/>
              </a:schemeClr>
            </a:solidFill>
            <a:prstDash val="solid"/>
          </a:ln>
        </p:spPr>
      </p:sp>
      <p:pic>
        <p:nvPicPr>
          <p:cNvPr id="17" name="LEOPARD icon" descr="icon">    </p:cNvPr>
          <p:cNvPicPr>
            <a:picLocks noChangeAspect="1"/>
          </p:cNvPicPr>
          <p:nvPr/>
        </p:nvPicPr>
        <p:blipFill>
          <a:blip r:embed="rId4"/>
          <a:stretch>
            <a:fillRect/>
          </a:stretch>
        </p:blipFill>
        <p:spPr>
          <a:xfrm>
            <a:off x="8458200" y="2057400"/>
            <a:ext cx="457200" cy="457200"/>
          </a:xfrm>
          <a:prstGeom prst="rect">
            <a:avLst/>
          </a:prstGeom>
        </p:spPr>
      </p:pic>
      <p:sp>
        <p:nvSpPr>
          <p:cNvPr id="18" name="Text 13"/>
          <p:cNvSpPr txBox="1"/>
          <p:nvPr/>
        </p:nvSpPr>
        <p:spPr>
          <a:xfrm>
            <a:off x="8458200" y="2743200"/>
            <a:ext cx="2724912" cy="640080"/>
          </a:xfrm>
          <a:prstGeom prst="rect">
            <a:avLst/>
          </a:prstGeom>
          <a:noFill/>
          <a:ln/>
        </p:spPr>
        <p:txBody>
          <a:bodyPr wrap="square" lIns="0" tIns="0" rIns="0" bIns="0" rtlCol="0" anchor="t"/>
          <a:lstStyle/>
          <a:p>
            <a:pPr algn="l" indent="0" marL="0">
              <a:buNone/>
            </a:pPr>
            <a:r>
              <a:rPr lang="en-US" sz="3600" spc="600" kern="0" dirty="0">
                <a:solidFill>
                  <a:schemeClr val="bg1"/>
                </a:solidFill>
                <a:latin typeface="Arial" pitchFamily="34" charset="0"/>
                <a:ea typeface="Arial" pitchFamily="34" charset="-122"/>
                <a:cs typeface="Arial" pitchFamily="34" charset="-120"/>
              </a:rPr>
              <a:t>LEOPARD</a:t>
            </a:r>
            <a:endParaRPr lang="en-US" sz="3600" dirty="0"/>
          </a:p>
        </p:txBody>
      </p:sp>
      <p:sp>
        <p:nvSpPr>
          <p:cNvPr id="19" name="Text 14"/>
          <p:cNvSpPr txBox="1"/>
          <p:nvPr/>
        </p:nvSpPr>
        <p:spPr>
          <a:xfrm>
            <a:off x="8458200" y="3520440"/>
            <a:ext cx="2724912" cy="731520"/>
          </a:xfrm>
          <a:prstGeom prst="rect">
            <a:avLst/>
          </a:prstGeom>
          <a:noFill/>
          <a:ln/>
        </p:spPr>
        <p:txBody>
          <a:bodyPr wrap="square" lIns="0" tIns="0" rIns="0" bIns="0" rtlCol="0" anchor="t"/>
          <a:lstStyle/>
          <a:p>
            <a:pPr algn="l" indent="0" marL="0">
              <a:buNone/>
            </a:pPr>
            <a:r>
              <a:rPr lang="en-US" sz="1200" dirty="0">
                <a:solidFill>
                  <a:schemeClr val="accent5"/>
                </a:solidFill>
                <a:latin typeface="Arial" pitchFamily="34" charset="0"/>
                <a:ea typeface="Arial" pitchFamily="34" charset="-122"/>
                <a:cs typeface="Arial" pitchFamily="34" charset="-120"/>
              </a:rPr>
              <a:t>Selected accessories and enhancements for Leopard models.</a:t>
            </a:r>
            <a:endParaRPr lang="en-US" sz="1200" dirty="0"/>
          </a:p>
        </p:txBody>
      </p:sp>
      <p:sp>
        <p:nvSpPr>
          <p:cNvPr id="20" name="Text 15"/>
          <p:cNvSpPr txBox="1"/>
          <p:nvPr/>
        </p:nvSpPr>
        <p:spPr>
          <a:xfrm>
            <a:off x="8458200" y="4297680"/>
            <a:ext cx="2724912" cy="640080"/>
          </a:xfrm>
          <a:prstGeom prst="rect">
            <a:avLst/>
          </a:prstGeom>
          <a:noFill/>
          <a:ln/>
        </p:spPr>
        <p:txBody>
          <a:bodyPr wrap="square" lIns="0" tIns="0" rIns="0" bIns="0" rtlCol="0" anchor="t"/>
          <a:lstStyle/>
          <a:p>
            <a:pPr rtl="1" algn="r" indent="0" marL="0">
              <a:buNone/>
            </a:pPr>
            <a:r>
              <a:rPr lang="ar-AE" altLang="en-US" sz="1200" dirty="0">
                <a:solidFill>
                  <a:schemeClr val="accent5"/>
                </a:solidFill>
                <a:latin typeface="Arial" pitchFamily="34" charset="0"/>
                <a:ea typeface="Arial" pitchFamily="34" charset="-122"/>
                <a:cs typeface="Arial" pitchFamily="34" charset="-120"/>
              </a:rPr>
              <a:t>مجموعة مختارة من الإكسسوارات والإضافات الخاصة بطرازات Leopard.</a:t>
            </a:r>
            <a:endParaRPr lang="ar-AE" sz="1200" dirty="0"/>
          </a:p>
        </p:txBody>
      </p:sp>
      <p:sp>
        <p:nvSpPr>
          <p:cNvPr id="21" name="Text 16"/>
          <p:cNvSpPr txBox="1"/>
          <p:nvPr/>
        </p:nvSpPr>
        <p:spPr>
          <a:xfrm>
            <a:off x="640080" y="5440680"/>
            <a:ext cx="5120640" cy="548640"/>
          </a:xfrm>
          <a:prstGeom prst="rect">
            <a:avLst/>
          </a:prstGeom>
          <a:noFill/>
          <a:ln/>
        </p:spPr>
        <p:txBody>
          <a:bodyPr wrap="square" lIns="0" tIns="0" rIns="0" bIns="0" rtlCol="0" anchor="t"/>
          <a:lstStyle/>
          <a:p>
            <a:pPr algn="l" indent="0" marL="0">
              <a:buNone/>
            </a:pPr>
            <a:r>
              <a:rPr lang="en-US" sz="1000" i="1" dirty="0">
                <a:solidFill>
                  <a:schemeClr val="accent5"/>
                </a:solidFill>
                <a:latin typeface="Arial" pitchFamily="34" charset="0"/>
                <a:ea typeface="Arial" pitchFamily="34" charset="-122"/>
                <a:cs typeface="Arial" pitchFamily="34" charset="-120"/>
              </a:rPr>
              <a:t>Vehicle brands are listed to identify compatible product categories and do not imply official manufacturer authorization or dealership status.</a:t>
            </a:r>
            <a:endParaRPr lang="en-US" sz="1000" dirty="0"/>
          </a:p>
        </p:txBody>
      </p:sp>
      <p:sp>
        <p:nvSpPr>
          <p:cNvPr id="22" name="Text 17"/>
          <p:cNvSpPr txBox="1"/>
          <p:nvPr/>
        </p:nvSpPr>
        <p:spPr>
          <a:xfrm>
            <a:off x="6430975" y="5440680"/>
            <a:ext cx="5120640" cy="548640"/>
          </a:xfrm>
          <a:prstGeom prst="rect">
            <a:avLst/>
          </a:prstGeom>
          <a:noFill/>
          <a:ln/>
        </p:spPr>
        <p:txBody>
          <a:bodyPr wrap="square" lIns="0" tIns="0" rIns="0" bIns="0" rtlCol="0" anchor="t"/>
          <a:lstStyle/>
          <a:p>
            <a:pPr rtl="1" algn="r" indent="0" marL="0">
              <a:buNone/>
            </a:pPr>
            <a:r>
              <a:rPr lang="ar-AE" altLang="en-US" sz="1000" dirty="0">
                <a:solidFill>
                  <a:schemeClr val="accent5"/>
                </a:solidFill>
                <a:latin typeface="Arial" pitchFamily="34" charset="0"/>
                <a:ea typeface="Arial" pitchFamily="34" charset="-122"/>
                <a:cs typeface="Arial" pitchFamily="34" charset="-120"/>
              </a:rPr>
              <a:t>العلامات المذكورة هي علامات المركبات التي تخدمها EVCARS، ولا يعني إدراجها وجود اعتماد أو وكالة رسمية من مصنّعي المركبات.</a:t>
            </a:r>
            <a:endParaRPr lang="ar-AE" sz="1000" dirty="0"/>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DDE2E7"/>
                </a:solidFill>
                <a:latin typeface="Arial"/>
                <a:ea typeface="Arial"/>
                <a:cs typeface="Arial"/>
              </a:defRPr>
            </a:lvl1pPr>
          </a:lstStyle>
          <a:p>
            <a:pPr algn="r"/>
            <a:fld id="{F7021451-1387-4CA6-816F-3879F97B5CBC}" type="slidenum">
              <a:rPr b="0" lang="en-US"/>
              <a:t>12</a:t>
            </a:fld>
            <a:endParaRPr lang="en-US"/>
          </a:p>
        </p:txBody>
      </p:sp>
      <p:sp>
        <p:nvSpPr>
          <p:cNvPr id="26" name="Back to contents" descr="Back to contents">
            <a:hlinkClick r:id="rId7" action="ppaction://hlinksldjump" tooltip="Back to Contents / العودة إلى المحتويات"/>
          </p:cNvPr>
          <p:cNvSpPr/>
          <p:nvPr/>
        </p:nvSpPr>
        <p:spPr>
          <a:xfrm>
            <a:off x="8838000" y="6283000"/>
            <a:ext cx="1850000" cy="300000"/>
          </a:xfrm>
          <a:prstGeom prst="roundRect">
            <a:avLst>
              <a:gd name="adj" fmla="val 50000"/>
            </a:avLst>
          </a:prstGeom>
          <a:noFill/>
          <a:ln w="9525">
            <a:solidFill>
              <a:schemeClr val="accent1"/>
            </a:solidFill>
          </a:ln>
        </p:spPr>
        <p:txBody>
          <a:bodyPr wrap="none" lIns="0" tIns="0" rIns="0" bIns="0" rtlCol="0" anchor="ctr"/>
          <a:lstStyle/>
          <a:p>
            <a:pPr algn="ctr"/>
            <a:r>
              <a:rPr lang="en-US" sz="900" b="1" spc="120" dirty="0">
                <a:solidFill>
                  <a:schemeClr val="accent1"/>
                </a:solidFill>
                <a:latin typeface="Arial"/>
                <a:cs typeface="Arial"/>
              </a:rPr>
              <a:t>CONTENTS  ·  </a:t>
            </a:r>
            <a:r>
              <a:rPr lang="ar-AE" sz="900" b="1" dirty="0">
                <a:solidFill>
                  <a:schemeClr val="accent1"/>
                </a:solidFill>
                <a:latin typeface="Arial"/>
                <a:cs typeface="Arial"/>
              </a:rPr>
              <a:t>المحتويات</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411480"/>
            <a:ext cx="5486400" cy="228600"/>
          </a:xfrm>
          <a:prstGeom prst="rect">
            <a:avLst/>
          </a:prstGeom>
          <a:noFill/>
          <a:ln/>
        </p:spPr>
        <p:txBody>
          <a:bodyPr wrap="square" lIns="0" tIns="0" rIns="0" bIns="0" rtlCol="0" anchor="t"/>
          <a:lstStyle/>
          <a:p>
            <a:pPr algn="l" indent="0" marL="0">
              <a:buNone/>
            </a:pPr>
            <a:r>
              <a:rPr lang="en-US" sz="1000" b="1" spc="300" kern="0" dirty="0">
                <a:solidFill>
                  <a:schemeClr val="accent1"/>
                </a:solidFill>
                <a:latin typeface="Arial" pitchFamily="34" charset="0"/>
                <a:ea typeface="Arial" pitchFamily="34" charset="-122"/>
                <a:cs typeface="Arial" pitchFamily="34" charset="-120"/>
              </a:rPr>
              <a:t>03   ·   WHO WE SERVE</a:t>
            </a:r>
            <a:endParaRPr lang="en-US" sz="1000" dirty="0"/>
          </a:p>
        </p:txBody>
      </p:sp>
      <p:sp>
        <p:nvSpPr>
          <p:cNvPr id="3" name="Text 1"/>
          <p:cNvSpPr txBox="1"/>
          <p:nvPr/>
        </p:nvSpPr>
        <p:spPr>
          <a:xfrm>
            <a:off x="6065215" y="411480"/>
            <a:ext cx="5486400" cy="228600"/>
          </a:xfrm>
          <a:prstGeom prst="rect">
            <a:avLst/>
          </a:prstGeom>
          <a:noFill/>
          <a:ln/>
        </p:spPr>
        <p:txBody>
          <a:bodyPr wrap="square" lIns="0" tIns="0" rIns="0" bIns="0" rtlCol="0" anchor="t"/>
          <a:lstStyle/>
          <a:p>
            <a:pPr rtl="1" algn="r" indent="0" marL="0">
              <a:buNone/>
            </a:pPr>
            <a:r>
              <a:rPr lang="ar-AE" altLang="en-US" sz="1100" b="1" dirty="0">
                <a:solidFill>
                  <a:schemeClr val="accent1"/>
                </a:solidFill>
                <a:latin typeface="Arial" pitchFamily="34" charset="0"/>
                <a:ea typeface="Arial" pitchFamily="34" charset="-122"/>
                <a:cs typeface="Arial" pitchFamily="34" charset="-120"/>
              </a:rPr>
              <a:t>من نخدم   ·   03</a:t>
            </a:r>
            <a:endParaRPr lang="ar-AE" sz="1100" dirty="0"/>
          </a:p>
        </p:txBody>
      </p:sp>
      <p:sp>
        <p:nvSpPr>
          <p:cNvPr id="4" name="Text 0"/>
          <p:cNvSpPr/>
          <p:nvPr>
            <p:ph idx="100" type="title" hasCustomPrompt="1"/>
          </p:nvPr>
        </p:nvSpPr>
        <p:spPr>
          <a:xfrm>
            <a:off x="640080" y="713232"/>
            <a:ext cx="5486400" cy="685800"/>
          </a:xfrm>
          <a:prstGeom prst="rect">
            <a:avLst/>
          </a:prstGeom>
          <a:noFill/>
          <a:ln/>
        </p:spPr>
        <p:txBody>
          <a:bodyPr wrap="square" lIns="0" tIns="0" rIns="0" bIns="0" rtlCol="0" anchor="t"/>
          <a:lstStyle/>
          <a:p>
            <a:pPr algn="l" indent="0" marL="0">
              <a:buNone/>
            </a:pPr>
            <a:r>
              <a:rPr lang="en-US" sz="3000" dirty="0">
                <a:solidFill>
                  <a:schemeClr val="tx1"/>
                </a:solidFill>
                <a:latin typeface="Arial" pitchFamily="34" charset="0"/>
                <a:ea typeface="Arial" pitchFamily="34" charset="-122"/>
                <a:cs typeface="Arial" pitchFamily="34" charset="-120"/>
              </a:rPr>
              <a:t>Brands We Work With</a:t>
            </a:r>
            <a:endParaRPr lang="en-US" sz="3000" dirty="0"/>
          </a:p>
        </p:txBody>
      </p:sp>
      <p:sp>
        <p:nvSpPr>
          <p:cNvPr id="5" name="Text 0"/>
          <p:cNvSpPr/>
          <p:nvPr>
            <p:ph idx="101" type="body" hasCustomPrompt="1"/>
          </p:nvPr>
        </p:nvSpPr>
        <p:spPr>
          <a:xfrm>
            <a:off x="6065215" y="713232"/>
            <a:ext cx="5486400" cy="685800"/>
          </a:xfrm>
          <a:prstGeom prst="rect">
            <a:avLst/>
          </a:prstGeom>
          <a:noFill/>
          <a:ln/>
        </p:spPr>
        <p:txBody>
          <a:bodyPr wrap="square" lIns="0" tIns="0" rIns="0" bIns="0" rtlCol="0" anchor="t"/>
          <a:lstStyle/>
          <a:p>
            <a:pPr rtl="1" algn="r" indent="0" marL="0">
              <a:buNone/>
            </a:pPr>
            <a:r>
              <a:rPr lang="ar-AE" altLang="en-US" sz="3000" dirty="0">
                <a:solidFill>
                  <a:schemeClr val="tx1"/>
                </a:solidFill>
                <a:latin typeface="Arial" pitchFamily="34" charset="0"/>
                <a:ea typeface="Arial" pitchFamily="34" charset="-122"/>
                <a:cs typeface="Arial" pitchFamily="34" charset="-120"/>
              </a:rPr>
              <a:t>علامات نعمل معها</a:t>
            </a:r>
            <a:endParaRPr lang="ar-AE" sz="3000" dirty="0"/>
          </a:p>
        </p:txBody>
      </p:sp>
      <p:sp>
        <p:nvSpPr>
          <p:cNvPr id="6" name="Text 4"/>
          <p:cNvSpPr txBox="1"/>
          <p:nvPr/>
        </p:nvSpPr>
        <p:spPr>
          <a:xfrm>
            <a:off x="640080" y="1600200"/>
            <a:ext cx="5120640" cy="685800"/>
          </a:xfrm>
          <a:prstGeom prst="rect">
            <a:avLst/>
          </a:prstGeom>
          <a:noFill/>
          <a:ln/>
        </p:spPr>
        <p:txBody>
          <a:bodyPr wrap="square" lIns="0" tIns="0" rIns="0" bIns="0" rtlCol="0" anchor="t"/>
          <a:lstStyle/>
          <a:p>
            <a:pPr algn="l" indent="0" marL="0">
              <a:buNone/>
            </a:pPr>
            <a:r>
              <a:rPr lang="en-US" sz="1300" dirty="0">
                <a:solidFill>
                  <a:schemeClr val="accent3"/>
                </a:solidFill>
                <a:latin typeface="Arial" pitchFamily="34" charset="0"/>
                <a:ea typeface="Arial" pitchFamily="34" charset="-122"/>
                <a:cs typeface="Arial" pitchFamily="34" charset="-120"/>
              </a:rPr>
              <a:t>EVCARS works with a range of brands and companies across the EV accessories, charging solutions and related services sectors.</a:t>
            </a:r>
            <a:endParaRPr lang="en-US" sz="1300" dirty="0"/>
          </a:p>
        </p:txBody>
      </p:sp>
      <p:sp>
        <p:nvSpPr>
          <p:cNvPr id="7" name="Text 5"/>
          <p:cNvSpPr txBox="1"/>
          <p:nvPr/>
        </p:nvSpPr>
        <p:spPr>
          <a:xfrm>
            <a:off x="6430975" y="1600200"/>
            <a:ext cx="5120640" cy="685800"/>
          </a:xfrm>
          <a:prstGeom prst="rect">
            <a:avLst/>
          </a:prstGeom>
          <a:noFill/>
          <a:ln/>
        </p:spPr>
        <p:txBody>
          <a:bodyPr wrap="square" lIns="0" tIns="0" rIns="0" bIns="0" rtlCol="0" anchor="t"/>
          <a:lstStyle/>
          <a:p>
            <a:pPr rtl="1" algn="r" indent="0" marL="0">
              <a:buNone/>
            </a:pPr>
            <a:r>
              <a:rPr lang="ar-AE" altLang="en-US" sz="1300" dirty="0">
                <a:solidFill>
                  <a:schemeClr val="accent3"/>
                </a:solidFill>
                <a:latin typeface="Arial" pitchFamily="34" charset="0"/>
                <a:ea typeface="Arial" pitchFamily="34" charset="-122"/>
                <a:cs typeface="Arial" pitchFamily="34" charset="-120"/>
              </a:rPr>
              <a:t>تعمل EVCARS مع مجموعة من العلامات التجارية والشركات في قطاع السيارات الكهربائية والإكسسوارات وحلول الشحن والخدمات المرتبطة بها.</a:t>
            </a:r>
            <a:endParaRPr lang="ar-AE" sz="1300" dirty="0"/>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A75"/>
                </a:solidFill>
                <a:latin typeface="Arial"/>
                <a:ea typeface="Arial"/>
                <a:cs typeface="Arial"/>
              </a:defRPr>
            </a:lvl1pPr>
          </a:lstStyle>
          <a:p>
            <a:pPr algn="r"/>
            <a:fld id="{F7021451-1387-4CA6-816F-3879F97B5CBC}" type="slidenum">
              <a:rPr b="0" lang="en-US"/>
              <a:t>13</a:t>
            </a:fld>
            <a:endParaRPr lang="en-US"/>
          </a:p>
        </p:txBody>
      </p:sp>
      <p:pic>
        <p:nvPicPr>
          <p:cNvPr id="28" name="Partner EVSPACE" descr="EVSPACE logo"/>
          <p:cNvPicPr>
            <a:picLocks noChangeAspect="1"/>
          </p:cNvPicPr>
          <p:nvPr/>
        </p:nvPicPr>
        <p:blipFill>
          <a:blip r:embed="rId3"/>
          <a:stretch>
            <a:fillRect/>
          </a:stretch>
        </p:blipFill>
        <p:spPr>
          <a:xfrm>
            <a:off x="640080" y="2514600"/>
            <a:ext cx="3456432" cy="1051560"/>
          </a:xfrm>
          <a:prstGeom prst="rect">
            <a:avLst/>
          </a:prstGeom>
          <a:effectLst>
            <a:outerShdw blurRad="152400" dist="38100" dir="5400000" algn="t" rotWithShape="0">
              <a:srgbClr val="0B0D10">
                <a:alpha val="16000"/>
              </a:srgbClr>
            </a:outerShdw>
          </a:effectLst>
        </p:spPr>
      </p:pic>
      <p:pic>
        <p:nvPicPr>
          <p:cNvPr id="29" name="Partner HALOBLK" descr="HALOBLK logo"/>
          <p:cNvPicPr>
            <a:picLocks noChangeAspect="1"/>
          </p:cNvPicPr>
          <p:nvPr/>
        </p:nvPicPr>
        <p:blipFill>
          <a:blip r:embed="rId4"/>
          <a:stretch>
            <a:fillRect/>
          </a:stretch>
        </p:blipFill>
        <p:spPr>
          <a:xfrm>
            <a:off x="4366260" y="2514600"/>
            <a:ext cx="3456432" cy="1051560"/>
          </a:xfrm>
          <a:prstGeom prst="rect">
            <a:avLst/>
          </a:prstGeom>
          <a:effectLst>
            <a:outerShdw blurRad="152400" dist="38100" dir="5400000" algn="t" rotWithShape="0">
              <a:srgbClr val="0B0D10">
                <a:alpha val="16000"/>
              </a:srgbClr>
            </a:outerShdw>
          </a:effectLst>
        </p:spPr>
      </p:pic>
      <p:pic>
        <p:nvPicPr>
          <p:cNvPr id="30" name="Partner EV BSGT" descr="EV BSGT logo"/>
          <p:cNvPicPr>
            <a:picLocks noChangeAspect="1"/>
          </p:cNvPicPr>
          <p:nvPr/>
        </p:nvPicPr>
        <p:blipFill>
          <a:blip r:embed="rId5"/>
          <a:stretch>
            <a:fillRect/>
          </a:stretch>
        </p:blipFill>
        <p:spPr>
          <a:xfrm>
            <a:off x="8092440" y="2514600"/>
            <a:ext cx="3456432" cy="1051560"/>
          </a:xfrm>
          <a:prstGeom prst="rect">
            <a:avLst/>
          </a:prstGeom>
          <a:effectLst>
            <a:outerShdw blurRad="152400" dist="38100" dir="5400000" algn="t" rotWithShape="0">
              <a:srgbClr val="0B0D10">
                <a:alpha val="16000"/>
              </a:srgbClr>
            </a:outerShdw>
          </a:effectLst>
        </p:spPr>
      </p:pic>
      <p:pic>
        <p:nvPicPr>
          <p:cNvPr id="31" name="Partner EVS Electric Vehicle Services" descr="EVS Electric Vehicle Services logo"/>
          <p:cNvPicPr>
            <a:picLocks noChangeAspect="1"/>
          </p:cNvPicPr>
          <p:nvPr/>
        </p:nvPicPr>
        <p:blipFill>
          <a:blip r:embed="rId6"/>
          <a:stretch>
            <a:fillRect/>
          </a:stretch>
        </p:blipFill>
        <p:spPr>
          <a:xfrm>
            <a:off x="640080" y="3749040"/>
            <a:ext cx="3456432" cy="1051560"/>
          </a:xfrm>
          <a:prstGeom prst="rect">
            <a:avLst/>
          </a:prstGeom>
          <a:effectLst>
            <a:outerShdw blurRad="152400" dist="38100" dir="5400000" algn="t" rotWithShape="0">
              <a:srgbClr val="0B0D10">
                <a:alpha val="16000"/>
              </a:srgbClr>
            </a:outerShdw>
          </a:effectLst>
        </p:spPr>
      </p:pic>
      <p:pic>
        <p:nvPicPr>
          <p:cNvPr id="32" name="Partner Enhance Automotive" descr="Enhance Automotive logo"/>
          <p:cNvPicPr>
            <a:picLocks noChangeAspect="1"/>
          </p:cNvPicPr>
          <p:nvPr/>
        </p:nvPicPr>
        <p:blipFill>
          <a:blip r:embed="rId7"/>
          <a:stretch>
            <a:fillRect/>
          </a:stretch>
        </p:blipFill>
        <p:spPr>
          <a:xfrm>
            <a:off x="4366260" y="3749040"/>
            <a:ext cx="3456432" cy="1051560"/>
          </a:xfrm>
          <a:prstGeom prst="rect">
            <a:avLst/>
          </a:prstGeom>
          <a:effectLst>
            <a:outerShdw blurRad="152400" dist="38100" dir="5400000" algn="t" rotWithShape="0">
              <a:srgbClr val="0B0D10">
                <a:alpha val="16000"/>
              </a:srgbClr>
            </a:outerShdw>
          </a:effectLst>
        </p:spPr>
      </p:pic>
      <p:pic>
        <p:nvPicPr>
          <p:cNvPr id="33" name="Partner IGUANA Premium Auto Care" descr="IGUANA Premium Auto Care logo"/>
          <p:cNvPicPr>
            <a:picLocks noChangeAspect="1"/>
          </p:cNvPicPr>
          <p:nvPr/>
        </p:nvPicPr>
        <p:blipFill>
          <a:blip r:embed="rId8"/>
          <a:stretch>
            <a:fillRect/>
          </a:stretch>
        </p:blipFill>
        <p:spPr>
          <a:xfrm>
            <a:off x="8092440" y="3749040"/>
            <a:ext cx="3456432" cy="1051560"/>
          </a:xfrm>
          <a:prstGeom prst="rect">
            <a:avLst/>
          </a:prstGeom>
          <a:effectLst>
            <a:outerShdw blurRad="152400" dist="38100" dir="5400000" algn="t" rotWithShape="0">
              <a:srgbClr val="0B0D10">
                <a:alpha val="16000"/>
              </a:srgbClr>
            </a:outerShdw>
          </a:effectLst>
        </p:spPr>
      </p:pic>
      <p:pic>
        <p:nvPicPr>
          <p:cNvPr id="34" name="Partner Al Atlalah Al Shamikha" descr="Al Atlalah Al Shamikha logo"/>
          <p:cNvPicPr>
            <a:picLocks noChangeAspect="1"/>
          </p:cNvPicPr>
          <p:nvPr/>
        </p:nvPicPr>
        <p:blipFill>
          <a:blip r:embed="rId9"/>
          <a:stretch>
            <a:fillRect/>
          </a:stretch>
        </p:blipFill>
        <p:spPr>
          <a:xfrm>
            <a:off x="640080" y="4983480"/>
            <a:ext cx="3456432" cy="1051560"/>
          </a:xfrm>
          <a:prstGeom prst="rect">
            <a:avLst/>
          </a:prstGeom>
          <a:effectLst>
            <a:outerShdw blurRad="152400" dist="38100" dir="5400000" algn="t" rotWithShape="0">
              <a:srgbClr val="0B0D10">
                <a:alpha val="16000"/>
              </a:srgbClr>
            </a:outerShdw>
          </a:effectLst>
        </p:spPr>
      </p:pic>
      <p:pic>
        <p:nvPicPr>
          <p:cNvPr id="35" name="Partner S.O.S Auto Services" descr="S.O.S Auto Services logo"/>
          <p:cNvPicPr>
            <a:picLocks noChangeAspect="1"/>
          </p:cNvPicPr>
          <p:nvPr/>
        </p:nvPicPr>
        <p:blipFill>
          <a:blip r:embed="rId10"/>
          <a:stretch>
            <a:fillRect/>
          </a:stretch>
        </p:blipFill>
        <p:spPr>
          <a:xfrm>
            <a:off x="4366260" y="4983480"/>
            <a:ext cx="3456432" cy="1051560"/>
          </a:xfrm>
          <a:prstGeom prst="rect">
            <a:avLst/>
          </a:prstGeom>
          <a:effectLst>
            <a:outerShdw blurRad="152400" dist="38100" dir="5400000" algn="t" rotWithShape="0">
              <a:srgbClr val="0B0D10">
                <a:alpha val="16000"/>
              </a:srgbClr>
            </a:outerShdw>
          </a:effectLst>
        </p:spPr>
      </p:pic>
      <p:pic>
        <p:nvPicPr>
          <p:cNvPr id="36" name="Partner Al Nahla Trading" descr="Al Nahla Trading logo"/>
          <p:cNvPicPr>
            <a:picLocks noChangeAspect="1"/>
          </p:cNvPicPr>
          <p:nvPr/>
        </p:nvPicPr>
        <p:blipFill>
          <a:blip r:embed="rId11"/>
          <a:stretch>
            <a:fillRect/>
          </a:stretch>
        </p:blipFill>
        <p:spPr>
          <a:xfrm>
            <a:off x="8092440" y="4983480"/>
            <a:ext cx="3456432" cy="1051560"/>
          </a:xfrm>
          <a:prstGeom prst="rect">
            <a:avLst/>
          </a:prstGeom>
          <a:effectLst>
            <a:outerShdw blurRad="152400" dist="38100" dir="5400000" algn="t" rotWithShape="0">
              <a:srgbClr val="0B0D10">
                <a:alpha val="16000"/>
              </a:srgbClr>
            </a:outerShdw>
          </a:effectLst>
        </p:spPr>
      </p:pic>
      <p:sp>
        <p:nvSpPr>
          <p:cNvPr id="37" name="Back to contents" descr="Back to contents">
            <a:hlinkClick r:id="rId12" action="ppaction://hlinksldjump" tooltip="Back to Contents / العودة إلى المحتويات"/>
          </p:cNvPr>
          <p:cNvSpPr/>
          <p:nvPr/>
        </p:nvSpPr>
        <p:spPr>
          <a:xfrm>
            <a:off x="8838000" y="6283000"/>
            <a:ext cx="1850000" cy="300000"/>
          </a:xfrm>
          <a:prstGeom prst="roundRect">
            <a:avLst>
              <a:gd name="adj" fmla="val 50000"/>
            </a:avLst>
          </a:prstGeom>
          <a:noFill/>
          <a:ln w="9525">
            <a:solidFill>
              <a:schemeClr val="accent1"/>
            </a:solidFill>
          </a:ln>
        </p:spPr>
        <p:txBody>
          <a:bodyPr wrap="none" lIns="0" tIns="0" rIns="0" bIns="0" rtlCol="0" anchor="ctr"/>
          <a:lstStyle/>
          <a:p>
            <a:pPr algn="ctr"/>
            <a:r>
              <a:rPr lang="en-US" sz="900" b="1" spc="120" dirty="0">
                <a:solidFill>
                  <a:schemeClr val="accent1"/>
                </a:solidFill>
                <a:latin typeface="Arial"/>
                <a:cs typeface="Arial"/>
              </a:rPr>
              <a:t>CONTENTS  ·  </a:t>
            </a:r>
            <a:r>
              <a:rPr lang="ar-AE" sz="900" b="1" dirty="0">
                <a:solidFill>
                  <a:schemeClr val="accent1"/>
                </a:solidFill>
                <a:latin typeface="Arial"/>
                <a:cs typeface="Arial"/>
              </a:rPr>
              <a:t>المحتويات</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411480"/>
            <a:ext cx="5486400" cy="228600"/>
          </a:xfrm>
          <a:prstGeom prst="rect">
            <a:avLst/>
          </a:prstGeom>
          <a:noFill/>
          <a:ln/>
        </p:spPr>
        <p:txBody>
          <a:bodyPr wrap="square" lIns="0" tIns="0" rIns="0" bIns="0" rtlCol="0" anchor="t"/>
          <a:lstStyle/>
          <a:p>
            <a:pPr algn="l" indent="0" marL="0">
              <a:buNone/>
            </a:pPr>
            <a:r>
              <a:rPr lang="en-US" sz="1000" b="1" spc="300" kern="0" dirty="0">
                <a:solidFill>
                  <a:schemeClr val="accent1"/>
                </a:solidFill>
                <a:latin typeface="Arial" pitchFamily="34" charset="0"/>
                <a:ea typeface="Arial" pitchFamily="34" charset="-122"/>
                <a:cs typeface="Arial" pitchFamily="34" charset="-120"/>
              </a:rPr>
              <a:t>04   ·   WHERE WE ARE</a:t>
            </a:r>
            <a:endParaRPr lang="en-US" sz="1000" dirty="0"/>
          </a:p>
        </p:txBody>
      </p:sp>
      <p:sp>
        <p:nvSpPr>
          <p:cNvPr id="3" name="Text 1"/>
          <p:cNvSpPr txBox="1"/>
          <p:nvPr/>
        </p:nvSpPr>
        <p:spPr>
          <a:xfrm>
            <a:off x="6065215" y="411480"/>
            <a:ext cx="5486400" cy="228600"/>
          </a:xfrm>
          <a:prstGeom prst="rect">
            <a:avLst/>
          </a:prstGeom>
          <a:noFill/>
          <a:ln/>
        </p:spPr>
        <p:txBody>
          <a:bodyPr wrap="square" lIns="0" tIns="0" rIns="0" bIns="0" rtlCol="0" anchor="t"/>
          <a:lstStyle/>
          <a:p>
            <a:pPr rtl="1" algn="r" indent="0" marL="0">
              <a:buNone/>
            </a:pPr>
            <a:r>
              <a:rPr lang="ar-AE" altLang="en-US" sz="1100" b="1" dirty="0">
                <a:solidFill>
                  <a:schemeClr val="accent1"/>
                </a:solidFill>
                <a:latin typeface="Arial" pitchFamily="34" charset="0"/>
                <a:ea typeface="Arial" pitchFamily="34" charset="-122"/>
                <a:cs typeface="Arial" pitchFamily="34" charset="-120"/>
              </a:rPr>
              <a:t>أين نحن   ·   04</a:t>
            </a:r>
            <a:endParaRPr lang="ar-AE" sz="1100" dirty="0"/>
          </a:p>
        </p:txBody>
      </p:sp>
      <p:sp>
        <p:nvSpPr>
          <p:cNvPr id="4" name="Text 0"/>
          <p:cNvSpPr/>
          <p:nvPr>
            <p:ph idx="100" type="title" hasCustomPrompt="1"/>
          </p:nvPr>
        </p:nvSpPr>
        <p:spPr>
          <a:xfrm>
            <a:off x="640080" y="713232"/>
            <a:ext cx="5486400" cy="685800"/>
          </a:xfrm>
          <a:prstGeom prst="rect">
            <a:avLst/>
          </a:prstGeom>
          <a:noFill/>
          <a:ln/>
        </p:spPr>
        <p:txBody>
          <a:bodyPr wrap="square" lIns="0" tIns="0" rIns="0" bIns="0" rtlCol="0" anchor="t"/>
          <a:lstStyle/>
          <a:p>
            <a:pPr algn="l" indent="0" marL="0">
              <a:buNone/>
            </a:pPr>
            <a:r>
              <a:rPr lang="en-US" sz="3000" dirty="0">
                <a:solidFill>
                  <a:schemeClr val="tx1"/>
                </a:solidFill>
                <a:latin typeface="Arial" pitchFamily="34" charset="0"/>
                <a:ea typeface="Arial" pitchFamily="34" charset="-122"/>
                <a:cs typeface="Arial" pitchFamily="34" charset="-120"/>
              </a:rPr>
              <a:t>Our Branch Network</a:t>
            </a:r>
            <a:endParaRPr lang="en-US" sz="3000" dirty="0"/>
          </a:p>
        </p:txBody>
      </p:sp>
      <p:sp>
        <p:nvSpPr>
          <p:cNvPr id="5" name="Text 0"/>
          <p:cNvSpPr/>
          <p:nvPr>
            <p:ph idx="101" type="body" hasCustomPrompt="1"/>
          </p:nvPr>
        </p:nvSpPr>
        <p:spPr>
          <a:xfrm>
            <a:off x="6065215" y="713232"/>
            <a:ext cx="5486400" cy="685800"/>
          </a:xfrm>
          <a:prstGeom prst="rect">
            <a:avLst/>
          </a:prstGeom>
          <a:noFill/>
          <a:ln/>
        </p:spPr>
        <p:txBody>
          <a:bodyPr wrap="square" lIns="0" tIns="0" rIns="0" bIns="0" rtlCol="0" anchor="t"/>
          <a:lstStyle/>
          <a:p>
            <a:pPr rtl="1" algn="r" indent="0" marL="0">
              <a:buNone/>
            </a:pPr>
            <a:r>
              <a:rPr lang="ar-AE" altLang="en-US" sz="3000" dirty="0">
                <a:solidFill>
                  <a:schemeClr val="tx1"/>
                </a:solidFill>
                <a:latin typeface="Arial" pitchFamily="34" charset="0"/>
                <a:ea typeface="Arial" pitchFamily="34" charset="-122"/>
                <a:cs typeface="Arial" pitchFamily="34" charset="-120"/>
              </a:rPr>
              <a:t>شبكة فروعنا</a:t>
            </a:r>
            <a:endParaRPr lang="ar-AE" sz="3000" dirty="0"/>
          </a:p>
        </p:txBody>
      </p:sp>
      <p:sp>
        <p:nvSpPr>
          <p:cNvPr id="6" name="Text 4"/>
          <p:cNvSpPr txBox="1"/>
          <p:nvPr/>
        </p:nvSpPr>
        <p:spPr>
          <a:xfrm>
            <a:off x="640080" y="1481328"/>
            <a:ext cx="5120640" cy="274320"/>
          </a:xfrm>
          <a:prstGeom prst="rect">
            <a:avLst/>
          </a:prstGeom>
          <a:noFill/>
          <a:ln/>
        </p:spPr>
        <p:txBody>
          <a:bodyPr wrap="square" lIns="0" tIns="0" rIns="0" bIns="0" rtlCol="0" anchor="t"/>
          <a:lstStyle/>
          <a:p>
            <a:pPr algn="l" indent="0" marL="0">
              <a:buNone/>
            </a:pPr>
            <a:r>
              <a:rPr lang="en-US" sz="1300" dirty="0">
                <a:solidFill>
                  <a:schemeClr val="accent3"/>
                </a:solidFill>
                <a:latin typeface="Arial" pitchFamily="34" charset="0"/>
                <a:ea typeface="Arial" pitchFamily="34" charset="-122"/>
                <a:cs typeface="Arial" pitchFamily="34" charset="-120"/>
              </a:rPr>
              <a:t>Five branches across the UAE and the Sultanate of Oman.</a:t>
            </a:r>
            <a:endParaRPr lang="en-US" sz="1300" dirty="0"/>
          </a:p>
        </p:txBody>
      </p:sp>
      <p:sp>
        <p:nvSpPr>
          <p:cNvPr id="7" name="Text 5"/>
          <p:cNvSpPr txBox="1"/>
          <p:nvPr/>
        </p:nvSpPr>
        <p:spPr>
          <a:xfrm>
            <a:off x="6430975" y="1481328"/>
            <a:ext cx="5120640" cy="274320"/>
          </a:xfrm>
          <a:prstGeom prst="rect">
            <a:avLst/>
          </a:prstGeom>
          <a:noFill/>
          <a:ln/>
        </p:spPr>
        <p:txBody>
          <a:bodyPr wrap="square" lIns="0" tIns="0" rIns="0" bIns="0" rtlCol="0" anchor="t"/>
          <a:lstStyle/>
          <a:p>
            <a:pPr rtl="1" algn="r" indent="0" marL="0">
              <a:buNone/>
            </a:pPr>
            <a:r>
              <a:rPr lang="ar-AE" altLang="en-US" sz="1300" dirty="0">
                <a:solidFill>
                  <a:schemeClr val="accent3"/>
                </a:solidFill>
                <a:latin typeface="Arial" pitchFamily="34" charset="0"/>
                <a:ea typeface="Arial" pitchFamily="34" charset="-122"/>
                <a:cs typeface="Arial" pitchFamily="34" charset="-120"/>
              </a:rPr>
              <a:t>شبكة تضم خمسة فروع في دولة الإمارات العربية المتحدة وسلطنة عُمان.</a:t>
            </a:r>
            <a:endParaRPr lang="ar-AE" sz="1300" dirty="0"/>
          </a:p>
        </p:txBody>
      </p:sp>
      <p:sp>
        <p:nvSpPr>
          <p:cNvPr id="8" name="Text 6"/>
          <p:cNvSpPr txBox="1"/>
          <p:nvPr/>
        </p:nvSpPr>
        <p:spPr>
          <a:xfrm>
            <a:off x="640080" y="2011680"/>
            <a:ext cx="6254496" cy="256032"/>
          </a:xfrm>
          <a:prstGeom prst="rect">
            <a:avLst/>
          </a:prstGeom>
          <a:noFill/>
          <a:ln/>
        </p:spPr>
        <p:txBody>
          <a:bodyPr wrap="square" lIns="0" tIns="0" rIns="0" bIns="0" rtlCol="0" anchor="t"/>
          <a:lstStyle/>
          <a:p>
            <a:pPr algn="l" indent="0" marL="0">
              <a:buNone/>
            </a:pPr>
            <a:r>
              <a:rPr lang="en-US" sz="1000" b="1" spc="200" kern="0" dirty="0">
                <a:solidFill>
                  <a:schemeClr val="accent1"/>
                </a:solidFill>
                <a:latin typeface="Arial" pitchFamily="34" charset="0"/>
                <a:ea typeface="Arial" pitchFamily="34" charset="-122"/>
                <a:cs typeface="Arial" pitchFamily="34" charset="-120"/>
              </a:rPr>
              <a:t>UNITED ARAB EMIRATES   |   دولة الإمارات العربية المتحدة</a:t>
            </a:r>
            <a:endParaRPr lang="en-US" sz="1000" dirty="0"/>
          </a:p>
        </p:txBody>
      </p:sp>
      <p:sp>
        <p:nvSpPr>
          <p:cNvPr id="9" name="Text 7"/>
          <p:cNvSpPr txBox="1"/>
          <p:nvPr/>
        </p:nvSpPr>
        <p:spPr>
          <a:xfrm>
            <a:off x="7351776" y="2011680"/>
            <a:ext cx="4123944" cy="256032"/>
          </a:xfrm>
          <a:prstGeom prst="rect">
            <a:avLst/>
          </a:prstGeom>
          <a:noFill/>
          <a:ln/>
        </p:spPr>
        <p:txBody>
          <a:bodyPr wrap="square" lIns="0" tIns="0" rIns="0" bIns="0" rtlCol="0" anchor="t"/>
          <a:lstStyle/>
          <a:p>
            <a:pPr algn="l" indent="0" marL="0">
              <a:buNone/>
            </a:pPr>
            <a:r>
              <a:rPr lang="en-US" sz="1000" b="1" spc="200" kern="0" dirty="0">
                <a:solidFill>
                  <a:schemeClr val="accent1"/>
                </a:solidFill>
                <a:latin typeface="Arial" pitchFamily="34" charset="0"/>
                <a:ea typeface="Arial" pitchFamily="34" charset="-122"/>
                <a:cs typeface="Arial" pitchFamily="34" charset="-120"/>
              </a:rPr>
              <a:t>SULTANATE OF OMAN   |   سلطنة عُمان</a:t>
            </a:r>
            <a:endParaRPr lang="en-US" sz="1000" dirty="0"/>
          </a:p>
        </p:txBody>
      </p:sp>
      <p:sp>
        <p:nvSpPr>
          <p:cNvPr id="10" name="Branch card Dubai"/>
          <p:cNvSpPr/>
          <p:nvPr/>
        </p:nvSpPr>
        <p:spPr>
          <a:xfrm>
            <a:off x="640080" y="2377440"/>
            <a:ext cx="1993392" cy="3017520"/>
          </a:xfrm>
          <a:prstGeom prst="roundRect">
            <a:avLst>
              <a:gd name="adj" fmla="val 4587"/>
            </a:avLst>
          </a:prstGeom>
          <a:solidFill>
            <a:schemeClr val="bg2"/>
          </a:solidFill>
          <a:ln/>
        </p:spPr>
      </p:sp>
      <p:pic>
        <p:nvPicPr>
          <p:cNvPr id="11" name="Branch icon Dubai" descr="storefront icon">    </p:cNvPr>
          <p:cNvPicPr>
            <a:picLocks noChangeAspect="1"/>
          </p:cNvPicPr>
          <p:nvPr/>
        </p:nvPicPr>
        <p:blipFill>
          <a:blip r:embed="rId1"/>
          <a:stretch>
            <a:fillRect/>
          </a:stretch>
        </p:blipFill>
        <p:spPr>
          <a:xfrm>
            <a:off x="868680" y="2633472"/>
            <a:ext cx="457200" cy="457200"/>
          </a:xfrm>
          <a:prstGeom prst="rect">
            <a:avLst/>
          </a:prstGeom>
        </p:spPr>
      </p:pic>
      <p:sp>
        <p:nvSpPr>
          <p:cNvPr id="12" name="Text 9"/>
          <p:cNvSpPr txBox="1"/>
          <p:nvPr/>
        </p:nvSpPr>
        <p:spPr>
          <a:xfrm>
            <a:off x="868680" y="3291840"/>
            <a:ext cx="1627632" cy="347472"/>
          </a:xfrm>
          <a:prstGeom prst="rect">
            <a:avLst/>
          </a:prstGeom>
          <a:noFill/>
          <a:ln/>
        </p:spPr>
        <p:txBody>
          <a:bodyPr wrap="square" lIns="0" tIns="0" rIns="0" bIns="0" rtlCol="0" anchor="t"/>
          <a:lstStyle/>
          <a:p>
            <a:pPr algn="l" indent="0" marL="0">
              <a:buNone/>
            </a:pPr>
            <a:r>
              <a:rPr lang="en-US" sz="1900" dirty="0">
                <a:solidFill>
                  <a:schemeClr val="tx1"/>
                </a:solidFill>
                <a:latin typeface="Arial" pitchFamily="34" charset="0"/>
                <a:ea typeface="Arial" pitchFamily="34" charset="-122"/>
                <a:cs typeface="Arial" pitchFamily="34" charset="-120"/>
                <a:hlinkClick r:id="rId9" tooltip="Open Dubai on Google Maps"/>
              </a:rPr>
              <a:t>Dubai</a:t>
            </a:r>
            <a:endParaRPr lang="en-US" sz="1900" dirty="0"/>
          </a:p>
        </p:txBody>
      </p:sp>
      <p:sp>
        <p:nvSpPr>
          <p:cNvPr id="13" name="Text 10"/>
          <p:cNvSpPr txBox="1"/>
          <p:nvPr/>
        </p:nvSpPr>
        <p:spPr>
          <a:xfrm>
            <a:off x="868680" y="3657600"/>
            <a:ext cx="1627632" cy="274320"/>
          </a:xfrm>
          <a:prstGeom prst="rect">
            <a:avLst/>
          </a:prstGeom>
          <a:noFill/>
          <a:ln/>
        </p:spPr>
        <p:txBody>
          <a:bodyPr wrap="square" lIns="0" tIns="0" rIns="0" bIns="0" rtlCol="0" anchor="t"/>
          <a:lstStyle/>
          <a:p>
            <a:pPr rtl="1" algn="r" indent="0" marL="0">
              <a:buNone/>
            </a:pPr>
            <a:r>
              <a:rPr lang="ar-AE" altLang="en-US" sz="1500" b="1" dirty="0">
                <a:solidFill>
                  <a:schemeClr val="accent1"/>
                </a:solidFill>
                <a:latin typeface="Arial" pitchFamily="34" charset="0"/>
                <a:ea typeface="Arial" pitchFamily="34" charset="-122"/>
                <a:cs typeface="Arial" pitchFamily="34" charset="-120"/>
                <a:hlinkClick r:id="rId9" tooltip="Open Dubai on Google Maps"/>
              </a:rPr>
              <a:t>دبي</a:t>
            </a:r>
            <a:endParaRPr lang="ar-AE" sz="1500" dirty="0"/>
          </a:p>
        </p:txBody>
      </p:sp>
      <p:sp>
        <p:nvSpPr>
          <p:cNvPr id="14" name="Text 11"/>
          <p:cNvSpPr txBox="1"/>
          <p:nvPr/>
        </p:nvSpPr>
        <p:spPr>
          <a:xfrm>
            <a:off x="868680" y="4069080"/>
            <a:ext cx="1627632" cy="594360"/>
          </a:xfrm>
          <a:prstGeom prst="rect">
            <a:avLst/>
          </a:prstGeom>
          <a:noFill/>
          <a:ln/>
        </p:spPr>
        <p:txBody>
          <a:bodyPr wrap="square" lIns="0" tIns="0" rIns="0" bIns="0" rtlCol="0" anchor="t"/>
          <a:lstStyle/>
          <a:p>
            <a:pPr algn="l" indent="0" marL="0">
              <a:buNone/>
            </a:pPr>
            <a:r>
              <a:rPr lang="en-US" sz="1050" dirty="0">
                <a:solidFill>
                  <a:schemeClr val="accent3"/>
                </a:solidFill>
                <a:latin typeface="Arial" pitchFamily="34" charset="0"/>
                <a:ea typeface="Arial" pitchFamily="34" charset="-122"/>
                <a:cs typeface="Arial" pitchFamily="34" charset="-120"/>
              </a:rPr>
              <a:t>Accessories, charging solutions and related customer services.</a:t>
            </a:r>
            <a:endParaRPr lang="en-US" sz="1050" dirty="0"/>
          </a:p>
        </p:txBody>
      </p:sp>
      <p:sp>
        <p:nvSpPr>
          <p:cNvPr id="15" name="Text 12"/>
          <p:cNvSpPr txBox="1"/>
          <p:nvPr/>
        </p:nvSpPr>
        <p:spPr>
          <a:xfrm>
            <a:off x="868680" y="4663440"/>
            <a:ext cx="1627632" cy="594360"/>
          </a:xfrm>
          <a:prstGeom prst="rect">
            <a:avLst/>
          </a:prstGeom>
          <a:noFill/>
          <a:ln/>
        </p:spPr>
        <p:txBody>
          <a:bodyPr wrap="square" lIns="0" tIns="0" rIns="0" bIns="0" rtlCol="0" anchor="t"/>
          <a:lstStyle/>
          <a:p>
            <a:pPr rtl="1" algn="r" indent="0" marL="0">
              <a:buNone/>
            </a:pPr>
            <a:r>
              <a:rPr lang="ar-AE" altLang="en-US" sz="1050" dirty="0">
                <a:solidFill>
                  <a:schemeClr val="accent3"/>
                </a:solidFill>
                <a:latin typeface="Arial" pitchFamily="34" charset="0"/>
                <a:ea typeface="Arial" pitchFamily="34" charset="-122"/>
                <a:cs typeface="Arial" pitchFamily="34" charset="-120"/>
              </a:rPr>
              <a:t>إكسسوارات وحلول شحن وخدمات مرتبطة.</a:t>
            </a:r>
            <a:endParaRPr lang="ar-AE" sz="1050" dirty="0"/>
          </a:p>
        </p:txBody>
      </p:sp>
      <p:sp>
        <p:nvSpPr>
          <p:cNvPr id="16" name="Branch card Sharjah"/>
          <p:cNvSpPr/>
          <p:nvPr/>
        </p:nvSpPr>
        <p:spPr>
          <a:xfrm>
            <a:off x="2770632" y="2377440"/>
            <a:ext cx="1993392" cy="3017520"/>
          </a:xfrm>
          <a:prstGeom prst="roundRect">
            <a:avLst>
              <a:gd name="adj" fmla="val 4587"/>
            </a:avLst>
          </a:prstGeom>
          <a:solidFill>
            <a:schemeClr val="bg2"/>
          </a:solidFill>
          <a:ln/>
        </p:spPr>
      </p:sp>
      <p:pic>
        <p:nvPicPr>
          <p:cNvPr id="17" name="Branch icon Sharjah" descr="storefront icon">    </p:cNvPr>
          <p:cNvPicPr>
            <a:picLocks noChangeAspect="1"/>
          </p:cNvPicPr>
          <p:nvPr/>
        </p:nvPicPr>
        <p:blipFill>
          <a:blip r:embed="rId2"/>
          <a:stretch>
            <a:fillRect/>
          </a:stretch>
        </p:blipFill>
        <p:spPr>
          <a:xfrm>
            <a:off x="2999232" y="2633472"/>
            <a:ext cx="457200" cy="457200"/>
          </a:xfrm>
          <a:prstGeom prst="rect">
            <a:avLst/>
          </a:prstGeom>
        </p:spPr>
      </p:pic>
      <p:sp>
        <p:nvSpPr>
          <p:cNvPr id="18" name="Text 14"/>
          <p:cNvSpPr txBox="1"/>
          <p:nvPr/>
        </p:nvSpPr>
        <p:spPr>
          <a:xfrm>
            <a:off x="2999232" y="3291840"/>
            <a:ext cx="1627632" cy="347472"/>
          </a:xfrm>
          <a:prstGeom prst="rect">
            <a:avLst/>
          </a:prstGeom>
          <a:noFill/>
          <a:ln/>
        </p:spPr>
        <p:txBody>
          <a:bodyPr wrap="square" lIns="0" tIns="0" rIns="0" bIns="0" rtlCol="0" anchor="t"/>
          <a:lstStyle/>
          <a:p>
            <a:pPr algn="l" indent="0" marL="0">
              <a:buNone/>
            </a:pPr>
            <a:r>
              <a:rPr lang="en-US" sz="1900" dirty="0">
                <a:solidFill>
                  <a:schemeClr val="tx1"/>
                </a:solidFill>
                <a:latin typeface="Arial" pitchFamily="34" charset="0"/>
                <a:ea typeface="Arial" pitchFamily="34" charset="-122"/>
                <a:cs typeface="Arial" pitchFamily="34" charset="-120"/>
                <a:hlinkClick r:id="rId10" tooltip="Open Sharjah on Google Maps"/>
              </a:rPr>
              <a:t>Sharjah</a:t>
            </a:r>
            <a:endParaRPr lang="en-US" sz="1900" dirty="0"/>
          </a:p>
        </p:txBody>
      </p:sp>
      <p:sp>
        <p:nvSpPr>
          <p:cNvPr id="19" name="Text 15"/>
          <p:cNvSpPr txBox="1"/>
          <p:nvPr/>
        </p:nvSpPr>
        <p:spPr>
          <a:xfrm>
            <a:off x="2999232" y="3657600"/>
            <a:ext cx="1627632" cy="274320"/>
          </a:xfrm>
          <a:prstGeom prst="rect">
            <a:avLst/>
          </a:prstGeom>
          <a:noFill/>
          <a:ln/>
        </p:spPr>
        <p:txBody>
          <a:bodyPr wrap="square" lIns="0" tIns="0" rIns="0" bIns="0" rtlCol="0" anchor="t"/>
          <a:lstStyle/>
          <a:p>
            <a:pPr rtl="1" algn="r" indent="0" marL="0">
              <a:buNone/>
            </a:pPr>
            <a:r>
              <a:rPr lang="ar-AE" altLang="en-US" sz="1500" b="1" dirty="0">
                <a:solidFill>
                  <a:schemeClr val="accent1"/>
                </a:solidFill>
                <a:latin typeface="Arial" pitchFamily="34" charset="0"/>
                <a:ea typeface="Arial" pitchFamily="34" charset="-122"/>
                <a:cs typeface="Arial" pitchFamily="34" charset="-120"/>
                <a:hlinkClick r:id="rId10" tooltip="Open Sharjah on Google Maps"/>
              </a:rPr>
              <a:t>الشارقة</a:t>
            </a:r>
            <a:endParaRPr lang="ar-AE" sz="1500" dirty="0"/>
          </a:p>
        </p:txBody>
      </p:sp>
      <p:sp>
        <p:nvSpPr>
          <p:cNvPr id="20" name="Text 16"/>
          <p:cNvSpPr txBox="1"/>
          <p:nvPr/>
        </p:nvSpPr>
        <p:spPr>
          <a:xfrm>
            <a:off x="2999232" y="4069080"/>
            <a:ext cx="1627632" cy="594360"/>
          </a:xfrm>
          <a:prstGeom prst="rect">
            <a:avLst/>
          </a:prstGeom>
          <a:noFill/>
          <a:ln/>
        </p:spPr>
        <p:txBody>
          <a:bodyPr wrap="square" lIns="0" tIns="0" rIns="0" bIns="0" rtlCol="0" anchor="t"/>
          <a:lstStyle/>
          <a:p>
            <a:pPr algn="l" indent="0" marL="0">
              <a:buNone/>
            </a:pPr>
            <a:r>
              <a:rPr lang="en-US" sz="1050" dirty="0">
                <a:solidFill>
                  <a:schemeClr val="accent3"/>
                </a:solidFill>
                <a:latin typeface="Arial" pitchFamily="34" charset="0"/>
                <a:ea typeface="Arial" pitchFamily="34" charset="-122"/>
                <a:cs typeface="Arial" pitchFamily="34" charset="-120"/>
              </a:rPr>
              <a:t>Specialized products and services for EV owners.</a:t>
            </a:r>
            <a:endParaRPr lang="en-US" sz="1050" dirty="0"/>
          </a:p>
        </p:txBody>
      </p:sp>
      <p:sp>
        <p:nvSpPr>
          <p:cNvPr id="21" name="Text 17"/>
          <p:cNvSpPr txBox="1"/>
          <p:nvPr/>
        </p:nvSpPr>
        <p:spPr>
          <a:xfrm>
            <a:off x="2999232" y="4663440"/>
            <a:ext cx="1627632" cy="594360"/>
          </a:xfrm>
          <a:prstGeom prst="rect">
            <a:avLst/>
          </a:prstGeom>
          <a:noFill/>
          <a:ln/>
        </p:spPr>
        <p:txBody>
          <a:bodyPr wrap="square" lIns="0" tIns="0" rIns="0" bIns="0" rtlCol="0" anchor="t"/>
          <a:lstStyle/>
          <a:p>
            <a:pPr rtl="1" algn="r" indent="0" marL="0">
              <a:buNone/>
            </a:pPr>
            <a:r>
              <a:rPr lang="ar-AE" altLang="en-US" sz="1050" dirty="0">
                <a:solidFill>
                  <a:schemeClr val="accent3"/>
                </a:solidFill>
                <a:latin typeface="Arial" pitchFamily="34" charset="0"/>
                <a:ea typeface="Arial" pitchFamily="34" charset="-122"/>
                <a:cs typeface="Arial" pitchFamily="34" charset="-120"/>
              </a:rPr>
              <a:t>منتجات وخدمات متخصصة لملاك السيارات الكهربائية.</a:t>
            </a:r>
            <a:endParaRPr lang="ar-AE" sz="1050" dirty="0"/>
          </a:p>
        </p:txBody>
      </p:sp>
      <p:sp>
        <p:nvSpPr>
          <p:cNvPr id="22" name="Branch card Al Ain"/>
          <p:cNvSpPr/>
          <p:nvPr/>
        </p:nvSpPr>
        <p:spPr>
          <a:xfrm>
            <a:off x="4901184" y="2377440"/>
            <a:ext cx="1993392" cy="3017520"/>
          </a:xfrm>
          <a:prstGeom prst="roundRect">
            <a:avLst>
              <a:gd name="adj" fmla="val 4587"/>
            </a:avLst>
          </a:prstGeom>
          <a:solidFill>
            <a:schemeClr val="bg2"/>
          </a:solidFill>
          <a:ln/>
        </p:spPr>
      </p:sp>
      <p:pic>
        <p:nvPicPr>
          <p:cNvPr id="23" name="Branch icon Al Ain" descr="storefront icon">    </p:cNvPr>
          <p:cNvPicPr>
            <a:picLocks noChangeAspect="1"/>
          </p:cNvPicPr>
          <p:nvPr/>
        </p:nvPicPr>
        <p:blipFill>
          <a:blip r:embed="rId3"/>
          <a:stretch>
            <a:fillRect/>
          </a:stretch>
        </p:blipFill>
        <p:spPr>
          <a:xfrm>
            <a:off x="5129784" y="2633472"/>
            <a:ext cx="457200" cy="457200"/>
          </a:xfrm>
          <a:prstGeom prst="rect">
            <a:avLst/>
          </a:prstGeom>
        </p:spPr>
      </p:pic>
      <p:sp>
        <p:nvSpPr>
          <p:cNvPr id="24" name="Text 19"/>
          <p:cNvSpPr txBox="1"/>
          <p:nvPr/>
        </p:nvSpPr>
        <p:spPr>
          <a:xfrm>
            <a:off x="5129784" y="3291840"/>
            <a:ext cx="1627632" cy="347472"/>
          </a:xfrm>
          <a:prstGeom prst="rect">
            <a:avLst/>
          </a:prstGeom>
          <a:noFill/>
          <a:ln/>
        </p:spPr>
        <p:txBody>
          <a:bodyPr wrap="square" lIns="0" tIns="0" rIns="0" bIns="0" rtlCol="0" anchor="t"/>
          <a:lstStyle/>
          <a:p>
            <a:pPr algn="l" indent="0" marL="0">
              <a:buNone/>
            </a:pPr>
            <a:r>
              <a:rPr lang="en-US" sz="1900" dirty="0">
                <a:solidFill>
                  <a:schemeClr val="tx1"/>
                </a:solidFill>
                <a:latin typeface="Arial" pitchFamily="34" charset="0"/>
                <a:ea typeface="Arial" pitchFamily="34" charset="-122"/>
                <a:cs typeface="Arial" pitchFamily="34" charset="-120"/>
                <a:hlinkClick r:id="rId11" tooltip="Open Al Ain on Google Maps"/>
              </a:rPr>
              <a:t>Al Ain</a:t>
            </a:r>
            <a:endParaRPr lang="en-US" sz="1900" dirty="0"/>
          </a:p>
        </p:txBody>
      </p:sp>
      <p:sp>
        <p:nvSpPr>
          <p:cNvPr id="25" name="Text 20"/>
          <p:cNvSpPr txBox="1"/>
          <p:nvPr/>
        </p:nvSpPr>
        <p:spPr>
          <a:xfrm>
            <a:off x="5129784" y="3657600"/>
            <a:ext cx="1627632" cy="274320"/>
          </a:xfrm>
          <a:prstGeom prst="rect">
            <a:avLst/>
          </a:prstGeom>
          <a:noFill/>
          <a:ln/>
        </p:spPr>
        <p:txBody>
          <a:bodyPr wrap="square" lIns="0" tIns="0" rIns="0" bIns="0" rtlCol="0" anchor="t"/>
          <a:lstStyle/>
          <a:p>
            <a:pPr rtl="1" algn="r" indent="0" marL="0">
              <a:buNone/>
            </a:pPr>
            <a:r>
              <a:rPr lang="ar-AE" altLang="en-US" sz="1500" b="1" dirty="0">
                <a:solidFill>
                  <a:schemeClr val="accent1"/>
                </a:solidFill>
                <a:latin typeface="Arial" pitchFamily="34" charset="0"/>
                <a:ea typeface="Arial" pitchFamily="34" charset="-122"/>
                <a:cs typeface="Arial" pitchFamily="34" charset="-120"/>
                <a:hlinkClick r:id="rId11" tooltip="Open Al Ain on Google Maps"/>
              </a:rPr>
              <a:t>العين</a:t>
            </a:r>
            <a:endParaRPr lang="ar-AE" sz="1500" dirty="0"/>
          </a:p>
        </p:txBody>
      </p:sp>
      <p:sp>
        <p:nvSpPr>
          <p:cNvPr id="26" name="Text 21"/>
          <p:cNvSpPr txBox="1"/>
          <p:nvPr/>
        </p:nvSpPr>
        <p:spPr>
          <a:xfrm>
            <a:off x="5129784" y="4069080"/>
            <a:ext cx="1627632" cy="594360"/>
          </a:xfrm>
          <a:prstGeom prst="rect">
            <a:avLst/>
          </a:prstGeom>
          <a:noFill/>
          <a:ln/>
        </p:spPr>
        <p:txBody>
          <a:bodyPr wrap="square" lIns="0" tIns="0" rIns="0" bIns="0" rtlCol="0" anchor="t"/>
          <a:lstStyle/>
          <a:p>
            <a:pPr algn="l" indent="0" marL="0">
              <a:buNone/>
            </a:pPr>
            <a:r>
              <a:rPr lang="en-US" sz="1050" dirty="0">
                <a:solidFill>
                  <a:schemeClr val="accent3"/>
                </a:solidFill>
                <a:latin typeface="Arial" pitchFamily="34" charset="0"/>
                <a:ea typeface="Arial" pitchFamily="34" charset="-122"/>
                <a:cs typeface="Arial" pitchFamily="34" charset="-120"/>
              </a:rPr>
              <a:t>EV accessories and related services.</a:t>
            </a:r>
            <a:endParaRPr lang="en-US" sz="1050" dirty="0"/>
          </a:p>
        </p:txBody>
      </p:sp>
      <p:sp>
        <p:nvSpPr>
          <p:cNvPr id="27" name="Text 22"/>
          <p:cNvSpPr txBox="1"/>
          <p:nvPr/>
        </p:nvSpPr>
        <p:spPr>
          <a:xfrm>
            <a:off x="5129784" y="4663440"/>
            <a:ext cx="1627632" cy="594360"/>
          </a:xfrm>
          <a:prstGeom prst="rect">
            <a:avLst/>
          </a:prstGeom>
          <a:noFill/>
          <a:ln/>
        </p:spPr>
        <p:txBody>
          <a:bodyPr wrap="square" lIns="0" tIns="0" rIns="0" bIns="0" rtlCol="0" anchor="t"/>
          <a:lstStyle/>
          <a:p>
            <a:pPr rtl="1" algn="r" indent="0" marL="0">
              <a:buNone/>
            </a:pPr>
            <a:r>
              <a:rPr lang="ar-AE" altLang="en-US" sz="1050" dirty="0">
                <a:solidFill>
                  <a:schemeClr val="accent3"/>
                </a:solidFill>
                <a:latin typeface="Arial" pitchFamily="34" charset="0"/>
                <a:ea typeface="Arial" pitchFamily="34" charset="-122"/>
                <a:cs typeface="Arial" pitchFamily="34" charset="-120"/>
              </a:rPr>
              <a:t>إكسسوارات السيارات الكهربائية والخدمات المرتبطة بها.</a:t>
            </a:r>
            <a:endParaRPr lang="ar-AE" sz="1050" dirty="0"/>
          </a:p>
        </p:txBody>
      </p:sp>
      <p:sp>
        <p:nvSpPr>
          <p:cNvPr id="28" name="Branch card Muscat"/>
          <p:cNvSpPr/>
          <p:nvPr/>
        </p:nvSpPr>
        <p:spPr>
          <a:xfrm>
            <a:off x="7351776" y="2377440"/>
            <a:ext cx="1993392" cy="3017520"/>
          </a:xfrm>
          <a:prstGeom prst="roundRect">
            <a:avLst>
              <a:gd name="adj" fmla="val 4587"/>
            </a:avLst>
          </a:prstGeom>
          <a:solidFill>
            <a:schemeClr val="accent6"/>
          </a:solidFill>
          <a:ln/>
        </p:spPr>
      </p:sp>
      <p:pic>
        <p:nvPicPr>
          <p:cNvPr id="29" name="Branch icon Muscat" descr="storefront icon">    </p:cNvPr>
          <p:cNvPicPr>
            <a:picLocks noChangeAspect="1"/>
          </p:cNvPicPr>
          <p:nvPr/>
        </p:nvPicPr>
        <p:blipFill>
          <a:blip r:embed="rId4"/>
          <a:stretch>
            <a:fillRect/>
          </a:stretch>
        </p:blipFill>
        <p:spPr>
          <a:xfrm>
            <a:off x="7580376" y="2633472"/>
            <a:ext cx="457200" cy="457200"/>
          </a:xfrm>
          <a:prstGeom prst="rect">
            <a:avLst/>
          </a:prstGeom>
        </p:spPr>
      </p:pic>
      <p:sp>
        <p:nvSpPr>
          <p:cNvPr id="30" name="Text 24"/>
          <p:cNvSpPr txBox="1"/>
          <p:nvPr/>
        </p:nvSpPr>
        <p:spPr>
          <a:xfrm>
            <a:off x="7580376" y="3291840"/>
            <a:ext cx="1627632" cy="347472"/>
          </a:xfrm>
          <a:prstGeom prst="rect">
            <a:avLst/>
          </a:prstGeom>
          <a:noFill/>
          <a:ln/>
        </p:spPr>
        <p:txBody>
          <a:bodyPr wrap="square" lIns="0" tIns="0" rIns="0" bIns="0" rtlCol="0" anchor="t"/>
          <a:lstStyle/>
          <a:p>
            <a:pPr algn="l" indent="0" marL="0">
              <a:buNone/>
            </a:pPr>
            <a:r>
              <a:rPr lang="en-US" sz="1900" dirty="0">
                <a:solidFill>
                  <a:schemeClr val="tx1"/>
                </a:solidFill>
                <a:latin typeface="Arial" pitchFamily="34" charset="0"/>
                <a:ea typeface="Arial" pitchFamily="34" charset="-122"/>
                <a:cs typeface="Arial" pitchFamily="34" charset="-120"/>
                <a:hlinkClick r:id="rId12" tooltip="Open Muscat on Google Maps"/>
              </a:rPr>
              <a:t>Muscat</a:t>
            </a:r>
            <a:endParaRPr lang="en-US" sz="1900" dirty="0"/>
          </a:p>
        </p:txBody>
      </p:sp>
      <p:sp>
        <p:nvSpPr>
          <p:cNvPr id="31" name="Text 25"/>
          <p:cNvSpPr txBox="1"/>
          <p:nvPr/>
        </p:nvSpPr>
        <p:spPr>
          <a:xfrm>
            <a:off x="7580376" y="3657600"/>
            <a:ext cx="1627632" cy="274320"/>
          </a:xfrm>
          <a:prstGeom prst="rect">
            <a:avLst/>
          </a:prstGeom>
          <a:noFill/>
          <a:ln/>
        </p:spPr>
        <p:txBody>
          <a:bodyPr wrap="square" lIns="0" tIns="0" rIns="0" bIns="0" rtlCol="0" anchor="t"/>
          <a:lstStyle/>
          <a:p>
            <a:pPr rtl="1" algn="r" indent="0" marL="0">
              <a:buNone/>
            </a:pPr>
            <a:r>
              <a:rPr lang="ar-AE" altLang="en-US" sz="1500" b="1" dirty="0">
                <a:solidFill>
                  <a:schemeClr val="accent1"/>
                </a:solidFill>
                <a:latin typeface="Arial" pitchFamily="34" charset="0"/>
                <a:ea typeface="Arial" pitchFamily="34" charset="-122"/>
                <a:cs typeface="Arial" pitchFamily="34" charset="-120"/>
                <a:hlinkClick r:id="rId12" tooltip="Open Muscat on Google Maps"/>
              </a:rPr>
              <a:t>مسقط</a:t>
            </a:r>
            <a:endParaRPr lang="ar-AE" sz="1500" dirty="0"/>
          </a:p>
        </p:txBody>
      </p:sp>
      <p:sp>
        <p:nvSpPr>
          <p:cNvPr id="32" name="Text 26"/>
          <p:cNvSpPr txBox="1"/>
          <p:nvPr/>
        </p:nvSpPr>
        <p:spPr>
          <a:xfrm>
            <a:off x="7580376" y="4069080"/>
            <a:ext cx="1627632" cy="594360"/>
          </a:xfrm>
          <a:prstGeom prst="rect">
            <a:avLst/>
          </a:prstGeom>
          <a:noFill/>
          <a:ln/>
        </p:spPr>
        <p:txBody>
          <a:bodyPr wrap="square" lIns="0" tIns="0" rIns="0" bIns="0" rtlCol="0" anchor="t"/>
          <a:lstStyle/>
          <a:p>
            <a:pPr algn="l" indent="0" marL="0">
              <a:buNone/>
            </a:pPr>
            <a:r>
              <a:rPr lang="en-US" sz="1050" dirty="0">
                <a:solidFill>
                  <a:schemeClr val="accent3"/>
                </a:solidFill>
                <a:latin typeface="Arial" pitchFamily="34" charset="0"/>
                <a:ea typeface="Arial" pitchFamily="34" charset="-122"/>
                <a:cs typeface="Arial" pitchFamily="34" charset="-120"/>
              </a:rPr>
              <a:t>Specialized products and services for EV owners in Oman.</a:t>
            </a:r>
            <a:endParaRPr lang="en-US" sz="1050" dirty="0"/>
          </a:p>
        </p:txBody>
      </p:sp>
      <p:sp>
        <p:nvSpPr>
          <p:cNvPr id="33" name="Text 27"/>
          <p:cNvSpPr txBox="1"/>
          <p:nvPr/>
        </p:nvSpPr>
        <p:spPr>
          <a:xfrm>
            <a:off x="7580376" y="4663440"/>
            <a:ext cx="1627632" cy="594360"/>
          </a:xfrm>
          <a:prstGeom prst="rect">
            <a:avLst/>
          </a:prstGeom>
          <a:noFill/>
          <a:ln/>
        </p:spPr>
        <p:txBody>
          <a:bodyPr wrap="square" lIns="0" tIns="0" rIns="0" bIns="0" rtlCol="0" anchor="t"/>
          <a:lstStyle/>
          <a:p>
            <a:pPr rtl="1" algn="r" indent="0" marL="0">
              <a:buNone/>
            </a:pPr>
            <a:r>
              <a:rPr lang="ar-AE" altLang="en-US" sz="1050" dirty="0">
                <a:solidFill>
                  <a:schemeClr val="accent3"/>
                </a:solidFill>
                <a:latin typeface="Arial" pitchFamily="34" charset="0"/>
                <a:ea typeface="Arial" pitchFamily="34" charset="-122"/>
                <a:cs typeface="Arial" pitchFamily="34" charset="-120"/>
              </a:rPr>
              <a:t>منتجات وخدمات متخصصة لملاك السيارات الكهربائية في عُمان.</a:t>
            </a:r>
            <a:endParaRPr lang="ar-AE" sz="1050" dirty="0"/>
          </a:p>
        </p:txBody>
      </p:sp>
      <p:sp>
        <p:nvSpPr>
          <p:cNvPr id="34" name="Branch card Saham"/>
          <p:cNvSpPr/>
          <p:nvPr/>
        </p:nvSpPr>
        <p:spPr>
          <a:xfrm>
            <a:off x="9482328" y="2377440"/>
            <a:ext cx="1993392" cy="3017520"/>
          </a:xfrm>
          <a:prstGeom prst="roundRect">
            <a:avLst>
              <a:gd name="adj" fmla="val 4587"/>
            </a:avLst>
          </a:prstGeom>
          <a:solidFill>
            <a:schemeClr val="accent6"/>
          </a:solidFill>
          <a:ln/>
        </p:spPr>
      </p:sp>
      <p:pic>
        <p:nvPicPr>
          <p:cNvPr id="35" name="Branch icon Saham" descr="storefront icon">    </p:cNvPr>
          <p:cNvPicPr>
            <a:picLocks noChangeAspect="1"/>
          </p:cNvPicPr>
          <p:nvPr/>
        </p:nvPicPr>
        <p:blipFill>
          <a:blip r:embed="rId5"/>
          <a:stretch>
            <a:fillRect/>
          </a:stretch>
        </p:blipFill>
        <p:spPr>
          <a:xfrm>
            <a:off x="9710928" y="2633472"/>
            <a:ext cx="457200" cy="457200"/>
          </a:xfrm>
          <a:prstGeom prst="rect">
            <a:avLst/>
          </a:prstGeom>
        </p:spPr>
      </p:pic>
      <p:sp>
        <p:nvSpPr>
          <p:cNvPr id="36" name="Text 29"/>
          <p:cNvSpPr txBox="1"/>
          <p:nvPr/>
        </p:nvSpPr>
        <p:spPr>
          <a:xfrm>
            <a:off x="9710928" y="3291840"/>
            <a:ext cx="1627632" cy="347472"/>
          </a:xfrm>
          <a:prstGeom prst="rect">
            <a:avLst/>
          </a:prstGeom>
          <a:noFill/>
          <a:ln/>
        </p:spPr>
        <p:txBody>
          <a:bodyPr wrap="square" lIns="0" tIns="0" rIns="0" bIns="0" rtlCol="0" anchor="t"/>
          <a:lstStyle/>
          <a:p>
            <a:pPr algn="l" indent="0" marL="0">
              <a:buNone/>
            </a:pPr>
            <a:r>
              <a:rPr lang="en-US" sz="1900" dirty="0">
                <a:solidFill>
                  <a:schemeClr val="tx1"/>
                </a:solidFill>
                <a:latin typeface="Arial" pitchFamily="34" charset="0"/>
                <a:ea typeface="Arial" pitchFamily="34" charset="-122"/>
                <a:cs typeface="Arial" pitchFamily="34" charset="-120"/>
                <a:hlinkClick r:id="rId13" tooltip="Open Saham on Google Maps"/>
              </a:rPr>
              <a:t>Saham</a:t>
            </a:r>
            <a:endParaRPr lang="en-US" sz="1900" dirty="0"/>
          </a:p>
        </p:txBody>
      </p:sp>
      <p:sp>
        <p:nvSpPr>
          <p:cNvPr id="37" name="Text 30"/>
          <p:cNvSpPr txBox="1"/>
          <p:nvPr/>
        </p:nvSpPr>
        <p:spPr>
          <a:xfrm>
            <a:off x="9710928" y="3657600"/>
            <a:ext cx="1627632" cy="274320"/>
          </a:xfrm>
          <a:prstGeom prst="rect">
            <a:avLst/>
          </a:prstGeom>
          <a:noFill/>
          <a:ln/>
        </p:spPr>
        <p:txBody>
          <a:bodyPr wrap="square" lIns="0" tIns="0" rIns="0" bIns="0" rtlCol="0" anchor="t"/>
          <a:lstStyle/>
          <a:p>
            <a:pPr rtl="1" algn="r" indent="0" marL="0">
              <a:buNone/>
            </a:pPr>
            <a:r>
              <a:rPr lang="ar-AE" altLang="en-US" sz="1500" b="1" dirty="0">
                <a:solidFill>
                  <a:schemeClr val="accent1"/>
                </a:solidFill>
                <a:latin typeface="Arial" pitchFamily="34" charset="0"/>
                <a:ea typeface="Arial" pitchFamily="34" charset="-122"/>
                <a:cs typeface="Arial" pitchFamily="34" charset="-120"/>
                <a:hlinkClick r:id="rId13" tooltip="Open Saham on Google Maps"/>
              </a:rPr>
              <a:t>صحم</a:t>
            </a:r>
            <a:endParaRPr lang="ar-AE" sz="1500" dirty="0"/>
          </a:p>
        </p:txBody>
      </p:sp>
      <p:sp>
        <p:nvSpPr>
          <p:cNvPr id="38" name="Text 31"/>
          <p:cNvSpPr txBox="1"/>
          <p:nvPr/>
        </p:nvSpPr>
        <p:spPr>
          <a:xfrm>
            <a:off x="9710928" y="4069080"/>
            <a:ext cx="1627632" cy="594360"/>
          </a:xfrm>
          <a:prstGeom prst="rect">
            <a:avLst/>
          </a:prstGeom>
          <a:noFill/>
          <a:ln/>
        </p:spPr>
        <p:txBody>
          <a:bodyPr wrap="square" lIns="0" tIns="0" rIns="0" bIns="0" rtlCol="0" anchor="t"/>
          <a:lstStyle/>
          <a:p>
            <a:pPr algn="l" indent="0" marL="0">
              <a:buNone/>
            </a:pPr>
            <a:r>
              <a:rPr lang="en-US" sz="1050" dirty="0">
                <a:solidFill>
                  <a:schemeClr val="accent3"/>
                </a:solidFill>
                <a:latin typeface="Arial" pitchFamily="34" charset="0"/>
                <a:ea typeface="Arial" pitchFamily="34" charset="-122"/>
                <a:cs typeface="Arial" pitchFamily="34" charset="-120"/>
              </a:rPr>
              <a:t>Expanding access to products and services in North Al Batinah.</a:t>
            </a:r>
            <a:endParaRPr lang="en-US" sz="1050" dirty="0"/>
          </a:p>
        </p:txBody>
      </p:sp>
      <p:sp>
        <p:nvSpPr>
          <p:cNvPr id="39" name="Text 32"/>
          <p:cNvSpPr txBox="1"/>
          <p:nvPr/>
        </p:nvSpPr>
        <p:spPr>
          <a:xfrm>
            <a:off x="9710928" y="4663440"/>
            <a:ext cx="1627632" cy="594360"/>
          </a:xfrm>
          <a:prstGeom prst="rect">
            <a:avLst/>
          </a:prstGeom>
          <a:noFill/>
          <a:ln/>
        </p:spPr>
        <p:txBody>
          <a:bodyPr wrap="square" lIns="0" tIns="0" rIns="0" bIns="0" rtlCol="0" anchor="t"/>
          <a:lstStyle/>
          <a:p>
            <a:pPr rtl="1" algn="r" indent="0" marL="0">
              <a:buNone/>
            </a:pPr>
            <a:r>
              <a:rPr lang="ar-AE" altLang="en-US" sz="1050" dirty="0">
                <a:solidFill>
                  <a:schemeClr val="accent3"/>
                </a:solidFill>
                <a:latin typeface="Arial" pitchFamily="34" charset="0"/>
                <a:ea typeface="Arial" pitchFamily="34" charset="-122"/>
                <a:cs typeface="Arial" pitchFamily="34" charset="-120"/>
              </a:rPr>
              <a:t>تعزيز الوصول إلى المنتجات والخدمات في شمال الباطنة.</a:t>
            </a:r>
            <a:endParaRPr lang="ar-AE" sz="1050" dirty="0"/>
          </a:p>
        </p:txBody>
      </p:sp>
      <p:sp>
        <p:nvSpPr>
          <p:cNvPr id="40" name="Service band"/>
          <p:cNvSpPr/>
          <p:nvPr/>
        </p:nvSpPr>
        <p:spPr>
          <a:xfrm>
            <a:off x="640080" y="5532120"/>
            <a:ext cx="10911535" cy="640080"/>
          </a:xfrm>
          <a:prstGeom prst="roundRect">
            <a:avLst>
              <a:gd name="adj" fmla="val 14286"/>
            </a:avLst>
          </a:prstGeom>
          <a:solidFill>
            <a:schemeClr val="tx1"/>
          </a:solidFill>
          <a:ln/>
        </p:spPr>
      </p:sp>
      <p:pic>
        <p:nvPicPr>
          <p:cNvPr id="41" name="WhatsApp icon" descr="WhatsApp icon">    </p:cNvPr>
          <p:cNvPicPr>
            <a:picLocks noChangeAspect="1"/>
          </p:cNvPicPr>
          <p:nvPr/>
        </p:nvPicPr>
        <p:blipFill>
          <a:blip r:embed="rId6"/>
          <a:stretch>
            <a:fillRect/>
          </a:stretch>
        </p:blipFill>
        <p:spPr>
          <a:xfrm>
            <a:off x="914400" y="5660136"/>
            <a:ext cx="384048" cy="384048"/>
          </a:xfrm>
          <a:prstGeom prst="rect">
            <a:avLst/>
          </a:prstGeom>
        </p:spPr>
      </p:pic>
      <p:sp>
        <p:nvSpPr>
          <p:cNvPr id="42" name="Text 34"/>
          <p:cNvSpPr txBox="1"/>
          <p:nvPr/>
        </p:nvSpPr>
        <p:spPr>
          <a:xfrm>
            <a:off x="1508760" y="5605272"/>
            <a:ext cx="3017520" cy="228600"/>
          </a:xfrm>
          <a:prstGeom prst="rect">
            <a:avLst/>
          </a:prstGeom>
          <a:noFill/>
          <a:ln/>
        </p:spPr>
        <p:txBody>
          <a:bodyPr wrap="square" lIns="0" tIns="0" rIns="0" bIns="0" rtlCol="0" anchor="t"/>
          <a:lstStyle/>
          <a:p>
            <a:pPr algn="l" indent="0" marL="0">
              <a:buNone/>
            </a:pPr>
            <a:r>
              <a:rPr lang="en-US" sz="950" b="1" spc="200" kern="0" dirty="0">
                <a:solidFill>
                  <a:schemeClr val="accent2"/>
                </a:solidFill>
                <a:latin typeface="Arial" pitchFamily="34" charset="0"/>
                <a:ea typeface="Arial" pitchFamily="34" charset="-122"/>
                <a:cs typeface="Arial" pitchFamily="34" charset="-120"/>
              </a:rPr>
              <a:t>UNIFIED CUSTOMER SERVICE</a:t>
            </a:r>
            <a:endParaRPr lang="en-US" sz="950" dirty="0"/>
          </a:p>
        </p:txBody>
      </p:sp>
      <p:sp>
        <p:nvSpPr>
          <p:cNvPr id="43" name="Text 35"/>
          <p:cNvSpPr txBox="1"/>
          <p:nvPr/>
        </p:nvSpPr>
        <p:spPr>
          <a:xfrm>
            <a:off x="1508760" y="5815584"/>
            <a:ext cx="3017520" cy="292608"/>
          </a:xfrm>
          <a:prstGeom prst="rect">
            <a:avLst/>
          </a:prstGeom>
          <a:noFill/>
          <a:ln/>
        </p:spPr>
        <p:txBody>
          <a:bodyPr wrap="square" lIns="0" tIns="0" rIns="0" bIns="0" rtlCol="0" anchor="t"/>
          <a:lstStyle/>
          <a:p>
            <a:pPr algn="l" indent="0" marL="0">
              <a:buNone/>
            </a:pPr>
            <a:r>
              <a:rPr lang="en-US" sz="1600" b="1" dirty="0">
                <a:solidFill>
                  <a:schemeClr val="bg1"/>
                </a:solidFill>
                <a:latin typeface="Arial" pitchFamily="34" charset="0"/>
                <a:ea typeface="Arial" pitchFamily="34" charset="-122"/>
                <a:cs typeface="Arial" pitchFamily="34" charset="-120"/>
              </a:rPr>
              <a:t>+971 50 777 7134</a:t>
            </a:r>
            <a:endParaRPr lang="en-US" sz="1600" dirty="0"/>
          </a:p>
        </p:txBody>
      </p:sp>
      <p:sp>
        <p:nvSpPr>
          <p:cNvPr id="44" name="Text 36"/>
          <p:cNvSpPr txBox="1"/>
          <p:nvPr/>
        </p:nvSpPr>
        <p:spPr>
          <a:xfrm>
            <a:off x="7498080" y="5605272"/>
            <a:ext cx="3776472" cy="228600"/>
          </a:xfrm>
          <a:prstGeom prst="rect">
            <a:avLst/>
          </a:prstGeom>
          <a:noFill/>
          <a:ln/>
        </p:spPr>
        <p:txBody>
          <a:bodyPr wrap="square" lIns="0" tIns="0" rIns="0" bIns="0" rtlCol="0" anchor="t"/>
          <a:lstStyle/>
          <a:p>
            <a:pPr rtl="1" algn="r" indent="0" marL="0">
              <a:buNone/>
            </a:pPr>
            <a:r>
              <a:rPr lang="ar-AE" altLang="en-US" sz="1100" b="1" dirty="0">
                <a:solidFill>
                  <a:schemeClr val="accent2"/>
                </a:solidFill>
                <a:latin typeface="Arial" pitchFamily="34" charset="0"/>
                <a:ea typeface="Arial" pitchFamily="34" charset="-122"/>
                <a:cs typeface="Arial" pitchFamily="34" charset="-120"/>
              </a:rPr>
              <a:t>خدمة العملاء الموحدة</a:t>
            </a:r>
            <a:endParaRPr lang="ar-AE" sz="1100" dirty="0"/>
          </a:p>
        </p:txBody>
      </p:sp>
      <p:sp>
        <p:nvSpPr>
          <p:cNvPr id="45" name="Text 37"/>
          <p:cNvSpPr txBox="1"/>
          <p:nvPr/>
        </p:nvSpPr>
        <p:spPr>
          <a:xfrm>
            <a:off x="7498080" y="5833872"/>
            <a:ext cx="3776472" cy="274320"/>
          </a:xfrm>
          <a:prstGeom prst="rect">
            <a:avLst/>
          </a:prstGeom>
          <a:noFill/>
          <a:ln/>
        </p:spPr>
        <p:txBody>
          <a:bodyPr wrap="square" lIns="0" tIns="0" rIns="0" bIns="0" rtlCol="0" anchor="t"/>
          <a:lstStyle/>
          <a:p>
            <a:pPr algn="r" rtl="1" indent="0" marL="0">
              <a:spcAft>
                <a:spcPts val="0"/>
              </a:spcAft>
              <a:buNone/>
            </a:pPr>
            <a:r>
              <a:rPr lang="ar-AE" sz="1000" dirty="0">
                <a:solidFill>
                  <a:schemeClr val="bg1"/>
                </a:solidFill>
                <a:latin typeface="Arial"/>
                <a:ea typeface="Arial"/>
                <a:cs typeface="Arial"/>
              </a:rPr>
              <a:t>اتصال وواتساب</a:t>
            </a:r>
            <a:r>
              <a:rPr lang="en-US" sz="1000" dirty="0">
                <a:solidFill>
                  <a:schemeClr val="bg1"/>
                </a:solidFill>
                <a:latin typeface="Arial"/>
                <a:ea typeface="Arial"/>
                <a:cs typeface="Arial"/>
              </a:rPr>
              <a:t> · Call &amp; WhatsApp · </a:t>
            </a:r>
            <a:r>
              <a:rPr lang="en-US" sz="1100" b="1" dirty="0">
                <a:solidFill>
                  <a:schemeClr val="accent2"/>
                </a:solidFill>
                <a:latin typeface="Arial"/>
                <a:ea typeface="Arial"/>
                <a:cs typeface="Arial"/>
              </a:rPr>
              <a:t>‎+971 50 777 7134</a:t>
            </a:r>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A75"/>
                </a:solidFill>
                <a:latin typeface="Arial"/>
                <a:ea typeface="Arial"/>
                <a:cs typeface="Arial"/>
              </a:defRPr>
            </a:lvl1pPr>
          </a:lstStyle>
          <a:p>
            <a:pPr algn="r"/>
            <a:fld id="{F7021451-1387-4CA6-816F-3879F97B5CBC}" type="slidenum">
              <a:rPr b="0" lang="en-US"/>
              <a:t>14</a:t>
            </a:fld>
            <a:endParaRPr lang="en-US"/>
          </a:p>
        </p:txBody>
      </p:sp>
      <p:sp>
        <p:nvSpPr>
          <p:cNvPr id="46" name="Map cue Dubai"/>
          <p:cNvSpPr txBox="1"/>
          <p:nvPr/>
        </p:nvSpPr>
        <p:spPr>
          <a:xfrm>
            <a:off x="1633472" y="2627440"/>
            <a:ext cx="880000" cy="200000"/>
          </a:xfrm>
          <a:prstGeom prst="rect">
            <a:avLst/>
          </a:prstGeom>
          <a:noFill/>
        </p:spPr>
        <p:txBody>
          <a:bodyPr wrap="square" lIns="0" tIns="0" rIns="0" bIns="0" rtlCol="0" anchor="t"/>
          <a:lstStyle/>
          <a:p>
            <a:pPr algn="r"/>
            <a:r>
              <a:rPr lang="en-US" sz="900" b="1" spc="150" dirty="0">
                <a:solidFill>
                  <a:schemeClr val="accent1"/>
                </a:solidFill>
                <a:latin typeface="Arial"/>
                <a:cs typeface="Arial"/>
              </a:rPr>
              <a:t>MAP  ↗</a:t>
            </a:r>
          </a:p>
        </p:txBody>
      </p:sp>
      <p:sp>
        <p:nvSpPr>
          <p:cNvPr id="47" name="Map cue Sharjah"/>
          <p:cNvSpPr txBox="1"/>
          <p:nvPr/>
        </p:nvSpPr>
        <p:spPr>
          <a:xfrm>
            <a:off x="3764024" y="2627440"/>
            <a:ext cx="880000" cy="200000"/>
          </a:xfrm>
          <a:prstGeom prst="rect">
            <a:avLst/>
          </a:prstGeom>
          <a:noFill/>
        </p:spPr>
        <p:txBody>
          <a:bodyPr wrap="square" lIns="0" tIns="0" rIns="0" bIns="0" rtlCol="0" anchor="t"/>
          <a:lstStyle/>
          <a:p>
            <a:pPr algn="r"/>
            <a:r>
              <a:rPr lang="en-US" sz="900" b="1" spc="150" dirty="0">
                <a:solidFill>
                  <a:schemeClr val="accent1"/>
                </a:solidFill>
                <a:latin typeface="Arial"/>
                <a:cs typeface="Arial"/>
              </a:rPr>
              <a:t>MAP  ↗</a:t>
            </a:r>
          </a:p>
        </p:txBody>
      </p:sp>
      <p:sp>
        <p:nvSpPr>
          <p:cNvPr id="48" name="Map cue Al Ain"/>
          <p:cNvSpPr txBox="1"/>
          <p:nvPr/>
        </p:nvSpPr>
        <p:spPr>
          <a:xfrm>
            <a:off x="5894576" y="2627440"/>
            <a:ext cx="880000" cy="200000"/>
          </a:xfrm>
          <a:prstGeom prst="rect">
            <a:avLst/>
          </a:prstGeom>
          <a:noFill/>
        </p:spPr>
        <p:txBody>
          <a:bodyPr wrap="square" lIns="0" tIns="0" rIns="0" bIns="0" rtlCol="0" anchor="t"/>
          <a:lstStyle/>
          <a:p>
            <a:pPr algn="r"/>
            <a:r>
              <a:rPr lang="en-US" sz="900" b="1" spc="150" dirty="0">
                <a:solidFill>
                  <a:schemeClr val="accent1"/>
                </a:solidFill>
                <a:latin typeface="Arial"/>
                <a:cs typeface="Arial"/>
              </a:rPr>
              <a:t>MAP  ↗</a:t>
            </a:r>
          </a:p>
        </p:txBody>
      </p:sp>
      <p:sp>
        <p:nvSpPr>
          <p:cNvPr id="49" name="Map cue Muscat"/>
          <p:cNvSpPr txBox="1"/>
          <p:nvPr/>
        </p:nvSpPr>
        <p:spPr>
          <a:xfrm>
            <a:off x="8345168" y="2627440"/>
            <a:ext cx="880000" cy="200000"/>
          </a:xfrm>
          <a:prstGeom prst="rect">
            <a:avLst/>
          </a:prstGeom>
          <a:noFill/>
        </p:spPr>
        <p:txBody>
          <a:bodyPr wrap="square" lIns="0" tIns="0" rIns="0" bIns="0" rtlCol="0" anchor="t"/>
          <a:lstStyle/>
          <a:p>
            <a:pPr algn="r"/>
            <a:r>
              <a:rPr lang="en-US" sz="900" b="1" spc="150" dirty="0">
                <a:solidFill>
                  <a:schemeClr val="accent1"/>
                </a:solidFill>
                <a:latin typeface="Arial"/>
                <a:cs typeface="Arial"/>
              </a:rPr>
              <a:t>MAP  ↗</a:t>
            </a:r>
          </a:p>
        </p:txBody>
      </p:sp>
      <p:sp>
        <p:nvSpPr>
          <p:cNvPr id="50" name="Map cue Saham"/>
          <p:cNvSpPr txBox="1"/>
          <p:nvPr/>
        </p:nvSpPr>
        <p:spPr>
          <a:xfrm>
            <a:off x="10475720" y="2627440"/>
            <a:ext cx="880000" cy="200000"/>
          </a:xfrm>
          <a:prstGeom prst="rect">
            <a:avLst/>
          </a:prstGeom>
          <a:noFill/>
        </p:spPr>
        <p:txBody>
          <a:bodyPr wrap="square" lIns="0" tIns="0" rIns="0" bIns="0" rtlCol="0" anchor="t"/>
          <a:lstStyle/>
          <a:p>
            <a:pPr algn="r"/>
            <a:r>
              <a:rPr lang="en-US" sz="900" b="1" spc="150" dirty="0">
                <a:solidFill>
                  <a:schemeClr val="accent1"/>
                </a:solidFill>
                <a:latin typeface="Arial"/>
                <a:cs typeface="Arial"/>
              </a:rPr>
              <a:t>MAP  ↗</a:t>
            </a:r>
          </a:p>
        </p:txBody>
      </p:sp>
      <p:sp>
        <p:nvSpPr>
          <p:cNvPr id="51" name="Map Dubai" descr="Open Dubai on Google Maps">
            <a:hlinkClick r:id="rId9" tooltip="Open Dubai on Google Maps"/>
          </p:cNvPr>
          <p:cNvSpPr/>
          <p:nvPr/>
        </p:nvSpPr>
        <p:spPr>
          <a:xfrm>
            <a:off x="640080" y="2377440"/>
            <a:ext cx="1993392" cy="3017520"/>
          </a:xfrm>
          <a:prstGeom prst="roundRect">
            <a:avLst/>
          </a:prstGeom>
          <a:noFill/>
          <a:ln>
            <a:noFill/>
          </a:ln>
        </p:spPr>
        <p:txBody>
          <a:bodyPr/>
          <a:lstStyle/>
          <a:p>
            <a:endParaRPr lang="en-US"/>
          </a:p>
        </p:txBody>
      </p:sp>
      <p:sp>
        <p:nvSpPr>
          <p:cNvPr id="52" name="Map Sharjah" descr="Open Sharjah on Google Maps">
            <a:hlinkClick r:id="rId10" tooltip="Open Sharjah on Google Maps"/>
          </p:cNvPr>
          <p:cNvSpPr/>
          <p:nvPr/>
        </p:nvSpPr>
        <p:spPr>
          <a:xfrm>
            <a:off x="2770632" y="2377440"/>
            <a:ext cx="1993392" cy="3017520"/>
          </a:xfrm>
          <a:prstGeom prst="roundRect">
            <a:avLst/>
          </a:prstGeom>
          <a:noFill/>
          <a:ln>
            <a:noFill/>
          </a:ln>
        </p:spPr>
        <p:txBody>
          <a:bodyPr/>
          <a:lstStyle/>
          <a:p>
            <a:endParaRPr lang="en-US"/>
          </a:p>
        </p:txBody>
      </p:sp>
      <p:sp>
        <p:nvSpPr>
          <p:cNvPr id="53" name="Map Al Ain" descr="Open Al Ain on Google Maps">
            <a:hlinkClick r:id="rId11" tooltip="Open Al Ain on Google Maps"/>
          </p:cNvPr>
          <p:cNvSpPr/>
          <p:nvPr/>
        </p:nvSpPr>
        <p:spPr>
          <a:xfrm>
            <a:off x="4901184" y="2377440"/>
            <a:ext cx="1993392" cy="3017520"/>
          </a:xfrm>
          <a:prstGeom prst="roundRect">
            <a:avLst/>
          </a:prstGeom>
          <a:noFill/>
          <a:ln>
            <a:noFill/>
          </a:ln>
        </p:spPr>
        <p:txBody>
          <a:bodyPr/>
          <a:lstStyle/>
          <a:p>
            <a:endParaRPr lang="en-US"/>
          </a:p>
        </p:txBody>
      </p:sp>
      <p:sp>
        <p:nvSpPr>
          <p:cNvPr id="54" name="Map Muscat" descr="Open Muscat on Google Maps">
            <a:hlinkClick r:id="rId12" tooltip="Open Muscat on Google Maps"/>
          </p:cNvPr>
          <p:cNvSpPr/>
          <p:nvPr/>
        </p:nvSpPr>
        <p:spPr>
          <a:xfrm>
            <a:off x="7351776" y="2377440"/>
            <a:ext cx="1993392" cy="3017520"/>
          </a:xfrm>
          <a:prstGeom prst="roundRect">
            <a:avLst/>
          </a:prstGeom>
          <a:noFill/>
          <a:ln>
            <a:noFill/>
          </a:ln>
        </p:spPr>
        <p:txBody>
          <a:bodyPr/>
          <a:lstStyle/>
          <a:p>
            <a:endParaRPr lang="en-US"/>
          </a:p>
        </p:txBody>
      </p:sp>
      <p:sp>
        <p:nvSpPr>
          <p:cNvPr id="55" name="Map Saham" descr="Open Saham on Google Maps">
            <a:hlinkClick r:id="rId13" tooltip="Open Saham on Google Maps"/>
          </p:cNvPr>
          <p:cNvSpPr/>
          <p:nvPr/>
        </p:nvSpPr>
        <p:spPr>
          <a:xfrm>
            <a:off x="9482328" y="2377440"/>
            <a:ext cx="1993392" cy="3017520"/>
          </a:xfrm>
          <a:prstGeom prst="roundRect">
            <a:avLst/>
          </a:prstGeom>
          <a:noFill/>
          <a:ln>
            <a:noFill/>
          </a:ln>
        </p:spPr>
        <p:txBody>
          <a:bodyPr/>
          <a:lstStyle/>
          <a:p>
            <a:endParaRPr lang="en-US"/>
          </a:p>
        </p:txBody>
      </p:sp>
      <p:sp>
        <p:nvSpPr>
          <p:cNvPr id="56" name="WhatsApp link" descr="Chat on WhatsApp">
            <a:hlinkClick r:id="rId14" tooltip="Chat on WhatsApp"/>
          </p:cNvPr>
          <p:cNvSpPr/>
          <p:nvPr/>
        </p:nvSpPr>
        <p:spPr>
          <a:xfrm>
            <a:off x="640080" y="5532120"/>
            <a:ext cx="3566160" cy="640080"/>
          </a:xfrm>
          <a:prstGeom prst="roundRect">
            <a:avLst/>
          </a:prstGeom>
          <a:noFill/>
          <a:ln>
            <a:noFill/>
          </a:ln>
        </p:spPr>
        <p:txBody>
          <a:bodyPr/>
          <a:lstStyle/>
          <a:p>
            <a:endParaRPr lang="en-US"/>
          </a:p>
        </p:txBody>
      </p:sp>
      <p:pic>
        <p:nvPicPr>
          <p:cNvPr id="57" name="Store icon" descr="Website icon"/>
          <p:cNvPicPr>
            <a:picLocks noChangeAspect="1"/>
          </p:cNvPicPr>
          <p:nvPr/>
        </p:nvPicPr>
        <p:blipFill>
          <a:blip r:embed="rId15"/>
          <a:stretch>
            <a:fillRect/>
          </a:stretch>
        </p:blipFill>
        <p:spPr>
          <a:xfrm>
            <a:off x="4708520" y="5660136"/>
            <a:ext cx="384048" cy="384048"/>
          </a:xfrm>
          <a:prstGeom prst="rect">
            <a:avLst/>
          </a:prstGeom>
        </p:spPr>
      </p:pic>
      <p:sp>
        <p:nvSpPr>
          <p:cNvPr id="58" name="Store label"/>
          <p:cNvSpPr txBox="1"/>
          <p:nvPr/>
        </p:nvSpPr>
        <p:spPr>
          <a:xfrm>
            <a:off x="5248520" y="5605272"/>
            <a:ext cx="2300000" cy="228600"/>
          </a:xfrm>
          <a:prstGeom prst="rect">
            <a:avLst/>
          </a:prstGeom>
          <a:noFill/>
        </p:spPr>
        <p:txBody>
          <a:bodyPr wrap="square" lIns="0" tIns="0" rIns="0" bIns="0" rtlCol="0" anchor="t"/>
          <a:lstStyle/>
          <a:p>
            <a:pPr algn="l"/>
            <a:r>
              <a:rPr lang="en-US" sz="950" b="1" spc="150" dirty="0">
                <a:solidFill>
                  <a:schemeClr val="accent2"/>
                </a:solidFill>
                <a:latin typeface="Arial"/>
                <a:cs typeface="Arial"/>
              </a:rPr>
              <a:t>ONLINE STORE  |  المتجر</a:t>
            </a:r>
          </a:p>
        </p:txBody>
      </p:sp>
      <p:sp>
        <p:nvSpPr>
          <p:cNvPr id="59" name="Store url"/>
          <p:cNvSpPr txBox="1"/>
          <p:nvPr/>
        </p:nvSpPr>
        <p:spPr>
          <a:xfrm>
            <a:off x="5248520" y="5815584"/>
            <a:ext cx="2300000" cy="292608"/>
          </a:xfrm>
          <a:prstGeom prst="rect">
            <a:avLst/>
          </a:prstGeom>
          <a:noFill/>
        </p:spPr>
        <p:txBody>
          <a:bodyPr wrap="square" lIns="0" tIns="0" rIns="0" bIns="0" rtlCol="0" anchor="t"/>
          <a:lstStyle/>
          <a:p>
            <a:pPr algn="l"/>
            <a:r>
              <a:rPr lang="en-US" sz="1600" b="1" spc="0" dirty="0">
                <a:solidFill>
                  <a:schemeClr val="bg1"/>
                </a:solidFill>
                <a:latin typeface="Arial"/>
                <a:cs typeface="Arial"/>
              </a:rPr>
              <a:t>evcarsuae.com</a:t>
            </a:r>
          </a:p>
        </p:txBody>
      </p:sp>
      <p:sp>
        <p:nvSpPr>
          <p:cNvPr id="60" name="Store link" descr="Open evcarsuae.com">
            <a:hlinkClick r:id="rId16" tooltip="Open evcarsuae.com"/>
          </p:cNvPr>
          <p:cNvSpPr/>
          <p:nvPr/>
        </p:nvSpPr>
        <p:spPr>
          <a:xfrm>
            <a:off x="4588520" y="5532120"/>
            <a:ext cx="3000000" cy="640080"/>
          </a:xfrm>
          <a:prstGeom prst="roundRect">
            <a:avLst/>
          </a:prstGeom>
          <a:noFill/>
          <a:ln>
            <a:noFill/>
          </a:ln>
        </p:spPr>
        <p:txBody>
          <a:bodyPr/>
          <a:lstStyle/>
          <a:p>
            <a:endParaRPr lang="en-US"/>
          </a:p>
        </p:txBody>
      </p:sp>
      <p:sp>
        <p:nvSpPr>
          <p:cNvPr id="61" name="Back to contents" descr="Back to contents">
            <a:hlinkClick r:id="rId17" action="ppaction://hlinksldjump" tooltip="Back to Contents / العودة إلى المحتويات"/>
          </p:cNvPr>
          <p:cNvSpPr/>
          <p:nvPr/>
        </p:nvSpPr>
        <p:spPr>
          <a:xfrm>
            <a:off x="8838000" y="6283000"/>
            <a:ext cx="1850000" cy="300000"/>
          </a:xfrm>
          <a:prstGeom prst="roundRect">
            <a:avLst>
              <a:gd name="adj" fmla="val 50000"/>
            </a:avLst>
          </a:prstGeom>
          <a:noFill/>
          <a:ln w="9525">
            <a:solidFill>
              <a:schemeClr val="accent1"/>
            </a:solidFill>
          </a:ln>
        </p:spPr>
        <p:txBody>
          <a:bodyPr wrap="none" lIns="0" tIns="0" rIns="0" bIns="0" rtlCol="0" anchor="ctr"/>
          <a:lstStyle/>
          <a:p>
            <a:pPr algn="ctr"/>
            <a:r>
              <a:rPr lang="en-US" sz="900" b="1" spc="120" dirty="0">
                <a:solidFill>
                  <a:schemeClr val="accent1"/>
                </a:solidFill>
                <a:latin typeface="Arial"/>
                <a:cs typeface="Arial"/>
              </a:rPr>
              <a:t>CONTENTS  ·  </a:t>
            </a:r>
            <a:r>
              <a:rPr lang="ar-AE" sz="900" b="1" dirty="0">
                <a:solidFill>
                  <a:schemeClr val="accent1"/>
                </a:solidFill>
                <a:latin typeface="Arial"/>
                <a:cs typeface="Arial"/>
              </a:rPr>
              <a:t>المحتويات</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411480"/>
            <a:ext cx="5486400" cy="228600"/>
          </a:xfrm>
          <a:prstGeom prst="rect">
            <a:avLst/>
          </a:prstGeom>
          <a:noFill/>
          <a:ln/>
        </p:spPr>
        <p:txBody>
          <a:bodyPr wrap="square" lIns="0" tIns="0" rIns="0" bIns="0" rtlCol="0" anchor="t"/>
          <a:lstStyle/>
          <a:p>
            <a:pPr algn="l" indent="0" marL="0">
              <a:buNone/>
            </a:pPr>
            <a:r>
              <a:rPr lang="en-US" sz="1000" b="1" spc="300" kern="0" dirty="0">
                <a:solidFill>
                  <a:schemeClr val="accent2"/>
                </a:solidFill>
                <a:latin typeface="Arial" pitchFamily="34" charset="0"/>
                <a:ea typeface="Arial" pitchFamily="34" charset="-122"/>
                <a:cs typeface="Arial" pitchFamily="34" charset="-120"/>
              </a:rPr>
              <a:t>04   ·   WHERE WE ARE</a:t>
            </a:r>
            <a:endParaRPr lang="en-US" sz="1000" dirty="0"/>
          </a:p>
        </p:txBody>
      </p:sp>
      <p:sp>
        <p:nvSpPr>
          <p:cNvPr id="3" name="Text 1"/>
          <p:cNvSpPr txBox="1"/>
          <p:nvPr/>
        </p:nvSpPr>
        <p:spPr>
          <a:xfrm>
            <a:off x="6065215" y="411480"/>
            <a:ext cx="5486400" cy="228600"/>
          </a:xfrm>
          <a:prstGeom prst="rect">
            <a:avLst/>
          </a:prstGeom>
          <a:noFill/>
          <a:ln/>
        </p:spPr>
        <p:txBody>
          <a:bodyPr wrap="square" lIns="0" tIns="0" rIns="0" bIns="0" rtlCol="0" anchor="t"/>
          <a:lstStyle/>
          <a:p>
            <a:pPr rtl="1" algn="r" indent="0" marL="0">
              <a:buNone/>
            </a:pPr>
            <a:r>
              <a:rPr lang="ar-AE" altLang="en-US" sz="1100" b="1" dirty="0">
                <a:solidFill>
                  <a:schemeClr val="accent2"/>
                </a:solidFill>
                <a:latin typeface="Arial" pitchFamily="34" charset="0"/>
                <a:ea typeface="Arial" pitchFamily="34" charset="-122"/>
                <a:cs typeface="Arial" pitchFamily="34" charset="-120"/>
              </a:rPr>
              <a:t>أين نحن   ·   04</a:t>
            </a:r>
            <a:endParaRPr lang="ar-AE" sz="1100" dirty="0"/>
          </a:p>
        </p:txBody>
      </p:sp>
      <p:sp>
        <p:nvSpPr>
          <p:cNvPr id="4" name="Text 0"/>
          <p:cNvSpPr/>
          <p:nvPr>
            <p:ph idx="100" type="title" hasCustomPrompt="1"/>
          </p:nvPr>
        </p:nvSpPr>
        <p:spPr>
          <a:xfrm>
            <a:off x="640080" y="713232"/>
            <a:ext cx="5486400" cy="685800"/>
          </a:xfrm>
          <a:prstGeom prst="rect">
            <a:avLst/>
          </a:prstGeom>
          <a:noFill/>
          <a:ln/>
        </p:spPr>
        <p:txBody>
          <a:bodyPr wrap="square" lIns="0" tIns="0" rIns="0" bIns="0" rtlCol="0" anchor="t"/>
          <a:lstStyle/>
          <a:p>
            <a:pPr algn="l" indent="0" marL="0">
              <a:buNone/>
            </a:pPr>
            <a:r>
              <a:rPr lang="en-US" sz="3000" dirty="0">
                <a:solidFill>
                  <a:schemeClr val="bg1"/>
                </a:solidFill>
                <a:latin typeface="Arial" pitchFamily="34" charset="0"/>
                <a:ea typeface="Arial" pitchFamily="34" charset="-122"/>
                <a:cs typeface="Arial" pitchFamily="34" charset="-120"/>
              </a:rPr>
              <a:t>Operational Capabilities</a:t>
            </a:r>
            <a:endParaRPr lang="en-US" sz="3000" dirty="0"/>
          </a:p>
        </p:txBody>
      </p:sp>
      <p:sp>
        <p:nvSpPr>
          <p:cNvPr id="5" name="Text 0"/>
          <p:cNvSpPr/>
          <p:nvPr>
            <p:ph idx="101" type="body" hasCustomPrompt="1"/>
          </p:nvPr>
        </p:nvSpPr>
        <p:spPr>
          <a:xfrm>
            <a:off x="6065215" y="713232"/>
            <a:ext cx="5486400" cy="685800"/>
          </a:xfrm>
          <a:prstGeom prst="rect">
            <a:avLst/>
          </a:prstGeom>
          <a:noFill/>
          <a:ln/>
        </p:spPr>
        <p:txBody>
          <a:bodyPr wrap="square" lIns="0" tIns="0" rIns="0" bIns="0" rtlCol="0" anchor="t"/>
          <a:lstStyle/>
          <a:p>
            <a:pPr rtl="1" algn="r" indent="0" marL="0">
              <a:buNone/>
            </a:pPr>
            <a:r>
              <a:rPr lang="ar-AE" altLang="en-US" sz="3000" dirty="0">
                <a:solidFill>
                  <a:schemeClr val="bg1"/>
                </a:solidFill>
                <a:latin typeface="Arial" pitchFamily="34" charset="0"/>
                <a:ea typeface="Arial" pitchFamily="34" charset="-122"/>
                <a:cs typeface="Arial" pitchFamily="34" charset="-120"/>
              </a:rPr>
              <a:t>قدراتنا التشغيلية</a:t>
            </a:r>
            <a:endParaRPr lang="ar-AE" sz="3000" dirty="0"/>
          </a:p>
        </p:txBody>
      </p:sp>
      <p:sp>
        <p:nvSpPr>
          <p:cNvPr id="6" name="Text 4"/>
          <p:cNvSpPr txBox="1"/>
          <p:nvPr/>
        </p:nvSpPr>
        <p:spPr>
          <a:xfrm>
            <a:off x="640080" y="1554480"/>
            <a:ext cx="5120640" cy="914400"/>
          </a:xfrm>
          <a:prstGeom prst="rect">
            <a:avLst/>
          </a:prstGeom>
          <a:noFill/>
          <a:ln/>
        </p:spPr>
        <p:txBody>
          <a:bodyPr wrap="square" lIns="0" tIns="0" rIns="0" bIns="0" rtlCol="0" anchor="t"/>
          <a:lstStyle/>
          <a:p>
            <a:pPr algn="l" indent="0" marL="0">
              <a:buNone/>
            </a:pPr>
            <a:r>
              <a:rPr lang="en-US" sz="1300" dirty="0">
                <a:solidFill>
                  <a:schemeClr val="accent5"/>
                </a:solidFill>
                <a:latin typeface="Arial" pitchFamily="34" charset="0"/>
                <a:ea typeface="Arial" pitchFamily="34" charset="-122"/>
                <a:cs typeface="Arial" pitchFamily="34" charset="-120"/>
              </a:rPr>
              <a:t>A business infrastructure supporting retail, distribution and technical services, built to support product availability, direct customer service and future expansion.</a:t>
            </a:r>
            <a:endParaRPr lang="en-US" sz="1300" dirty="0"/>
          </a:p>
        </p:txBody>
      </p:sp>
      <p:sp>
        <p:nvSpPr>
          <p:cNvPr id="7" name="Text 5"/>
          <p:cNvSpPr txBox="1"/>
          <p:nvPr/>
        </p:nvSpPr>
        <p:spPr>
          <a:xfrm>
            <a:off x="6430975" y="1554480"/>
            <a:ext cx="5120640" cy="914400"/>
          </a:xfrm>
          <a:prstGeom prst="rect">
            <a:avLst/>
          </a:prstGeom>
          <a:noFill/>
          <a:ln/>
        </p:spPr>
        <p:txBody>
          <a:bodyPr wrap="square" lIns="0" tIns="0" rIns="0" bIns="0" rtlCol="0" anchor="t"/>
          <a:lstStyle/>
          <a:p>
            <a:pPr rtl="1" algn="r" indent="0" marL="0">
              <a:buNone/>
            </a:pPr>
            <a:r>
              <a:rPr lang="ar-AE" altLang="en-US" sz="1300" dirty="0">
                <a:solidFill>
                  <a:schemeClr val="accent5"/>
                </a:solidFill>
                <a:latin typeface="Arial" pitchFamily="34" charset="0"/>
                <a:ea typeface="Arial" pitchFamily="34" charset="-122"/>
                <a:cs typeface="Arial" pitchFamily="34" charset="-120"/>
              </a:rPr>
              <a:t>بنية تشغيلية تدعم أعمال البيع والتوزيع والخدمات الفنية، وتساعد على توفير المنتجات للعملاء وتقديم خدمات فنية مباشرة ودعم التوسع المستقبلي.</a:t>
            </a:r>
            <a:endParaRPr lang="ar-AE" sz="1300" dirty="0"/>
          </a:p>
        </p:txBody>
      </p:sp>
      <p:sp>
        <p:nvSpPr>
          <p:cNvPr id="8" name="Capability panel 1"/>
          <p:cNvSpPr/>
          <p:nvPr/>
        </p:nvSpPr>
        <p:spPr>
          <a:xfrm>
            <a:off x="640080" y="2788920"/>
            <a:ext cx="3456432" cy="3108960"/>
          </a:xfrm>
          <a:prstGeom prst="roundRect">
            <a:avLst>
              <a:gd name="adj" fmla="val 2941"/>
            </a:avLst>
          </a:prstGeom>
          <a:solidFill>
            <a:schemeClr val="bg1">
              <a:alpha val="6000"/>
            </a:schemeClr>
          </a:solidFill>
          <a:ln w="9525">
            <a:solidFill>
              <a:schemeClr val="bg1">
                <a:alpha val="18000"/>
              </a:schemeClr>
            </a:solidFill>
            <a:prstDash val="solid"/>
          </a:ln>
        </p:spPr>
      </p:sp>
      <p:pic>
        <p:nvPicPr>
          <p:cNvPr id="9" name="Capability icon 1" descr="icon">    </p:cNvPr>
          <p:cNvPicPr>
            <a:picLocks noChangeAspect="1"/>
          </p:cNvPicPr>
          <p:nvPr/>
        </p:nvPicPr>
        <p:blipFill>
          <a:blip r:embed="rId1"/>
          <a:stretch>
            <a:fillRect/>
          </a:stretch>
        </p:blipFill>
        <p:spPr>
          <a:xfrm>
            <a:off x="1005840" y="3154680"/>
            <a:ext cx="777240" cy="777240"/>
          </a:xfrm>
          <a:prstGeom prst="rect">
            <a:avLst/>
          </a:prstGeom>
        </p:spPr>
      </p:pic>
      <p:sp>
        <p:nvSpPr>
          <p:cNvPr id="10" name="Text 7"/>
          <p:cNvSpPr txBox="1"/>
          <p:nvPr/>
        </p:nvSpPr>
        <p:spPr>
          <a:xfrm>
            <a:off x="1005840" y="4251960"/>
            <a:ext cx="2724912" cy="365760"/>
          </a:xfrm>
          <a:prstGeom prst="rect">
            <a:avLst/>
          </a:prstGeom>
          <a:noFill/>
          <a:ln/>
        </p:spPr>
        <p:txBody>
          <a:bodyPr wrap="square" lIns="0" tIns="0" rIns="0" bIns="0" rtlCol="0" anchor="t"/>
          <a:lstStyle/>
          <a:p>
            <a:pPr algn="l" indent="0" marL="0">
              <a:buNone/>
            </a:pPr>
            <a:r>
              <a:rPr lang="en-US" sz="1900" dirty="0">
                <a:solidFill>
                  <a:schemeClr val="bg1"/>
                </a:solidFill>
                <a:latin typeface="Arial" pitchFamily="34" charset="0"/>
                <a:ea typeface="Arial" pitchFamily="34" charset="-122"/>
                <a:cs typeface="Arial" pitchFamily="34" charset="-120"/>
              </a:rPr>
              <a:t>Central Warehouse</a:t>
            </a:r>
            <a:endParaRPr lang="en-US" sz="1900" dirty="0"/>
          </a:p>
        </p:txBody>
      </p:sp>
      <p:sp>
        <p:nvSpPr>
          <p:cNvPr id="11" name="Text 8"/>
          <p:cNvSpPr txBox="1"/>
          <p:nvPr/>
        </p:nvSpPr>
        <p:spPr>
          <a:xfrm>
            <a:off x="1005840" y="4663440"/>
            <a:ext cx="2724912" cy="320040"/>
          </a:xfrm>
          <a:prstGeom prst="rect">
            <a:avLst/>
          </a:prstGeom>
          <a:noFill/>
          <a:ln/>
        </p:spPr>
        <p:txBody>
          <a:bodyPr wrap="square" lIns="0" tIns="0" rIns="0" bIns="0" rtlCol="0" anchor="t"/>
          <a:lstStyle/>
          <a:p>
            <a:pPr rtl="1" algn="r" indent="0" marL="0">
              <a:buNone/>
            </a:pPr>
            <a:r>
              <a:rPr lang="ar-AE" altLang="en-US" sz="1600" b="1" dirty="0">
                <a:solidFill>
                  <a:schemeClr val="accent2"/>
                </a:solidFill>
                <a:latin typeface="Arial" pitchFamily="34" charset="0"/>
                <a:ea typeface="Arial" pitchFamily="34" charset="-122"/>
                <a:cs typeface="Arial" pitchFamily="34" charset="-120"/>
              </a:rPr>
              <a:t>مستودع مركزي</a:t>
            </a:r>
            <a:endParaRPr lang="ar-AE" sz="1600" dirty="0"/>
          </a:p>
        </p:txBody>
      </p:sp>
      <p:sp>
        <p:nvSpPr>
          <p:cNvPr id="12" name="Text 9"/>
          <p:cNvSpPr txBox="1"/>
          <p:nvPr/>
        </p:nvSpPr>
        <p:spPr>
          <a:xfrm>
            <a:off x="1005840" y="5257800"/>
            <a:ext cx="2724912" cy="256032"/>
          </a:xfrm>
          <a:prstGeom prst="rect">
            <a:avLst/>
          </a:prstGeom>
          <a:noFill/>
          <a:ln/>
        </p:spPr>
        <p:txBody>
          <a:bodyPr wrap="square" lIns="0" tIns="0" rIns="0" bIns="0" rtlCol="0" anchor="t"/>
          <a:lstStyle/>
          <a:p>
            <a:pPr algn="l" indent="0" marL="0">
              <a:buNone/>
            </a:pPr>
            <a:r>
              <a:rPr lang="en-US" sz="1100" dirty="0">
                <a:solidFill>
                  <a:schemeClr val="accent5"/>
                </a:solidFill>
                <a:latin typeface="Arial" pitchFamily="34" charset="0"/>
                <a:ea typeface="Arial" pitchFamily="34" charset="-122"/>
                <a:cs typeface="Arial" pitchFamily="34" charset="-120"/>
              </a:rPr>
              <a:t>Dubai</a:t>
            </a:r>
            <a:endParaRPr lang="en-US" sz="1100" dirty="0"/>
          </a:p>
        </p:txBody>
      </p:sp>
      <p:sp>
        <p:nvSpPr>
          <p:cNvPr id="13" name="Text 10"/>
          <p:cNvSpPr txBox="1"/>
          <p:nvPr/>
        </p:nvSpPr>
        <p:spPr>
          <a:xfrm>
            <a:off x="1005840" y="5513832"/>
            <a:ext cx="2724912" cy="256032"/>
          </a:xfrm>
          <a:prstGeom prst="rect">
            <a:avLst/>
          </a:prstGeom>
          <a:noFill/>
          <a:ln/>
        </p:spPr>
        <p:txBody>
          <a:bodyPr wrap="square" lIns="0" tIns="0" rIns="0" bIns="0" rtlCol="0" anchor="t"/>
          <a:lstStyle/>
          <a:p>
            <a:pPr rtl="1" algn="r" indent="0" marL="0">
              <a:buNone/>
            </a:pPr>
            <a:r>
              <a:rPr lang="ar-AE" altLang="en-US" sz="1100" dirty="0">
                <a:solidFill>
                  <a:schemeClr val="accent5"/>
                </a:solidFill>
                <a:latin typeface="Arial" pitchFamily="34" charset="0"/>
                <a:ea typeface="Arial" pitchFamily="34" charset="-122"/>
                <a:cs typeface="Arial" pitchFamily="34" charset="-120"/>
              </a:rPr>
              <a:t>دبي</a:t>
            </a:r>
            <a:endParaRPr lang="ar-AE" sz="1100" dirty="0"/>
          </a:p>
        </p:txBody>
      </p:sp>
      <p:sp>
        <p:nvSpPr>
          <p:cNvPr id="14" name="Capability panel 2"/>
          <p:cNvSpPr/>
          <p:nvPr/>
        </p:nvSpPr>
        <p:spPr>
          <a:xfrm>
            <a:off x="4366260" y="2788920"/>
            <a:ext cx="3456432" cy="3108960"/>
          </a:xfrm>
          <a:prstGeom prst="roundRect">
            <a:avLst>
              <a:gd name="adj" fmla="val 2941"/>
            </a:avLst>
          </a:prstGeom>
          <a:solidFill>
            <a:schemeClr val="bg1">
              <a:alpha val="6000"/>
            </a:schemeClr>
          </a:solidFill>
          <a:ln w="9525">
            <a:solidFill>
              <a:schemeClr val="bg1">
                <a:alpha val="18000"/>
              </a:schemeClr>
            </a:solidFill>
            <a:prstDash val="solid"/>
          </a:ln>
        </p:spPr>
      </p:sp>
      <p:pic>
        <p:nvPicPr>
          <p:cNvPr id="15" name="Capability icon 2" descr="icon">    </p:cNvPr>
          <p:cNvPicPr>
            <a:picLocks noChangeAspect="1"/>
          </p:cNvPicPr>
          <p:nvPr/>
        </p:nvPicPr>
        <p:blipFill>
          <a:blip r:embed="rId2"/>
          <a:stretch>
            <a:fillRect/>
          </a:stretch>
        </p:blipFill>
        <p:spPr>
          <a:xfrm>
            <a:off x="4732020" y="3154680"/>
            <a:ext cx="777240" cy="777240"/>
          </a:xfrm>
          <a:prstGeom prst="rect">
            <a:avLst/>
          </a:prstGeom>
        </p:spPr>
      </p:pic>
      <p:sp>
        <p:nvSpPr>
          <p:cNvPr id="16" name="Text 12"/>
          <p:cNvSpPr txBox="1"/>
          <p:nvPr/>
        </p:nvSpPr>
        <p:spPr>
          <a:xfrm>
            <a:off x="4732020" y="4251960"/>
            <a:ext cx="2724912" cy="365760"/>
          </a:xfrm>
          <a:prstGeom prst="rect">
            <a:avLst/>
          </a:prstGeom>
          <a:noFill/>
          <a:ln/>
        </p:spPr>
        <p:txBody>
          <a:bodyPr wrap="square" lIns="0" tIns="0" rIns="0" bIns="0" rtlCol="0" anchor="t"/>
          <a:lstStyle/>
          <a:p>
            <a:pPr algn="l" indent="0" marL="0">
              <a:buNone/>
            </a:pPr>
            <a:r>
              <a:rPr lang="en-US" sz="1900" dirty="0">
                <a:solidFill>
                  <a:schemeClr val="bg1"/>
                </a:solidFill>
                <a:latin typeface="Arial" pitchFamily="34" charset="0"/>
                <a:ea typeface="Arial" pitchFamily="34" charset="-122"/>
                <a:cs typeface="Arial" pitchFamily="34" charset="-120"/>
              </a:rPr>
              <a:t>Retail Branch Network</a:t>
            </a:r>
            <a:endParaRPr lang="en-US" sz="1900" dirty="0"/>
          </a:p>
        </p:txBody>
      </p:sp>
      <p:sp>
        <p:nvSpPr>
          <p:cNvPr id="17" name="Text 13"/>
          <p:cNvSpPr txBox="1"/>
          <p:nvPr/>
        </p:nvSpPr>
        <p:spPr>
          <a:xfrm>
            <a:off x="4732020" y="4663440"/>
            <a:ext cx="2724912" cy="320040"/>
          </a:xfrm>
          <a:prstGeom prst="rect">
            <a:avLst/>
          </a:prstGeom>
          <a:noFill/>
          <a:ln/>
        </p:spPr>
        <p:txBody>
          <a:bodyPr wrap="square" lIns="0" tIns="0" rIns="0" bIns="0" rtlCol="0" anchor="t"/>
          <a:lstStyle/>
          <a:p>
            <a:pPr rtl="1" algn="r" indent="0" marL="0">
              <a:buNone/>
            </a:pPr>
            <a:r>
              <a:rPr lang="ar-AE" altLang="en-US" sz="1600" b="1" dirty="0">
                <a:solidFill>
                  <a:schemeClr val="accent2"/>
                </a:solidFill>
                <a:latin typeface="Arial" pitchFamily="34" charset="0"/>
                <a:ea typeface="Arial" pitchFamily="34" charset="-122"/>
                <a:cs typeface="Arial" pitchFamily="34" charset="-120"/>
              </a:rPr>
              <a:t>شبكة فروع</a:t>
            </a:r>
            <a:endParaRPr lang="ar-AE" sz="1600" dirty="0"/>
          </a:p>
        </p:txBody>
      </p:sp>
      <p:sp>
        <p:nvSpPr>
          <p:cNvPr id="18" name="Text 14"/>
          <p:cNvSpPr txBox="1"/>
          <p:nvPr/>
        </p:nvSpPr>
        <p:spPr>
          <a:xfrm>
            <a:off x="4732020" y="5257800"/>
            <a:ext cx="2724912" cy="256032"/>
          </a:xfrm>
          <a:prstGeom prst="rect">
            <a:avLst/>
          </a:prstGeom>
          <a:noFill/>
          <a:ln/>
        </p:spPr>
        <p:txBody>
          <a:bodyPr wrap="square" lIns="0" tIns="0" rIns="0" bIns="0" rtlCol="0" anchor="t"/>
          <a:lstStyle/>
          <a:p>
            <a:pPr algn="l" indent="0" marL="0">
              <a:buNone/>
            </a:pPr>
            <a:r>
              <a:rPr lang="en-US" sz="1100" dirty="0">
                <a:solidFill>
                  <a:schemeClr val="accent5"/>
                </a:solidFill>
                <a:latin typeface="Arial" pitchFamily="34" charset="0"/>
                <a:ea typeface="Arial" pitchFamily="34" charset="-122"/>
                <a:cs typeface="Arial" pitchFamily="34" charset="-120"/>
              </a:rPr>
              <a:t>UAE &amp; Oman</a:t>
            </a:r>
            <a:endParaRPr lang="en-US" sz="1100" dirty="0"/>
          </a:p>
        </p:txBody>
      </p:sp>
      <p:sp>
        <p:nvSpPr>
          <p:cNvPr id="19" name="Text 15"/>
          <p:cNvSpPr txBox="1"/>
          <p:nvPr/>
        </p:nvSpPr>
        <p:spPr>
          <a:xfrm>
            <a:off x="4732020" y="5513832"/>
            <a:ext cx="2724912" cy="256032"/>
          </a:xfrm>
          <a:prstGeom prst="rect">
            <a:avLst/>
          </a:prstGeom>
          <a:noFill/>
          <a:ln/>
        </p:spPr>
        <p:txBody>
          <a:bodyPr wrap="square" lIns="0" tIns="0" rIns="0" bIns="0" rtlCol="0" anchor="t"/>
          <a:lstStyle/>
          <a:p>
            <a:pPr rtl="1" algn="r" indent="0" marL="0">
              <a:buNone/>
            </a:pPr>
            <a:r>
              <a:rPr lang="ar-AE" altLang="en-US" sz="1100" dirty="0">
                <a:solidFill>
                  <a:schemeClr val="accent5"/>
                </a:solidFill>
                <a:latin typeface="Arial" pitchFamily="34" charset="0"/>
                <a:ea typeface="Arial" pitchFamily="34" charset="-122"/>
                <a:cs typeface="Arial" pitchFamily="34" charset="-120"/>
              </a:rPr>
              <a:t>الإمارات وسلطنة عُمان</a:t>
            </a:r>
            <a:endParaRPr lang="ar-AE" sz="1100" dirty="0"/>
          </a:p>
        </p:txBody>
      </p:sp>
      <p:sp>
        <p:nvSpPr>
          <p:cNvPr id="20" name="Capability panel 3"/>
          <p:cNvSpPr/>
          <p:nvPr/>
        </p:nvSpPr>
        <p:spPr>
          <a:xfrm>
            <a:off x="8092440" y="2788920"/>
            <a:ext cx="3456432" cy="3108960"/>
          </a:xfrm>
          <a:prstGeom prst="roundRect">
            <a:avLst>
              <a:gd name="adj" fmla="val 2941"/>
            </a:avLst>
          </a:prstGeom>
          <a:solidFill>
            <a:schemeClr val="bg1">
              <a:alpha val="6000"/>
            </a:schemeClr>
          </a:solidFill>
          <a:ln w="9525">
            <a:solidFill>
              <a:schemeClr val="bg1">
                <a:alpha val="18000"/>
              </a:schemeClr>
            </a:solidFill>
            <a:prstDash val="solid"/>
          </a:ln>
        </p:spPr>
      </p:sp>
      <p:pic>
        <p:nvPicPr>
          <p:cNvPr id="21" name="Capability icon 3" descr="icon">    </p:cNvPr>
          <p:cNvPicPr>
            <a:picLocks noChangeAspect="1"/>
          </p:cNvPicPr>
          <p:nvPr/>
        </p:nvPicPr>
        <p:blipFill>
          <a:blip r:embed="rId3"/>
          <a:stretch>
            <a:fillRect/>
          </a:stretch>
        </p:blipFill>
        <p:spPr>
          <a:xfrm>
            <a:off x="8458200" y="3154680"/>
            <a:ext cx="777240" cy="777240"/>
          </a:xfrm>
          <a:prstGeom prst="rect">
            <a:avLst/>
          </a:prstGeom>
        </p:spPr>
      </p:pic>
      <p:sp>
        <p:nvSpPr>
          <p:cNvPr id="22" name="Text 17"/>
          <p:cNvSpPr txBox="1"/>
          <p:nvPr/>
        </p:nvSpPr>
        <p:spPr>
          <a:xfrm>
            <a:off x="8458200" y="4251960"/>
            <a:ext cx="2724912" cy="365760"/>
          </a:xfrm>
          <a:prstGeom prst="rect">
            <a:avLst/>
          </a:prstGeom>
          <a:noFill/>
          <a:ln/>
        </p:spPr>
        <p:txBody>
          <a:bodyPr wrap="square" lIns="0" tIns="0" rIns="0" bIns="0" rtlCol="0" anchor="t"/>
          <a:lstStyle/>
          <a:p>
            <a:pPr algn="l" indent="0" marL="0">
              <a:buNone/>
            </a:pPr>
            <a:r>
              <a:rPr lang="en-US" sz="1900" dirty="0">
                <a:solidFill>
                  <a:schemeClr val="bg1"/>
                </a:solidFill>
                <a:latin typeface="Arial" pitchFamily="34" charset="0"/>
                <a:ea typeface="Arial" pitchFamily="34" charset="-122"/>
                <a:cs typeface="Arial" pitchFamily="34" charset="-120"/>
              </a:rPr>
              <a:t>Installation Teams</a:t>
            </a:r>
            <a:endParaRPr lang="en-US" sz="1900" dirty="0"/>
          </a:p>
        </p:txBody>
      </p:sp>
      <p:sp>
        <p:nvSpPr>
          <p:cNvPr id="23" name="Text 18"/>
          <p:cNvSpPr txBox="1"/>
          <p:nvPr/>
        </p:nvSpPr>
        <p:spPr>
          <a:xfrm>
            <a:off x="8458200" y="4663440"/>
            <a:ext cx="2724912" cy="320040"/>
          </a:xfrm>
          <a:prstGeom prst="rect">
            <a:avLst/>
          </a:prstGeom>
          <a:noFill/>
          <a:ln/>
        </p:spPr>
        <p:txBody>
          <a:bodyPr wrap="square" lIns="0" tIns="0" rIns="0" bIns="0" rtlCol="0" anchor="t"/>
          <a:lstStyle/>
          <a:p>
            <a:pPr rtl="1" algn="r" indent="0" marL="0">
              <a:buNone/>
            </a:pPr>
            <a:r>
              <a:rPr lang="ar-AE" altLang="en-US" sz="1600" b="1" dirty="0">
                <a:solidFill>
                  <a:schemeClr val="accent2"/>
                </a:solidFill>
                <a:latin typeface="Arial" pitchFamily="34" charset="0"/>
                <a:ea typeface="Arial" pitchFamily="34" charset="-122"/>
                <a:cs typeface="Arial" pitchFamily="34" charset="-120"/>
              </a:rPr>
              <a:t>فرق التركيب</a:t>
            </a:r>
            <a:endParaRPr lang="ar-AE" sz="1600" dirty="0"/>
          </a:p>
        </p:txBody>
      </p:sp>
      <p:sp>
        <p:nvSpPr>
          <p:cNvPr id="24" name="Text 19"/>
          <p:cNvSpPr txBox="1"/>
          <p:nvPr/>
        </p:nvSpPr>
        <p:spPr>
          <a:xfrm>
            <a:off x="8458200" y="5257800"/>
            <a:ext cx="2724912" cy="256032"/>
          </a:xfrm>
          <a:prstGeom prst="rect">
            <a:avLst/>
          </a:prstGeom>
          <a:noFill/>
          <a:ln/>
        </p:spPr>
        <p:txBody>
          <a:bodyPr wrap="square" lIns="0" tIns="0" rIns="0" bIns="0" rtlCol="0" anchor="t"/>
          <a:lstStyle/>
          <a:p>
            <a:pPr algn="l" indent="0" marL="0">
              <a:buNone/>
            </a:pPr>
            <a:r>
              <a:rPr lang="en-US" sz="1100" dirty="0">
                <a:solidFill>
                  <a:schemeClr val="accent5"/>
                </a:solidFill>
                <a:latin typeface="Arial" pitchFamily="34" charset="0"/>
                <a:ea typeface="Arial" pitchFamily="34" charset="-122"/>
                <a:cs typeface="Arial" pitchFamily="34" charset="-120"/>
              </a:rPr>
              <a:t>Chargers &amp; accessories</a:t>
            </a:r>
            <a:endParaRPr lang="en-US" sz="1100" dirty="0"/>
          </a:p>
        </p:txBody>
      </p:sp>
      <p:sp>
        <p:nvSpPr>
          <p:cNvPr id="25" name="Text 20"/>
          <p:cNvSpPr txBox="1"/>
          <p:nvPr/>
        </p:nvSpPr>
        <p:spPr>
          <a:xfrm>
            <a:off x="8458200" y="5513832"/>
            <a:ext cx="2724912" cy="256032"/>
          </a:xfrm>
          <a:prstGeom prst="rect">
            <a:avLst/>
          </a:prstGeom>
          <a:noFill/>
          <a:ln/>
        </p:spPr>
        <p:txBody>
          <a:bodyPr wrap="square" lIns="0" tIns="0" rIns="0" bIns="0" rtlCol="0" anchor="t"/>
          <a:lstStyle/>
          <a:p>
            <a:pPr rtl="1" algn="r" indent="0" marL="0">
              <a:buNone/>
            </a:pPr>
            <a:r>
              <a:rPr lang="ar-AE" altLang="en-US" sz="1100" dirty="0">
                <a:solidFill>
                  <a:schemeClr val="accent5"/>
                </a:solidFill>
                <a:latin typeface="Arial" pitchFamily="34" charset="0"/>
                <a:ea typeface="Arial" pitchFamily="34" charset="-122"/>
                <a:cs typeface="Arial" pitchFamily="34" charset="-120"/>
              </a:rPr>
              <a:t>الشواحن والإكسسوارات</a:t>
            </a:r>
            <a:endParaRPr lang="ar-AE" sz="1100" dirty="0"/>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DDE2E7"/>
                </a:solidFill>
                <a:latin typeface="Arial"/>
                <a:ea typeface="Arial"/>
                <a:cs typeface="Arial"/>
              </a:defRPr>
            </a:lvl1pPr>
          </a:lstStyle>
          <a:p>
            <a:pPr algn="r"/>
            <a:fld id="{F7021451-1387-4CA6-816F-3879F97B5CBC}" type="slidenum">
              <a:rPr b="0" lang="en-US"/>
              <a:t>15</a:t>
            </a:fld>
            <a:endParaRPr lang="en-US"/>
          </a:p>
        </p:txBody>
      </p:sp>
      <p:sp>
        <p:nvSpPr>
          <p:cNvPr id="26" name="Back to contents" descr="Back to contents">
            <a:hlinkClick r:id="rId6" action="ppaction://hlinksldjump" tooltip="Back to Contents / العودة إلى المحتويات"/>
          </p:cNvPr>
          <p:cNvSpPr/>
          <p:nvPr/>
        </p:nvSpPr>
        <p:spPr>
          <a:xfrm>
            <a:off x="8838000" y="6283000"/>
            <a:ext cx="1850000" cy="300000"/>
          </a:xfrm>
          <a:prstGeom prst="roundRect">
            <a:avLst>
              <a:gd name="adj" fmla="val 50000"/>
            </a:avLst>
          </a:prstGeom>
          <a:noFill/>
          <a:ln w="9525">
            <a:solidFill>
              <a:schemeClr val="accent1"/>
            </a:solidFill>
          </a:ln>
        </p:spPr>
        <p:txBody>
          <a:bodyPr wrap="none" lIns="0" tIns="0" rIns="0" bIns="0" rtlCol="0" anchor="ctr"/>
          <a:lstStyle/>
          <a:p>
            <a:pPr algn="ctr"/>
            <a:r>
              <a:rPr lang="en-US" sz="900" b="1" spc="120" dirty="0">
                <a:solidFill>
                  <a:schemeClr val="accent1"/>
                </a:solidFill>
                <a:latin typeface="Arial"/>
                <a:cs typeface="Arial"/>
              </a:rPr>
              <a:t>CONTENTS  ·  </a:t>
            </a:r>
            <a:r>
              <a:rPr lang="ar-AE" sz="900" b="1" dirty="0">
                <a:solidFill>
                  <a:schemeClr val="accent1"/>
                </a:solidFill>
                <a:latin typeface="Arial"/>
                <a:cs typeface="Arial"/>
              </a:rPr>
              <a:t>المحتويات</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411480"/>
            <a:ext cx="5486400" cy="228600"/>
          </a:xfrm>
          <a:prstGeom prst="rect">
            <a:avLst/>
          </a:prstGeom>
          <a:noFill/>
          <a:ln/>
        </p:spPr>
        <p:txBody>
          <a:bodyPr wrap="square" lIns="0" tIns="0" rIns="0" bIns="0" rtlCol="0" anchor="t"/>
          <a:lstStyle/>
          <a:p>
            <a:pPr algn="l" indent="0" marL="0">
              <a:buNone/>
            </a:pPr>
            <a:r>
              <a:rPr lang="en-US" sz="1000" b="1" spc="300" kern="0" dirty="0">
                <a:solidFill>
                  <a:schemeClr val="accent1"/>
                </a:solidFill>
                <a:latin typeface="Arial" pitchFamily="34" charset="0"/>
                <a:ea typeface="Arial" pitchFamily="34" charset="-122"/>
                <a:cs typeface="Arial" pitchFamily="34" charset="-120"/>
              </a:rPr>
              <a:t>05   ·   WHY EVCARS</a:t>
            </a:r>
            <a:endParaRPr lang="en-US" sz="1000" dirty="0"/>
          </a:p>
        </p:txBody>
      </p:sp>
      <p:sp>
        <p:nvSpPr>
          <p:cNvPr id="3" name="Text 1"/>
          <p:cNvSpPr txBox="1"/>
          <p:nvPr/>
        </p:nvSpPr>
        <p:spPr>
          <a:xfrm>
            <a:off x="6065215" y="411480"/>
            <a:ext cx="5486400" cy="228600"/>
          </a:xfrm>
          <a:prstGeom prst="rect">
            <a:avLst/>
          </a:prstGeom>
          <a:noFill/>
          <a:ln/>
        </p:spPr>
        <p:txBody>
          <a:bodyPr wrap="square" lIns="0" tIns="0" rIns="0" bIns="0" rtlCol="0" anchor="t"/>
          <a:lstStyle/>
          <a:p>
            <a:pPr rtl="1" algn="r" indent="0" marL="0">
              <a:buNone/>
            </a:pPr>
            <a:r>
              <a:rPr lang="ar-AE" altLang="en-US" sz="1100" b="1" dirty="0">
                <a:solidFill>
                  <a:schemeClr val="accent1"/>
                </a:solidFill>
                <a:latin typeface="Arial" pitchFamily="34" charset="0"/>
                <a:ea typeface="Arial" pitchFamily="34" charset="-122"/>
                <a:cs typeface="Arial" pitchFamily="34" charset="-120"/>
              </a:rPr>
              <a:t>لماذا نحن   ·   05</a:t>
            </a:r>
            <a:endParaRPr lang="ar-AE" sz="1100" dirty="0"/>
          </a:p>
        </p:txBody>
      </p:sp>
      <p:sp>
        <p:nvSpPr>
          <p:cNvPr id="4" name="Text 0"/>
          <p:cNvSpPr/>
          <p:nvPr>
            <p:ph idx="100" type="title" hasCustomPrompt="1"/>
          </p:nvPr>
        </p:nvSpPr>
        <p:spPr>
          <a:xfrm>
            <a:off x="640080" y="713232"/>
            <a:ext cx="5486400" cy="685800"/>
          </a:xfrm>
          <a:prstGeom prst="rect">
            <a:avLst/>
          </a:prstGeom>
          <a:noFill/>
          <a:ln/>
        </p:spPr>
        <p:txBody>
          <a:bodyPr wrap="square" lIns="0" tIns="0" rIns="0" bIns="0" rtlCol="0" anchor="t"/>
          <a:lstStyle/>
          <a:p>
            <a:pPr algn="l" indent="0" marL="0">
              <a:buNone/>
            </a:pPr>
            <a:r>
              <a:rPr lang="en-US" sz="3000" dirty="0">
                <a:solidFill>
                  <a:schemeClr val="tx1"/>
                </a:solidFill>
                <a:latin typeface="Arial" pitchFamily="34" charset="0"/>
                <a:ea typeface="Arial" pitchFamily="34" charset="-122"/>
                <a:cs typeface="Arial" pitchFamily="34" charset="-120"/>
              </a:rPr>
              <a:t>Warranty &amp; Customer Care</a:t>
            </a:r>
            <a:endParaRPr lang="en-US" sz="3000" dirty="0"/>
          </a:p>
        </p:txBody>
      </p:sp>
      <p:sp>
        <p:nvSpPr>
          <p:cNvPr id="5" name="Text 0"/>
          <p:cNvSpPr/>
          <p:nvPr>
            <p:ph idx="101" type="body" hasCustomPrompt="1"/>
          </p:nvPr>
        </p:nvSpPr>
        <p:spPr>
          <a:xfrm>
            <a:off x="6065215" y="713232"/>
            <a:ext cx="5486400" cy="685800"/>
          </a:xfrm>
          <a:prstGeom prst="rect">
            <a:avLst/>
          </a:prstGeom>
          <a:noFill/>
          <a:ln/>
        </p:spPr>
        <p:txBody>
          <a:bodyPr wrap="square" lIns="0" tIns="0" rIns="0" bIns="0" rtlCol="0" anchor="t"/>
          <a:lstStyle/>
          <a:p>
            <a:pPr rtl="1" algn="r" indent="0" marL="0">
              <a:buNone/>
            </a:pPr>
            <a:r>
              <a:rPr lang="ar-AE" altLang="en-US" sz="3000" dirty="0">
                <a:solidFill>
                  <a:schemeClr val="tx1"/>
                </a:solidFill>
                <a:latin typeface="Arial" pitchFamily="34" charset="0"/>
                <a:ea typeface="Arial" pitchFamily="34" charset="-122"/>
                <a:cs typeface="Arial" pitchFamily="34" charset="-120"/>
              </a:rPr>
              <a:t>الضمان وخدمة العملاء</a:t>
            </a:r>
            <a:endParaRPr lang="ar-AE" sz="3000" dirty="0"/>
          </a:p>
        </p:txBody>
      </p:sp>
      <p:graphicFrame>
        <p:nvGraphicFramePr>
          <p:cNvPr id="17" name="Warranty table"/>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3840480"/>
                <a:gridCol w="3227832"/>
                <a:gridCol w="3840480"/>
              </a:tblGrid>
              <a:tr h="411480">
                <a:tc>
                  <a:txBody>
                    <a:bodyPr/>
                    <a:lstStyle/>
                    <a:p>
                      <a:pPr algn="l" indent="0" marL="0">
                        <a:buNone/>
                      </a:pPr>
                      <a:r>
                        <a:rPr lang="en-US" sz="1100" b="1" spc="200" kern="0" dirty="0">
                          <a:solidFill>
                            <a:schemeClr val="bg1"/>
                          </a:solidFill>
                          <a:latin typeface="Arial" pitchFamily="34" charset="0"/>
                          <a:ea typeface="Arial" pitchFamily="34" charset="-122"/>
                          <a:cs typeface="Arial" pitchFamily="34" charset="-120"/>
                        </a:rPr>
                        <a:t>CATEGORY</a:t>
                      </a:r>
                      <a:endParaRPr lang="en-US" sz="1100" dirty="0">
                        <a:latin typeface="Arial" charset="0"/>
                        <a:ea typeface="Arial" charset="0"/>
                        <a:cs typeface="Arial" charset="0"/>
                      </a:endParaRPr>
                    </a:p>
                  </a:txBody>
                  <a:tcPr marL="228600" marR="228600" marT="73152" marB="73152" anchor="ctr">
                    <a:lnL w="0" cap="flat" cmpd="sng" algn="ctr">
                      <a:noFill/>
                    </a:lnL>
                    <a:lnR w="0" cap="flat" cmpd="sng" algn="ctr">
                      <a:noFill/>
                    </a:lnR>
                    <a:lnT w="0" cap="flat" cmpd="sng" algn="ctr">
                      <a:noFill/>
                    </a:lnT>
                    <a:lnB w="0" cap="flat" cmpd="sng" algn="ctr">
                      <a:noFill/>
                    </a:lnB>
                    <a:solidFill>
                      <a:schemeClr val="tx1"/>
                    </a:solidFill>
                  </a:tcPr>
                </a:tc>
                <a:tc>
                  <a:txBody>
                    <a:bodyPr/>
                    <a:lstStyle/>
                    <a:p>
                      <a:pPr algn="ctr" indent="0" marL="0">
                        <a:buNone/>
                      </a:pPr>
                      <a:r>
                        <a:rPr lang="en-US" sz="1100" b="1" spc="200" kern="0" dirty="0">
                          <a:solidFill>
                            <a:schemeClr val="bg1"/>
                          </a:solidFill>
                          <a:latin typeface="Arial" pitchFamily="34" charset="0"/>
                          <a:ea typeface="Arial" pitchFamily="34" charset="-122"/>
                          <a:cs typeface="Arial" pitchFamily="34" charset="-120"/>
                        </a:rPr>
                        <a:t>WARRANTY  |  الضمان</a:t>
                      </a:r>
                      <a:endParaRPr lang="en-US" sz="1100" dirty="0">
                        <a:latin typeface="Arial" charset="0"/>
                        <a:ea typeface="Arial" charset="0"/>
                        <a:cs typeface="Arial" charset="0"/>
                      </a:endParaRPr>
                    </a:p>
                  </a:txBody>
                  <a:tcPr marL="228600" marR="228600" marT="73152" marB="73152" anchor="ctr">
                    <a:lnL w="0" cap="flat" cmpd="sng" algn="ctr">
                      <a:noFill/>
                    </a:lnL>
                    <a:lnR w="0" cap="flat" cmpd="sng" algn="ctr">
                      <a:noFill/>
                    </a:lnR>
                    <a:lnT w="0" cap="flat" cmpd="sng" algn="ctr">
                      <a:noFill/>
                    </a:lnT>
                    <a:lnB w="0" cap="flat" cmpd="sng" algn="ctr">
                      <a:noFill/>
                    </a:lnB>
                    <a:solidFill>
                      <a:schemeClr val="tx1"/>
                    </a:solidFill>
                  </a:tcPr>
                </a:tc>
                <a:tc>
                  <a:txBody>
                    <a:bodyPr/>
                    <a:lstStyle/>
                    <a:p>
                      <a:pPr rtl="1" algn="r" indent="0" marL="0">
                        <a:buNone/>
                      </a:pPr>
                      <a:r>
                        <a:rPr lang="en-US" sz="1100" b="1" dirty="0">
                          <a:solidFill>
                            <a:schemeClr val="bg1"/>
                          </a:solidFill>
                          <a:latin typeface="Arial" pitchFamily="34" charset="0"/>
                          <a:ea typeface="Arial" pitchFamily="34" charset="-122"/>
                          <a:cs typeface="Arial" pitchFamily="34" charset="-120"/>
                        </a:rPr>
                        <a:t>الفئة</a:t>
                      </a:r>
                      <a:endParaRPr lang="en-US" sz="1100" dirty="0">
                        <a:latin typeface="Arial" charset="0"/>
                        <a:ea typeface="Arial" charset="0"/>
                        <a:cs typeface="Arial" charset="0"/>
                      </a:endParaRPr>
                    </a:p>
                  </a:txBody>
                  <a:tcPr marL="228600" marR="228600" marT="73152" marB="73152" anchor="ctr">
                    <a:lnL w="0" cap="flat" cmpd="sng" algn="ctr">
                      <a:noFill/>
                    </a:lnL>
                    <a:lnR w="0" cap="flat" cmpd="sng" algn="ctr">
                      <a:noFill/>
                    </a:lnR>
                    <a:lnT w="0" cap="flat" cmpd="sng" algn="ctr">
                      <a:noFill/>
                    </a:lnT>
                    <a:lnB w="0" cap="flat" cmpd="sng" algn="ctr">
                      <a:noFill/>
                    </a:lnB>
                    <a:solidFill>
                      <a:schemeClr val="tx1"/>
                    </a:solidFill>
                  </a:tcPr>
                </a:tc>
              </a:tr>
              <a:tr h="566928">
                <a:tc>
                  <a:txBody>
                    <a:bodyPr/>
                    <a:lstStyle/>
                    <a:p>
                      <a:pPr algn="l" indent="0" marL="0">
                        <a:buNone/>
                      </a:pPr>
                      <a:r>
                        <a:rPr lang="en-US" sz="1500" dirty="0">
                          <a:solidFill>
                            <a:schemeClr val="tx1"/>
                          </a:solidFill>
                          <a:latin typeface="Arial" pitchFamily="34" charset="0"/>
                          <a:ea typeface="Arial" pitchFamily="34" charset="-122"/>
                          <a:cs typeface="Arial" pitchFamily="34" charset="-120"/>
                        </a:rPr>
                        <a:t>Electrical Accessories</a:t>
                      </a:r>
                      <a:endParaRPr lang="en-US" sz="1500" dirty="0">
                        <a:latin typeface="Arial" charset="0"/>
                        <a:ea typeface="Arial" charset="0"/>
                        <a:cs typeface="Arial" charset="0"/>
                      </a:endParaRPr>
                    </a:p>
                  </a:txBody>
                  <a:tcPr marL="228600" marR="228600" marT="91440" marB="9144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500" b="1" dirty="0">
                          <a:solidFill>
                            <a:schemeClr val="accent1"/>
                          </a:solidFill>
                          <a:latin typeface="Arial" pitchFamily="34" charset="0"/>
                          <a:ea typeface="Arial" pitchFamily="34" charset="-122"/>
                          <a:cs typeface="Arial" pitchFamily="34" charset="-120"/>
                        </a:rPr>
                        <a:t>1 Year</a:t>
                      </a:r>
                      <a:pPr algn="ctr" indent="0" marL="0">
                        <a:buNone/>
                      </a:pPr>
                      <a:r>
                        <a:rPr lang="en-US" sz="1300" dirty="0">
                          <a:solidFill>
                            <a:schemeClr val="accent3"/>
                          </a:solidFill>
                          <a:latin typeface="Arial" pitchFamily="34" charset="0"/>
                          <a:ea typeface="Arial" pitchFamily="34" charset="-122"/>
                          <a:cs typeface="Arial" pitchFamily="34" charset="-120"/>
                        </a:rPr>
                        <a:t>   |   </a:t>
                      </a:r>
                      <a:pPr algn="ctr" indent="0" marL="0">
                        <a:buNone/>
                      </a:pPr>
                      <a:r>
                        <a:rPr lang="en-US" sz="1500" b="1" dirty="0">
                          <a:solidFill>
                            <a:schemeClr val="accent1"/>
                          </a:solidFill>
                          <a:latin typeface="Arial" pitchFamily="34" charset="0"/>
                          <a:ea typeface="Arial" pitchFamily="34" charset="-122"/>
                          <a:cs typeface="Arial" pitchFamily="34" charset="-120"/>
                        </a:rPr>
                        <a:t>سنة واحدة</a:t>
                      </a:r>
                      <a:endParaRPr lang="en-US" sz="1200" dirty="0"/>
                    </a:p>
                  </a:txBody>
                  <a:tcPr marL="182880" marR="182880" marT="91440" marB="9144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rtl="1" algn="r" indent="0" marL="0">
                        <a:buNone/>
                      </a:pPr>
                      <a:r>
                        <a:rPr lang="ar-AE" altLang="en-US" sz="1500" dirty="0">
                          <a:solidFill>
                            <a:schemeClr val="tx1"/>
                          </a:solidFill>
                          <a:latin typeface="Arial" pitchFamily="34" charset="0"/>
                          <a:ea typeface="Arial" pitchFamily="34" charset="-122"/>
                          <a:cs typeface="Arial" pitchFamily="34" charset="-120"/>
                        </a:rPr>
                        <a:t>الإكسسوارات الكهربائية</a:t>
                      </a:r>
                      <a:endParaRPr lang="ar-AE" sz="1500" dirty="0">
                        <a:latin typeface="Arial" charset="0"/>
                        <a:ea typeface="Arial" charset="0"/>
                        <a:cs typeface="Arial" charset="0"/>
                      </a:endParaRPr>
                    </a:p>
                  </a:txBody>
                  <a:tcPr marL="228600" marR="228600" marT="91440" marB="91440"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algn="l" indent="0" marL="0">
                        <a:buNone/>
                      </a:pPr>
                      <a:r>
                        <a:rPr lang="en-US" sz="1500" dirty="0">
                          <a:solidFill>
                            <a:schemeClr val="tx1"/>
                          </a:solidFill>
                          <a:latin typeface="Arial" pitchFamily="34" charset="0"/>
                          <a:ea typeface="Arial" pitchFamily="34" charset="-122"/>
                          <a:cs typeface="Arial" pitchFamily="34" charset="-120"/>
                        </a:rPr>
                        <a:t>Charging Adapters</a:t>
                      </a:r>
                      <a:endParaRPr lang="en-US" sz="1500" dirty="0">
                        <a:latin typeface="Arial" charset="0"/>
                        <a:ea typeface="Arial" charset="0"/>
                        <a:cs typeface="Arial" charset="0"/>
                      </a:endParaRPr>
                    </a:p>
                  </a:txBody>
                  <a:tcPr marL="228600" marR="228600" marT="91440" marB="9144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500" b="1" dirty="0">
                          <a:solidFill>
                            <a:schemeClr val="accent1"/>
                          </a:solidFill>
                          <a:latin typeface="Arial" pitchFamily="34" charset="0"/>
                          <a:ea typeface="Arial" pitchFamily="34" charset="-122"/>
                          <a:cs typeface="Arial" pitchFamily="34" charset="-120"/>
                        </a:rPr>
                        <a:t>1 Year</a:t>
                      </a:r>
                      <a:pPr algn="ctr" indent="0" marL="0">
                        <a:buNone/>
                      </a:pPr>
                      <a:r>
                        <a:rPr lang="en-US" sz="1300" dirty="0">
                          <a:solidFill>
                            <a:schemeClr val="accent3"/>
                          </a:solidFill>
                          <a:latin typeface="Arial" pitchFamily="34" charset="0"/>
                          <a:ea typeface="Arial" pitchFamily="34" charset="-122"/>
                          <a:cs typeface="Arial" pitchFamily="34" charset="-120"/>
                        </a:rPr>
                        <a:t>   |   </a:t>
                      </a:r>
                      <a:pPr algn="ctr" indent="0" marL="0">
                        <a:buNone/>
                      </a:pPr>
                      <a:r>
                        <a:rPr lang="en-US" sz="1500" b="1" dirty="0">
                          <a:solidFill>
                            <a:schemeClr val="accent1"/>
                          </a:solidFill>
                          <a:latin typeface="Arial" pitchFamily="34" charset="0"/>
                          <a:ea typeface="Arial" pitchFamily="34" charset="-122"/>
                          <a:cs typeface="Arial" pitchFamily="34" charset="-120"/>
                        </a:rPr>
                        <a:t>سنة واحدة</a:t>
                      </a:r>
                      <a:endParaRPr lang="en-US" sz="1200" dirty="0"/>
                    </a:p>
                  </a:txBody>
                  <a:tcPr marL="182880" marR="182880" marT="91440" marB="9144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rtl="1" algn="r" indent="0" marL="0">
                        <a:buNone/>
                      </a:pPr>
                      <a:r>
                        <a:rPr lang="ar-AE" altLang="en-US" sz="1500" dirty="0">
                          <a:solidFill>
                            <a:schemeClr val="tx1"/>
                          </a:solidFill>
                          <a:latin typeface="Arial" pitchFamily="34" charset="0"/>
                          <a:ea typeface="Arial" pitchFamily="34" charset="-122"/>
                          <a:cs typeface="Arial" pitchFamily="34" charset="-120"/>
                        </a:rPr>
                        <a:t>محولات الشحن</a:t>
                      </a:r>
                      <a:endParaRPr lang="ar-AE" sz="1500" dirty="0">
                        <a:latin typeface="Arial" charset="0"/>
                        <a:ea typeface="Arial" charset="0"/>
                        <a:cs typeface="Arial" charset="0"/>
                      </a:endParaRPr>
                    </a:p>
                  </a:txBody>
                  <a:tcPr marL="228600" marR="228600" marT="91440" marB="91440"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algn="l" indent="0" marL="0">
                        <a:buNone/>
                      </a:pPr>
                      <a:r>
                        <a:rPr lang="en-US" sz="1500" dirty="0">
                          <a:solidFill>
                            <a:schemeClr val="tx1"/>
                          </a:solidFill>
                          <a:latin typeface="Arial" pitchFamily="34" charset="0"/>
                          <a:ea typeface="Arial" pitchFamily="34" charset="-122"/>
                          <a:cs typeface="Arial" pitchFamily="34" charset="-120"/>
                        </a:rPr>
                        <a:t>EVSPACE Chargers</a:t>
                      </a:r>
                      <a:endParaRPr lang="en-US" sz="1500" dirty="0">
                        <a:latin typeface="Arial" charset="0"/>
                        <a:ea typeface="Arial" charset="0"/>
                        <a:cs typeface="Arial" charset="0"/>
                      </a:endParaRPr>
                    </a:p>
                  </a:txBody>
                  <a:tcPr marL="228600" marR="228600" marT="91440" marB="9144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500" b="1" dirty="0">
                          <a:solidFill>
                            <a:schemeClr val="accent1"/>
                          </a:solidFill>
                          <a:latin typeface="Arial" pitchFamily="34" charset="0"/>
                          <a:ea typeface="Arial" pitchFamily="34" charset="-122"/>
                          <a:cs typeface="Arial" pitchFamily="34" charset="-120"/>
                        </a:rPr>
                        <a:t>2 Years</a:t>
                      </a:r>
                      <a:pPr algn="ctr" indent="0" marL="0">
                        <a:buNone/>
                      </a:pPr>
                      <a:r>
                        <a:rPr lang="en-US" sz="1300" dirty="0">
                          <a:solidFill>
                            <a:schemeClr val="accent3"/>
                          </a:solidFill>
                          <a:latin typeface="Arial" pitchFamily="34" charset="0"/>
                          <a:ea typeface="Arial" pitchFamily="34" charset="-122"/>
                          <a:cs typeface="Arial" pitchFamily="34" charset="-120"/>
                        </a:rPr>
                        <a:t>   |   </a:t>
                      </a:r>
                      <a:pPr algn="ctr" indent="0" marL="0">
                        <a:buNone/>
                      </a:pPr>
                      <a:r>
                        <a:rPr lang="en-US" sz="1500" b="1" dirty="0">
                          <a:solidFill>
                            <a:schemeClr val="accent1"/>
                          </a:solidFill>
                          <a:latin typeface="Arial" pitchFamily="34" charset="0"/>
                          <a:ea typeface="Arial" pitchFamily="34" charset="-122"/>
                          <a:cs typeface="Arial" pitchFamily="34" charset="-120"/>
                        </a:rPr>
                        <a:t>سنتان</a:t>
                      </a:r>
                      <a:endParaRPr lang="en-US" sz="1200" dirty="0"/>
                    </a:p>
                  </a:txBody>
                  <a:tcPr marL="182880" marR="182880" marT="91440" marB="9144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rtl="1" algn="r" indent="0" marL="0">
                        <a:buNone/>
                      </a:pPr>
                      <a:r>
                        <a:rPr lang="ar-AE" altLang="en-US" sz="1500" dirty="0">
                          <a:solidFill>
                            <a:schemeClr val="tx1"/>
                          </a:solidFill>
                          <a:latin typeface="Arial" pitchFamily="34" charset="0"/>
                          <a:ea typeface="Arial" pitchFamily="34" charset="-122"/>
                          <a:cs typeface="Arial" pitchFamily="34" charset="-120"/>
                        </a:rPr>
                        <a:t>شواحن EVSPACE</a:t>
                      </a:r>
                      <a:endParaRPr lang="ar-AE" sz="1500" dirty="0">
                        <a:latin typeface="Arial" charset="0"/>
                        <a:ea typeface="Arial" charset="0"/>
                        <a:cs typeface="Arial" charset="0"/>
                      </a:endParaRPr>
                    </a:p>
                  </a:txBody>
                  <a:tcPr marL="228600" marR="228600" marT="91440" marB="91440"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algn="l" indent="0" marL="0">
                        <a:buNone/>
                      </a:pPr>
                      <a:r>
                        <a:rPr lang="en-US" sz="1500" dirty="0">
                          <a:solidFill>
                            <a:schemeClr val="tx1"/>
                          </a:solidFill>
                          <a:latin typeface="Arial" pitchFamily="34" charset="0"/>
                          <a:ea typeface="Arial" pitchFamily="34" charset="-122"/>
                          <a:cs typeface="Arial" pitchFamily="34" charset="-120"/>
                        </a:rPr>
                        <a:t>Charger Installation</a:t>
                      </a:r>
                      <a:endParaRPr lang="en-US" sz="1500" dirty="0">
                        <a:latin typeface="Arial" charset="0"/>
                        <a:ea typeface="Arial" charset="0"/>
                        <a:cs typeface="Arial" charset="0"/>
                      </a:endParaRPr>
                    </a:p>
                  </a:txBody>
                  <a:tcPr marL="228600" marR="228600" marT="91440" marB="9144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500" b="1" dirty="0">
                          <a:solidFill>
                            <a:schemeClr val="accent1"/>
                          </a:solidFill>
                          <a:latin typeface="Arial" pitchFamily="34" charset="0"/>
                          <a:ea typeface="Arial" pitchFamily="34" charset="-122"/>
                          <a:cs typeface="Arial" pitchFamily="34" charset="-120"/>
                        </a:rPr>
                        <a:t>2 Years</a:t>
                      </a:r>
                      <a:pPr algn="ctr" indent="0" marL="0">
                        <a:buNone/>
                      </a:pPr>
                      <a:r>
                        <a:rPr lang="en-US" sz="1300" dirty="0">
                          <a:solidFill>
                            <a:schemeClr val="accent3"/>
                          </a:solidFill>
                          <a:latin typeface="Arial" pitchFamily="34" charset="0"/>
                          <a:ea typeface="Arial" pitchFamily="34" charset="-122"/>
                          <a:cs typeface="Arial" pitchFamily="34" charset="-120"/>
                        </a:rPr>
                        <a:t>   |   </a:t>
                      </a:r>
                      <a:pPr algn="ctr" indent="0" marL="0">
                        <a:buNone/>
                      </a:pPr>
                      <a:r>
                        <a:rPr lang="en-US" sz="1500" b="1" dirty="0">
                          <a:solidFill>
                            <a:schemeClr val="accent1"/>
                          </a:solidFill>
                          <a:latin typeface="Arial" pitchFamily="34" charset="0"/>
                          <a:ea typeface="Arial" pitchFamily="34" charset="-122"/>
                          <a:cs typeface="Arial" pitchFamily="34" charset="-120"/>
                        </a:rPr>
                        <a:t>سنتان</a:t>
                      </a:r>
                      <a:endParaRPr lang="en-US" sz="1200" dirty="0"/>
                    </a:p>
                  </a:txBody>
                  <a:tcPr marL="182880" marR="182880" marT="91440" marB="9144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rtl="1" algn="r" indent="0" marL="0">
                        <a:buNone/>
                      </a:pPr>
                      <a:r>
                        <a:rPr lang="ar-AE" altLang="en-US" sz="1500" dirty="0">
                          <a:solidFill>
                            <a:schemeClr val="tx1"/>
                          </a:solidFill>
                          <a:latin typeface="Arial" pitchFamily="34" charset="0"/>
                          <a:ea typeface="Arial" pitchFamily="34" charset="-122"/>
                          <a:cs typeface="Arial" pitchFamily="34" charset="-120"/>
                        </a:rPr>
                        <a:t>خدمة تركيب الشواحن</a:t>
                      </a:r>
                      <a:endParaRPr lang="ar-AE" sz="1500" dirty="0">
                        <a:latin typeface="Arial" charset="0"/>
                        <a:ea typeface="Arial" charset="0"/>
                        <a:cs typeface="Arial" charset="0"/>
                      </a:endParaRPr>
                    </a:p>
                  </a:txBody>
                  <a:tcPr marL="228600" marR="228600" marT="91440" marB="91440"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algn="l" indent="0" marL="0">
                        <a:buNone/>
                      </a:pPr>
                      <a:r>
                        <a:rPr lang="en-US" sz="1500" dirty="0">
                          <a:solidFill>
                            <a:schemeClr val="tx1"/>
                          </a:solidFill>
                          <a:latin typeface="Arial" pitchFamily="34" charset="0"/>
                          <a:ea typeface="Arial" pitchFamily="34" charset="-122"/>
                          <a:cs typeface="Arial" pitchFamily="34" charset="-120"/>
                        </a:rPr>
                        <a:t>Other Accessories</a:t>
                      </a:r>
                      <a:endParaRPr lang="en-US" sz="1500" dirty="0">
                        <a:latin typeface="Arial" charset="0"/>
                        <a:ea typeface="Arial" charset="0"/>
                        <a:cs typeface="Arial" charset="0"/>
                      </a:endParaRPr>
                    </a:p>
                  </a:txBody>
                  <a:tcPr marL="228600" marR="228600" marT="91440" marB="9144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500" b="1" dirty="0">
                          <a:solidFill>
                            <a:schemeClr val="accent1"/>
                          </a:solidFill>
                          <a:latin typeface="Arial" pitchFamily="34" charset="0"/>
                          <a:ea typeface="Arial" pitchFamily="34" charset="-122"/>
                          <a:cs typeface="Arial" pitchFamily="34" charset="-120"/>
                        </a:rPr>
                        <a:t>Product-specific</a:t>
                      </a:r>
                      <a:pPr algn="ctr" indent="0" marL="0">
                        <a:buNone/>
                      </a:pPr>
                      <a:r>
                        <a:rPr lang="en-US" sz="1300" dirty="0">
                          <a:solidFill>
                            <a:schemeClr val="accent3"/>
                          </a:solidFill>
                          <a:latin typeface="Arial" pitchFamily="34" charset="0"/>
                          <a:ea typeface="Arial" pitchFamily="34" charset="-122"/>
                          <a:cs typeface="Arial" pitchFamily="34" charset="-120"/>
                        </a:rPr>
                        <a:t>   |   </a:t>
                      </a:r>
                      <a:pPr algn="ctr" indent="0" marL="0">
                        <a:buNone/>
                      </a:pPr>
                      <a:r>
                        <a:rPr lang="en-US" sz="1500" b="1" dirty="0">
                          <a:solidFill>
                            <a:schemeClr val="accent1"/>
                          </a:solidFill>
                          <a:latin typeface="Arial" pitchFamily="34" charset="0"/>
                          <a:ea typeface="Arial" pitchFamily="34" charset="-122"/>
                          <a:cs typeface="Arial" pitchFamily="34" charset="-120"/>
                        </a:rPr>
                        <a:t>حسب المنتج</a:t>
                      </a:r>
                      <a:endParaRPr lang="en-US" sz="1200" dirty="0"/>
                    </a:p>
                  </a:txBody>
                  <a:tcPr marL="182880" marR="182880" marT="91440" marB="9144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rtl="1" algn="r" indent="0" marL="0">
                        <a:buNone/>
                      </a:pPr>
                      <a:r>
                        <a:rPr lang="ar-AE" altLang="en-US" sz="1500" dirty="0">
                          <a:solidFill>
                            <a:schemeClr val="tx1"/>
                          </a:solidFill>
                          <a:latin typeface="Arial" pitchFamily="34" charset="0"/>
                          <a:ea typeface="Arial" pitchFamily="34" charset="-122"/>
                          <a:cs typeface="Arial" pitchFamily="34" charset="-120"/>
                        </a:rPr>
                        <a:t>الإكسسوارات الأخرى</a:t>
                      </a:r>
                      <a:endParaRPr lang="ar-AE" sz="1500" dirty="0">
                        <a:latin typeface="Arial" charset="0"/>
                        <a:ea typeface="Arial" charset="0"/>
                        <a:cs typeface="Arial" charset="0"/>
                      </a:endParaRPr>
                    </a:p>
                  </a:txBody>
                  <a:tcPr marL="228600" marR="228600" marT="91440" marB="9144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pic>
        <p:nvPicPr>
          <p:cNvPr id="7" name="Warranty icon" descr="icon">    </p:cNvPr>
          <p:cNvPicPr>
            <a:picLocks noChangeAspect="1"/>
          </p:cNvPicPr>
          <p:nvPr/>
        </p:nvPicPr>
        <p:blipFill>
          <a:blip r:embed="rId1"/>
          <a:stretch>
            <a:fillRect/>
          </a:stretch>
        </p:blipFill>
        <p:spPr>
          <a:xfrm>
            <a:off x="640080" y="5120640"/>
            <a:ext cx="411480" cy="411480"/>
          </a:xfrm>
          <a:prstGeom prst="rect">
            <a:avLst/>
          </a:prstGeom>
        </p:spPr>
      </p:pic>
      <p:sp>
        <p:nvSpPr>
          <p:cNvPr id="8" name="Text 4"/>
          <p:cNvSpPr txBox="1"/>
          <p:nvPr/>
        </p:nvSpPr>
        <p:spPr>
          <a:xfrm>
            <a:off x="1280160" y="5074920"/>
            <a:ext cx="4663440" cy="777240"/>
          </a:xfrm>
          <a:prstGeom prst="rect">
            <a:avLst/>
          </a:prstGeom>
          <a:noFill/>
          <a:ln/>
        </p:spPr>
        <p:txBody>
          <a:bodyPr wrap="square" lIns="0" tIns="0" rIns="0" bIns="0" rtlCol="0" anchor="t"/>
          <a:lstStyle/>
          <a:p>
            <a:pPr algn="l" indent="0" marL="0">
              <a:buNone/>
            </a:pPr>
            <a:r>
              <a:rPr lang="en-US" sz="1050" dirty="0">
                <a:solidFill>
                  <a:schemeClr val="accent3"/>
                </a:solidFill>
                <a:latin typeface="Arial" pitchFamily="34" charset="0"/>
                <a:ea typeface="Arial" pitchFamily="34" charset="-122"/>
                <a:cs typeface="Arial" pitchFamily="34" charset="-120"/>
              </a:rPr>
              <a:t>Warranty coverage is subject to the applicable product or service terms and conditions and may vary according to the product and its intended use.</a:t>
            </a:r>
            <a:endParaRPr lang="en-US" sz="1050" dirty="0"/>
          </a:p>
        </p:txBody>
      </p:sp>
      <p:sp>
        <p:nvSpPr>
          <p:cNvPr id="9" name="Text 5"/>
          <p:cNvSpPr txBox="1"/>
          <p:nvPr/>
        </p:nvSpPr>
        <p:spPr>
          <a:xfrm>
            <a:off x="6430975" y="5074920"/>
            <a:ext cx="5120640" cy="777240"/>
          </a:xfrm>
          <a:prstGeom prst="rect">
            <a:avLst/>
          </a:prstGeom>
          <a:noFill/>
          <a:ln/>
        </p:spPr>
        <p:txBody>
          <a:bodyPr wrap="square" lIns="0" tIns="0" rIns="0" bIns="0" rtlCol="0" anchor="t"/>
          <a:lstStyle/>
          <a:p>
            <a:pPr rtl="1" algn="r" indent="0" marL="0">
              <a:buNone/>
            </a:pPr>
            <a:r>
              <a:rPr lang="ar-AE" altLang="en-US" sz="1050" dirty="0">
                <a:solidFill>
                  <a:schemeClr val="accent3"/>
                </a:solidFill>
                <a:latin typeface="Arial" pitchFamily="34" charset="0"/>
                <a:ea typeface="Arial" pitchFamily="34" charset="-122"/>
                <a:cs typeface="Arial" pitchFamily="34" charset="-120"/>
              </a:rPr>
              <a:t>تطبق شروط وأحكام الضمان الخاصة بكل منتج أو خدمة، وقد تختلف التغطية وفقاً لطبيعة المنتج وطريقة الاستخدام.</a:t>
            </a:r>
            <a:endParaRPr lang="ar-AE" sz="1050" dirty="0"/>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A75"/>
                </a:solidFill>
                <a:latin typeface="Arial"/>
                <a:ea typeface="Arial"/>
                <a:cs typeface="Arial"/>
              </a:defRPr>
            </a:lvl1pPr>
          </a:lstStyle>
          <a:p>
            <a:pPr algn="r"/>
            <a:fld id="{F7021451-1387-4CA6-816F-3879F97B5CBC}" type="slidenum">
              <a:rPr b="0" lang="en-US"/>
              <a:t>16</a:t>
            </a:fld>
            <a:endParaRPr lang="en-US"/>
          </a:p>
        </p:txBody>
      </p:sp>
      <p:sp>
        <p:nvSpPr>
          <p:cNvPr id="26" name="Back to contents" descr="Back to contents">
            <a:hlinkClick r:id="rId4" action="ppaction://hlinksldjump" tooltip="Back to Contents / العودة إلى المحتويات"/>
          </p:cNvPr>
          <p:cNvSpPr/>
          <p:nvPr/>
        </p:nvSpPr>
        <p:spPr>
          <a:xfrm>
            <a:off x="8838000" y="6283000"/>
            <a:ext cx="1850000" cy="300000"/>
          </a:xfrm>
          <a:prstGeom prst="roundRect">
            <a:avLst>
              <a:gd name="adj" fmla="val 50000"/>
            </a:avLst>
          </a:prstGeom>
          <a:noFill/>
          <a:ln w="9525">
            <a:solidFill>
              <a:schemeClr val="accent1"/>
            </a:solidFill>
          </a:ln>
        </p:spPr>
        <p:txBody>
          <a:bodyPr wrap="none" lIns="0" tIns="0" rIns="0" bIns="0" rtlCol="0" anchor="ctr"/>
          <a:lstStyle/>
          <a:p>
            <a:pPr algn="ctr"/>
            <a:r>
              <a:rPr lang="en-US" sz="900" b="1" spc="120" dirty="0">
                <a:solidFill>
                  <a:schemeClr val="accent1"/>
                </a:solidFill>
                <a:latin typeface="Arial"/>
                <a:cs typeface="Arial"/>
              </a:rPr>
              <a:t>CONTENTS  ·  </a:t>
            </a:r>
            <a:r>
              <a:rPr lang="ar-AE" sz="900" b="1" dirty="0">
                <a:solidFill>
                  <a:schemeClr val="accent1"/>
                </a:solidFill>
                <a:latin typeface="Arial"/>
                <a:cs typeface="Arial"/>
              </a:rPr>
              <a:t>المحتويات</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5486400" cy="228600"/>
          </a:xfrm>
          <a:prstGeom prst="rect">
            <a:avLst/>
          </a:prstGeom>
          <a:noFill/>
          <a:ln/>
        </p:spPr>
        <p:txBody>
          <a:bodyPr wrap="square" lIns="0" tIns="0" rIns="0" bIns="0" rtlCol="0" anchor="t"/>
          <a:lstStyle/>
          <a:p>
            <a:pPr algn="l" indent="0" marL="0">
              <a:buNone/>
            </a:pPr>
            <a:r>
              <a:rPr lang="en-US" sz="1000" b="1" spc="300" kern="0" dirty="0">
                <a:solidFill>
                  <a:schemeClr val="accent2"/>
                </a:solidFill>
                <a:latin typeface="Arial" pitchFamily="34" charset="0"/>
                <a:ea typeface="Arial" pitchFamily="34" charset="-122"/>
                <a:cs typeface="Arial" pitchFamily="34" charset="-120"/>
              </a:rPr>
              <a:t>05   ·   WHY EVCARS</a:t>
            </a:r>
            <a:endParaRPr lang="en-US" sz="1000" dirty="0"/>
          </a:p>
        </p:txBody>
      </p:sp>
      <p:sp>
        <p:nvSpPr>
          <p:cNvPr id="3" name="Text 1"/>
          <p:cNvSpPr txBox="1"/>
          <p:nvPr/>
        </p:nvSpPr>
        <p:spPr>
          <a:xfrm>
            <a:off x="6065215" y="411480"/>
            <a:ext cx="5486400" cy="228600"/>
          </a:xfrm>
          <a:prstGeom prst="rect">
            <a:avLst/>
          </a:prstGeom>
          <a:noFill/>
          <a:ln/>
        </p:spPr>
        <p:txBody>
          <a:bodyPr wrap="square" lIns="0" tIns="0" rIns="0" bIns="0" rtlCol="0" anchor="t"/>
          <a:lstStyle/>
          <a:p>
            <a:pPr rtl="1" algn="r" indent="0" marL="0">
              <a:buNone/>
            </a:pPr>
            <a:r>
              <a:rPr lang="ar-AE" altLang="en-US" sz="1100" b="1" dirty="0">
                <a:solidFill>
                  <a:schemeClr val="accent2"/>
                </a:solidFill>
                <a:latin typeface="Arial" pitchFamily="34" charset="0"/>
                <a:ea typeface="Arial" pitchFamily="34" charset="-122"/>
                <a:cs typeface="Arial" pitchFamily="34" charset="-120"/>
              </a:rPr>
              <a:t>لماذا نحن   ·   05</a:t>
            </a:r>
            <a:endParaRPr lang="ar-AE" sz="1100" dirty="0"/>
          </a:p>
        </p:txBody>
      </p:sp>
      <p:sp>
        <p:nvSpPr>
          <p:cNvPr id="4" name="Text 0"/>
          <p:cNvSpPr/>
          <p:nvPr>
            <p:ph idx="100" type="title" hasCustomPrompt="1"/>
          </p:nvPr>
        </p:nvSpPr>
        <p:spPr>
          <a:xfrm>
            <a:off x="640080" y="713232"/>
            <a:ext cx="5486400" cy="685800"/>
          </a:xfrm>
          <a:prstGeom prst="rect">
            <a:avLst/>
          </a:prstGeom>
          <a:noFill/>
          <a:ln/>
        </p:spPr>
        <p:txBody>
          <a:bodyPr wrap="square" lIns="0" tIns="0" rIns="0" bIns="0" rtlCol="0" anchor="t"/>
          <a:lstStyle/>
          <a:p>
            <a:pPr algn="l" indent="0" marL="0">
              <a:buNone/>
            </a:pPr>
            <a:r>
              <a:rPr lang="en-US" sz="3000" dirty="0">
                <a:solidFill>
                  <a:schemeClr val="bg1"/>
                </a:solidFill>
                <a:latin typeface="Arial" pitchFamily="34" charset="0"/>
                <a:ea typeface="Arial" pitchFamily="34" charset="-122"/>
                <a:cs typeface="Arial" pitchFamily="34" charset="-120"/>
              </a:rPr>
              <a:t>Online Shopping &amp; Delivery</a:t>
            </a:r>
            <a:endParaRPr lang="en-US" sz="3000" dirty="0"/>
          </a:p>
        </p:txBody>
      </p:sp>
      <p:sp>
        <p:nvSpPr>
          <p:cNvPr id="5" name="Text 0"/>
          <p:cNvSpPr/>
          <p:nvPr>
            <p:ph idx="101" type="body" hasCustomPrompt="1"/>
          </p:nvPr>
        </p:nvSpPr>
        <p:spPr>
          <a:xfrm>
            <a:off x="6065215" y="713232"/>
            <a:ext cx="5486400" cy="685800"/>
          </a:xfrm>
          <a:prstGeom prst="rect">
            <a:avLst/>
          </a:prstGeom>
          <a:noFill/>
          <a:ln/>
        </p:spPr>
        <p:txBody>
          <a:bodyPr wrap="square" lIns="0" tIns="0" rIns="0" bIns="0" rtlCol="0" anchor="t"/>
          <a:lstStyle/>
          <a:p>
            <a:pPr rtl="1" algn="r" indent="0" marL="0">
              <a:buNone/>
            </a:pPr>
            <a:r>
              <a:rPr lang="ar-AE" altLang="en-US" sz="3000" dirty="0">
                <a:solidFill>
                  <a:schemeClr val="bg1"/>
                </a:solidFill>
                <a:latin typeface="Arial" pitchFamily="34" charset="0"/>
                <a:ea typeface="Arial" pitchFamily="34" charset="-122"/>
                <a:cs typeface="Arial" pitchFamily="34" charset="-120"/>
              </a:rPr>
              <a:t>التسوق الإلكتروني والتوصيل</a:t>
            </a:r>
            <a:endParaRPr lang="ar-AE" sz="3000" dirty="0"/>
          </a:p>
        </p:txBody>
      </p:sp>
      <p:pic>
        <p:nvPicPr>
          <p:cNvPr id="6" name="Devices" descr="Online store on laptop and phone">    </p:cNvPr>
          <p:cNvPicPr>
            <a:picLocks noChangeAspect="1"/>
          </p:cNvPicPr>
          <p:nvPr/>
        </p:nvPicPr>
        <p:blipFill>
          <a:blip r:embed="rId2"/>
          <a:stretch>
            <a:fillRect/>
          </a:stretch>
        </p:blipFill>
        <p:spPr>
          <a:xfrm>
            <a:off x="5989320" y="1508760"/>
            <a:ext cx="5577840" cy="3532632"/>
          </a:xfrm>
          <a:prstGeom prst="rect">
            <a:avLst/>
          </a:prstGeom>
        </p:spPr>
      </p:pic>
      <p:sp>
        <p:nvSpPr>
          <p:cNvPr id="7" name="Text 4"/>
          <p:cNvSpPr txBox="1"/>
          <p:nvPr/>
        </p:nvSpPr>
        <p:spPr>
          <a:xfrm>
            <a:off x="640080" y="1691640"/>
            <a:ext cx="5029200" cy="594360"/>
          </a:xfrm>
          <a:prstGeom prst="rect">
            <a:avLst/>
          </a:prstGeom>
          <a:noFill/>
          <a:ln/>
        </p:spPr>
        <p:txBody>
          <a:bodyPr wrap="square" lIns="0" tIns="0" rIns="0" bIns="0" rtlCol="0" anchor="t"/>
          <a:lstStyle/>
          <a:p>
            <a:pPr algn="l" indent="0" marL="0">
              <a:buNone/>
            </a:pPr>
            <a:r>
              <a:rPr lang="en-US" sz="3600" dirty="0">
                <a:solidFill>
                  <a:schemeClr val="bg1"/>
                </a:solidFill>
                <a:latin typeface="Arial" pitchFamily="34" charset="0"/>
                <a:ea typeface="Arial" pitchFamily="34" charset="-122"/>
                <a:cs typeface="Arial" pitchFamily="34" charset="-120"/>
              </a:rPr>
              <a:t>Order Today.</a:t>
            </a:r>
            <a:endParaRPr lang="en-US" sz="3600" dirty="0"/>
          </a:p>
        </p:txBody>
      </p:sp>
      <p:sp>
        <p:nvSpPr>
          <p:cNvPr id="8" name="Text 5"/>
          <p:cNvSpPr txBox="1"/>
          <p:nvPr/>
        </p:nvSpPr>
        <p:spPr>
          <a:xfrm>
            <a:off x="640080" y="2286000"/>
            <a:ext cx="5029200" cy="594360"/>
          </a:xfrm>
          <a:prstGeom prst="rect">
            <a:avLst/>
          </a:prstGeom>
          <a:noFill/>
          <a:ln/>
        </p:spPr>
        <p:txBody>
          <a:bodyPr wrap="square" lIns="0" tIns="0" rIns="0" bIns="0" rtlCol="0" anchor="t"/>
          <a:lstStyle/>
          <a:p>
            <a:pPr algn="l" indent="0" marL="0">
              <a:buNone/>
            </a:pPr>
            <a:r>
              <a:rPr lang="en-US" sz="3600" dirty="0">
                <a:solidFill>
                  <a:schemeClr val="accent2"/>
                </a:solidFill>
                <a:latin typeface="Arial" pitchFamily="34" charset="0"/>
                <a:ea typeface="Arial" pitchFamily="34" charset="-122"/>
                <a:cs typeface="Arial" pitchFamily="34" charset="-120"/>
              </a:rPr>
              <a:t>Receive Tomorrow.</a:t>
            </a:r>
            <a:endParaRPr lang="en-US" sz="3600" dirty="0"/>
          </a:p>
        </p:txBody>
      </p:sp>
      <p:sp>
        <p:nvSpPr>
          <p:cNvPr id="9" name="Text 6"/>
          <p:cNvSpPr txBox="1"/>
          <p:nvPr/>
        </p:nvSpPr>
        <p:spPr>
          <a:xfrm>
            <a:off x="640080" y="3017520"/>
            <a:ext cx="5029200" cy="457200"/>
          </a:xfrm>
          <a:prstGeom prst="rect">
            <a:avLst/>
          </a:prstGeom>
          <a:noFill/>
          <a:ln/>
        </p:spPr>
        <p:txBody>
          <a:bodyPr wrap="square" lIns="0" tIns="0" rIns="0" bIns="0" rtlCol="0" anchor="t"/>
          <a:lstStyle/>
          <a:p>
            <a:pPr rtl="1" algn="r" indent="0" marL="0">
              <a:buNone/>
            </a:pPr>
            <a:r>
              <a:rPr lang="ar-AE" altLang="en-US" sz="2400" b="1" dirty="0">
                <a:solidFill>
                  <a:schemeClr val="bg1"/>
                </a:solidFill>
                <a:latin typeface="Arial" pitchFamily="34" charset="0"/>
                <a:ea typeface="Arial" pitchFamily="34" charset="-122"/>
                <a:cs typeface="Arial" pitchFamily="34" charset="-120"/>
              </a:rPr>
              <a:t>اطلب اليوم، واستلم غداً.</a:t>
            </a:r>
            <a:endParaRPr lang="ar-AE" sz="2400" dirty="0"/>
          </a:p>
        </p:txBody>
      </p:sp>
      <p:sp>
        <p:nvSpPr>
          <p:cNvPr id="10" name="Text 7"/>
          <p:cNvSpPr txBox="1"/>
          <p:nvPr/>
        </p:nvSpPr>
        <p:spPr>
          <a:xfrm>
            <a:off x="640080" y="3703320"/>
            <a:ext cx="5029200" cy="1371600"/>
          </a:xfrm>
          <a:prstGeom prst="rect">
            <a:avLst/>
          </a:prstGeom>
          <a:noFill/>
          <a:ln/>
        </p:spPr>
        <p:txBody>
          <a:bodyPr wrap="square" lIns="0" tIns="0" rIns="0" bIns="0" rtlCol="0" anchor="t"/>
          <a:lstStyle/>
          <a:p>
            <a:pPr algn="l" indent="0" marL="0">
              <a:buNone/>
            </a:pPr>
            <a:r>
              <a:rPr lang="en-US" sz="1200" dirty="0">
                <a:solidFill>
                  <a:schemeClr val="accent5"/>
                </a:solidFill>
                <a:latin typeface="Arial" pitchFamily="34" charset="0"/>
                <a:ea typeface="Arial" pitchFamily="34" charset="-122"/>
                <a:cs typeface="Arial" pitchFamily="34" charset="-120"/>
              </a:rPr>
              <a:t>Browse and order with ease, with delivery options across the UAE and Oman. Next-day delivery is available for eligible orders, depending on location, order cut-off times and product availability; deliveries are handled by third-party logistics providers.</a:t>
            </a:r>
            <a:endParaRPr lang="en-US" sz="1200" dirty="0"/>
          </a:p>
        </p:txBody>
      </p:sp>
      <p:sp>
        <p:nvSpPr>
          <p:cNvPr id="11" name="Text 8"/>
          <p:cNvSpPr txBox="1"/>
          <p:nvPr/>
        </p:nvSpPr>
        <p:spPr>
          <a:xfrm>
            <a:off x="640080" y="4892040"/>
            <a:ext cx="5029200" cy="1188720"/>
          </a:xfrm>
          <a:prstGeom prst="rect">
            <a:avLst/>
          </a:prstGeom>
          <a:noFill/>
          <a:ln/>
        </p:spPr>
        <p:txBody>
          <a:bodyPr wrap="square" lIns="0" tIns="0" rIns="0" bIns="0" rtlCol="0" anchor="t"/>
          <a:lstStyle/>
          <a:p>
            <a:pPr rtl="1" algn="r" indent="0" marL="0">
              <a:buNone/>
            </a:pPr>
            <a:r>
              <a:rPr lang="ar-AE" altLang="en-US" sz="1200" dirty="0">
                <a:solidFill>
                  <a:schemeClr val="accent5"/>
                </a:solidFill>
                <a:latin typeface="Arial" pitchFamily="34" charset="0"/>
                <a:ea typeface="Arial" pitchFamily="34" charset="-122"/>
                <a:cs typeface="Arial" pitchFamily="34" charset="-120"/>
              </a:rPr>
              <a:t>تسوق إلكتروني سهل مع خيارات توصيل داخل الإمارات وسلطنة عُمان. يتوفر التوصيل في اليوم التالي للطلبات المؤهلة حسب المنطقة ووقت الطلب وتوفر المنتج، وتُنفذ عمليات التوصيل عبر شركات شحن خارجية.</a:t>
            </a:r>
            <a:endParaRPr lang="ar-AE" sz="1200" dirty="0"/>
          </a:p>
        </p:txBody>
      </p:sp>
      <p:pic>
        <p:nvPicPr>
          <p:cNvPr id="12" name="Website icon" descr="website icon">    </p:cNvPr>
          <p:cNvPicPr>
            <a:picLocks noChangeAspect="1"/>
          </p:cNvPicPr>
          <p:nvPr/>
        </p:nvPicPr>
        <p:blipFill>
          <a:blip r:embed="rId3"/>
          <a:stretch>
            <a:fillRect/>
          </a:stretch>
        </p:blipFill>
        <p:spPr>
          <a:xfrm>
            <a:off x="6400800" y="5577840"/>
            <a:ext cx="365760" cy="365760"/>
          </a:xfrm>
          <a:prstGeom prst="rect">
            <a:avLst/>
          </a:prstGeom>
        </p:spPr>
      </p:pic>
      <p:sp>
        <p:nvSpPr>
          <p:cNvPr id="13" name="Text 9"/>
          <p:cNvSpPr txBox="1"/>
          <p:nvPr/>
        </p:nvSpPr>
        <p:spPr>
          <a:xfrm>
            <a:off x="6903720" y="5614416"/>
            <a:ext cx="2926080" cy="320040"/>
          </a:xfrm>
          <a:prstGeom prst="rect">
            <a:avLst/>
          </a:prstGeom>
          <a:noFill/>
          <a:ln/>
        </p:spPr>
        <p:txBody>
          <a:bodyPr wrap="square" lIns="0" tIns="0" rIns="0" bIns="0" rtlCol="0" anchor="t"/>
          <a:lstStyle/>
          <a:p>
            <a:pPr algn="l" indent="0" marL="0">
              <a:buNone/>
            </a:pPr>
            <a:r>
              <a:rPr lang="en-US" sz="1600" b="1" dirty="0">
                <a:solidFill>
                  <a:schemeClr val="bg1"/>
                </a:solidFill>
                <a:latin typeface="Arial" pitchFamily="34" charset="0"/>
                <a:ea typeface="Arial" pitchFamily="34" charset="-122"/>
                <a:cs typeface="Arial" pitchFamily="34" charset="-120"/>
              </a:rPr>
              <a:t>evcarsuae.com</a:t>
            </a:r>
            <a:endParaRPr lang="en-US" sz="1600" dirty="0"/>
          </a:p>
        </p:txBody>
      </p:sp>
      <p:pic>
        <p:nvPicPr>
          <p:cNvPr id="14" name="Delivery icon" descr="delivery icon">    </p:cNvPr>
          <p:cNvPicPr>
            <a:picLocks noChangeAspect="1"/>
          </p:cNvPicPr>
          <p:nvPr/>
        </p:nvPicPr>
        <p:blipFill>
          <a:blip r:embed="rId4"/>
          <a:stretch>
            <a:fillRect/>
          </a:stretch>
        </p:blipFill>
        <p:spPr>
          <a:xfrm>
            <a:off x="9326880" y="5577840"/>
            <a:ext cx="365760" cy="365760"/>
          </a:xfrm>
          <a:prstGeom prst="rect">
            <a:avLst/>
          </a:prstGeom>
        </p:spPr>
      </p:pic>
      <p:sp>
        <p:nvSpPr>
          <p:cNvPr id="15" name="Text 10"/>
          <p:cNvSpPr txBox="1"/>
          <p:nvPr/>
        </p:nvSpPr>
        <p:spPr>
          <a:xfrm>
            <a:off x="9829800" y="5614416"/>
            <a:ext cx="1828800" cy="320040"/>
          </a:xfrm>
          <a:prstGeom prst="rect">
            <a:avLst/>
          </a:prstGeom>
          <a:noFill/>
          <a:ln/>
        </p:spPr>
        <p:txBody>
          <a:bodyPr wrap="square" lIns="0" tIns="0" rIns="0" bIns="0" rtlCol="0" anchor="t"/>
          <a:lstStyle/>
          <a:p>
            <a:pPr algn="l" indent="0" marL="0">
              <a:buNone/>
            </a:pPr>
            <a:r>
              <a:rPr lang="en-US" sz="1400" dirty="0">
                <a:solidFill>
                  <a:schemeClr val="bg1"/>
                </a:solidFill>
                <a:latin typeface="Arial" pitchFamily="34" charset="0"/>
                <a:ea typeface="Arial" pitchFamily="34" charset="-122"/>
                <a:cs typeface="Arial" pitchFamily="34" charset="-120"/>
              </a:rPr>
              <a:t>UAE  ·  Oman</a:t>
            </a:r>
            <a:endParaRPr lang="en-US" sz="1400" dirty="0"/>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DDE2E7"/>
                </a:solidFill>
                <a:latin typeface="Arial"/>
                <a:ea typeface="Arial"/>
                <a:cs typeface="Arial"/>
              </a:defRPr>
            </a:lvl1pPr>
          </a:lstStyle>
          <a:p>
            <a:pPr algn="r"/>
            <a:fld id="{F7021451-1387-4CA6-816F-3879F97B5CBC}" type="slidenum">
              <a:rPr b="0" lang="en-US"/>
              <a:t>17</a:t>
            </a:fld>
            <a:endParaRPr lang="en-US"/>
          </a:p>
        </p:txBody>
      </p:sp>
      <p:sp>
        <p:nvSpPr>
          <p:cNvPr id="26" name="Store link" descr="Open evcarsuae.com">
            <a:hlinkClick r:id="rId7" tooltip="Open evcarsuae.com"/>
          </p:cNvPr>
          <p:cNvSpPr/>
          <p:nvPr/>
        </p:nvSpPr>
        <p:spPr>
          <a:xfrm>
            <a:off x="6400800" y="5520000"/>
            <a:ext cx="3000000" cy="480000"/>
          </a:xfrm>
          <a:prstGeom prst="rect">
            <a:avLst/>
          </a:prstGeom>
          <a:noFill/>
          <a:ln>
            <a:noFill/>
          </a:ln>
        </p:spPr>
        <p:txBody>
          <a:bodyPr/>
          <a:lstStyle/>
          <a:p>
            <a:endParaRPr lang="en-US"/>
          </a:p>
        </p:txBody>
      </p:sp>
      <p:sp>
        <p:nvSpPr>
          <p:cNvPr id="27" name="Back to contents" descr="Back to contents">
            <a:hlinkClick r:id="rId8" action="ppaction://hlinksldjump" tooltip="Back to Contents / العودة إلى المحتويات"/>
          </p:cNvPr>
          <p:cNvSpPr/>
          <p:nvPr/>
        </p:nvSpPr>
        <p:spPr>
          <a:xfrm>
            <a:off x="8838000" y="6283000"/>
            <a:ext cx="1850000" cy="300000"/>
          </a:xfrm>
          <a:prstGeom prst="roundRect">
            <a:avLst>
              <a:gd name="adj" fmla="val 50000"/>
            </a:avLst>
          </a:prstGeom>
          <a:noFill/>
          <a:ln w="9525">
            <a:solidFill>
              <a:schemeClr val="accent1"/>
            </a:solidFill>
          </a:ln>
        </p:spPr>
        <p:txBody>
          <a:bodyPr wrap="none" lIns="0" tIns="0" rIns="0" bIns="0" rtlCol="0" anchor="ctr"/>
          <a:lstStyle/>
          <a:p>
            <a:pPr algn="ctr"/>
            <a:r>
              <a:rPr lang="en-US" sz="900" b="1" spc="120" dirty="0">
                <a:solidFill>
                  <a:schemeClr val="accent1"/>
                </a:solidFill>
                <a:latin typeface="Arial"/>
                <a:cs typeface="Arial"/>
              </a:rPr>
              <a:t>CONTENTS  ·  </a:t>
            </a:r>
            <a:r>
              <a:rPr lang="ar-AE" sz="900" b="1" dirty="0">
                <a:solidFill>
                  <a:schemeClr val="accent1"/>
                </a:solidFill>
                <a:latin typeface="Arial"/>
                <a:cs typeface="Arial"/>
              </a:rPr>
              <a:t>المحتويات</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411480"/>
            <a:ext cx="5486400" cy="228600"/>
          </a:xfrm>
          <a:prstGeom prst="rect">
            <a:avLst/>
          </a:prstGeom>
          <a:noFill/>
          <a:ln/>
        </p:spPr>
        <p:txBody>
          <a:bodyPr wrap="square" lIns="0" tIns="0" rIns="0" bIns="0" rtlCol="0" anchor="t"/>
          <a:lstStyle/>
          <a:p>
            <a:pPr algn="l" indent="0" marL="0">
              <a:buNone/>
            </a:pPr>
            <a:r>
              <a:rPr lang="en-US" sz="1000" b="1" spc="300" kern="0" dirty="0">
                <a:solidFill>
                  <a:schemeClr val="accent1"/>
                </a:solidFill>
                <a:latin typeface="Arial" pitchFamily="34" charset="0"/>
                <a:ea typeface="Arial" pitchFamily="34" charset="-122"/>
                <a:cs typeface="Arial" pitchFamily="34" charset="-120"/>
              </a:rPr>
              <a:t>05   ·   WHY EVCARS</a:t>
            </a:r>
            <a:endParaRPr lang="en-US" sz="1000" dirty="0"/>
          </a:p>
        </p:txBody>
      </p:sp>
      <p:sp>
        <p:nvSpPr>
          <p:cNvPr id="3" name="Text 1"/>
          <p:cNvSpPr txBox="1"/>
          <p:nvPr/>
        </p:nvSpPr>
        <p:spPr>
          <a:xfrm>
            <a:off x="6065215" y="411480"/>
            <a:ext cx="5486400" cy="228600"/>
          </a:xfrm>
          <a:prstGeom prst="rect">
            <a:avLst/>
          </a:prstGeom>
          <a:noFill/>
          <a:ln/>
        </p:spPr>
        <p:txBody>
          <a:bodyPr wrap="square" lIns="0" tIns="0" rIns="0" bIns="0" rtlCol="0" anchor="t"/>
          <a:lstStyle/>
          <a:p>
            <a:pPr rtl="1" algn="r" indent="0" marL="0">
              <a:buNone/>
            </a:pPr>
            <a:r>
              <a:rPr lang="ar-AE" altLang="en-US" sz="1100" b="1" dirty="0">
                <a:solidFill>
                  <a:schemeClr val="accent1"/>
                </a:solidFill>
                <a:latin typeface="Arial" pitchFamily="34" charset="0"/>
                <a:ea typeface="Arial" pitchFamily="34" charset="-122"/>
                <a:cs typeface="Arial" pitchFamily="34" charset="-120"/>
              </a:rPr>
              <a:t>لماذا نحن   ·   05</a:t>
            </a:r>
            <a:endParaRPr lang="ar-AE" sz="1100" dirty="0"/>
          </a:p>
        </p:txBody>
      </p:sp>
      <p:sp>
        <p:nvSpPr>
          <p:cNvPr id="4" name="Text 0"/>
          <p:cNvSpPr/>
          <p:nvPr>
            <p:ph idx="100" type="title" hasCustomPrompt="1"/>
          </p:nvPr>
        </p:nvSpPr>
        <p:spPr>
          <a:xfrm>
            <a:off x="640080" y="713232"/>
            <a:ext cx="5486400" cy="685800"/>
          </a:xfrm>
          <a:prstGeom prst="rect">
            <a:avLst/>
          </a:prstGeom>
          <a:noFill/>
          <a:ln/>
        </p:spPr>
        <p:txBody>
          <a:bodyPr wrap="square" lIns="0" tIns="0" rIns="0" bIns="0" rtlCol="0" anchor="t"/>
          <a:lstStyle/>
          <a:p>
            <a:pPr algn="l" indent="0" marL="0">
              <a:buNone/>
            </a:pPr>
            <a:r>
              <a:rPr lang="en-US" sz="3000" dirty="0">
                <a:solidFill>
                  <a:schemeClr val="tx1"/>
                </a:solidFill>
                <a:latin typeface="Arial" pitchFamily="34" charset="0"/>
                <a:ea typeface="Arial" pitchFamily="34" charset="-122"/>
                <a:cs typeface="Arial" pitchFamily="34" charset="-120"/>
              </a:rPr>
              <a:t>Exhibitions &amp; Events</a:t>
            </a:r>
            <a:endParaRPr lang="en-US" sz="3000" dirty="0"/>
          </a:p>
        </p:txBody>
      </p:sp>
      <p:sp>
        <p:nvSpPr>
          <p:cNvPr id="5" name="Text 0"/>
          <p:cNvSpPr/>
          <p:nvPr>
            <p:ph idx="101" type="body" hasCustomPrompt="1"/>
          </p:nvPr>
        </p:nvSpPr>
        <p:spPr>
          <a:xfrm>
            <a:off x="6065215" y="713232"/>
            <a:ext cx="5486400" cy="685800"/>
          </a:xfrm>
          <a:prstGeom prst="rect">
            <a:avLst/>
          </a:prstGeom>
          <a:noFill/>
          <a:ln/>
        </p:spPr>
        <p:txBody>
          <a:bodyPr wrap="square" lIns="0" tIns="0" rIns="0" bIns="0" rtlCol="0" anchor="t"/>
          <a:lstStyle/>
          <a:p>
            <a:pPr rtl="1" algn="r" indent="0" marL="0">
              <a:buNone/>
            </a:pPr>
            <a:r>
              <a:rPr lang="ar-AE" altLang="en-US" sz="3000" dirty="0">
                <a:solidFill>
                  <a:schemeClr val="tx1"/>
                </a:solidFill>
                <a:latin typeface="Arial" pitchFamily="34" charset="0"/>
                <a:ea typeface="Arial" pitchFamily="34" charset="-122"/>
                <a:cs typeface="Arial" pitchFamily="34" charset="-120"/>
              </a:rPr>
              <a:t>المعارض والفعاليات</a:t>
            </a:r>
            <a:endParaRPr lang="ar-AE" sz="3000" dirty="0"/>
          </a:p>
        </p:txBody>
      </p:sp>
      <p:sp>
        <p:nvSpPr>
          <p:cNvPr id="6" name="Exhibition panel"/>
          <p:cNvSpPr/>
          <p:nvPr/>
        </p:nvSpPr>
        <p:spPr>
          <a:xfrm>
            <a:off x="640080" y="1691640"/>
            <a:ext cx="4206240" cy="4389120"/>
          </a:xfrm>
          <a:prstGeom prst="roundRect">
            <a:avLst>
              <a:gd name="adj" fmla="val 2174"/>
            </a:avLst>
          </a:prstGeom>
          <a:solidFill>
            <a:schemeClr val="tx1"/>
          </a:solidFill>
          <a:ln/>
        </p:spPr>
      </p:sp>
      <p:pic>
        <p:nvPicPr>
          <p:cNvPr id="7" name="Exhibition icon" descr="icon">    </p:cNvPr>
          <p:cNvPicPr>
            <a:picLocks noChangeAspect="1"/>
          </p:cNvPicPr>
          <p:nvPr/>
        </p:nvPicPr>
        <p:blipFill>
          <a:blip r:embed="rId1"/>
          <a:stretch>
            <a:fillRect/>
          </a:stretch>
        </p:blipFill>
        <p:spPr>
          <a:xfrm>
            <a:off x="3657600" y="2011680"/>
            <a:ext cx="640080" cy="640080"/>
          </a:xfrm>
          <a:prstGeom prst="rect">
            <a:avLst/>
          </a:prstGeom>
        </p:spPr>
      </p:pic>
      <p:sp>
        <p:nvSpPr>
          <p:cNvPr id="8" name="Text 5"/>
          <p:cNvSpPr txBox="1"/>
          <p:nvPr/>
        </p:nvSpPr>
        <p:spPr>
          <a:xfrm>
            <a:off x="1005840" y="1920240"/>
            <a:ext cx="1828800" cy="868680"/>
          </a:xfrm>
          <a:prstGeom prst="rect">
            <a:avLst/>
          </a:prstGeom>
          <a:noFill/>
          <a:ln/>
        </p:spPr>
        <p:txBody>
          <a:bodyPr wrap="square" lIns="0" tIns="0" rIns="0" bIns="0" rtlCol="0" anchor="t"/>
          <a:lstStyle/>
          <a:p>
            <a:pPr algn="l" indent="0" marL="0">
              <a:buNone/>
            </a:pPr>
            <a:r>
              <a:rPr lang="en-US" sz="5600" dirty="0">
                <a:solidFill>
                  <a:schemeClr val="accent2"/>
                </a:solidFill>
                <a:latin typeface="Arial" pitchFamily="34" charset="0"/>
                <a:ea typeface="Arial" pitchFamily="34" charset="-122"/>
                <a:cs typeface="Arial" pitchFamily="34" charset="-120"/>
              </a:rPr>
              <a:t>6</a:t>
            </a:r>
            <a:endParaRPr lang="en-US" sz="5600" dirty="0"/>
          </a:p>
        </p:txBody>
      </p:sp>
      <p:sp>
        <p:nvSpPr>
          <p:cNvPr id="9" name="Text 6"/>
          <p:cNvSpPr txBox="1"/>
          <p:nvPr/>
        </p:nvSpPr>
        <p:spPr>
          <a:xfrm>
            <a:off x="1005840" y="2834640"/>
            <a:ext cx="3291840" cy="274320"/>
          </a:xfrm>
          <a:prstGeom prst="rect">
            <a:avLst/>
          </a:prstGeom>
          <a:noFill/>
          <a:ln/>
        </p:spPr>
        <p:txBody>
          <a:bodyPr wrap="square" lIns="0" tIns="0" rIns="0" bIns="0" rtlCol="0" anchor="t"/>
          <a:lstStyle/>
          <a:p>
            <a:pPr algn="l" indent="0" marL="0">
              <a:buNone/>
            </a:pPr>
            <a:r>
              <a:rPr lang="en-US" sz="1300" b="1" dirty="0">
                <a:solidFill>
                  <a:schemeClr val="bg1"/>
                </a:solidFill>
                <a:latin typeface="Arial" pitchFamily="34" charset="0"/>
                <a:ea typeface="Arial" pitchFamily="34" charset="-122"/>
                <a:cs typeface="Arial" pitchFamily="34" charset="-120"/>
              </a:rPr>
              <a:t>Exhibitions, 2025 – 2026</a:t>
            </a:r>
            <a:endParaRPr lang="en-US" sz="1300" dirty="0"/>
          </a:p>
        </p:txBody>
      </p:sp>
      <p:sp>
        <p:nvSpPr>
          <p:cNvPr id="10" name="Text 7"/>
          <p:cNvSpPr txBox="1"/>
          <p:nvPr/>
        </p:nvSpPr>
        <p:spPr>
          <a:xfrm>
            <a:off x="1005840" y="3127248"/>
            <a:ext cx="3291840" cy="274320"/>
          </a:xfrm>
          <a:prstGeom prst="rect">
            <a:avLst/>
          </a:prstGeom>
          <a:noFill/>
          <a:ln/>
        </p:spPr>
        <p:txBody>
          <a:bodyPr wrap="square" lIns="0" tIns="0" rIns="0" bIns="0" rtlCol="0" anchor="t"/>
          <a:lstStyle/>
          <a:p>
            <a:pPr rtl="1" algn="r" indent="0" marL="0">
              <a:buNone/>
            </a:pPr>
            <a:r>
              <a:rPr lang="ar-AE" altLang="en-US" sz="1300" dirty="0">
                <a:solidFill>
                  <a:schemeClr val="accent5"/>
                </a:solidFill>
                <a:latin typeface="Arial" pitchFamily="34" charset="0"/>
                <a:ea typeface="Arial" pitchFamily="34" charset="-122"/>
                <a:cs typeface="Arial" pitchFamily="34" charset="-120"/>
              </a:rPr>
              <a:t>مشاركات في المعارض</a:t>
            </a:r>
            <a:endParaRPr lang="ar-AE" sz="1300" dirty="0"/>
          </a:p>
        </p:txBody>
      </p:sp>
      <p:sp>
        <p:nvSpPr>
          <p:cNvPr id="11" name="Text 8"/>
          <p:cNvSpPr txBox="1"/>
          <p:nvPr/>
        </p:nvSpPr>
        <p:spPr>
          <a:xfrm>
            <a:off x="1005840" y="3657600"/>
            <a:ext cx="3474720" cy="1097280"/>
          </a:xfrm>
          <a:prstGeom prst="rect">
            <a:avLst/>
          </a:prstGeom>
          <a:noFill/>
          <a:ln/>
        </p:spPr>
        <p:txBody>
          <a:bodyPr wrap="square" lIns="0" tIns="0" rIns="0" bIns="0" rtlCol="0" anchor="t"/>
          <a:lstStyle/>
          <a:p>
            <a:pPr algn="l" indent="0" marL="0">
              <a:buNone/>
            </a:pPr>
            <a:r>
              <a:rPr lang="en-US" sz="1200" dirty="0">
                <a:solidFill>
                  <a:schemeClr val="accent5"/>
                </a:solidFill>
                <a:latin typeface="Arial" pitchFamily="34" charset="0"/>
                <a:ea typeface="Arial" pitchFamily="34" charset="-122"/>
                <a:cs typeface="Arial" pitchFamily="34" charset="-120"/>
              </a:rPr>
              <a:t>Showcasing our accessories, charging solutions and specialized services, and engaging directly with customers and industry audiences.</a:t>
            </a:r>
            <a:endParaRPr lang="en-US" sz="1200" dirty="0"/>
          </a:p>
        </p:txBody>
      </p:sp>
      <p:sp>
        <p:nvSpPr>
          <p:cNvPr id="12" name="Text 9"/>
          <p:cNvSpPr txBox="1"/>
          <p:nvPr/>
        </p:nvSpPr>
        <p:spPr>
          <a:xfrm>
            <a:off x="1005840" y="4846320"/>
            <a:ext cx="3474720" cy="1097280"/>
          </a:xfrm>
          <a:prstGeom prst="rect">
            <a:avLst/>
          </a:prstGeom>
          <a:noFill/>
          <a:ln/>
        </p:spPr>
        <p:txBody>
          <a:bodyPr wrap="square" lIns="0" tIns="0" rIns="0" bIns="0" rtlCol="0" anchor="t"/>
          <a:lstStyle/>
          <a:p>
            <a:pPr rtl="1" algn="r" indent="0" marL="0">
              <a:buNone/>
            </a:pPr>
            <a:r>
              <a:rPr lang="ar-AE" altLang="en-US" sz="1200" dirty="0">
                <a:solidFill>
                  <a:schemeClr val="accent5"/>
                </a:solidFill>
                <a:latin typeface="Arial" pitchFamily="34" charset="0"/>
                <a:ea typeface="Arial" pitchFamily="34" charset="-122"/>
                <a:cs typeface="Arial" pitchFamily="34" charset="-120"/>
              </a:rPr>
              <a:t>استعراض المنتجات وحلول الشحن والخدمات المتخصصة، والتواصل المباشر مع العملاء والمهتمين بالقطاع.</a:t>
            </a:r>
            <a:endParaRPr lang="ar-AE" sz="1200" dirty="0"/>
          </a:p>
        </p:txBody>
      </p:sp>
      <p:sp>
        <p:nvSpPr>
          <p:cNvPr id="13" name="Exhibition row 1"/>
          <p:cNvSpPr/>
          <p:nvPr/>
        </p:nvSpPr>
        <p:spPr>
          <a:xfrm>
            <a:off x="5212080" y="1691640"/>
            <a:ext cx="6339535" cy="640080"/>
          </a:xfrm>
          <a:prstGeom prst="roundRect">
            <a:avLst>
              <a:gd name="adj" fmla="val 11429"/>
            </a:avLst>
          </a:prstGeom>
          <a:solidFill>
            <a:schemeClr val="bg2"/>
          </a:solidFill>
          <a:ln/>
        </p:spPr>
      </p:sp>
      <p:sp>
        <p:nvSpPr>
          <p:cNvPr id="14" name="Text 11"/>
          <p:cNvSpPr txBox="1"/>
          <p:nvPr/>
        </p:nvSpPr>
        <p:spPr>
          <a:xfrm>
            <a:off x="5486400" y="1801368"/>
            <a:ext cx="914400" cy="411480"/>
          </a:xfrm>
          <a:prstGeom prst="rect">
            <a:avLst/>
          </a:prstGeom>
          <a:noFill/>
          <a:ln/>
        </p:spPr>
        <p:txBody>
          <a:bodyPr wrap="square" lIns="0" tIns="0" rIns="0" bIns="0" rtlCol="0" anchor="ctr"/>
          <a:lstStyle/>
          <a:p>
            <a:pPr algn="l" indent="0" marL="0">
              <a:buNone/>
            </a:pPr>
            <a:r>
              <a:rPr lang="en-US" sz="2000" dirty="0">
                <a:solidFill>
                  <a:schemeClr val="tx1"/>
                </a:solidFill>
                <a:latin typeface="Arial" pitchFamily="34" charset="0"/>
                <a:ea typeface="Arial" pitchFamily="34" charset="-122"/>
                <a:cs typeface="Arial" pitchFamily="34" charset="-120"/>
              </a:rPr>
              <a:t>2025</a:t>
            </a:r>
            <a:endParaRPr lang="en-US" sz="2000" dirty="0"/>
          </a:p>
        </p:txBody>
      </p:sp>
      <p:sp>
        <p:nvSpPr>
          <p:cNvPr id="15" name="Text 12"/>
          <p:cNvSpPr txBox="1"/>
          <p:nvPr/>
        </p:nvSpPr>
        <p:spPr>
          <a:xfrm>
            <a:off x="6492240" y="1783080"/>
            <a:ext cx="4785055" cy="457200"/>
          </a:xfrm>
          <a:prstGeom prst="rect">
            <a:avLst/>
          </a:prstGeom>
          <a:noFill/>
          <a:ln/>
        </p:spPr>
        <p:txBody>
          <a:bodyPr wrap="square" lIns="0" tIns="0" rIns="0" bIns="0" rtlCol="0" anchor="ctr"/>
          <a:lstStyle/>
          <a:p>
            <a:pPr algn="l" indent="0" marL="0">
              <a:buNone/>
            </a:pPr>
            <a:r>
              <a:rPr lang="en-US" sz="1250" dirty="0">
                <a:solidFill>
                  <a:schemeClr val="accent4"/>
                </a:solidFill>
                <a:latin typeface="Arial" pitchFamily="34" charset="0"/>
                <a:ea typeface="Arial" pitchFamily="34" charset="-122"/>
                <a:cs typeface="Arial" pitchFamily="34" charset="-120"/>
              </a:rPr>
              <a:t>Custom Show Emirates</a:t>
            </a:r>
            <a:endParaRPr lang="en-US" sz="1250" dirty="0"/>
          </a:p>
        </p:txBody>
      </p:sp>
      <p:sp>
        <p:nvSpPr>
          <p:cNvPr id="16" name="Exhibition row 2"/>
          <p:cNvSpPr/>
          <p:nvPr/>
        </p:nvSpPr>
        <p:spPr>
          <a:xfrm>
            <a:off x="5212080" y="2423160"/>
            <a:ext cx="6339535" cy="640080"/>
          </a:xfrm>
          <a:prstGeom prst="roundRect">
            <a:avLst>
              <a:gd name="adj" fmla="val 11429"/>
            </a:avLst>
          </a:prstGeom>
          <a:solidFill>
            <a:schemeClr val="bg2"/>
          </a:solidFill>
          <a:ln/>
        </p:spPr>
      </p:sp>
      <p:sp>
        <p:nvSpPr>
          <p:cNvPr id="17" name="Text 14"/>
          <p:cNvSpPr txBox="1"/>
          <p:nvPr/>
        </p:nvSpPr>
        <p:spPr>
          <a:xfrm>
            <a:off x="5486400" y="2532888"/>
            <a:ext cx="914400" cy="411480"/>
          </a:xfrm>
          <a:prstGeom prst="rect">
            <a:avLst/>
          </a:prstGeom>
          <a:noFill/>
          <a:ln/>
        </p:spPr>
        <p:txBody>
          <a:bodyPr wrap="square" lIns="0" tIns="0" rIns="0" bIns="0" rtlCol="0" anchor="ctr"/>
          <a:lstStyle/>
          <a:p>
            <a:pPr algn="l" indent="0" marL="0">
              <a:buNone/>
            </a:pPr>
            <a:r>
              <a:rPr lang="en-US" sz="2000" dirty="0">
                <a:solidFill>
                  <a:schemeClr val="tx1"/>
                </a:solidFill>
                <a:latin typeface="Arial" pitchFamily="34" charset="0"/>
                <a:ea typeface="Arial" pitchFamily="34" charset="-122"/>
                <a:cs typeface="Arial" pitchFamily="34" charset="-120"/>
              </a:rPr>
              <a:t>2025</a:t>
            </a:r>
            <a:endParaRPr lang="en-US" sz="2000" dirty="0"/>
          </a:p>
        </p:txBody>
      </p:sp>
      <p:sp>
        <p:nvSpPr>
          <p:cNvPr id="18" name="Text 15"/>
          <p:cNvSpPr txBox="1"/>
          <p:nvPr/>
        </p:nvSpPr>
        <p:spPr>
          <a:xfrm>
            <a:off x="6492240" y="2514600"/>
            <a:ext cx="4785055" cy="457200"/>
          </a:xfrm>
          <a:prstGeom prst="rect">
            <a:avLst/>
          </a:prstGeom>
          <a:noFill/>
          <a:ln/>
        </p:spPr>
        <p:txBody>
          <a:bodyPr wrap="square" lIns="0" tIns="0" rIns="0" bIns="0" rtlCol="0" anchor="ctr"/>
          <a:lstStyle/>
          <a:p>
            <a:pPr algn="l" indent="0" marL="0">
              <a:buNone/>
            </a:pPr>
            <a:r>
              <a:rPr lang="en-US" sz="1250" dirty="0">
                <a:solidFill>
                  <a:schemeClr val="accent4"/>
                </a:solidFill>
                <a:latin typeface="Arial" pitchFamily="34" charset="0"/>
                <a:ea typeface="Arial" pitchFamily="34" charset="-122"/>
                <a:cs typeface="Arial" pitchFamily="34" charset="-120"/>
              </a:rPr>
              <a:t>Evolve, Sharjah</a:t>
            </a:r>
            <a:endParaRPr lang="en-US" sz="1250" dirty="0"/>
          </a:p>
        </p:txBody>
      </p:sp>
      <p:sp>
        <p:nvSpPr>
          <p:cNvPr id="19" name="Exhibition row 3"/>
          <p:cNvSpPr/>
          <p:nvPr/>
        </p:nvSpPr>
        <p:spPr>
          <a:xfrm>
            <a:off x="5212080" y="3154680"/>
            <a:ext cx="6339535" cy="640080"/>
          </a:xfrm>
          <a:prstGeom prst="roundRect">
            <a:avLst>
              <a:gd name="adj" fmla="val 11429"/>
            </a:avLst>
          </a:prstGeom>
          <a:solidFill>
            <a:schemeClr val="bg2"/>
          </a:solidFill>
          <a:ln/>
        </p:spPr>
      </p:sp>
      <p:sp>
        <p:nvSpPr>
          <p:cNvPr id="20" name="Text 17"/>
          <p:cNvSpPr txBox="1"/>
          <p:nvPr/>
        </p:nvSpPr>
        <p:spPr>
          <a:xfrm>
            <a:off x="5486400" y="3264408"/>
            <a:ext cx="914400" cy="411480"/>
          </a:xfrm>
          <a:prstGeom prst="rect">
            <a:avLst/>
          </a:prstGeom>
          <a:noFill/>
          <a:ln/>
        </p:spPr>
        <p:txBody>
          <a:bodyPr wrap="square" lIns="0" tIns="0" rIns="0" bIns="0" rtlCol="0" anchor="ctr"/>
          <a:lstStyle/>
          <a:p>
            <a:pPr algn="l" indent="0" marL="0">
              <a:buNone/>
            </a:pPr>
            <a:r>
              <a:rPr lang="en-US" sz="2000" dirty="0">
                <a:solidFill>
                  <a:schemeClr val="tx1"/>
                </a:solidFill>
                <a:latin typeface="Arial" pitchFamily="34" charset="0"/>
                <a:ea typeface="Arial" pitchFamily="34" charset="-122"/>
                <a:cs typeface="Arial" pitchFamily="34" charset="-120"/>
              </a:rPr>
              <a:t>2025</a:t>
            </a:r>
            <a:endParaRPr lang="en-US" sz="2000" dirty="0"/>
          </a:p>
        </p:txBody>
      </p:sp>
      <p:sp>
        <p:nvSpPr>
          <p:cNvPr id="21" name="Text 18"/>
          <p:cNvSpPr txBox="1"/>
          <p:nvPr/>
        </p:nvSpPr>
        <p:spPr>
          <a:xfrm>
            <a:off x="6492240" y="3246120"/>
            <a:ext cx="4785055" cy="457200"/>
          </a:xfrm>
          <a:prstGeom prst="rect">
            <a:avLst/>
          </a:prstGeom>
          <a:noFill/>
          <a:ln/>
        </p:spPr>
        <p:txBody>
          <a:bodyPr wrap="square" lIns="0" tIns="0" rIns="0" bIns="0" rtlCol="0" anchor="ctr"/>
          <a:lstStyle/>
          <a:p>
            <a:pPr algn="l" indent="0" marL="0">
              <a:buNone/>
            </a:pPr>
            <a:r>
              <a:rPr lang="en-US" sz="1250" dirty="0">
                <a:solidFill>
                  <a:schemeClr val="accent4"/>
                </a:solidFill>
                <a:latin typeface="Arial" pitchFamily="34" charset="0"/>
                <a:ea typeface="Arial" pitchFamily="34" charset="-122"/>
                <a:cs typeface="Arial" pitchFamily="34" charset="-120"/>
              </a:rPr>
              <a:t>Abu Dhabi International Hunting &amp; Equestrian Exhibition</a:t>
            </a:r>
            <a:endParaRPr lang="en-US" sz="1250" dirty="0"/>
          </a:p>
        </p:txBody>
      </p:sp>
      <p:sp>
        <p:nvSpPr>
          <p:cNvPr id="22" name="Exhibition row 4"/>
          <p:cNvSpPr/>
          <p:nvPr/>
        </p:nvSpPr>
        <p:spPr>
          <a:xfrm>
            <a:off x="5212080" y="3886200"/>
            <a:ext cx="6339535" cy="640080"/>
          </a:xfrm>
          <a:prstGeom prst="roundRect">
            <a:avLst>
              <a:gd name="adj" fmla="val 11429"/>
            </a:avLst>
          </a:prstGeom>
          <a:solidFill>
            <a:schemeClr val="bg2"/>
          </a:solidFill>
          <a:ln/>
        </p:spPr>
      </p:sp>
      <p:sp>
        <p:nvSpPr>
          <p:cNvPr id="23" name="Text 20"/>
          <p:cNvSpPr txBox="1"/>
          <p:nvPr/>
        </p:nvSpPr>
        <p:spPr>
          <a:xfrm>
            <a:off x="5486400" y="3995928"/>
            <a:ext cx="914400" cy="411480"/>
          </a:xfrm>
          <a:prstGeom prst="rect">
            <a:avLst/>
          </a:prstGeom>
          <a:noFill/>
          <a:ln/>
        </p:spPr>
        <p:txBody>
          <a:bodyPr wrap="square" lIns="0" tIns="0" rIns="0" bIns="0" rtlCol="0" anchor="ctr"/>
          <a:lstStyle/>
          <a:p>
            <a:pPr algn="l" indent="0" marL="0">
              <a:buNone/>
            </a:pPr>
            <a:r>
              <a:rPr lang="en-US" sz="2000" dirty="0">
                <a:solidFill>
                  <a:schemeClr val="tx1"/>
                </a:solidFill>
                <a:latin typeface="Arial" pitchFamily="34" charset="0"/>
                <a:ea typeface="Arial" pitchFamily="34" charset="-122"/>
                <a:cs typeface="Arial" pitchFamily="34" charset="-120"/>
              </a:rPr>
              <a:t>2025</a:t>
            </a:r>
            <a:endParaRPr lang="en-US" sz="2000" dirty="0"/>
          </a:p>
        </p:txBody>
      </p:sp>
      <p:sp>
        <p:nvSpPr>
          <p:cNvPr id="24" name="Text 21"/>
          <p:cNvSpPr txBox="1"/>
          <p:nvPr/>
        </p:nvSpPr>
        <p:spPr>
          <a:xfrm>
            <a:off x="6492240" y="3977640"/>
            <a:ext cx="4785055" cy="457200"/>
          </a:xfrm>
          <a:prstGeom prst="rect">
            <a:avLst/>
          </a:prstGeom>
          <a:noFill/>
          <a:ln/>
        </p:spPr>
        <p:txBody>
          <a:bodyPr wrap="square" lIns="0" tIns="0" rIns="0" bIns="0" rtlCol="0" anchor="ctr"/>
          <a:lstStyle/>
          <a:p>
            <a:pPr algn="l" indent="0" marL="0">
              <a:buNone/>
            </a:pPr>
            <a:r>
              <a:rPr lang="en-US" sz="1250" dirty="0">
                <a:solidFill>
                  <a:schemeClr val="accent4"/>
                </a:solidFill>
                <a:latin typeface="Arial" pitchFamily="34" charset="0"/>
                <a:ea typeface="Arial" pitchFamily="34" charset="-122"/>
                <a:cs typeface="Arial" pitchFamily="34" charset="-120"/>
              </a:rPr>
              <a:t>Al Ain International Hunting &amp; Equestrian Exhibition</a:t>
            </a:r>
            <a:endParaRPr lang="en-US" sz="1250" dirty="0"/>
          </a:p>
        </p:txBody>
      </p:sp>
      <p:sp>
        <p:nvSpPr>
          <p:cNvPr id="25" name="Exhibition row 5"/>
          <p:cNvSpPr/>
          <p:nvPr/>
        </p:nvSpPr>
        <p:spPr>
          <a:xfrm>
            <a:off x="5212080" y="4617720"/>
            <a:ext cx="6339535" cy="640080"/>
          </a:xfrm>
          <a:prstGeom prst="roundRect">
            <a:avLst>
              <a:gd name="adj" fmla="val 11429"/>
            </a:avLst>
          </a:prstGeom>
          <a:solidFill>
            <a:schemeClr val="bg2"/>
          </a:solidFill>
          <a:ln/>
        </p:spPr>
      </p:sp>
      <p:sp>
        <p:nvSpPr>
          <p:cNvPr id="26" name="Text 23"/>
          <p:cNvSpPr txBox="1"/>
          <p:nvPr/>
        </p:nvSpPr>
        <p:spPr>
          <a:xfrm>
            <a:off x="5486400" y="4727448"/>
            <a:ext cx="914400" cy="411480"/>
          </a:xfrm>
          <a:prstGeom prst="rect">
            <a:avLst/>
          </a:prstGeom>
          <a:noFill/>
          <a:ln/>
        </p:spPr>
        <p:txBody>
          <a:bodyPr wrap="square" lIns="0" tIns="0" rIns="0" bIns="0" rtlCol="0" anchor="ctr"/>
          <a:lstStyle/>
          <a:p>
            <a:pPr algn="l" indent="0" marL="0">
              <a:buNone/>
            </a:pPr>
            <a:r>
              <a:rPr lang="en-US" sz="2000" dirty="0">
                <a:solidFill>
                  <a:schemeClr val="accent1"/>
                </a:solidFill>
                <a:latin typeface="Arial" pitchFamily="34" charset="0"/>
                <a:ea typeface="Arial" pitchFamily="34" charset="-122"/>
                <a:cs typeface="Arial" pitchFamily="34" charset="-120"/>
              </a:rPr>
              <a:t>2026</a:t>
            </a:r>
            <a:endParaRPr lang="en-US" sz="2000" dirty="0"/>
          </a:p>
        </p:txBody>
      </p:sp>
      <p:sp>
        <p:nvSpPr>
          <p:cNvPr id="27" name="Text 24"/>
          <p:cNvSpPr txBox="1"/>
          <p:nvPr/>
        </p:nvSpPr>
        <p:spPr>
          <a:xfrm>
            <a:off x="6492240" y="4709160"/>
            <a:ext cx="4785055" cy="457200"/>
          </a:xfrm>
          <a:prstGeom prst="rect">
            <a:avLst/>
          </a:prstGeom>
          <a:noFill/>
          <a:ln/>
        </p:spPr>
        <p:txBody>
          <a:bodyPr wrap="square" lIns="0" tIns="0" rIns="0" bIns="0" rtlCol="0" anchor="ctr"/>
          <a:lstStyle/>
          <a:p>
            <a:pPr algn="l" indent="0" marL="0">
              <a:buNone/>
            </a:pPr>
            <a:r>
              <a:rPr lang="en-US" sz="1250" dirty="0">
                <a:solidFill>
                  <a:schemeClr val="accent4"/>
                </a:solidFill>
                <a:latin typeface="Arial" pitchFamily="34" charset="0"/>
                <a:ea typeface="Arial" pitchFamily="34" charset="-122"/>
                <a:cs typeface="Arial" pitchFamily="34" charset="-120"/>
              </a:rPr>
              <a:t>Abu Dhabi International Hunting &amp; Equestrian Exhibition</a:t>
            </a:r>
            <a:endParaRPr lang="en-US" sz="1250" dirty="0"/>
          </a:p>
        </p:txBody>
      </p:sp>
      <p:sp>
        <p:nvSpPr>
          <p:cNvPr id="28" name="Exhibition row 6"/>
          <p:cNvSpPr/>
          <p:nvPr/>
        </p:nvSpPr>
        <p:spPr>
          <a:xfrm>
            <a:off x="5212080" y="5349240"/>
            <a:ext cx="6339535" cy="640080"/>
          </a:xfrm>
          <a:prstGeom prst="roundRect">
            <a:avLst>
              <a:gd name="adj" fmla="val 11429"/>
            </a:avLst>
          </a:prstGeom>
          <a:solidFill>
            <a:schemeClr val="bg2"/>
          </a:solidFill>
          <a:ln/>
        </p:spPr>
      </p:sp>
      <p:sp>
        <p:nvSpPr>
          <p:cNvPr id="29" name="Text 26"/>
          <p:cNvSpPr txBox="1"/>
          <p:nvPr/>
        </p:nvSpPr>
        <p:spPr>
          <a:xfrm>
            <a:off x="5486400" y="5458968"/>
            <a:ext cx="914400" cy="411480"/>
          </a:xfrm>
          <a:prstGeom prst="rect">
            <a:avLst/>
          </a:prstGeom>
          <a:noFill/>
          <a:ln/>
        </p:spPr>
        <p:txBody>
          <a:bodyPr wrap="square" lIns="0" tIns="0" rIns="0" bIns="0" rtlCol="0" anchor="ctr"/>
          <a:lstStyle/>
          <a:p>
            <a:pPr algn="l" indent="0" marL="0">
              <a:buNone/>
            </a:pPr>
            <a:r>
              <a:rPr lang="en-US" sz="2000" dirty="0">
                <a:solidFill>
                  <a:schemeClr val="accent1"/>
                </a:solidFill>
                <a:latin typeface="Arial" pitchFamily="34" charset="0"/>
                <a:ea typeface="Arial" pitchFamily="34" charset="-122"/>
                <a:cs typeface="Arial" pitchFamily="34" charset="-120"/>
              </a:rPr>
              <a:t>2026</a:t>
            </a:r>
            <a:endParaRPr lang="en-US" sz="2000" dirty="0"/>
          </a:p>
        </p:txBody>
      </p:sp>
      <p:sp>
        <p:nvSpPr>
          <p:cNvPr id="30" name="Text 27"/>
          <p:cNvSpPr txBox="1"/>
          <p:nvPr/>
        </p:nvSpPr>
        <p:spPr>
          <a:xfrm>
            <a:off x="6492240" y="5440680"/>
            <a:ext cx="4785055" cy="457200"/>
          </a:xfrm>
          <a:prstGeom prst="rect">
            <a:avLst/>
          </a:prstGeom>
          <a:noFill/>
          <a:ln/>
        </p:spPr>
        <p:txBody>
          <a:bodyPr wrap="square" lIns="0" tIns="0" rIns="0" bIns="0" rtlCol="0" anchor="ctr"/>
          <a:lstStyle/>
          <a:p>
            <a:pPr algn="l" indent="0" marL="0">
              <a:buNone/>
            </a:pPr>
            <a:r>
              <a:rPr lang="en-US" sz="1250" dirty="0">
                <a:solidFill>
                  <a:schemeClr val="accent4"/>
                </a:solidFill>
                <a:latin typeface="Arial" pitchFamily="34" charset="0"/>
                <a:ea typeface="Arial" pitchFamily="34" charset="-122"/>
                <a:cs typeface="Arial" pitchFamily="34" charset="-120"/>
              </a:rPr>
              <a:t>Al Ain International Hunting &amp; Equestrian Exhibition</a:t>
            </a:r>
            <a:endParaRPr lang="en-US" sz="1250" dirty="0"/>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A75"/>
                </a:solidFill>
                <a:latin typeface="Arial"/>
                <a:ea typeface="Arial"/>
                <a:cs typeface="Arial"/>
              </a:defRPr>
            </a:lvl1pPr>
          </a:lstStyle>
          <a:p>
            <a:pPr algn="r"/>
            <a:fld id="{F7021451-1387-4CA6-816F-3879F97B5CBC}" type="slidenum">
              <a:rPr b="0" lang="en-US"/>
              <a:t>18</a:t>
            </a:fld>
            <a:endParaRPr lang="en-US"/>
          </a:p>
        </p:txBody>
      </p:sp>
      <p:sp>
        <p:nvSpPr>
          <p:cNvPr id="31" name="Back to contents" descr="Back to contents">
            <a:hlinkClick r:id="rId4" action="ppaction://hlinksldjump" tooltip="Back to Contents / العودة إلى المحتويات"/>
          </p:cNvPr>
          <p:cNvSpPr/>
          <p:nvPr/>
        </p:nvSpPr>
        <p:spPr>
          <a:xfrm>
            <a:off x="8838000" y="6283000"/>
            <a:ext cx="1850000" cy="300000"/>
          </a:xfrm>
          <a:prstGeom prst="roundRect">
            <a:avLst>
              <a:gd name="adj" fmla="val 50000"/>
            </a:avLst>
          </a:prstGeom>
          <a:noFill/>
          <a:ln w="9525">
            <a:solidFill>
              <a:schemeClr val="accent1"/>
            </a:solidFill>
          </a:ln>
        </p:spPr>
        <p:txBody>
          <a:bodyPr wrap="none" lIns="0" tIns="0" rIns="0" bIns="0" rtlCol="0" anchor="ctr"/>
          <a:lstStyle/>
          <a:p>
            <a:pPr algn="ctr"/>
            <a:r>
              <a:rPr lang="en-US" sz="900" b="1" spc="120" dirty="0">
                <a:solidFill>
                  <a:schemeClr val="accent1"/>
                </a:solidFill>
                <a:latin typeface="Arial"/>
                <a:cs typeface="Arial"/>
              </a:rPr>
              <a:t>CONTENTS  ·  </a:t>
            </a:r>
            <a:r>
              <a:rPr lang="ar-AE" sz="900" b="1" dirty="0">
                <a:solidFill>
                  <a:schemeClr val="accent1"/>
                </a:solidFill>
                <a:latin typeface="Arial"/>
                <a:cs typeface="Arial"/>
              </a:rPr>
              <a:t>المحتويات</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411480"/>
            <a:ext cx="5486400" cy="228600"/>
          </a:xfrm>
          <a:prstGeom prst="rect">
            <a:avLst/>
          </a:prstGeom>
          <a:noFill/>
          <a:ln/>
        </p:spPr>
        <p:txBody>
          <a:bodyPr wrap="square" lIns="0" tIns="0" rIns="0" bIns="0" rtlCol="0" anchor="t"/>
          <a:lstStyle/>
          <a:p>
            <a:pPr algn="l" indent="0" marL="0">
              <a:buNone/>
            </a:pPr>
            <a:r>
              <a:rPr lang="en-US" sz="1000" b="1" spc="300" kern="0" dirty="0">
                <a:solidFill>
                  <a:schemeClr val="accent1"/>
                </a:solidFill>
                <a:latin typeface="Arial" pitchFamily="34" charset="0"/>
                <a:ea typeface="Arial" pitchFamily="34" charset="-122"/>
                <a:cs typeface="Arial" pitchFamily="34" charset="-120"/>
              </a:rPr>
              <a:t>05   ·   WHY EVCARS</a:t>
            </a:r>
            <a:endParaRPr lang="en-US" sz="1000" dirty="0"/>
          </a:p>
        </p:txBody>
      </p:sp>
      <p:sp>
        <p:nvSpPr>
          <p:cNvPr id="3" name="Text 1"/>
          <p:cNvSpPr txBox="1"/>
          <p:nvPr/>
        </p:nvSpPr>
        <p:spPr>
          <a:xfrm>
            <a:off x="6065215" y="411480"/>
            <a:ext cx="5486400" cy="228600"/>
          </a:xfrm>
          <a:prstGeom prst="rect">
            <a:avLst/>
          </a:prstGeom>
          <a:noFill/>
          <a:ln/>
        </p:spPr>
        <p:txBody>
          <a:bodyPr wrap="square" lIns="0" tIns="0" rIns="0" bIns="0" rtlCol="0" anchor="t"/>
          <a:lstStyle/>
          <a:p>
            <a:pPr rtl="1" algn="r" indent="0" marL="0">
              <a:buNone/>
            </a:pPr>
            <a:r>
              <a:rPr lang="ar-AE" altLang="en-US" sz="1100" b="1" dirty="0">
                <a:solidFill>
                  <a:schemeClr val="accent1"/>
                </a:solidFill>
                <a:latin typeface="Arial" pitchFamily="34" charset="0"/>
                <a:ea typeface="Arial" pitchFamily="34" charset="-122"/>
                <a:cs typeface="Arial" pitchFamily="34" charset="-120"/>
              </a:rPr>
              <a:t>لماذا نحن   ·   05</a:t>
            </a:r>
            <a:endParaRPr lang="ar-AE" sz="1100" dirty="0"/>
          </a:p>
        </p:txBody>
      </p:sp>
      <p:sp>
        <p:nvSpPr>
          <p:cNvPr id="4" name="Text 0"/>
          <p:cNvSpPr/>
          <p:nvPr>
            <p:ph idx="100" type="title" hasCustomPrompt="1"/>
          </p:nvPr>
        </p:nvSpPr>
        <p:spPr>
          <a:xfrm>
            <a:off x="640080" y="713232"/>
            <a:ext cx="5486400" cy="685800"/>
          </a:xfrm>
          <a:prstGeom prst="rect">
            <a:avLst/>
          </a:prstGeom>
          <a:noFill/>
          <a:ln/>
        </p:spPr>
        <p:txBody>
          <a:bodyPr wrap="square" lIns="0" tIns="0" rIns="0" bIns="0" rtlCol="0" anchor="t"/>
          <a:lstStyle/>
          <a:p>
            <a:pPr algn="l" indent="0" marL="0">
              <a:buNone/>
            </a:pPr>
            <a:r>
              <a:rPr lang="en-US" sz="3000" dirty="0">
                <a:solidFill>
                  <a:schemeClr val="tx1"/>
                </a:solidFill>
                <a:latin typeface="Arial" pitchFamily="34" charset="0"/>
                <a:ea typeface="Arial" pitchFamily="34" charset="-122"/>
                <a:cs typeface="Arial" pitchFamily="34" charset="-120"/>
              </a:rPr>
              <a:t>Why Choose EVCARS?</a:t>
            </a:r>
            <a:endParaRPr lang="en-US" sz="3000" dirty="0"/>
          </a:p>
        </p:txBody>
      </p:sp>
      <p:sp>
        <p:nvSpPr>
          <p:cNvPr id="5" name="Text 0"/>
          <p:cNvSpPr/>
          <p:nvPr>
            <p:ph idx="101" type="body" hasCustomPrompt="1"/>
          </p:nvPr>
        </p:nvSpPr>
        <p:spPr>
          <a:xfrm>
            <a:off x="6065215" y="713232"/>
            <a:ext cx="5486400" cy="685800"/>
          </a:xfrm>
          <a:prstGeom prst="rect">
            <a:avLst/>
          </a:prstGeom>
          <a:noFill/>
          <a:ln/>
        </p:spPr>
        <p:txBody>
          <a:bodyPr wrap="square" lIns="0" tIns="0" rIns="0" bIns="0" rtlCol="0" anchor="t"/>
          <a:lstStyle/>
          <a:p>
            <a:pPr rtl="1" algn="r" indent="0" marL="0">
              <a:buNone/>
            </a:pPr>
            <a:r>
              <a:rPr lang="ar-AE" altLang="en-US" sz="3000" dirty="0">
                <a:solidFill>
                  <a:schemeClr val="tx1"/>
                </a:solidFill>
                <a:latin typeface="Arial" pitchFamily="34" charset="0"/>
                <a:ea typeface="Arial" pitchFamily="34" charset="-122"/>
                <a:cs typeface="Arial" pitchFamily="34" charset="-120"/>
              </a:rPr>
              <a:t>لماذا EVCARS؟</a:t>
            </a:r>
            <a:endParaRPr lang="ar-AE" sz="3000" dirty="0"/>
          </a:p>
        </p:txBody>
      </p:sp>
      <p:sp>
        <p:nvSpPr>
          <p:cNvPr id="6" name="Why tile 1"/>
          <p:cNvSpPr/>
          <p:nvPr/>
        </p:nvSpPr>
        <p:spPr>
          <a:xfrm>
            <a:off x="640080" y="1691640"/>
            <a:ext cx="2578608" cy="2103120"/>
          </a:xfrm>
          <a:prstGeom prst="roundRect">
            <a:avLst>
              <a:gd name="adj" fmla="val 4348"/>
            </a:avLst>
          </a:prstGeom>
          <a:solidFill>
            <a:schemeClr val="bg1"/>
          </a:solidFill>
          <a:ln/>
          <a:effectLst>
            <a:outerShdw sx="100000" sy="100000" kx="0" ky="0" algn="bl" rotWithShape="0" blurRad="177800" dist="38100" dir="5400000">
              <a:srgbClr val="0B0D10">
                <a:alpha val="10000"/>
              </a:srgbClr>
            </a:outerShdw>
          </a:effectLst>
        </p:spPr>
      </p:sp>
      <p:sp>
        <p:nvSpPr>
          <p:cNvPr id="7" name="Why icon 1 circle"/>
          <p:cNvSpPr/>
          <p:nvPr/>
        </p:nvSpPr>
        <p:spPr>
          <a:xfrm>
            <a:off x="868680" y="1874520"/>
            <a:ext cx="502920" cy="502920"/>
          </a:xfrm>
          <a:prstGeom prst="ellipse">
            <a:avLst/>
          </a:prstGeom>
          <a:solidFill>
            <a:schemeClr val="accent6"/>
          </a:solidFill>
          <a:ln/>
        </p:spPr>
      </p:sp>
      <p:pic>
        <p:nvPicPr>
          <p:cNvPr id="8" name="Why icon 1" descr="icon">    </p:cNvPr>
          <p:cNvPicPr>
            <a:picLocks noChangeAspect="1"/>
          </p:cNvPicPr>
          <p:nvPr/>
        </p:nvPicPr>
        <p:blipFill>
          <a:blip r:embed="rId1"/>
          <a:stretch>
            <a:fillRect/>
          </a:stretch>
        </p:blipFill>
        <p:spPr>
          <a:xfrm>
            <a:off x="989381" y="1995221"/>
            <a:ext cx="261518" cy="261518"/>
          </a:xfrm>
          <a:prstGeom prst="rect">
            <a:avLst/>
          </a:prstGeom>
        </p:spPr>
      </p:pic>
      <p:sp>
        <p:nvSpPr>
          <p:cNvPr id="9" name="Text 6"/>
          <p:cNvSpPr txBox="1"/>
          <p:nvPr/>
        </p:nvSpPr>
        <p:spPr>
          <a:xfrm>
            <a:off x="2304288" y="1920240"/>
            <a:ext cx="685800" cy="320040"/>
          </a:xfrm>
          <a:prstGeom prst="rect">
            <a:avLst/>
          </a:prstGeom>
          <a:noFill/>
          <a:ln/>
        </p:spPr>
        <p:txBody>
          <a:bodyPr wrap="square" lIns="0" tIns="0" rIns="0" bIns="0" rtlCol="0" anchor="t"/>
          <a:lstStyle/>
          <a:p>
            <a:pPr algn="r" indent="0" marL="0">
              <a:buNone/>
            </a:pPr>
            <a:r>
              <a:rPr lang="en-US" sz="1600" dirty="0">
                <a:solidFill>
                  <a:schemeClr val="accent3"/>
                </a:solidFill>
                <a:latin typeface="Arial" pitchFamily="34" charset="0"/>
                <a:ea typeface="Arial" pitchFamily="34" charset="-122"/>
                <a:cs typeface="Arial" pitchFamily="34" charset="-120"/>
              </a:rPr>
              <a:t>01</a:t>
            </a:r>
            <a:endParaRPr lang="en-US" sz="1600" dirty="0"/>
          </a:p>
        </p:txBody>
      </p:sp>
      <p:sp>
        <p:nvSpPr>
          <p:cNvPr id="10" name="Text 7"/>
          <p:cNvSpPr txBox="1"/>
          <p:nvPr/>
        </p:nvSpPr>
        <p:spPr>
          <a:xfrm>
            <a:off x="868680" y="2788920"/>
            <a:ext cx="2121408" cy="292608"/>
          </a:xfrm>
          <a:prstGeom prst="rect">
            <a:avLst/>
          </a:prstGeom>
          <a:noFill/>
          <a:ln/>
        </p:spPr>
        <p:txBody>
          <a:bodyPr wrap="squar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Specialization</a:t>
            </a:r>
            <a:endParaRPr lang="en-US" sz="1500" dirty="0"/>
          </a:p>
        </p:txBody>
      </p:sp>
      <p:sp>
        <p:nvSpPr>
          <p:cNvPr id="11" name="Text 8"/>
          <p:cNvSpPr txBox="1"/>
          <p:nvPr/>
        </p:nvSpPr>
        <p:spPr>
          <a:xfrm>
            <a:off x="868680" y="3172968"/>
            <a:ext cx="2121408" cy="292608"/>
          </a:xfrm>
          <a:prstGeom prst="rect">
            <a:avLst/>
          </a:prstGeom>
          <a:noFill/>
          <a:ln/>
        </p:spPr>
        <p:txBody>
          <a:bodyPr wrap="square" lIns="0" tIns="0" rIns="0" bIns="0" rtlCol="0" anchor="t"/>
          <a:lstStyle/>
          <a:p>
            <a:pPr rtl="1" algn="r" indent="0" marL="0">
              <a:buNone/>
            </a:pPr>
            <a:r>
              <a:rPr lang="ar-AE" altLang="en-US" sz="1400" b="1" dirty="0">
                <a:solidFill>
                  <a:schemeClr val="accent1"/>
                </a:solidFill>
                <a:latin typeface="Arial" pitchFamily="34" charset="0"/>
                <a:ea typeface="Arial" pitchFamily="34" charset="-122"/>
                <a:cs typeface="Arial" pitchFamily="34" charset="-120"/>
              </a:rPr>
              <a:t>التخصص</a:t>
            </a:r>
            <a:endParaRPr lang="ar-AE" sz="1400" dirty="0"/>
          </a:p>
        </p:txBody>
      </p:sp>
      <p:sp>
        <p:nvSpPr>
          <p:cNvPr id="12" name="Why tile 2"/>
          <p:cNvSpPr/>
          <p:nvPr/>
        </p:nvSpPr>
        <p:spPr>
          <a:xfrm>
            <a:off x="3417722" y="1691640"/>
            <a:ext cx="2578608" cy="2103120"/>
          </a:xfrm>
          <a:prstGeom prst="roundRect">
            <a:avLst>
              <a:gd name="adj" fmla="val 4348"/>
            </a:avLst>
          </a:prstGeom>
          <a:solidFill>
            <a:schemeClr val="bg1"/>
          </a:solidFill>
          <a:ln/>
          <a:effectLst>
            <a:outerShdw sx="100000" sy="100000" kx="0" ky="0" algn="bl" rotWithShape="0" blurRad="177800" dist="38100" dir="5400000">
              <a:srgbClr val="0B0D10">
                <a:alpha val="10000"/>
              </a:srgbClr>
            </a:outerShdw>
          </a:effectLst>
        </p:spPr>
      </p:sp>
      <p:sp>
        <p:nvSpPr>
          <p:cNvPr id="13" name="Why icon 2 circle"/>
          <p:cNvSpPr/>
          <p:nvPr/>
        </p:nvSpPr>
        <p:spPr>
          <a:xfrm>
            <a:off x="3646322" y="1874520"/>
            <a:ext cx="502920" cy="502920"/>
          </a:xfrm>
          <a:prstGeom prst="ellipse">
            <a:avLst/>
          </a:prstGeom>
          <a:solidFill>
            <a:schemeClr val="accent6"/>
          </a:solidFill>
          <a:ln/>
        </p:spPr>
      </p:sp>
      <p:pic>
        <p:nvPicPr>
          <p:cNvPr id="14" name="Why icon 2" descr="icon">    </p:cNvPr>
          <p:cNvPicPr>
            <a:picLocks noChangeAspect="1"/>
          </p:cNvPicPr>
          <p:nvPr/>
        </p:nvPicPr>
        <p:blipFill>
          <a:blip r:embed="rId2"/>
          <a:stretch>
            <a:fillRect/>
          </a:stretch>
        </p:blipFill>
        <p:spPr>
          <a:xfrm>
            <a:off x="3767023" y="1995221"/>
            <a:ext cx="261518" cy="261518"/>
          </a:xfrm>
          <a:prstGeom prst="rect">
            <a:avLst/>
          </a:prstGeom>
        </p:spPr>
      </p:pic>
      <p:sp>
        <p:nvSpPr>
          <p:cNvPr id="15" name="Text 11"/>
          <p:cNvSpPr txBox="1"/>
          <p:nvPr/>
        </p:nvSpPr>
        <p:spPr>
          <a:xfrm>
            <a:off x="5081930" y="1920240"/>
            <a:ext cx="685800" cy="320040"/>
          </a:xfrm>
          <a:prstGeom prst="rect">
            <a:avLst/>
          </a:prstGeom>
          <a:noFill/>
          <a:ln/>
        </p:spPr>
        <p:txBody>
          <a:bodyPr wrap="square" lIns="0" tIns="0" rIns="0" bIns="0" rtlCol="0" anchor="t"/>
          <a:lstStyle/>
          <a:p>
            <a:pPr algn="r" indent="0" marL="0">
              <a:buNone/>
            </a:pPr>
            <a:r>
              <a:rPr lang="en-US" sz="1600" dirty="0">
                <a:solidFill>
                  <a:schemeClr val="accent3"/>
                </a:solidFill>
                <a:latin typeface="Arial" pitchFamily="34" charset="0"/>
                <a:ea typeface="Arial" pitchFamily="34" charset="-122"/>
                <a:cs typeface="Arial" pitchFamily="34" charset="-120"/>
              </a:rPr>
              <a:t>02</a:t>
            </a:r>
            <a:endParaRPr lang="en-US" sz="1600" dirty="0"/>
          </a:p>
        </p:txBody>
      </p:sp>
      <p:sp>
        <p:nvSpPr>
          <p:cNvPr id="16" name="Text 12"/>
          <p:cNvSpPr txBox="1"/>
          <p:nvPr/>
        </p:nvSpPr>
        <p:spPr>
          <a:xfrm>
            <a:off x="3646322" y="2788920"/>
            <a:ext cx="2121408" cy="292608"/>
          </a:xfrm>
          <a:prstGeom prst="rect">
            <a:avLst/>
          </a:prstGeom>
          <a:noFill/>
          <a:ln/>
        </p:spPr>
        <p:txBody>
          <a:bodyPr wrap="squar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Branch Network</a:t>
            </a:r>
            <a:endParaRPr lang="en-US" sz="1500" dirty="0"/>
          </a:p>
        </p:txBody>
      </p:sp>
      <p:sp>
        <p:nvSpPr>
          <p:cNvPr id="17" name="Text 13"/>
          <p:cNvSpPr txBox="1"/>
          <p:nvPr/>
        </p:nvSpPr>
        <p:spPr>
          <a:xfrm>
            <a:off x="3646322" y="3172968"/>
            <a:ext cx="2121408" cy="292608"/>
          </a:xfrm>
          <a:prstGeom prst="rect">
            <a:avLst/>
          </a:prstGeom>
          <a:noFill/>
          <a:ln/>
        </p:spPr>
        <p:txBody>
          <a:bodyPr wrap="square" lIns="0" tIns="0" rIns="0" bIns="0" rtlCol="0" anchor="t"/>
          <a:lstStyle/>
          <a:p>
            <a:pPr rtl="1" algn="r" indent="0" marL="0">
              <a:buNone/>
            </a:pPr>
            <a:r>
              <a:rPr lang="ar-AE" altLang="en-US" sz="1400" b="1" dirty="0">
                <a:solidFill>
                  <a:schemeClr val="accent1"/>
                </a:solidFill>
                <a:latin typeface="Arial" pitchFamily="34" charset="0"/>
                <a:ea typeface="Arial" pitchFamily="34" charset="-122"/>
                <a:cs typeface="Arial" pitchFamily="34" charset="-120"/>
              </a:rPr>
              <a:t>شبكة الفروع</a:t>
            </a:r>
            <a:endParaRPr lang="ar-AE" sz="1400" dirty="0"/>
          </a:p>
        </p:txBody>
      </p:sp>
      <p:sp>
        <p:nvSpPr>
          <p:cNvPr id="18" name="Why tile 3"/>
          <p:cNvSpPr/>
          <p:nvPr/>
        </p:nvSpPr>
        <p:spPr>
          <a:xfrm>
            <a:off x="6195365" y="1691640"/>
            <a:ext cx="2578608" cy="2103120"/>
          </a:xfrm>
          <a:prstGeom prst="roundRect">
            <a:avLst>
              <a:gd name="adj" fmla="val 4348"/>
            </a:avLst>
          </a:prstGeom>
          <a:solidFill>
            <a:schemeClr val="bg1"/>
          </a:solidFill>
          <a:ln/>
          <a:effectLst>
            <a:outerShdw sx="100000" sy="100000" kx="0" ky="0" algn="bl" rotWithShape="0" blurRad="177800" dist="38100" dir="5400000">
              <a:srgbClr val="0B0D10">
                <a:alpha val="10000"/>
              </a:srgbClr>
            </a:outerShdw>
          </a:effectLst>
        </p:spPr>
      </p:sp>
      <p:sp>
        <p:nvSpPr>
          <p:cNvPr id="19" name="Why icon 3 circle"/>
          <p:cNvSpPr/>
          <p:nvPr/>
        </p:nvSpPr>
        <p:spPr>
          <a:xfrm>
            <a:off x="6423965" y="1874520"/>
            <a:ext cx="502920" cy="502920"/>
          </a:xfrm>
          <a:prstGeom prst="ellipse">
            <a:avLst/>
          </a:prstGeom>
          <a:solidFill>
            <a:schemeClr val="accent6"/>
          </a:solidFill>
          <a:ln/>
        </p:spPr>
      </p:sp>
      <p:pic>
        <p:nvPicPr>
          <p:cNvPr id="20" name="Why icon 3" descr="icon">    </p:cNvPr>
          <p:cNvPicPr>
            <a:picLocks noChangeAspect="1"/>
          </p:cNvPicPr>
          <p:nvPr/>
        </p:nvPicPr>
        <p:blipFill>
          <a:blip r:embed="rId3"/>
          <a:stretch>
            <a:fillRect/>
          </a:stretch>
        </p:blipFill>
        <p:spPr>
          <a:xfrm>
            <a:off x="6544666" y="1995221"/>
            <a:ext cx="261518" cy="261518"/>
          </a:xfrm>
          <a:prstGeom prst="rect">
            <a:avLst/>
          </a:prstGeom>
        </p:spPr>
      </p:pic>
      <p:sp>
        <p:nvSpPr>
          <p:cNvPr id="21" name="Text 16"/>
          <p:cNvSpPr txBox="1"/>
          <p:nvPr/>
        </p:nvSpPr>
        <p:spPr>
          <a:xfrm>
            <a:off x="7859573" y="1920240"/>
            <a:ext cx="685800" cy="320040"/>
          </a:xfrm>
          <a:prstGeom prst="rect">
            <a:avLst/>
          </a:prstGeom>
          <a:noFill/>
          <a:ln/>
        </p:spPr>
        <p:txBody>
          <a:bodyPr wrap="square" lIns="0" tIns="0" rIns="0" bIns="0" rtlCol="0" anchor="t"/>
          <a:lstStyle/>
          <a:p>
            <a:pPr algn="r" indent="0" marL="0">
              <a:buNone/>
            </a:pPr>
            <a:r>
              <a:rPr lang="en-US" sz="1600" dirty="0">
                <a:solidFill>
                  <a:schemeClr val="accent3"/>
                </a:solidFill>
                <a:latin typeface="Arial" pitchFamily="34" charset="0"/>
                <a:ea typeface="Arial" pitchFamily="34" charset="-122"/>
                <a:cs typeface="Arial" pitchFamily="34" charset="-120"/>
              </a:rPr>
              <a:t>03</a:t>
            </a:r>
            <a:endParaRPr lang="en-US" sz="1600" dirty="0"/>
          </a:p>
        </p:txBody>
      </p:sp>
      <p:sp>
        <p:nvSpPr>
          <p:cNvPr id="22" name="Text 17"/>
          <p:cNvSpPr txBox="1"/>
          <p:nvPr/>
        </p:nvSpPr>
        <p:spPr>
          <a:xfrm>
            <a:off x="6423965" y="2788920"/>
            <a:ext cx="2121408" cy="292608"/>
          </a:xfrm>
          <a:prstGeom prst="rect">
            <a:avLst/>
          </a:prstGeom>
          <a:noFill/>
          <a:ln/>
        </p:spPr>
        <p:txBody>
          <a:bodyPr wrap="squar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Product Variety</a:t>
            </a:r>
            <a:endParaRPr lang="en-US" sz="1500" dirty="0"/>
          </a:p>
        </p:txBody>
      </p:sp>
      <p:sp>
        <p:nvSpPr>
          <p:cNvPr id="23" name="Text 18"/>
          <p:cNvSpPr txBox="1"/>
          <p:nvPr/>
        </p:nvSpPr>
        <p:spPr>
          <a:xfrm>
            <a:off x="6423965" y="3172968"/>
            <a:ext cx="2121408" cy="292608"/>
          </a:xfrm>
          <a:prstGeom prst="rect">
            <a:avLst/>
          </a:prstGeom>
          <a:noFill/>
          <a:ln/>
        </p:spPr>
        <p:txBody>
          <a:bodyPr wrap="square" lIns="0" tIns="0" rIns="0" bIns="0" rtlCol="0" anchor="t"/>
          <a:lstStyle/>
          <a:p>
            <a:pPr rtl="1" algn="r" indent="0" marL="0">
              <a:buNone/>
            </a:pPr>
            <a:r>
              <a:rPr lang="ar-AE" altLang="en-US" sz="1400" b="1" dirty="0">
                <a:solidFill>
                  <a:schemeClr val="accent1"/>
                </a:solidFill>
                <a:latin typeface="Arial" pitchFamily="34" charset="0"/>
                <a:ea typeface="Arial" pitchFamily="34" charset="-122"/>
                <a:cs typeface="Arial" pitchFamily="34" charset="-120"/>
              </a:rPr>
              <a:t>المنتجات المتنوعة</a:t>
            </a:r>
            <a:endParaRPr lang="ar-AE" sz="1400" dirty="0"/>
          </a:p>
        </p:txBody>
      </p:sp>
      <p:sp>
        <p:nvSpPr>
          <p:cNvPr id="24" name="Why tile 4"/>
          <p:cNvSpPr/>
          <p:nvPr/>
        </p:nvSpPr>
        <p:spPr>
          <a:xfrm>
            <a:off x="8973007" y="1691640"/>
            <a:ext cx="2578608" cy="2103120"/>
          </a:xfrm>
          <a:prstGeom prst="roundRect">
            <a:avLst>
              <a:gd name="adj" fmla="val 4348"/>
            </a:avLst>
          </a:prstGeom>
          <a:solidFill>
            <a:schemeClr val="bg1"/>
          </a:solidFill>
          <a:ln/>
          <a:effectLst>
            <a:outerShdw sx="100000" sy="100000" kx="0" ky="0" algn="bl" rotWithShape="0" blurRad="177800" dist="38100" dir="5400000">
              <a:srgbClr val="0B0D10">
                <a:alpha val="10000"/>
              </a:srgbClr>
            </a:outerShdw>
          </a:effectLst>
        </p:spPr>
      </p:sp>
      <p:sp>
        <p:nvSpPr>
          <p:cNvPr id="25" name="Why icon 4 circle"/>
          <p:cNvSpPr/>
          <p:nvPr/>
        </p:nvSpPr>
        <p:spPr>
          <a:xfrm>
            <a:off x="9201607" y="1874520"/>
            <a:ext cx="502920" cy="502920"/>
          </a:xfrm>
          <a:prstGeom prst="ellipse">
            <a:avLst/>
          </a:prstGeom>
          <a:solidFill>
            <a:schemeClr val="accent6"/>
          </a:solidFill>
          <a:ln/>
        </p:spPr>
      </p:sp>
      <p:pic>
        <p:nvPicPr>
          <p:cNvPr id="26" name="Why icon 4" descr="icon">    </p:cNvPr>
          <p:cNvPicPr>
            <a:picLocks noChangeAspect="1"/>
          </p:cNvPicPr>
          <p:nvPr/>
        </p:nvPicPr>
        <p:blipFill>
          <a:blip r:embed="rId4"/>
          <a:stretch>
            <a:fillRect/>
          </a:stretch>
        </p:blipFill>
        <p:spPr>
          <a:xfrm>
            <a:off x="9322308" y="1995221"/>
            <a:ext cx="261518" cy="261518"/>
          </a:xfrm>
          <a:prstGeom prst="rect">
            <a:avLst/>
          </a:prstGeom>
        </p:spPr>
      </p:pic>
      <p:sp>
        <p:nvSpPr>
          <p:cNvPr id="27" name="Text 21"/>
          <p:cNvSpPr txBox="1"/>
          <p:nvPr/>
        </p:nvSpPr>
        <p:spPr>
          <a:xfrm>
            <a:off x="10637215" y="1920240"/>
            <a:ext cx="685800" cy="320040"/>
          </a:xfrm>
          <a:prstGeom prst="rect">
            <a:avLst/>
          </a:prstGeom>
          <a:noFill/>
          <a:ln/>
        </p:spPr>
        <p:txBody>
          <a:bodyPr wrap="square" lIns="0" tIns="0" rIns="0" bIns="0" rtlCol="0" anchor="t"/>
          <a:lstStyle/>
          <a:p>
            <a:pPr algn="r" indent="0" marL="0">
              <a:buNone/>
            </a:pPr>
            <a:r>
              <a:rPr lang="en-US" sz="1600" dirty="0">
                <a:solidFill>
                  <a:schemeClr val="accent3"/>
                </a:solidFill>
                <a:latin typeface="Arial" pitchFamily="34" charset="0"/>
                <a:ea typeface="Arial" pitchFamily="34" charset="-122"/>
                <a:cs typeface="Arial" pitchFamily="34" charset="-120"/>
              </a:rPr>
              <a:t>04</a:t>
            </a:r>
            <a:endParaRPr lang="en-US" sz="1600" dirty="0"/>
          </a:p>
        </p:txBody>
      </p:sp>
      <p:sp>
        <p:nvSpPr>
          <p:cNvPr id="28" name="Text 22"/>
          <p:cNvSpPr txBox="1"/>
          <p:nvPr/>
        </p:nvSpPr>
        <p:spPr>
          <a:xfrm>
            <a:off x="9201607" y="2788920"/>
            <a:ext cx="2121408" cy="292608"/>
          </a:xfrm>
          <a:prstGeom prst="rect">
            <a:avLst/>
          </a:prstGeom>
          <a:noFill/>
          <a:ln/>
        </p:spPr>
        <p:txBody>
          <a:bodyPr wrap="squar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Technical Teams</a:t>
            </a:r>
            <a:endParaRPr lang="en-US" sz="1500" dirty="0"/>
          </a:p>
        </p:txBody>
      </p:sp>
      <p:sp>
        <p:nvSpPr>
          <p:cNvPr id="29" name="Text 23"/>
          <p:cNvSpPr txBox="1"/>
          <p:nvPr/>
        </p:nvSpPr>
        <p:spPr>
          <a:xfrm>
            <a:off x="9201607" y="3172968"/>
            <a:ext cx="2121408" cy="292608"/>
          </a:xfrm>
          <a:prstGeom prst="rect">
            <a:avLst/>
          </a:prstGeom>
          <a:noFill/>
          <a:ln/>
        </p:spPr>
        <p:txBody>
          <a:bodyPr wrap="square" lIns="0" tIns="0" rIns="0" bIns="0" rtlCol="0" anchor="t"/>
          <a:lstStyle/>
          <a:p>
            <a:pPr rtl="1" algn="r" indent="0" marL="0">
              <a:buNone/>
            </a:pPr>
            <a:r>
              <a:rPr lang="ar-AE" altLang="en-US" sz="1400" b="1" dirty="0">
                <a:solidFill>
                  <a:schemeClr val="accent1"/>
                </a:solidFill>
                <a:latin typeface="Arial" pitchFamily="34" charset="0"/>
                <a:ea typeface="Arial" pitchFamily="34" charset="-122"/>
                <a:cs typeface="Arial" pitchFamily="34" charset="-120"/>
              </a:rPr>
              <a:t>الفرق الفنية</a:t>
            </a:r>
            <a:endParaRPr lang="ar-AE" sz="1400" dirty="0"/>
          </a:p>
        </p:txBody>
      </p:sp>
      <p:sp>
        <p:nvSpPr>
          <p:cNvPr id="30" name="Why tile 5"/>
          <p:cNvSpPr/>
          <p:nvPr/>
        </p:nvSpPr>
        <p:spPr>
          <a:xfrm>
            <a:off x="640080" y="3977640"/>
            <a:ext cx="2578608" cy="2103120"/>
          </a:xfrm>
          <a:prstGeom prst="roundRect">
            <a:avLst>
              <a:gd name="adj" fmla="val 4348"/>
            </a:avLst>
          </a:prstGeom>
          <a:solidFill>
            <a:schemeClr val="bg1"/>
          </a:solidFill>
          <a:ln/>
          <a:effectLst>
            <a:outerShdw sx="100000" sy="100000" kx="0" ky="0" algn="bl" rotWithShape="0" blurRad="177800" dist="38100" dir="5400000">
              <a:srgbClr val="0B0D10">
                <a:alpha val="10000"/>
              </a:srgbClr>
            </a:outerShdw>
          </a:effectLst>
        </p:spPr>
      </p:sp>
      <p:sp>
        <p:nvSpPr>
          <p:cNvPr id="31" name="Why icon 5 circle"/>
          <p:cNvSpPr/>
          <p:nvPr/>
        </p:nvSpPr>
        <p:spPr>
          <a:xfrm>
            <a:off x="868680" y="4160520"/>
            <a:ext cx="502920" cy="502920"/>
          </a:xfrm>
          <a:prstGeom prst="ellipse">
            <a:avLst/>
          </a:prstGeom>
          <a:solidFill>
            <a:schemeClr val="accent6"/>
          </a:solidFill>
          <a:ln/>
        </p:spPr>
      </p:sp>
      <p:pic>
        <p:nvPicPr>
          <p:cNvPr id="32" name="Why icon 5" descr="icon">    </p:cNvPr>
          <p:cNvPicPr>
            <a:picLocks noChangeAspect="1"/>
          </p:cNvPicPr>
          <p:nvPr/>
        </p:nvPicPr>
        <p:blipFill>
          <a:blip r:embed="rId5"/>
          <a:stretch>
            <a:fillRect/>
          </a:stretch>
        </p:blipFill>
        <p:spPr>
          <a:xfrm>
            <a:off x="989381" y="4281221"/>
            <a:ext cx="261518" cy="261518"/>
          </a:xfrm>
          <a:prstGeom prst="rect">
            <a:avLst/>
          </a:prstGeom>
        </p:spPr>
      </p:pic>
      <p:sp>
        <p:nvSpPr>
          <p:cNvPr id="33" name="Text 26"/>
          <p:cNvSpPr txBox="1"/>
          <p:nvPr/>
        </p:nvSpPr>
        <p:spPr>
          <a:xfrm>
            <a:off x="2304288" y="4206240"/>
            <a:ext cx="685800" cy="320040"/>
          </a:xfrm>
          <a:prstGeom prst="rect">
            <a:avLst/>
          </a:prstGeom>
          <a:noFill/>
          <a:ln/>
        </p:spPr>
        <p:txBody>
          <a:bodyPr wrap="square" lIns="0" tIns="0" rIns="0" bIns="0" rtlCol="0" anchor="t"/>
          <a:lstStyle/>
          <a:p>
            <a:pPr algn="r" indent="0" marL="0">
              <a:buNone/>
            </a:pPr>
            <a:r>
              <a:rPr lang="en-US" sz="1600" dirty="0">
                <a:solidFill>
                  <a:schemeClr val="accent3"/>
                </a:solidFill>
                <a:latin typeface="Arial" pitchFamily="34" charset="0"/>
                <a:ea typeface="Arial" pitchFamily="34" charset="-122"/>
                <a:cs typeface="Arial" pitchFamily="34" charset="-120"/>
              </a:rPr>
              <a:t>05</a:t>
            </a:r>
            <a:endParaRPr lang="en-US" sz="1600" dirty="0"/>
          </a:p>
        </p:txBody>
      </p:sp>
      <p:sp>
        <p:nvSpPr>
          <p:cNvPr id="34" name="Text 27"/>
          <p:cNvSpPr txBox="1"/>
          <p:nvPr/>
        </p:nvSpPr>
        <p:spPr>
          <a:xfrm>
            <a:off x="868680" y="5074920"/>
            <a:ext cx="2121408" cy="292608"/>
          </a:xfrm>
          <a:prstGeom prst="rect">
            <a:avLst/>
          </a:prstGeom>
          <a:noFill/>
          <a:ln/>
        </p:spPr>
        <p:txBody>
          <a:bodyPr wrap="squar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Free Installation</a:t>
            </a:r>
            <a:endParaRPr lang="en-US" sz="1500" dirty="0"/>
          </a:p>
        </p:txBody>
      </p:sp>
      <p:sp>
        <p:nvSpPr>
          <p:cNvPr id="35" name="Text 28"/>
          <p:cNvSpPr txBox="1"/>
          <p:nvPr/>
        </p:nvSpPr>
        <p:spPr>
          <a:xfrm>
            <a:off x="868680" y="5458968"/>
            <a:ext cx="2121408" cy="292608"/>
          </a:xfrm>
          <a:prstGeom prst="rect">
            <a:avLst/>
          </a:prstGeom>
          <a:noFill/>
          <a:ln/>
        </p:spPr>
        <p:txBody>
          <a:bodyPr wrap="square" lIns="0" tIns="0" rIns="0" bIns="0" rtlCol="0" anchor="t"/>
          <a:lstStyle/>
          <a:p>
            <a:pPr rtl="1" algn="r" indent="0" marL="0">
              <a:buNone/>
            </a:pPr>
            <a:r>
              <a:rPr lang="ar-AE" altLang="en-US" sz="1400" b="1" dirty="0">
                <a:solidFill>
                  <a:schemeClr val="accent1"/>
                </a:solidFill>
                <a:latin typeface="Arial" pitchFamily="34" charset="0"/>
                <a:ea typeface="Arial" pitchFamily="34" charset="-122"/>
                <a:cs typeface="Arial" pitchFamily="34" charset="-120"/>
              </a:rPr>
              <a:t>التركيب المجاني</a:t>
            </a:r>
            <a:endParaRPr lang="ar-AE" sz="1400" dirty="0"/>
          </a:p>
        </p:txBody>
      </p:sp>
      <p:sp>
        <p:nvSpPr>
          <p:cNvPr id="36" name="Why tile 6"/>
          <p:cNvSpPr/>
          <p:nvPr/>
        </p:nvSpPr>
        <p:spPr>
          <a:xfrm>
            <a:off x="3417722" y="3977640"/>
            <a:ext cx="2578608" cy="2103120"/>
          </a:xfrm>
          <a:prstGeom prst="roundRect">
            <a:avLst>
              <a:gd name="adj" fmla="val 4348"/>
            </a:avLst>
          </a:prstGeom>
          <a:solidFill>
            <a:schemeClr val="bg1"/>
          </a:solidFill>
          <a:ln/>
          <a:effectLst>
            <a:outerShdw sx="100000" sy="100000" kx="0" ky="0" algn="bl" rotWithShape="0" blurRad="177800" dist="38100" dir="5400000">
              <a:srgbClr val="0B0D10">
                <a:alpha val="10000"/>
              </a:srgbClr>
            </a:outerShdw>
          </a:effectLst>
        </p:spPr>
      </p:sp>
      <p:sp>
        <p:nvSpPr>
          <p:cNvPr id="37" name="Why icon 6 circle"/>
          <p:cNvSpPr/>
          <p:nvPr/>
        </p:nvSpPr>
        <p:spPr>
          <a:xfrm>
            <a:off x="3646322" y="4160520"/>
            <a:ext cx="502920" cy="502920"/>
          </a:xfrm>
          <a:prstGeom prst="ellipse">
            <a:avLst/>
          </a:prstGeom>
          <a:solidFill>
            <a:schemeClr val="accent6"/>
          </a:solidFill>
          <a:ln/>
        </p:spPr>
      </p:sp>
      <p:pic>
        <p:nvPicPr>
          <p:cNvPr id="38" name="Why icon 6" descr="icon">    </p:cNvPr>
          <p:cNvPicPr>
            <a:picLocks noChangeAspect="1"/>
          </p:cNvPicPr>
          <p:nvPr/>
        </p:nvPicPr>
        <p:blipFill>
          <a:blip r:embed="rId6"/>
          <a:stretch>
            <a:fillRect/>
          </a:stretch>
        </p:blipFill>
        <p:spPr>
          <a:xfrm>
            <a:off x="3767023" y="4281221"/>
            <a:ext cx="261518" cy="261518"/>
          </a:xfrm>
          <a:prstGeom prst="rect">
            <a:avLst/>
          </a:prstGeom>
        </p:spPr>
      </p:pic>
      <p:sp>
        <p:nvSpPr>
          <p:cNvPr id="39" name="Text 31"/>
          <p:cNvSpPr txBox="1"/>
          <p:nvPr/>
        </p:nvSpPr>
        <p:spPr>
          <a:xfrm>
            <a:off x="5081930" y="4206240"/>
            <a:ext cx="685800" cy="320040"/>
          </a:xfrm>
          <a:prstGeom prst="rect">
            <a:avLst/>
          </a:prstGeom>
          <a:noFill/>
          <a:ln/>
        </p:spPr>
        <p:txBody>
          <a:bodyPr wrap="square" lIns="0" tIns="0" rIns="0" bIns="0" rtlCol="0" anchor="t"/>
          <a:lstStyle/>
          <a:p>
            <a:pPr algn="r" indent="0" marL="0">
              <a:buNone/>
            </a:pPr>
            <a:r>
              <a:rPr lang="en-US" sz="1600" dirty="0">
                <a:solidFill>
                  <a:schemeClr val="accent3"/>
                </a:solidFill>
                <a:latin typeface="Arial" pitchFamily="34" charset="0"/>
                <a:ea typeface="Arial" pitchFamily="34" charset="-122"/>
                <a:cs typeface="Arial" pitchFamily="34" charset="-120"/>
              </a:rPr>
              <a:t>06</a:t>
            </a:r>
            <a:endParaRPr lang="en-US" sz="1600" dirty="0"/>
          </a:p>
        </p:txBody>
      </p:sp>
      <p:sp>
        <p:nvSpPr>
          <p:cNvPr id="40" name="Text 32"/>
          <p:cNvSpPr txBox="1"/>
          <p:nvPr/>
        </p:nvSpPr>
        <p:spPr>
          <a:xfrm>
            <a:off x="3646322" y="5074920"/>
            <a:ext cx="2121408" cy="292608"/>
          </a:xfrm>
          <a:prstGeom prst="rect">
            <a:avLst/>
          </a:prstGeom>
          <a:noFill/>
          <a:ln/>
        </p:spPr>
        <p:txBody>
          <a:bodyPr wrap="squar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Warranty Support</a:t>
            </a:r>
            <a:endParaRPr lang="en-US" sz="1500" dirty="0"/>
          </a:p>
        </p:txBody>
      </p:sp>
      <p:sp>
        <p:nvSpPr>
          <p:cNvPr id="41" name="Text 33"/>
          <p:cNvSpPr txBox="1"/>
          <p:nvPr/>
        </p:nvSpPr>
        <p:spPr>
          <a:xfrm>
            <a:off x="3646322" y="5458968"/>
            <a:ext cx="2121408" cy="292608"/>
          </a:xfrm>
          <a:prstGeom prst="rect">
            <a:avLst/>
          </a:prstGeom>
          <a:noFill/>
          <a:ln/>
        </p:spPr>
        <p:txBody>
          <a:bodyPr wrap="square" lIns="0" tIns="0" rIns="0" bIns="0" rtlCol="0" anchor="t"/>
          <a:lstStyle/>
          <a:p>
            <a:pPr rtl="1" algn="r" indent="0" marL="0">
              <a:buNone/>
            </a:pPr>
            <a:r>
              <a:rPr lang="ar-AE" altLang="en-US" sz="1400" b="1" dirty="0">
                <a:solidFill>
                  <a:schemeClr val="accent1"/>
                </a:solidFill>
                <a:latin typeface="Arial" pitchFamily="34" charset="0"/>
                <a:ea typeface="Arial" pitchFamily="34" charset="-122"/>
                <a:cs typeface="Arial" pitchFamily="34" charset="-120"/>
              </a:rPr>
              <a:t>الضمان</a:t>
            </a:r>
            <a:endParaRPr lang="ar-AE" sz="1400" dirty="0"/>
          </a:p>
        </p:txBody>
      </p:sp>
      <p:sp>
        <p:nvSpPr>
          <p:cNvPr id="42" name="Why tile 7"/>
          <p:cNvSpPr/>
          <p:nvPr/>
        </p:nvSpPr>
        <p:spPr>
          <a:xfrm>
            <a:off x="6195365" y="3977640"/>
            <a:ext cx="2578608" cy="2103120"/>
          </a:xfrm>
          <a:prstGeom prst="roundRect">
            <a:avLst>
              <a:gd name="adj" fmla="val 4348"/>
            </a:avLst>
          </a:prstGeom>
          <a:solidFill>
            <a:schemeClr val="bg1"/>
          </a:solidFill>
          <a:ln/>
          <a:effectLst>
            <a:outerShdw sx="100000" sy="100000" kx="0" ky="0" algn="bl" rotWithShape="0" blurRad="177800" dist="38100" dir="5400000">
              <a:srgbClr val="0B0D10">
                <a:alpha val="10000"/>
              </a:srgbClr>
            </a:outerShdw>
          </a:effectLst>
        </p:spPr>
      </p:sp>
      <p:sp>
        <p:nvSpPr>
          <p:cNvPr id="43" name="Why icon 7 circle"/>
          <p:cNvSpPr/>
          <p:nvPr/>
        </p:nvSpPr>
        <p:spPr>
          <a:xfrm>
            <a:off x="6423965" y="4160520"/>
            <a:ext cx="502920" cy="502920"/>
          </a:xfrm>
          <a:prstGeom prst="ellipse">
            <a:avLst/>
          </a:prstGeom>
          <a:solidFill>
            <a:schemeClr val="accent6"/>
          </a:solidFill>
          <a:ln/>
        </p:spPr>
      </p:sp>
      <p:pic>
        <p:nvPicPr>
          <p:cNvPr id="44" name="Why icon 7" descr="icon">    </p:cNvPr>
          <p:cNvPicPr>
            <a:picLocks noChangeAspect="1"/>
          </p:cNvPicPr>
          <p:nvPr/>
        </p:nvPicPr>
        <p:blipFill>
          <a:blip r:embed="rId7"/>
          <a:stretch>
            <a:fillRect/>
          </a:stretch>
        </p:blipFill>
        <p:spPr>
          <a:xfrm>
            <a:off x="6544666" y="4281221"/>
            <a:ext cx="261518" cy="261518"/>
          </a:xfrm>
          <a:prstGeom prst="rect">
            <a:avLst/>
          </a:prstGeom>
        </p:spPr>
      </p:pic>
      <p:sp>
        <p:nvSpPr>
          <p:cNvPr id="45" name="Text 36"/>
          <p:cNvSpPr txBox="1"/>
          <p:nvPr/>
        </p:nvSpPr>
        <p:spPr>
          <a:xfrm>
            <a:off x="7859573" y="4206240"/>
            <a:ext cx="685800" cy="320040"/>
          </a:xfrm>
          <a:prstGeom prst="rect">
            <a:avLst/>
          </a:prstGeom>
          <a:noFill/>
          <a:ln/>
        </p:spPr>
        <p:txBody>
          <a:bodyPr wrap="square" lIns="0" tIns="0" rIns="0" bIns="0" rtlCol="0" anchor="t"/>
          <a:lstStyle/>
          <a:p>
            <a:pPr algn="r" indent="0" marL="0">
              <a:buNone/>
            </a:pPr>
            <a:r>
              <a:rPr lang="en-US" sz="1600" dirty="0">
                <a:solidFill>
                  <a:schemeClr val="accent3"/>
                </a:solidFill>
                <a:latin typeface="Arial" pitchFamily="34" charset="0"/>
                <a:ea typeface="Arial" pitchFamily="34" charset="-122"/>
                <a:cs typeface="Arial" pitchFamily="34" charset="-120"/>
              </a:rPr>
              <a:t>07</a:t>
            </a:r>
            <a:endParaRPr lang="en-US" sz="1600" dirty="0"/>
          </a:p>
        </p:txBody>
      </p:sp>
      <p:sp>
        <p:nvSpPr>
          <p:cNvPr id="46" name="Text 37"/>
          <p:cNvSpPr txBox="1"/>
          <p:nvPr/>
        </p:nvSpPr>
        <p:spPr>
          <a:xfrm>
            <a:off x="6423965" y="5074920"/>
            <a:ext cx="2121408" cy="292608"/>
          </a:xfrm>
          <a:prstGeom prst="rect">
            <a:avLst/>
          </a:prstGeom>
          <a:noFill/>
          <a:ln/>
        </p:spPr>
        <p:txBody>
          <a:bodyPr wrap="squar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Convenient Shopping</a:t>
            </a:r>
            <a:endParaRPr lang="en-US" sz="1500" dirty="0"/>
          </a:p>
        </p:txBody>
      </p:sp>
      <p:sp>
        <p:nvSpPr>
          <p:cNvPr id="47" name="Text 38"/>
          <p:cNvSpPr txBox="1"/>
          <p:nvPr/>
        </p:nvSpPr>
        <p:spPr>
          <a:xfrm>
            <a:off x="6423965" y="5458968"/>
            <a:ext cx="2121408" cy="292608"/>
          </a:xfrm>
          <a:prstGeom prst="rect">
            <a:avLst/>
          </a:prstGeom>
          <a:noFill/>
          <a:ln/>
        </p:spPr>
        <p:txBody>
          <a:bodyPr wrap="square" lIns="0" tIns="0" rIns="0" bIns="0" rtlCol="0" anchor="t"/>
          <a:lstStyle/>
          <a:p>
            <a:pPr rtl="1" algn="r" indent="0" marL="0">
              <a:buNone/>
            </a:pPr>
            <a:r>
              <a:rPr lang="ar-AE" altLang="en-US" sz="1400" b="1" dirty="0">
                <a:solidFill>
                  <a:schemeClr val="accent1"/>
                </a:solidFill>
                <a:latin typeface="Arial" pitchFamily="34" charset="0"/>
                <a:ea typeface="Arial" pitchFamily="34" charset="-122"/>
                <a:cs typeface="Arial" pitchFamily="34" charset="-120"/>
              </a:rPr>
              <a:t>سهولة الطلب</a:t>
            </a:r>
            <a:endParaRPr lang="ar-AE" sz="1400" dirty="0"/>
          </a:p>
        </p:txBody>
      </p:sp>
      <p:sp>
        <p:nvSpPr>
          <p:cNvPr id="48" name="Brand tile"/>
          <p:cNvSpPr/>
          <p:nvPr/>
        </p:nvSpPr>
        <p:spPr>
          <a:xfrm>
            <a:off x="8973007" y="3977640"/>
            <a:ext cx="2578608" cy="2103120"/>
          </a:xfrm>
          <a:prstGeom prst="roundRect">
            <a:avLst>
              <a:gd name="adj" fmla="val 4348"/>
            </a:avLst>
          </a:prstGeom>
          <a:solidFill>
            <a:schemeClr val="tx1"/>
          </a:solidFill>
          <a:ln/>
        </p:spPr>
      </p:sp>
      <p:pic>
        <p:nvPicPr>
          <p:cNvPr id="49" name="Tile logo" descr="EVCARS logo">    </p:cNvPr>
          <p:cNvPicPr>
            <a:picLocks noChangeAspect="1"/>
          </p:cNvPicPr>
          <p:nvPr/>
        </p:nvPicPr>
        <p:blipFill>
          <a:blip r:embed="rId8"/>
          <a:stretch>
            <a:fillRect/>
          </a:stretch>
        </p:blipFill>
        <p:spPr>
          <a:xfrm>
            <a:off x="9293047" y="4617720"/>
            <a:ext cx="1938528" cy="389783"/>
          </a:xfrm>
          <a:prstGeom prst="rect">
            <a:avLst/>
          </a:prstGeom>
        </p:spPr>
      </p:pic>
      <p:sp>
        <p:nvSpPr>
          <p:cNvPr id="50" name="Text 40"/>
          <p:cNvSpPr txBox="1"/>
          <p:nvPr/>
        </p:nvSpPr>
        <p:spPr>
          <a:xfrm>
            <a:off x="9247327" y="5303520"/>
            <a:ext cx="2029968" cy="548640"/>
          </a:xfrm>
          <a:prstGeom prst="rect">
            <a:avLst/>
          </a:prstGeom>
          <a:noFill/>
          <a:ln/>
        </p:spPr>
        <p:txBody>
          <a:bodyPr wrap="square" lIns="0" tIns="0" rIns="0" bIns="0" rtlCol="0" anchor="t"/>
          <a:lstStyle/>
          <a:p>
            <a:pPr algn="ctr" indent="0" marL="0">
              <a:buNone/>
            </a:pPr>
            <a:r>
              <a:rPr lang="en-US" sz="1100" dirty="0">
                <a:solidFill>
                  <a:schemeClr val="accent5"/>
                </a:solidFill>
                <a:latin typeface="Arial" pitchFamily="34" charset="0"/>
                <a:ea typeface="Arial" pitchFamily="34" charset="-122"/>
                <a:cs typeface="Arial" pitchFamily="34" charset="-120"/>
              </a:rPr>
              <a:t>Driving the EV experience forward</a:t>
            </a:r>
            <a:endParaRPr lang="en-US" sz="1100" dirty="0"/>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A75"/>
                </a:solidFill>
                <a:latin typeface="Arial"/>
                <a:ea typeface="Arial"/>
                <a:cs typeface="Arial"/>
              </a:defRPr>
            </a:lvl1pPr>
          </a:lstStyle>
          <a:p>
            <a:pPr algn="r"/>
            <a:fld id="{F7021451-1387-4CA6-816F-3879F97B5CBC}" type="slidenum">
              <a:rPr b="0" lang="en-US"/>
              <a:t>19</a:t>
            </a:fld>
            <a:endParaRPr lang="en-US"/>
          </a:p>
        </p:txBody>
      </p:sp>
      <p:sp>
        <p:nvSpPr>
          <p:cNvPr id="51" name="Back to contents" descr="Back to contents">
            <a:hlinkClick r:id="rId11" action="ppaction://hlinksldjump" tooltip="Back to Contents / العودة إلى المحتويات"/>
          </p:cNvPr>
          <p:cNvSpPr/>
          <p:nvPr/>
        </p:nvSpPr>
        <p:spPr>
          <a:xfrm>
            <a:off x="8838000" y="6283000"/>
            <a:ext cx="1850000" cy="300000"/>
          </a:xfrm>
          <a:prstGeom prst="roundRect">
            <a:avLst>
              <a:gd name="adj" fmla="val 50000"/>
            </a:avLst>
          </a:prstGeom>
          <a:noFill/>
          <a:ln w="9525">
            <a:solidFill>
              <a:schemeClr val="accent1"/>
            </a:solidFill>
          </a:ln>
        </p:spPr>
        <p:txBody>
          <a:bodyPr wrap="none" lIns="0" tIns="0" rIns="0" bIns="0" rtlCol="0" anchor="ctr"/>
          <a:lstStyle/>
          <a:p>
            <a:pPr algn="ctr"/>
            <a:r>
              <a:rPr lang="en-US" sz="900" b="1" spc="120" dirty="0">
                <a:solidFill>
                  <a:schemeClr val="accent1"/>
                </a:solidFill>
                <a:latin typeface="Arial"/>
                <a:cs typeface="Arial"/>
              </a:rPr>
              <a:t>CONTENTS  ·  </a:t>
            </a:r>
            <a:r>
              <a:rPr lang="ar-AE" sz="900" b="1" dirty="0">
                <a:solidFill>
                  <a:schemeClr val="accent1"/>
                </a:solidFill>
                <a:latin typeface="Arial"/>
                <a:cs typeface="Arial"/>
              </a:rPr>
              <a:t>المحتويات</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40080" y="411480"/>
            <a:ext cx="5486400" cy="228600"/>
          </a:xfrm>
          <a:prstGeom prst="rect">
            <a:avLst/>
          </a:prstGeom>
          <a:noFill/>
          <a:ln/>
        </p:spPr>
        <p:txBody>
          <a:bodyPr wrap="square" lIns="0" tIns="0" rIns="0" bIns="0" rtlCol="0" anchor="t"/>
          <a:lstStyle/>
          <a:p>
            <a:pPr algn="l" indent="0" marL="0">
              <a:spcAft>
                <a:spcPts val="0"/>
              </a:spcAft>
              <a:buNone/>
            </a:pPr>
            <a:r>
              <a:rPr lang="en-US" sz="1000" b="1" spc="300" dirty="0">
                <a:solidFill>
                  <a:schemeClr val="accent2"/>
                </a:solidFill>
                <a:latin typeface="Arial"/>
                <a:ea typeface="Arial"/>
                <a:cs typeface="Arial"/>
              </a:rPr>
              <a:t>06   ·   OUR FUTURE DIRECTION</a:t>
            </a:r>
          </a:p>
        </p:txBody>
      </p:sp>
      <p:sp>
        <p:nvSpPr>
          <p:cNvPr id="3" name="Text 1"/>
          <p:cNvSpPr txBox="1"/>
          <p:nvPr/>
        </p:nvSpPr>
        <p:spPr>
          <a:xfrm>
            <a:off x="6065215" y="411480"/>
            <a:ext cx="5486400" cy="228600"/>
          </a:xfrm>
          <a:prstGeom prst="rect">
            <a:avLst/>
          </a:prstGeom>
          <a:noFill/>
          <a:ln/>
        </p:spPr>
        <p:txBody>
          <a:bodyPr wrap="square" lIns="0" tIns="0" rIns="0" bIns="0" rtlCol="0" anchor="t"/>
          <a:lstStyle/>
          <a:p>
            <a:pPr algn="r" rtl="1" indent="0" marL="0">
              <a:spcAft>
                <a:spcPts val="0"/>
              </a:spcAft>
              <a:buNone/>
            </a:pPr>
            <a:r>
              <a:rPr lang="ar-AE" sz="1000" b="1" dirty="0">
                <a:solidFill>
                  <a:schemeClr val="accent2"/>
                </a:solidFill>
                <a:latin typeface="Arial"/>
                <a:ea typeface="Arial"/>
                <a:cs typeface="Arial"/>
              </a:rPr>
              <a:t>06   ·   خططنا المستقبلية</a:t>
            </a:r>
          </a:p>
        </p:txBody>
      </p:sp>
      <p:sp>
        <p:nvSpPr>
          <p:cNvPr id="4" name="Text 0"/>
          <p:cNvSpPr/>
          <p:nvPr>
            <p:ph idx="100" type="title" hasCustomPrompt="1"/>
          </p:nvPr>
        </p:nvSpPr>
        <p:spPr>
          <a:xfrm>
            <a:off x="640080" y="713232"/>
            <a:ext cx="3611880" cy="868680"/>
          </a:xfrm>
          <a:prstGeom prst="rect">
            <a:avLst/>
          </a:prstGeom>
          <a:noFill/>
          <a:ln/>
        </p:spPr>
        <p:txBody>
          <a:bodyPr wrap="square" lIns="0" tIns="0" rIns="0" bIns="0" rtlCol="0" anchor="t"/>
          <a:lstStyle/>
          <a:p>
            <a:pPr algn="l" indent="0" marL="0">
              <a:lnSpc>
                <a:spcPct val="95000"/>
              </a:lnSpc>
              <a:spcAft>
                <a:spcPts val="0"/>
              </a:spcAft>
              <a:buNone/>
            </a:pPr>
            <a:r>
              <a:rPr lang="en-US" sz="2600" dirty="0">
                <a:solidFill>
                  <a:schemeClr val="bg1"/>
                </a:solidFill>
                <a:latin typeface="Arial"/>
                <a:ea typeface="Arial"/>
                <a:cs typeface="Arial"/>
              </a:rPr>
              <a:t>Our Regional</a:t>
            </a:r>
          </a:p>
          <a:p>
            <a:pPr algn="l" indent="0" marL="0">
              <a:lnSpc>
                <a:spcPct val="95000"/>
              </a:lnSpc>
              <a:spcAft>
                <a:spcPts val="0"/>
              </a:spcAft>
              <a:buNone/>
            </a:pPr>
            <a:r>
              <a:rPr lang="en-US" sz="2600" dirty="0">
                <a:solidFill>
                  <a:schemeClr val="accent2"/>
                </a:solidFill>
                <a:latin typeface="Arial"/>
                <a:ea typeface="Arial"/>
                <a:cs typeface="Arial"/>
              </a:rPr>
              <a:t>Expansion Roadmap</a:t>
            </a:r>
          </a:p>
        </p:txBody>
      </p:sp>
      <p:sp>
        <p:nvSpPr>
          <p:cNvPr id="5" name="Text 0"/>
          <p:cNvSpPr/>
          <p:nvPr>
            <p:ph idx="101" type="body" hasCustomPrompt="1"/>
          </p:nvPr>
        </p:nvSpPr>
        <p:spPr>
          <a:xfrm>
            <a:off x="7939735" y="713232"/>
            <a:ext cx="3611880" cy="868680"/>
          </a:xfrm>
          <a:prstGeom prst="rect">
            <a:avLst/>
          </a:prstGeom>
          <a:noFill/>
          <a:ln/>
        </p:spPr>
        <p:txBody>
          <a:bodyPr wrap="square" lIns="0" tIns="0" rIns="0" bIns="0" rtlCol="0" anchor="t"/>
          <a:lstStyle/>
          <a:p>
            <a:pPr algn="r" rtl="1" indent="0" marL="0">
              <a:lnSpc>
                <a:spcPct val="95000"/>
              </a:lnSpc>
              <a:spcAft>
                <a:spcPts val="0"/>
              </a:spcAft>
              <a:buNone/>
            </a:pPr>
            <a:r>
              <a:rPr lang="ar-AE" sz="2600" dirty="0">
                <a:solidFill>
                  <a:schemeClr val="bg1"/>
                </a:solidFill>
                <a:latin typeface="Arial"/>
                <a:ea typeface="Arial"/>
                <a:cs typeface="Arial"/>
              </a:rPr>
              <a:t>خارطة توسعنا</a:t>
            </a:r>
          </a:p>
          <a:p>
            <a:pPr algn="r" rtl="1" indent="0" marL="0">
              <a:lnSpc>
                <a:spcPct val="95000"/>
              </a:lnSpc>
              <a:spcAft>
                <a:spcPts val="0"/>
              </a:spcAft>
              <a:buNone/>
            </a:pPr>
            <a:r>
              <a:rPr lang="ar-AE" sz="2600" dirty="0">
                <a:solidFill>
                  <a:schemeClr val="accent2"/>
                </a:solidFill>
                <a:latin typeface="Arial"/>
                <a:ea typeface="Arial"/>
                <a:cs typeface="Arial"/>
              </a:rPr>
              <a:t>الإقليمي</a:t>
            </a:r>
          </a:p>
        </p:txBody>
      </p:sp>
      <p:sp>
        <p:nvSpPr>
          <p:cNvPr id="25" name="Slide Number Placeholder 0"/>
          <p:cNvSpPr>
            <a:spLocks noGrp="1"/>
          </p:cNvSpPr>
          <p:nvPr>
            <p:ph type="sldNum" sz="quarter" idx="4294967295"/>
          </p:nvPr>
        </p:nvSpPr>
        <p:spPr>
          <a:xfrm>
            <a:off x="10820095" y="6336792"/>
            <a:ext cx="7315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DDE2E7"/>
                </a:solidFill>
                <a:latin typeface="Arial"/>
                <a:ea typeface="Arial"/>
                <a:cs typeface="Arial"/>
              </a:defRPr>
            </a:lvl1pPr>
          </a:lstStyle>
          <a:p>
            <a:pPr algn="r"/>
            <a:fld id="{F7021451-1387-4CA6-816F-3879F97B5CBC}" type="slidenum">
              <a:rPr b="0" lang="en-US"/>
              <a:t>20</a:t>
            </a:fld>
            <a:endParaRPr lang="en-US"/>
          </a:p>
        </p:txBody>
      </p:sp>
      <p:sp>
        <p:nvSpPr>
          <p:cNvPr id="26" name="Back to contents" descr="Back to contents">
            <a:hlinkClick r:id="rId3" action="ppaction://hlinksldjump" tooltip="Back to Contents / العودة إلى المحتويات"/>
          </p:cNvPr>
          <p:cNvSpPr/>
          <p:nvPr/>
        </p:nvSpPr>
        <p:spPr>
          <a:xfrm>
            <a:off x="8838000" y="6283000"/>
            <a:ext cx="1850000" cy="300000"/>
          </a:xfrm>
          <a:prstGeom prst="roundRect">
            <a:avLst>
              <a:gd name="adj" fmla="val 50000"/>
            </a:avLst>
          </a:prstGeom>
          <a:noFill/>
          <a:ln w="9525">
            <a:solidFill>
              <a:schemeClr val="accent1"/>
            </a:solidFill>
          </a:ln>
        </p:spPr>
        <p:txBody>
          <a:bodyPr wrap="none" lIns="0" tIns="0" rIns="0" bIns="0" rtlCol="0" anchor="ctr"/>
          <a:lstStyle/>
          <a:p>
            <a:pPr algn="ctr"/>
            <a:r>
              <a:rPr lang="en-US" sz="900" b="1" spc="120" dirty="0">
                <a:solidFill>
                  <a:schemeClr val="accent1"/>
                </a:solidFill>
                <a:latin typeface="Arial"/>
                <a:cs typeface="Arial"/>
              </a:rPr>
              <a:t>CONTENTS  ·  </a:t>
            </a:r>
            <a:r>
              <a:rPr lang="ar-AE" sz="900" b="1" dirty="0">
                <a:solidFill>
                  <a:schemeClr val="accent1"/>
                </a:solidFill>
                <a:latin typeface="Arial"/>
                <a:cs typeface="Arial"/>
              </a:rPr>
              <a:t>المحتويات</a:t>
            </a:r>
          </a:p>
        </p:txBody>
      </p:sp>
      <p:sp>
        <p:nvSpPr>
          <p:cNvPr id="201" name="Intro EN"/>
          <p:cNvSpPr txBox="1"/>
          <p:nvPr/>
        </p:nvSpPr>
        <p:spPr>
          <a:xfrm>
            <a:off x="640080" y="1737360"/>
            <a:ext cx="3611880" cy="1920240"/>
          </a:xfrm>
          <a:prstGeom prst="rect">
            <a:avLst/>
          </a:prstGeom>
          <a:noFill/>
          <a:ln>
            <a:noFill/>
          </a:ln>
        </p:spPr>
        <p:txBody>
          <a:bodyPr wrap="square" lIns="0" tIns="0" rIns="0" bIns="0" rtlCol="0" anchor="t">
            <a:noAutofit/>
          </a:bodyPr>
          <a:lstStyle/>
          <a:p>
            <a:pPr algn="l" indent="0" marL="0">
              <a:lnSpc>
                <a:spcPct val="105000"/>
              </a:lnSpc>
              <a:spcAft>
                <a:spcPts val="500"/>
              </a:spcAft>
              <a:buNone/>
            </a:pPr>
            <a:r>
              <a:rPr lang="en-US" sz="1050" dirty="0">
                <a:solidFill>
                  <a:schemeClr val="accent5"/>
                </a:solidFill>
                <a:latin typeface="Arial"/>
                <a:ea typeface="Arial"/>
                <a:cs typeface="Arial"/>
              </a:rPr>
              <a:t>Building on our established presence in the United Arab Emirates and the Sultanate of Oman, EVCARS is moving toward regional expansion, with Saudi Arabia as our next destination, followed by Qatar.</a:t>
            </a:r>
          </a:p>
          <a:p>
            <a:pPr algn="l" indent="0" marL="0">
              <a:lnSpc>
                <a:spcPct val="105000"/>
              </a:lnSpc>
              <a:spcAft>
                <a:spcPts val="0"/>
              </a:spcAft>
              <a:buNone/>
            </a:pPr>
            <a:r>
              <a:rPr lang="en-US" sz="1050" dirty="0">
                <a:solidFill>
                  <a:schemeClr val="accent5"/>
                </a:solidFill>
                <a:latin typeface="Arial"/>
                <a:ea typeface="Arial"/>
                <a:cs typeface="Arial"/>
              </a:rPr>
              <a:t>Our long-term vision is to explore new markets and expand our network across the region, bringing innovative electric vehicle accessories, charging solutions, and specialized services closer to our customers.</a:t>
            </a:r>
          </a:p>
        </p:txBody>
      </p:sp>
      <p:sp>
        <p:nvSpPr>
          <p:cNvPr id="202" name="Intro AR"/>
          <p:cNvSpPr txBox="1"/>
          <p:nvPr/>
        </p:nvSpPr>
        <p:spPr>
          <a:xfrm>
            <a:off x="7939735" y="1737360"/>
            <a:ext cx="3611880" cy="1920240"/>
          </a:xfrm>
          <a:prstGeom prst="rect">
            <a:avLst/>
          </a:prstGeom>
          <a:noFill/>
          <a:ln>
            <a:noFill/>
          </a:ln>
        </p:spPr>
        <p:txBody>
          <a:bodyPr wrap="square" lIns="0" tIns="0" rIns="0" bIns="0" rtlCol="0" anchor="t">
            <a:noAutofit/>
          </a:bodyPr>
          <a:lstStyle/>
          <a:p>
            <a:pPr algn="r" rtl="1" indent="0" marL="0">
              <a:lnSpc>
                <a:spcPct val="105000"/>
              </a:lnSpc>
              <a:spcAft>
                <a:spcPts val="500"/>
              </a:spcAft>
              <a:buNone/>
            </a:pPr>
            <a:r>
              <a:rPr lang="ar-AE" sz="1050" dirty="0">
                <a:solidFill>
                  <a:schemeClr val="accent5"/>
                </a:solidFill>
                <a:latin typeface="Arial"/>
                <a:ea typeface="Arial"/>
                <a:cs typeface="Arial"/>
              </a:rPr>
              <a:t>انطلاقاً من حضورنا في دولة الإمارات العربية المتحدة وسلطنة عُمان، تتجه EVCARS نحو مرحلة جديدة من التوسع الإقليمي، تبدأ بالمملكة العربية السعودية، تليها دولة قطر.</a:t>
            </a:r>
          </a:p>
          <a:p>
            <a:pPr algn="r" rtl="1" indent="0" marL="0">
              <a:lnSpc>
                <a:spcPct val="105000"/>
              </a:lnSpc>
              <a:spcAft>
                <a:spcPts val="0"/>
              </a:spcAft>
              <a:buNone/>
            </a:pPr>
            <a:r>
              <a:rPr lang="ar-AE" sz="1050" dirty="0">
                <a:solidFill>
                  <a:schemeClr val="accent5"/>
                </a:solidFill>
                <a:latin typeface="Arial"/>
                <a:ea typeface="Arial"/>
                <a:cs typeface="Arial"/>
              </a:rPr>
              <a:t>ونطمح مستقبلاً إلى استكشاف أسواق جديدة وتوسيع شبكة فروعنا وخدماتنا، بما يعزز حضور العلامة التجارية ويقرّب حلول وإكسسوارات السيارات الكهربائية من عملائنا في مختلف الأسواق.</a:t>
            </a:r>
          </a:p>
        </p:txBody>
      </p:sp>
      <p:sp>
        <p:nvSpPr>
          <p:cNvPr id="203" name="Presence panel"/>
          <p:cNvSpPr/>
          <p:nvPr/>
        </p:nvSpPr>
        <p:spPr>
          <a:xfrm>
            <a:off x="4434840" y="868680"/>
            <a:ext cx="3322015" cy="2487168"/>
          </a:xfrm>
          <a:prstGeom prst="roundRect">
            <a:avLst>
              <a:gd name="adj" fmla="val 5000"/>
            </a:avLst>
          </a:prstGeom>
          <a:solidFill>
            <a:schemeClr val="accent4">
              <a:alpha val="55000"/>
            </a:schemeClr>
          </a:solidFill>
          <a:ln w="9525">
            <a:solidFill>
              <a:schemeClr val="accent3">
                <a:alpha val="60000"/>
              </a:schemeClr>
            </a:solidFill>
          </a:ln>
        </p:spPr>
      </p:sp>
      <p:sp>
        <p:nvSpPr>
          <p:cNvPr id="204" name="Presence title EN"/>
          <p:cNvSpPr txBox="1"/>
          <p:nvPr/>
        </p:nvSpPr>
        <p:spPr>
          <a:xfrm>
            <a:off x="4617720" y="1097280"/>
            <a:ext cx="1783080" cy="201168"/>
          </a:xfrm>
          <a:prstGeom prst="rect">
            <a:avLst/>
          </a:prstGeom>
          <a:noFill/>
          <a:ln>
            <a:noFill/>
          </a:ln>
        </p:spPr>
        <p:txBody>
          <a:bodyPr wrap="square" lIns="0" tIns="0" rIns="0" bIns="0" rtlCol="0" anchor="t">
            <a:noAutofit/>
          </a:bodyPr>
          <a:lstStyle/>
          <a:p>
            <a:pPr algn="l" indent="0" marL="0">
              <a:spcAft>
                <a:spcPts val="0"/>
              </a:spcAft>
              <a:buNone/>
            </a:pPr>
            <a:r>
              <a:rPr lang="en-US" sz="750" b="1" dirty="0">
                <a:solidFill>
                  <a:schemeClr val="bg1"/>
                </a:solidFill>
                <a:latin typeface="Arial"/>
                <a:ea typeface="Arial"/>
                <a:cs typeface="Arial"/>
              </a:rPr>
              <a:t>OUR ESTABLISHED PRESENCE</a:t>
            </a:r>
          </a:p>
        </p:txBody>
      </p:sp>
      <p:sp>
        <p:nvSpPr>
          <p:cNvPr id="205" name="Presence title AR"/>
          <p:cNvSpPr txBox="1"/>
          <p:nvPr/>
        </p:nvSpPr>
        <p:spPr>
          <a:xfrm>
            <a:off x="6476695" y="1051560"/>
            <a:ext cx="1097280" cy="256032"/>
          </a:xfrm>
          <a:prstGeom prst="rect">
            <a:avLst/>
          </a:prstGeom>
          <a:noFill/>
          <a:ln>
            <a:noFill/>
          </a:ln>
        </p:spPr>
        <p:txBody>
          <a:bodyPr wrap="square" lIns="0" tIns="0" rIns="0" bIns="0" rtlCol="0" anchor="t">
            <a:noAutofit/>
          </a:bodyPr>
          <a:lstStyle/>
          <a:p>
            <a:pPr algn="r" rtl="1" indent="0" marL="0">
              <a:spcAft>
                <a:spcPts val="0"/>
              </a:spcAft>
              <a:buNone/>
            </a:pPr>
            <a:r>
              <a:rPr lang="ar-AE" sz="1100" b="1" dirty="0">
                <a:solidFill>
                  <a:schemeClr val="accent2"/>
                </a:solidFill>
                <a:latin typeface="Arial"/>
                <a:ea typeface="Arial"/>
                <a:cs typeface="Arial"/>
              </a:rPr>
              <a:t>حضورنا الحالي</a:t>
            </a:r>
          </a:p>
        </p:txBody>
      </p:sp>
      <p:cxnSp>
        <p:nvCxnSpPr>
          <p:cNvPr id="216" name="Roadmap line"/>
          <p:cNvCxnSpPr/>
          <p:nvPr/>
        </p:nvCxnSpPr>
        <p:spPr>
          <a:xfrm>
            <a:off x="3073756" y="4160520"/>
            <a:ext cx="7333488" cy="0"/>
          </a:xfrm>
          <a:prstGeom prst="line">
            <a:avLst/>
          </a:prstGeom>
          <a:ln w="19050">
            <a:solidFill>
              <a:schemeClr val="accent3">
                <a:alpha val="70000"/>
              </a:schemeClr>
            </a:solidFill>
            <a:prstDash val="sysDot"/>
          </a:ln>
        </p:spPr>
      </p:cxnSp>
      <p:sp>
        <p:nvSpPr>
          <p:cNvPr id="217" name="Label 01"/>
          <p:cNvSpPr txBox="1"/>
          <p:nvPr/>
        </p:nvSpPr>
        <p:spPr>
          <a:xfrm>
            <a:off x="641452" y="4617720"/>
            <a:ext cx="960120" cy="822960"/>
          </a:xfrm>
          <a:prstGeom prst="rect">
            <a:avLst/>
          </a:prstGeom>
          <a:noFill/>
          <a:ln>
            <a:noFill/>
          </a:ln>
        </p:spPr>
        <p:txBody>
          <a:bodyPr wrap="square" lIns="0" tIns="0" rIns="0" bIns="0" rtlCol="0" anchor="ctr">
            <a:noAutofit/>
          </a:bodyPr>
          <a:lstStyle/>
          <a:p>
            <a:pPr algn="l" indent="0" marL="0">
              <a:lnSpc>
                <a:spcPct val="95000"/>
              </a:lnSpc>
              <a:spcAft>
                <a:spcPts val="0"/>
              </a:spcAft>
              <a:buNone/>
            </a:pPr>
            <a:r>
              <a:rPr lang="en-US" sz="900" b="1" dirty="0">
                <a:solidFill>
                  <a:schemeClr val="accent2"/>
                </a:solidFill>
                <a:latin typeface="Arial"/>
                <a:ea typeface="Arial"/>
                <a:cs typeface="Arial"/>
              </a:rPr>
              <a:t>Next</a:t>
            </a:r>
          </a:p>
          <a:p>
            <a:pPr algn="l" indent="0" marL="0">
              <a:lnSpc>
                <a:spcPct val="95000"/>
              </a:lnSpc>
              <a:spcAft>
                <a:spcPts val="300"/>
              </a:spcAft>
              <a:buNone/>
            </a:pPr>
            <a:r>
              <a:rPr lang="en-US" sz="900" b="1" dirty="0">
                <a:solidFill>
                  <a:schemeClr val="accent2"/>
                </a:solidFill>
                <a:latin typeface="Arial"/>
                <a:ea typeface="Arial"/>
                <a:cs typeface="Arial"/>
              </a:rPr>
              <a:t>Destination</a:t>
            </a:r>
          </a:p>
          <a:p>
            <a:pPr algn="l" indent="0" marL="0">
              <a:spcAft>
                <a:spcPts val="0"/>
              </a:spcAft>
              <a:buNone/>
            </a:pPr>
            <a:r>
              <a:rPr lang="ar-AE" sz="1000" dirty="0">
                <a:solidFill>
                  <a:schemeClr val="accent5"/>
                </a:solidFill>
                <a:latin typeface="Arial"/>
                <a:ea typeface="Arial"/>
                <a:cs typeface="Arial"/>
              </a:rPr>
              <a:t>وجهتنا القادمة</a:t>
            </a:r>
          </a:p>
        </p:txBody>
      </p:sp>
      <p:sp>
        <p:nvSpPr>
          <p:cNvPr id="218" name="Chevron 010"/>
          <p:cNvSpPr/>
          <p:nvPr/>
        </p:nvSpPr>
        <p:spPr>
          <a:xfrm>
            <a:off x="1619860" y="4892040"/>
            <a:ext cx="155448" cy="274320"/>
          </a:xfrm>
          <a:prstGeom prst="chevron">
            <a:avLst>
              <a:gd name="adj" fmla="val 60000"/>
            </a:avLst>
          </a:prstGeom>
          <a:solidFill>
            <a:schemeClr val="accent2">
              <a:alpha val="55000"/>
            </a:schemeClr>
          </a:solidFill>
          <a:ln>
            <a:noFill/>
          </a:ln>
        </p:spPr>
      </p:sp>
      <p:sp>
        <p:nvSpPr>
          <p:cNvPr id="219" name="Chevron 011"/>
          <p:cNvSpPr/>
          <p:nvPr/>
        </p:nvSpPr>
        <p:spPr>
          <a:xfrm>
            <a:off x="1757020" y="4892040"/>
            <a:ext cx="155448" cy="274320"/>
          </a:xfrm>
          <a:prstGeom prst="chevron">
            <a:avLst>
              <a:gd name="adj" fmla="val 60000"/>
            </a:avLst>
          </a:prstGeom>
          <a:solidFill>
            <a:schemeClr val="accent2">
              <a:alpha val="100000"/>
            </a:schemeClr>
          </a:solidFill>
          <a:ln>
            <a:noFill/>
          </a:ln>
        </p:spPr>
      </p:sp>
      <p:sp>
        <p:nvSpPr>
          <p:cNvPr id="226" name="Label 02"/>
          <p:cNvSpPr txBox="1"/>
          <p:nvPr/>
        </p:nvSpPr>
        <p:spPr>
          <a:xfrm>
            <a:off x="4308196" y="4617720"/>
            <a:ext cx="960120" cy="822960"/>
          </a:xfrm>
          <a:prstGeom prst="rect">
            <a:avLst/>
          </a:prstGeom>
          <a:noFill/>
          <a:ln>
            <a:noFill/>
          </a:ln>
        </p:spPr>
        <p:txBody>
          <a:bodyPr wrap="square" lIns="0" tIns="0" rIns="0" bIns="0" rtlCol="0" anchor="ctr">
            <a:noAutofit/>
          </a:bodyPr>
          <a:lstStyle/>
          <a:p>
            <a:pPr algn="l" indent="0" marL="0">
              <a:lnSpc>
                <a:spcPct val="95000"/>
              </a:lnSpc>
              <a:spcAft>
                <a:spcPts val="0"/>
              </a:spcAft>
              <a:buNone/>
            </a:pPr>
            <a:r>
              <a:rPr lang="en-US" sz="900" b="1" dirty="0">
                <a:solidFill>
                  <a:schemeClr val="accent1"/>
                </a:solidFill>
                <a:latin typeface="Arial"/>
                <a:ea typeface="Arial"/>
                <a:cs typeface="Arial"/>
              </a:rPr>
              <a:t>Following</a:t>
            </a:r>
          </a:p>
          <a:p>
            <a:pPr algn="l" indent="0" marL="0">
              <a:lnSpc>
                <a:spcPct val="95000"/>
              </a:lnSpc>
              <a:spcAft>
                <a:spcPts val="300"/>
              </a:spcAft>
              <a:buNone/>
            </a:pPr>
            <a:r>
              <a:rPr lang="en-US" sz="900" b="1" dirty="0">
                <a:solidFill>
                  <a:schemeClr val="accent1"/>
                </a:solidFill>
                <a:latin typeface="Arial"/>
                <a:ea typeface="Arial"/>
                <a:cs typeface="Arial"/>
              </a:rPr>
              <a:t>Phase</a:t>
            </a:r>
          </a:p>
          <a:p>
            <a:pPr algn="l" indent="0" marL="0">
              <a:spcAft>
                <a:spcPts val="0"/>
              </a:spcAft>
              <a:buNone/>
            </a:pPr>
            <a:r>
              <a:rPr lang="ar-AE" sz="1000" dirty="0">
                <a:solidFill>
                  <a:schemeClr val="accent5"/>
                </a:solidFill>
                <a:latin typeface="Arial"/>
                <a:ea typeface="Arial"/>
                <a:cs typeface="Arial"/>
              </a:rPr>
              <a:t>المرحلة التالية</a:t>
            </a:r>
          </a:p>
        </p:txBody>
      </p:sp>
      <p:sp>
        <p:nvSpPr>
          <p:cNvPr id="227" name="Chevron 020"/>
          <p:cNvSpPr/>
          <p:nvPr/>
        </p:nvSpPr>
        <p:spPr>
          <a:xfrm>
            <a:off x="5286604" y="4892040"/>
            <a:ext cx="155448" cy="274320"/>
          </a:xfrm>
          <a:prstGeom prst="chevron">
            <a:avLst>
              <a:gd name="adj" fmla="val 60000"/>
            </a:avLst>
          </a:prstGeom>
          <a:solidFill>
            <a:schemeClr val="accent1">
              <a:alpha val="55000"/>
            </a:schemeClr>
          </a:solidFill>
          <a:ln>
            <a:noFill/>
          </a:ln>
        </p:spPr>
      </p:sp>
      <p:sp>
        <p:nvSpPr>
          <p:cNvPr id="228" name="Chevron 021"/>
          <p:cNvSpPr/>
          <p:nvPr/>
        </p:nvSpPr>
        <p:spPr>
          <a:xfrm>
            <a:off x="5423764" y="4892040"/>
            <a:ext cx="155448" cy="274320"/>
          </a:xfrm>
          <a:prstGeom prst="chevron">
            <a:avLst>
              <a:gd name="adj" fmla="val 60000"/>
            </a:avLst>
          </a:prstGeom>
          <a:solidFill>
            <a:schemeClr val="accent1">
              <a:alpha val="100000"/>
            </a:schemeClr>
          </a:solidFill>
          <a:ln>
            <a:noFill/>
          </a:ln>
        </p:spPr>
      </p:sp>
      <p:sp>
        <p:nvSpPr>
          <p:cNvPr id="235" name="Label 03"/>
          <p:cNvSpPr txBox="1"/>
          <p:nvPr/>
        </p:nvSpPr>
        <p:spPr>
          <a:xfrm>
            <a:off x="7974940" y="4617720"/>
            <a:ext cx="960120" cy="822960"/>
          </a:xfrm>
          <a:prstGeom prst="rect">
            <a:avLst/>
          </a:prstGeom>
          <a:noFill/>
          <a:ln>
            <a:noFill/>
          </a:ln>
        </p:spPr>
        <p:txBody>
          <a:bodyPr wrap="square" lIns="0" tIns="0" rIns="0" bIns="0" rtlCol="0" anchor="ctr">
            <a:noAutofit/>
          </a:bodyPr>
          <a:lstStyle/>
          <a:p>
            <a:pPr algn="l" indent="0" marL="0">
              <a:lnSpc>
                <a:spcPct val="95000"/>
              </a:lnSpc>
              <a:spcAft>
                <a:spcPts val="0"/>
              </a:spcAft>
              <a:buNone/>
            </a:pPr>
            <a:r>
              <a:rPr lang="en-US" sz="900" b="1" dirty="0">
                <a:solidFill>
                  <a:schemeClr val="accent1"/>
                </a:solidFill>
                <a:latin typeface="Arial"/>
                <a:ea typeface="Arial"/>
                <a:cs typeface="Arial"/>
              </a:rPr>
              <a:t>Future</a:t>
            </a:r>
          </a:p>
          <a:p>
            <a:pPr algn="l" indent="0" marL="0">
              <a:lnSpc>
                <a:spcPct val="95000"/>
              </a:lnSpc>
              <a:spcAft>
                <a:spcPts val="300"/>
              </a:spcAft>
              <a:buNone/>
            </a:pPr>
            <a:r>
              <a:rPr lang="en-US" sz="900" b="1" dirty="0">
                <a:solidFill>
                  <a:schemeClr val="accent1"/>
                </a:solidFill>
                <a:latin typeface="Arial"/>
                <a:ea typeface="Arial"/>
                <a:cs typeface="Arial"/>
              </a:rPr>
              <a:t>Opportunities</a:t>
            </a:r>
          </a:p>
          <a:p>
            <a:pPr algn="l" indent="0" marL="0">
              <a:spcAft>
                <a:spcPts val="0"/>
              </a:spcAft>
              <a:buNone/>
            </a:pPr>
            <a:r>
              <a:rPr lang="ar-AE" sz="1000" dirty="0">
                <a:solidFill>
                  <a:schemeClr val="accent5"/>
                </a:solidFill>
                <a:latin typeface="Arial"/>
                <a:ea typeface="Arial"/>
                <a:cs typeface="Arial"/>
              </a:rPr>
              <a:t>فرص مستقبلية</a:t>
            </a:r>
          </a:p>
        </p:txBody>
      </p:sp>
      <p:sp>
        <p:nvSpPr>
          <p:cNvPr id="236" name="Chevron 030"/>
          <p:cNvSpPr/>
          <p:nvPr/>
        </p:nvSpPr>
        <p:spPr>
          <a:xfrm>
            <a:off x="8953348" y="4892040"/>
            <a:ext cx="155448" cy="274320"/>
          </a:xfrm>
          <a:prstGeom prst="chevron">
            <a:avLst>
              <a:gd name="adj" fmla="val 60000"/>
            </a:avLst>
          </a:prstGeom>
          <a:solidFill>
            <a:schemeClr val="accent1">
              <a:alpha val="55000"/>
            </a:schemeClr>
          </a:solidFill>
          <a:ln>
            <a:noFill/>
          </a:ln>
        </p:spPr>
      </p:sp>
      <p:sp>
        <p:nvSpPr>
          <p:cNvPr id="237" name="Chevron 031"/>
          <p:cNvSpPr/>
          <p:nvPr/>
        </p:nvSpPr>
        <p:spPr>
          <a:xfrm>
            <a:off x="9090508" y="4892040"/>
            <a:ext cx="155448" cy="274320"/>
          </a:xfrm>
          <a:prstGeom prst="chevron">
            <a:avLst>
              <a:gd name="adj" fmla="val 60000"/>
            </a:avLst>
          </a:prstGeom>
          <a:solidFill>
            <a:schemeClr val="accent1">
              <a:alpha val="100000"/>
            </a:schemeClr>
          </a:solidFill>
          <a:ln>
            <a:noFill/>
          </a:ln>
        </p:spPr>
      </p:sp>
      <p:pic>
        <p:nvPicPr>
          <p:cNvPr id="238" name="Photo UAE" descr="UAE skyline illustration"/>
          <p:cNvPicPr>
            <a:picLocks noChangeAspect="1"/>
          </p:cNvPicPr>
          <p:nvPr/>
        </p:nvPicPr>
        <p:blipFill>
          <a:blip r:embed="rId4"/>
          <a:stretch>
            <a:fillRect/>
          </a:stretch>
        </p:blipFill>
        <p:spPr>
          <a:xfrm>
            <a:off x="4617720" y="1435608"/>
            <a:ext cx="1409548" cy="1042416"/>
          </a:xfrm>
          <a:prstGeom prst="rect">
            <a:avLst/>
          </a:prstGeom>
        </p:spPr>
      </p:pic>
      <p:pic>
        <p:nvPicPr>
          <p:cNvPr id="239" name="Pin UAE" descr="Pin UAE"/>
          <p:cNvPicPr>
            <a:picLocks noChangeAspect="1"/>
          </p:cNvPicPr>
          <p:nvPr/>
        </p:nvPicPr>
        <p:blipFill>
          <a:blip r:embed="rId5"/>
          <a:stretch>
            <a:fillRect/>
          </a:stretch>
        </p:blipFill>
        <p:spPr>
          <a:xfrm>
            <a:off x="4636008" y="2569464"/>
            <a:ext cx="182880" cy="182880"/>
          </a:xfrm>
          <a:prstGeom prst="rect">
            <a:avLst/>
          </a:prstGeom>
        </p:spPr>
      </p:pic>
      <p:sp>
        <p:nvSpPr>
          <p:cNvPr id="206" name="Name UAE"/>
          <p:cNvSpPr txBox="1"/>
          <p:nvPr/>
        </p:nvSpPr>
        <p:spPr>
          <a:xfrm>
            <a:off x="4873752" y="2542032"/>
            <a:ext cx="640080" cy="237744"/>
          </a:xfrm>
          <a:prstGeom prst="rect">
            <a:avLst/>
          </a:prstGeom>
          <a:noFill/>
          <a:ln>
            <a:noFill/>
          </a:ln>
        </p:spPr>
        <p:txBody>
          <a:bodyPr wrap="square" lIns="0" tIns="0" rIns="0" bIns="0" rtlCol="0" anchor="ctr">
            <a:noAutofit/>
          </a:bodyPr>
          <a:lstStyle/>
          <a:p>
            <a:pPr algn="l" indent="0" marL="0">
              <a:spcAft>
                <a:spcPts val="0"/>
              </a:spcAft>
              <a:buNone/>
            </a:pPr>
            <a:r>
              <a:rPr lang="en-US" sz="1100" b="1" dirty="0">
                <a:solidFill>
                  <a:schemeClr val="bg1"/>
                </a:solidFill>
                <a:latin typeface="Arial"/>
                <a:ea typeface="Arial"/>
                <a:cs typeface="Arial"/>
              </a:rPr>
              <a:t>UAE</a:t>
            </a:r>
          </a:p>
        </p:txBody>
      </p:sp>
      <p:sp>
        <p:nvSpPr>
          <p:cNvPr id="207" name="Name AR UAE"/>
          <p:cNvSpPr txBox="1"/>
          <p:nvPr/>
        </p:nvSpPr>
        <p:spPr>
          <a:xfrm>
            <a:off x="5250028" y="2542032"/>
            <a:ext cx="777240" cy="237744"/>
          </a:xfrm>
          <a:prstGeom prst="rect">
            <a:avLst/>
          </a:prstGeom>
          <a:noFill/>
          <a:ln>
            <a:noFill/>
          </a:ln>
        </p:spPr>
        <p:txBody>
          <a:bodyPr wrap="square" lIns="0" tIns="0" rIns="0" bIns="0" rtlCol="0" anchor="ctr">
            <a:noAutofit/>
          </a:bodyPr>
          <a:lstStyle/>
          <a:p>
            <a:pPr algn="r" rtl="1" indent="0" marL="0">
              <a:spcAft>
                <a:spcPts val="0"/>
              </a:spcAft>
              <a:buNone/>
            </a:pPr>
            <a:r>
              <a:rPr lang="ar-AE" sz="1050" b="1" dirty="0">
                <a:solidFill>
                  <a:schemeClr val="accent2"/>
                </a:solidFill>
                <a:latin typeface="Arial"/>
                <a:ea typeface="Arial"/>
                <a:cs typeface="Arial"/>
              </a:rPr>
              <a:t>الإمارات</a:t>
            </a:r>
          </a:p>
        </p:txBody>
      </p:sp>
      <p:sp>
        <p:nvSpPr>
          <p:cNvPr id="208" name="Photo frame UAE"/>
          <p:cNvSpPr/>
          <p:nvPr/>
        </p:nvSpPr>
        <p:spPr>
          <a:xfrm>
            <a:off x="4617720" y="1435608"/>
            <a:ext cx="1409548" cy="1042416"/>
          </a:xfrm>
          <a:prstGeom prst="roundRect">
            <a:avLst>
              <a:gd name="adj" fmla="val 9000"/>
            </a:avLst>
          </a:prstGeom>
          <a:noFill/>
          <a:ln w="9525">
            <a:solidFill>
              <a:schemeClr val="accent3">
                <a:alpha val="60000"/>
              </a:schemeClr>
            </a:solidFill>
          </a:ln>
        </p:spPr>
      </p:sp>
      <p:sp>
        <p:nvSpPr>
          <p:cNvPr id="209" name="Cities UAE"/>
          <p:cNvSpPr txBox="1"/>
          <p:nvPr/>
        </p:nvSpPr>
        <p:spPr>
          <a:xfrm>
            <a:off x="4617720" y="2825496"/>
            <a:ext cx="1409548" cy="182880"/>
          </a:xfrm>
          <a:prstGeom prst="rect">
            <a:avLst/>
          </a:prstGeom>
          <a:noFill/>
          <a:ln>
            <a:noFill/>
          </a:ln>
        </p:spPr>
        <p:txBody>
          <a:bodyPr wrap="square" lIns="0" tIns="0" rIns="0" bIns="0" rtlCol="0" anchor="t">
            <a:noAutofit/>
          </a:bodyPr>
          <a:lstStyle/>
          <a:p>
            <a:pPr algn="l" indent="0" marL="0">
              <a:spcAft>
                <a:spcPts val="0"/>
              </a:spcAft>
              <a:buNone/>
            </a:pPr>
            <a:r>
              <a:rPr lang="en-US" sz="800" dirty="0">
                <a:solidFill>
                  <a:schemeClr val="accent5"/>
                </a:solidFill>
                <a:latin typeface="Arial"/>
                <a:ea typeface="Arial"/>
                <a:cs typeface="Arial"/>
              </a:rPr>
              <a:t>Dubai • Sharjah • Al Ain</a:t>
            </a:r>
          </a:p>
        </p:txBody>
      </p:sp>
      <p:sp>
        <p:nvSpPr>
          <p:cNvPr id="210" name="Cities AR UAE"/>
          <p:cNvSpPr txBox="1"/>
          <p:nvPr/>
        </p:nvSpPr>
        <p:spPr>
          <a:xfrm>
            <a:off x="4617720" y="3008376"/>
            <a:ext cx="1409548" cy="182880"/>
          </a:xfrm>
          <a:prstGeom prst="rect">
            <a:avLst/>
          </a:prstGeom>
          <a:noFill/>
          <a:ln>
            <a:noFill/>
          </a:ln>
        </p:spPr>
        <p:txBody>
          <a:bodyPr wrap="square" lIns="0" tIns="0" rIns="0" bIns="0" rtlCol="0" anchor="t">
            <a:noAutofit/>
          </a:bodyPr>
          <a:lstStyle/>
          <a:p>
            <a:pPr algn="l" indent="0" marL="0">
              <a:spcAft>
                <a:spcPts val="0"/>
              </a:spcAft>
              <a:buNone/>
            </a:pPr>
            <a:r>
              <a:rPr lang="ar-AE" sz="850" dirty="0">
                <a:solidFill>
                  <a:schemeClr val="accent5"/>
                </a:solidFill>
                <a:latin typeface="Arial"/>
                <a:ea typeface="Arial"/>
                <a:cs typeface="Arial"/>
              </a:rPr>
              <a:t>دبي • الشارقة • العين</a:t>
            </a:r>
          </a:p>
        </p:txBody>
      </p:sp>
      <p:pic>
        <p:nvPicPr>
          <p:cNvPr id="240" name="Photo Oman" descr="Oman skyline illustration"/>
          <p:cNvPicPr>
            <a:picLocks noChangeAspect="1"/>
          </p:cNvPicPr>
          <p:nvPr/>
        </p:nvPicPr>
        <p:blipFill>
          <a:blip r:embed="rId6"/>
          <a:stretch>
            <a:fillRect/>
          </a:stretch>
        </p:blipFill>
        <p:spPr>
          <a:xfrm>
            <a:off x="6164428" y="1435608"/>
            <a:ext cx="1409548" cy="1042416"/>
          </a:xfrm>
          <a:prstGeom prst="rect">
            <a:avLst/>
          </a:prstGeom>
        </p:spPr>
      </p:pic>
      <p:pic>
        <p:nvPicPr>
          <p:cNvPr id="241" name="Pin Oman" descr="Pin Oman"/>
          <p:cNvPicPr>
            <a:picLocks noChangeAspect="1"/>
          </p:cNvPicPr>
          <p:nvPr/>
        </p:nvPicPr>
        <p:blipFill>
          <a:blip r:embed="rId5"/>
          <a:stretch>
            <a:fillRect/>
          </a:stretch>
        </p:blipFill>
        <p:spPr>
          <a:xfrm>
            <a:off x="6182716" y="2569464"/>
            <a:ext cx="182880" cy="182880"/>
          </a:xfrm>
          <a:prstGeom prst="rect">
            <a:avLst/>
          </a:prstGeom>
        </p:spPr>
      </p:pic>
      <p:sp>
        <p:nvSpPr>
          <p:cNvPr id="211" name="Name Oman"/>
          <p:cNvSpPr txBox="1"/>
          <p:nvPr/>
        </p:nvSpPr>
        <p:spPr>
          <a:xfrm>
            <a:off x="6420460" y="2542032"/>
            <a:ext cx="640080" cy="237744"/>
          </a:xfrm>
          <a:prstGeom prst="rect">
            <a:avLst/>
          </a:prstGeom>
          <a:noFill/>
          <a:ln>
            <a:noFill/>
          </a:ln>
        </p:spPr>
        <p:txBody>
          <a:bodyPr wrap="square" lIns="0" tIns="0" rIns="0" bIns="0" rtlCol="0" anchor="ctr">
            <a:noAutofit/>
          </a:bodyPr>
          <a:lstStyle/>
          <a:p>
            <a:pPr algn="l" indent="0" marL="0">
              <a:spcAft>
                <a:spcPts val="0"/>
              </a:spcAft>
              <a:buNone/>
            </a:pPr>
            <a:r>
              <a:rPr lang="en-US" sz="1100" b="1" dirty="0">
                <a:solidFill>
                  <a:schemeClr val="bg1"/>
                </a:solidFill>
                <a:latin typeface="Arial"/>
                <a:ea typeface="Arial"/>
                <a:cs typeface="Arial"/>
              </a:rPr>
              <a:t>Oman</a:t>
            </a:r>
          </a:p>
        </p:txBody>
      </p:sp>
      <p:sp>
        <p:nvSpPr>
          <p:cNvPr id="212" name="Name AR Oman"/>
          <p:cNvSpPr txBox="1"/>
          <p:nvPr/>
        </p:nvSpPr>
        <p:spPr>
          <a:xfrm>
            <a:off x="6796735" y="2542032"/>
            <a:ext cx="777240" cy="237744"/>
          </a:xfrm>
          <a:prstGeom prst="rect">
            <a:avLst/>
          </a:prstGeom>
          <a:noFill/>
          <a:ln>
            <a:noFill/>
          </a:ln>
        </p:spPr>
        <p:txBody>
          <a:bodyPr wrap="square" lIns="0" tIns="0" rIns="0" bIns="0" rtlCol="0" anchor="ctr">
            <a:noAutofit/>
          </a:bodyPr>
          <a:lstStyle/>
          <a:p>
            <a:pPr algn="r" rtl="1" indent="0" marL="0">
              <a:spcAft>
                <a:spcPts val="0"/>
              </a:spcAft>
              <a:buNone/>
            </a:pPr>
            <a:r>
              <a:rPr lang="ar-AE" sz="1050" b="1" dirty="0">
                <a:solidFill>
                  <a:schemeClr val="accent2"/>
                </a:solidFill>
                <a:latin typeface="Arial"/>
                <a:ea typeface="Arial"/>
                <a:cs typeface="Arial"/>
              </a:rPr>
              <a:t>عُمان</a:t>
            </a:r>
          </a:p>
        </p:txBody>
      </p:sp>
      <p:sp>
        <p:nvSpPr>
          <p:cNvPr id="213" name="Photo frame Oman"/>
          <p:cNvSpPr/>
          <p:nvPr/>
        </p:nvSpPr>
        <p:spPr>
          <a:xfrm>
            <a:off x="6164428" y="1435608"/>
            <a:ext cx="1409548" cy="1042416"/>
          </a:xfrm>
          <a:prstGeom prst="roundRect">
            <a:avLst>
              <a:gd name="adj" fmla="val 9000"/>
            </a:avLst>
          </a:prstGeom>
          <a:noFill/>
          <a:ln w="9525">
            <a:solidFill>
              <a:schemeClr val="accent3">
                <a:alpha val="60000"/>
              </a:schemeClr>
            </a:solidFill>
          </a:ln>
        </p:spPr>
      </p:sp>
      <p:sp>
        <p:nvSpPr>
          <p:cNvPr id="214" name="Cities Oman"/>
          <p:cNvSpPr txBox="1"/>
          <p:nvPr/>
        </p:nvSpPr>
        <p:spPr>
          <a:xfrm>
            <a:off x="6164428" y="2825496"/>
            <a:ext cx="1409548" cy="182880"/>
          </a:xfrm>
          <a:prstGeom prst="rect">
            <a:avLst/>
          </a:prstGeom>
          <a:noFill/>
          <a:ln>
            <a:noFill/>
          </a:ln>
        </p:spPr>
        <p:txBody>
          <a:bodyPr wrap="square" lIns="0" tIns="0" rIns="0" bIns="0" rtlCol="0" anchor="t">
            <a:noAutofit/>
          </a:bodyPr>
          <a:lstStyle/>
          <a:p>
            <a:pPr algn="l" indent="0" marL="0">
              <a:spcAft>
                <a:spcPts val="0"/>
              </a:spcAft>
              <a:buNone/>
            </a:pPr>
            <a:r>
              <a:rPr lang="en-US" sz="800" dirty="0">
                <a:solidFill>
                  <a:schemeClr val="accent5"/>
                </a:solidFill>
                <a:latin typeface="Arial"/>
                <a:ea typeface="Arial"/>
                <a:cs typeface="Arial"/>
              </a:rPr>
              <a:t>Muscat • Saham</a:t>
            </a:r>
          </a:p>
        </p:txBody>
      </p:sp>
      <p:sp>
        <p:nvSpPr>
          <p:cNvPr id="215" name="Cities AR Oman"/>
          <p:cNvSpPr txBox="1"/>
          <p:nvPr/>
        </p:nvSpPr>
        <p:spPr>
          <a:xfrm>
            <a:off x="6164428" y="3008376"/>
            <a:ext cx="1409548" cy="182880"/>
          </a:xfrm>
          <a:prstGeom prst="rect">
            <a:avLst/>
          </a:prstGeom>
          <a:noFill/>
          <a:ln>
            <a:noFill/>
          </a:ln>
        </p:spPr>
        <p:txBody>
          <a:bodyPr wrap="square" lIns="0" tIns="0" rIns="0" bIns="0" rtlCol="0" anchor="t">
            <a:noAutofit/>
          </a:bodyPr>
          <a:lstStyle/>
          <a:p>
            <a:pPr algn="l" indent="0" marL="0">
              <a:spcAft>
                <a:spcPts val="0"/>
              </a:spcAft>
              <a:buNone/>
            </a:pPr>
            <a:r>
              <a:rPr lang="ar-AE" sz="850" dirty="0">
                <a:solidFill>
                  <a:schemeClr val="accent5"/>
                </a:solidFill>
                <a:latin typeface="Arial"/>
                <a:ea typeface="Arial"/>
                <a:cs typeface="Arial"/>
              </a:rPr>
              <a:t>مسقط • صحم</a:t>
            </a:r>
          </a:p>
        </p:txBody>
      </p:sp>
      <p:pic>
        <p:nvPicPr>
          <p:cNvPr id="242" name="Photo 01" descr="Saudi Arabia illustration"/>
          <p:cNvPicPr>
            <a:picLocks noChangeAspect="1"/>
          </p:cNvPicPr>
          <p:nvPr/>
        </p:nvPicPr>
        <p:blipFill>
          <a:blip r:embed="rId7"/>
          <a:stretch>
            <a:fillRect/>
          </a:stretch>
        </p:blipFill>
        <p:spPr>
          <a:xfrm>
            <a:off x="1930756" y="4160520"/>
            <a:ext cx="2286000" cy="1737360"/>
          </a:xfrm>
          <a:prstGeom prst="rect">
            <a:avLst/>
          </a:prstGeom>
        </p:spPr>
      </p:pic>
      <p:sp>
        <p:nvSpPr>
          <p:cNvPr id="220" name="Card frame 01"/>
          <p:cNvSpPr/>
          <p:nvPr/>
        </p:nvSpPr>
        <p:spPr>
          <a:xfrm>
            <a:off x="1930756" y="4160520"/>
            <a:ext cx="2286000" cy="1737360"/>
          </a:xfrm>
          <a:prstGeom prst="roundRect">
            <a:avLst>
              <a:gd name="adj" fmla="val 8000"/>
            </a:avLst>
          </a:prstGeom>
          <a:noFill/>
          <a:ln w="31750">
            <a:solidFill>
              <a:schemeClr val="accent2"/>
            </a:solidFill>
          </a:ln>
        </p:spPr>
      </p:sp>
      <p:sp>
        <p:nvSpPr>
          <p:cNvPr id="221" name="Badge ring 01"/>
          <p:cNvSpPr/>
          <p:nvPr/>
        </p:nvSpPr>
        <p:spPr>
          <a:xfrm>
            <a:off x="2781148" y="3867912"/>
            <a:ext cx="585216" cy="585216"/>
          </a:xfrm>
          <a:prstGeom prst="ellipse">
            <a:avLst/>
          </a:prstGeom>
          <a:solidFill>
            <a:schemeClr val="tx1"/>
          </a:solidFill>
          <a:ln w="19050">
            <a:solidFill>
              <a:schemeClr val="accent2"/>
            </a:solidFill>
          </a:ln>
        </p:spPr>
      </p:sp>
      <p:sp>
        <p:nvSpPr>
          <p:cNvPr id="222" name="Badge 01"/>
          <p:cNvSpPr/>
          <p:nvPr/>
        </p:nvSpPr>
        <p:spPr>
          <a:xfrm>
            <a:off x="2817724" y="3904488"/>
            <a:ext cx="512064" cy="512064"/>
          </a:xfrm>
          <a:prstGeom prst="ellipse">
            <a:avLst/>
          </a:prstGeom>
          <a:solidFill>
            <a:schemeClr val="tx1"/>
          </a:solidFill>
          <a:ln w="25400">
            <a:solidFill>
              <a:schemeClr val="accent2"/>
            </a:solidFill>
          </a:ln>
        </p:spPr>
      </p:sp>
      <p:sp>
        <p:nvSpPr>
          <p:cNvPr id="223" name="Badge text 01"/>
          <p:cNvSpPr txBox="1"/>
          <p:nvPr/>
        </p:nvSpPr>
        <p:spPr>
          <a:xfrm>
            <a:off x="2817724" y="3904488"/>
            <a:ext cx="512064" cy="512064"/>
          </a:xfrm>
          <a:prstGeom prst="rect">
            <a:avLst/>
          </a:prstGeom>
          <a:noFill/>
          <a:ln>
            <a:noFill/>
          </a:ln>
        </p:spPr>
        <p:txBody>
          <a:bodyPr wrap="square" lIns="0" tIns="0" rIns="0" bIns="0" rtlCol="0" anchor="ctr">
            <a:noAutofit/>
          </a:bodyPr>
          <a:lstStyle/>
          <a:p>
            <a:pPr algn="ctr" indent="0" marL="0">
              <a:spcAft>
                <a:spcPts val="0"/>
              </a:spcAft>
              <a:buNone/>
            </a:pPr>
            <a:r>
              <a:rPr lang="en-US" sz="1300" b="1" dirty="0">
                <a:solidFill>
                  <a:schemeClr val="accent2"/>
                </a:solidFill>
                <a:latin typeface="Arial"/>
                <a:ea typeface="Arial"/>
                <a:cs typeface="Arial"/>
              </a:rPr>
              <a:t>01</a:t>
            </a:r>
          </a:p>
        </p:txBody>
      </p:sp>
      <p:pic>
        <p:nvPicPr>
          <p:cNvPr id="243" name="Icon 01" descr="Icon 01"/>
          <p:cNvPicPr>
            <a:picLocks noChangeAspect="1"/>
          </p:cNvPicPr>
          <p:nvPr/>
        </p:nvPicPr>
        <p:blipFill>
          <a:blip r:embed="rId5"/>
          <a:stretch>
            <a:fillRect/>
          </a:stretch>
        </p:blipFill>
        <p:spPr>
          <a:xfrm>
            <a:off x="2113636" y="5330952"/>
            <a:ext cx="274320" cy="274320"/>
          </a:xfrm>
          <a:prstGeom prst="rect">
            <a:avLst/>
          </a:prstGeom>
        </p:spPr>
      </p:pic>
      <p:sp>
        <p:nvSpPr>
          <p:cNvPr id="224" name="Phase name 01"/>
          <p:cNvSpPr txBox="1"/>
          <p:nvPr/>
        </p:nvSpPr>
        <p:spPr>
          <a:xfrm>
            <a:off x="2479396" y="5001768"/>
            <a:ext cx="1600200" cy="457200"/>
          </a:xfrm>
          <a:prstGeom prst="rect">
            <a:avLst/>
          </a:prstGeom>
          <a:noFill/>
          <a:ln>
            <a:noFill/>
          </a:ln>
        </p:spPr>
        <p:txBody>
          <a:bodyPr wrap="square" lIns="0" tIns="0" rIns="0" bIns="0" rtlCol="0" anchor="b">
            <a:noAutofit/>
          </a:bodyPr>
          <a:lstStyle/>
          <a:p>
            <a:pPr algn="l" indent="0" marL="0">
              <a:lnSpc>
                <a:spcPct val="90000"/>
              </a:lnSpc>
              <a:spcAft>
                <a:spcPts val="0"/>
              </a:spcAft>
              <a:buNone/>
            </a:pPr>
            <a:r>
              <a:rPr lang="en-US" sz="1400" b="1" dirty="0">
                <a:solidFill>
                  <a:schemeClr val="bg1"/>
                </a:solidFill>
                <a:latin typeface="Arial"/>
                <a:ea typeface="Arial"/>
                <a:cs typeface="Arial"/>
              </a:rPr>
              <a:t>Saudi Arabia</a:t>
            </a:r>
          </a:p>
        </p:txBody>
      </p:sp>
      <p:sp>
        <p:nvSpPr>
          <p:cNvPr id="225" name="Phase name AR 01"/>
          <p:cNvSpPr txBox="1"/>
          <p:nvPr/>
        </p:nvSpPr>
        <p:spPr>
          <a:xfrm>
            <a:off x="2479396" y="5477256"/>
            <a:ext cx="1600200" cy="256032"/>
          </a:xfrm>
          <a:prstGeom prst="rect">
            <a:avLst/>
          </a:prstGeom>
          <a:noFill/>
          <a:ln>
            <a:noFill/>
          </a:ln>
        </p:spPr>
        <p:txBody>
          <a:bodyPr wrap="square" lIns="0" tIns="0" rIns="0" bIns="0" rtlCol="0" anchor="t">
            <a:noAutofit/>
          </a:bodyPr>
          <a:lstStyle/>
          <a:p>
            <a:pPr algn="l" indent="0" marL="0">
              <a:spcAft>
                <a:spcPts val="0"/>
              </a:spcAft>
              <a:buNone/>
            </a:pPr>
            <a:r>
              <a:rPr lang="ar-AE" sz="1100" b="1" dirty="0">
                <a:solidFill>
                  <a:schemeClr val="accent2"/>
                </a:solidFill>
                <a:latin typeface="Arial"/>
                <a:ea typeface="Arial"/>
                <a:cs typeface="Arial"/>
              </a:rPr>
              <a:t>السعودية</a:t>
            </a:r>
          </a:p>
        </p:txBody>
      </p:sp>
      <p:pic>
        <p:nvPicPr>
          <p:cNvPr id="244" name="Photo 02" descr="Qatar illustration"/>
          <p:cNvPicPr>
            <a:picLocks noChangeAspect="1"/>
          </p:cNvPicPr>
          <p:nvPr/>
        </p:nvPicPr>
        <p:blipFill>
          <a:blip r:embed="rId8"/>
          <a:stretch>
            <a:fillRect/>
          </a:stretch>
        </p:blipFill>
        <p:spPr>
          <a:xfrm>
            <a:off x="5597500" y="4160520"/>
            <a:ext cx="2286000" cy="1737360"/>
          </a:xfrm>
          <a:prstGeom prst="rect">
            <a:avLst/>
          </a:prstGeom>
        </p:spPr>
      </p:pic>
      <p:sp>
        <p:nvSpPr>
          <p:cNvPr id="229" name="Card frame 02"/>
          <p:cNvSpPr/>
          <p:nvPr/>
        </p:nvSpPr>
        <p:spPr>
          <a:xfrm>
            <a:off x="5597500" y="4160520"/>
            <a:ext cx="2286000" cy="1737360"/>
          </a:xfrm>
          <a:prstGeom prst="roundRect">
            <a:avLst>
              <a:gd name="adj" fmla="val 8000"/>
            </a:avLst>
          </a:prstGeom>
          <a:noFill/>
          <a:ln w="11430">
            <a:solidFill>
              <a:schemeClr val="accent3">
                <a:alpha val="70000"/>
              </a:schemeClr>
            </a:solidFill>
          </a:ln>
        </p:spPr>
      </p:sp>
      <p:sp>
        <p:nvSpPr>
          <p:cNvPr id="230" name="Badge ring 02"/>
          <p:cNvSpPr/>
          <p:nvPr/>
        </p:nvSpPr>
        <p:spPr>
          <a:xfrm>
            <a:off x="6447892" y="3867912"/>
            <a:ext cx="585216" cy="585216"/>
          </a:xfrm>
          <a:prstGeom prst="ellipse">
            <a:avLst/>
          </a:prstGeom>
          <a:solidFill>
            <a:schemeClr val="tx1"/>
          </a:solidFill>
          <a:ln w="19050">
            <a:solidFill>
              <a:schemeClr val="accent1">
                <a:alpha val="70000"/>
              </a:schemeClr>
            </a:solidFill>
          </a:ln>
        </p:spPr>
      </p:sp>
      <p:sp>
        <p:nvSpPr>
          <p:cNvPr id="231" name="Badge 02"/>
          <p:cNvSpPr/>
          <p:nvPr/>
        </p:nvSpPr>
        <p:spPr>
          <a:xfrm>
            <a:off x="6484468" y="3904488"/>
            <a:ext cx="512064" cy="512064"/>
          </a:xfrm>
          <a:prstGeom prst="ellipse">
            <a:avLst/>
          </a:prstGeom>
          <a:solidFill>
            <a:schemeClr val="tx1"/>
          </a:solidFill>
          <a:ln w="15875">
            <a:solidFill>
              <a:schemeClr val="accent1"/>
            </a:solidFill>
          </a:ln>
        </p:spPr>
      </p:sp>
      <p:sp>
        <p:nvSpPr>
          <p:cNvPr id="232" name="Badge text 02"/>
          <p:cNvSpPr txBox="1"/>
          <p:nvPr/>
        </p:nvSpPr>
        <p:spPr>
          <a:xfrm>
            <a:off x="6484468" y="3904488"/>
            <a:ext cx="512064" cy="512064"/>
          </a:xfrm>
          <a:prstGeom prst="rect">
            <a:avLst/>
          </a:prstGeom>
          <a:noFill/>
          <a:ln>
            <a:noFill/>
          </a:ln>
        </p:spPr>
        <p:txBody>
          <a:bodyPr wrap="square" lIns="0" tIns="0" rIns="0" bIns="0" rtlCol="0" anchor="ctr">
            <a:noAutofit/>
          </a:bodyPr>
          <a:lstStyle/>
          <a:p>
            <a:pPr algn="ctr" indent="0" marL="0">
              <a:spcAft>
                <a:spcPts val="0"/>
              </a:spcAft>
              <a:buNone/>
            </a:pPr>
            <a:r>
              <a:rPr lang="en-US" sz="1300" b="1" dirty="0">
                <a:solidFill>
                  <a:schemeClr val="bg1"/>
                </a:solidFill>
                <a:latin typeface="Arial"/>
                <a:ea typeface="Arial"/>
                <a:cs typeface="Arial"/>
              </a:rPr>
              <a:t>02</a:t>
            </a:r>
          </a:p>
        </p:txBody>
      </p:sp>
      <p:pic>
        <p:nvPicPr>
          <p:cNvPr id="245" name="Icon 02" descr="Icon 02"/>
          <p:cNvPicPr>
            <a:picLocks noChangeAspect="1"/>
          </p:cNvPicPr>
          <p:nvPr/>
        </p:nvPicPr>
        <p:blipFill>
          <a:blip r:embed="rId9"/>
          <a:stretch>
            <a:fillRect/>
          </a:stretch>
        </p:blipFill>
        <p:spPr>
          <a:xfrm>
            <a:off x="5780380" y="5330952"/>
            <a:ext cx="274320" cy="274320"/>
          </a:xfrm>
          <a:prstGeom prst="rect">
            <a:avLst/>
          </a:prstGeom>
        </p:spPr>
      </p:pic>
      <p:sp>
        <p:nvSpPr>
          <p:cNvPr id="233" name="Phase name 02"/>
          <p:cNvSpPr txBox="1"/>
          <p:nvPr/>
        </p:nvSpPr>
        <p:spPr>
          <a:xfrm>
            <a:off x="6146140" y="5001768"/>
            <a:ext cx="1600200" cy="457200"/>
          </a:xfrm>
          <a:prstGeom prst="rect">
            <a:avLst/>
          </a:prstGeom>
          <a:noFill/>
          <a:ln>
            <a:noFill/>
          </a:ln>
        </p:spPr>
        <p:txBody>
          <a:bodyPr wrap="square" lIns="0" tIns="0" rIns="0" bIns="0" rtlCol="0" anchor="b">
            <a:noAutofit/>
          </a:bodyPr>
          <a:lstStyle/>
          <a:p>
            <a:pPr algn="l" indent="0" marL="0">
              <a:lnSpc>
                <a:spcPct val="90000"/>
              </a:lnSpc>
              <a:spcAft>
                <a:spcPts val="0"/>
              </a:spcAft>
              <a:buNone/>
            </a:pPr>
            <a:r>
              <a:rPr lang="en-US" sz="1400" b="1" dirty="0">
                <a:solidFill>
                  <a:schemeClr val="bg1"/>
                </a:solidFill>
                <a:latin typeface="Arial"/>
                <a:ea typeface="Arial"/>
                <a:cs typeface="Arial"/>
              </a:rPr>
              <a:t>Qatar</a:t>
            </a:r>
          </a:p>
        </p:txBody>
      </p:sp>
      <p:sp>
        <p:nvSpPr>
          <p:cNvPr id="234" name="Phase name AR 02"/>
          <p:cNvSpPr txBox="1"/>
          <p:nvPr/>
        </p:nvSpPr>
        <p:spPr>
          <a:xfrm>
            <a:off x="6146140" y="5477256"/>
            <a:ext cx="1600200" cy="256032"/>
          </a:xfrm>
          <a:prstGeom prst="rect">
            <a:avLst/>
          </a:prstGeom>
          <a:noFill/>
          <a:ln>
            <a:noFill/>
          </a:ln>
        </p:spPr>
        <p:txBody>
          <a:bodyPr wrap="square" lIns="0" tIns="0" rIns="0" bIns="0" rtlCol="0" anchor="t">
            <a:noAutofit/>
          </a:bodyPr>
          <a:lstStyle/>
          <a:p>
            <a:pPr algn="l" indent="0" marL="0">
              <a:spcAft>
                <a:spcPts val="0"/>
              </a:spcAft>
              <a:buNone/>
            </a:pPr>
            <a:r>
              <a:rPr lang="ar-AE" sz="1100" dirty="0">
                <a:solidFill>
                  <a:schemeClr val="accent5"/>
                </a:solidFill>
                <a:latin typeface="Arial"/>
                <a:ea typeface="Arial"/>
                <a:cs typeface="Arial"/>
              </a:rPr>
              <a:t>قطر</a:t>
            </a:r>
          </a:p>
        </p:txBody>
      </p:sp>
      <p:pic>
        <p:nvPicPr>
          <p:cNvPr id="246" name="Photo 03" descr="More Markets to Come illustration"/>
          <p:cNvPicPr>
            <a:picLocks noChangeAspect="1"/>
          </p:cNvPicPr>
          <p:nvPr/>
        </p:nvPicPr>
        <p:blipFill>
          <a:blip r:embed="rId10"/>
          <a:stretch>
            <a:fillRect/>
          </a:stretch>
        </p:blipFill>
        <p:spPr>
          <a:xfrm>
            <a:off x="9264244" y="4160520"/>
            <a:ext cx="2286000" cy="1737360"/>
          </a:xfrm>
          <a:prstGeom prst="rect">
            <a:avLst/>
          </a:prstGeom>
        </p:spPr>
      </p:pic>
      <p:sp>
        <p:nvSpPr>
          <p:cNvPr id="238" name="Card frame 03"/>
          <p:cNvSpPr/>
          <p:nvPr/>
        </p:nvSpPr>
        <p:spPr>
          <a:xfrm>
            <a:off x="9264244" y="4160520"/>
            <a:ext cx="2286000" cy="1737360"/>
          </a:xfrm>
          <a:prstGeom prst="roundRect">
            <a:avLst>
              <a:gd name="adj" fmla="val 8000"/>
            </a:avLst>
          </a:prstGeom>
          <a:noFill/>
          <a:ln w="11430">
            <a:solidFill>
              <a:schemeClr val="accent3">
                <a:alpha val="70000"/>
              </a:schemeClr>
            </a:solidFill>
          </a:ln>
        </p:spPr>
      </p:sp>
      <p:sp>
        <p:nvSpPr>
          <p:cNvPr id="239" name="Badge ring 03"/>
          <p:cNvSpPr/>
          <p:nvPr/>
        </p:nvSpPr>
        <p:spPr>
          <a:xfrm>
            <a:off x="10114636" y="3867912"/>
            <a:ext cx="585216" cy="585216"/>
          </a:xfrm>
          <a:prstGeom prst="ellipse">
            <a:avLst/>
          </a:prstGeom>
          <a:solidFill>
            <a:schemeClr val="tx1"/>
          </a:solidFill>
          <a:ln w="19050">
            <a:solidFill>
              <a:schemeClr val="accent1">
                <a:alpha val="70000"/>
              </a:schemeClr>
            </a:solidFill>
          </a:ln>
        </p:spPr>
      </p:sp>
      <p:sp>
        <p:nvSpPr>
          <p:cNvPr id="240" name="Badge 03"/>
          <p:cNvSpPr/>
          <p:nvPr/>
        </p:nvSpPr>
        <p:spPr>
          <a:xfrm>
            <a:off x="10151212" y="3904488"/>
            <a:ext cx="512064" cy="512064"/>
          </a:xfrm>
          <a:prstGeom prst="ellipse">
            <a:avLst/>
          </a:prstGeom>
          <a:solidFill>
            <a:schemeClr val="tx1"/>
          </a:solidFill>
          <a:ln w="15875">
            <a:solidFill>
              <a:schemeClr val="accent1"/>
            </a:solidFill>
          </a:ln>
        </p:spPr>
      </p:sp>
      <p:sp>
        <p:nvSpPr>
          <p:cNvPr id="241" name="Badge text 03"/>
          <p:cNvSpPr txBox="1"/>
          <p:nvPr/>
        </p:nvSpPr>
        <p:spPr>
          <a:xfrm>
            <a:off x="10151212" y="3904488"/>
            <a:ext cx="512064" cy="512064"/>
          </a:xfrm>
          <a:prstGeom prst="rect">
            <a:avLst/>
          </a:prstGeom>
          <a:noFill/>
          <a:ln>
            <a:noFill/>
          </a:ln>
        </p:spPr>
        <p:txBody>
          <a:bodyPr wrap="square" lIns="0" tIns="0" rIns="0" bIns="0" rtlCol="0" anchor="ctr">
            <a:noAutofit/>
          </a:bodyPr>
          <a:lstStyle/>
          <a:p>
            <a:pPr algn="ctr" indent="0" marL="0">
              <a:spcAft>
                <a:spcPts val="0"/>
              </a:spcAft>
              <a:buNone/>
            </a:pPr>
            <a:r>
              <a:rPr lang="en-US" sz="1300" b="1" dirty="0">
                <a:solidFill>
                  <a:schemeClr val="bg1"/>
                </a:solidFill>
                <a:latin typeface="Arial"/>
                <a:ea typeface="Arial"/>
                <a:cs typeface="Arial"/>
              </a:rPr>
              <a:t>03</a:t>
            </a:r>
          </a:p>
        </p:txBody>
      </p:sp>
      <p:pic>
        <p:nvPicPr>
          <p:cNvPr id="247" name="Icon 03" descr="Icon 03"/>
          <p:cNvPicPr>
            <a:picLocks noChangeAspect="1"/>
          </p:cNvPicPr>
          <p:nvPr/>
        </p:nvPicPr>
        <p:blipFill>
          <a:blip r:embed="rId11"/>
          <a:stretch>
            <a:fillRect/>
          </a:stretch>
        </p:blipFill>
        <p:spPr>
          <a:xfrm>
            <a:off x="9447124" y="5330952"/>
            <a:ext cx="274320" cy="274320"/>
          </a:xfrm>
          <a:prstGeom prst="rect">
            <a:avLst/>
          </a:prstGeom>
        </p:spPr>
      </p:pic>
      <p:sp>
        <p:nvSpPr>
          <p:cNvPr id="242" name="Phase name 03"/>
          <p:cNvSpPr txBox="1"/>
          <p:nvPr/>
        </p:nvSpPr>
        <p:spPr>
          <a:xfrm>
            <a:off x="9812884" y="5001768"/>
            <a:ext cx="1600200" cy="457200"/>
          </a:xfrm>
          <a:prstGeom prst="rect">
            <a:avLst/>
          </a:prstGeom>
          <a:noFill/>
          <a:ln>
            <a:noFill/>
          </a:ln>
        </p:spPr>
        <p:txBody>
          <a:bodyPr wrap="square" lIns="0" tIns="0" rIns="0" bIns="0" rtlCol="0" anchor="b">
            <a:noAutofit/>
          </a:bodyPr>
          <a:lstStyle/>
          <a:p>
            <a:pPr algn="l" indent="0" marL="0">
              <a:lnSpc>
                <a:spcPct val="90000"/>
              </a:lnSpc>
              <a:spcAft>
                <a:spcPts val="0"/>
              </a:spcAft>
              <a:buNone/>
            </a:pPr>
            <a:r>
              <a:rPr lang="en-US" sz="1200" b="1" dirty="0">
                <a:solidFill>
                  <a:schemeClr val="bg1"/>
                </a:solidFill>
                <a:latin typeface="Arial"/>
                <a:ea typeface="Arial"/>
                <a:cs typeface="Arial"/>
              </a:rPr>
              <a:t>More Markets to Come</a:t>
            </a:r>
          </a:p>
        </p:txBody>
      </p:sp>
      <p:sp>
        <p:nvSpPr>
          <p:cNvPr id="243" name="Phase name AR 03"/>
          <p:cNvSpPr txBox="1"/>
          <p:nvPr/>
        </p:nvSpPr>
        <p:spPr>
          <a:xfrm>
            <a:off x="9812884" y="5477256"/>
            <a:ext cx="1600200" cy="256032"/>
          </a:xfrm>
          <a:prstGeom prst="rect">
            <a:avLst/>
          </a:prstGeom>
          <a:noFill/>
          <a:ln>
            <a:noFill/>
          </a:ln>
        </p:spPr>
        <p:txBody>
          <a:bodyPr wrap="square" lIns="0" tIns="0" rIns="0" bIns="0" rtlCol="0" anchor="t">
            <a:noAutofit/>
          </a:bodyPr>
          <a:lstStyle/>
          <a:p>
            <a:pPr algn="l" indent="0" marL="0">
              <a:spcAft>
                <a:spcPts val="0"/>
              </a:spcAft>
              <a:buNone/>
            </a:pPr>
            <a:r>
              <a:rPr lang="ar-AE" sz="1100" dirty="0">
                <a:solidFill>
                  <a:schemeClr val="accent5"/>
                </a:solidFill>
                <a:latin typeface="Arial"/>
                <a:ea typeface="Arial"/>
                <a:cs typeface="Arial"/>
              </a:rPr>
              <a:t>أسواق جديدة</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EVCARS logo" descr="EVCARS logo">    </p:cNvPr>
          <p:cNvPicPr>
            <a:picLocks noChangeAspect="1"/>
          </p:cNvPicPr>
          <p:nvPr/>
        </p:nvPicPr>
        <p:blipFill>
          <a:blip r:embed="rId1"/>
          <a:stretch>
            <a:fillRect/>
          </a:stretch>
        </p:blipFill>
        <p:spPr>
          <a:xfrm>
            <a:off x="640080" y="685800"/>
            <a:ext cx="3291840" cy="661895"/>
          </a:xfrm>
          <a:prstGeom prst="rect">
            <a:avLst/>
          </a:prstGeom>
        </p:spPr>
      </p:pic>
      <p:sp>
        <p:nvSpPr>
          <p:cNvPr id="3" name="Text 0"/>
          <p:cNvSpPr txBox="1"/>
          <p:nvPr/>
        </p:nvSpPr>
        <p:spPr>
          <a:xfrm>
            <a:off x="640080" y="1828800"/>
            <a:ext cx="3657600" cy="256032"/>
          </a:xfrm>
          <a:prstGeom prst="rect">
            <a:avLst/>
          </a:prstGeom>
          <a:noFill/>
          <a:ln/>
        </p:spPr>
        <p:txBody>
          <a:bodyPr wrap="square" lIns="0" tIns="0" rIns="0" bIns="0" rtlCol="0" anchor="t"/>
          <a:lstStyle/>
          <a:p>
            <a:pPr algn="l" indent="0" marL="0">
              <a:buNone/>
            </a:pPr>
            <a:r>
              <a:rPr lang="en-US" sz="1100" b="1" spc="400" kern="0" dirty="0">
                <a:solidFill>
                  <a:schemeClr val="accent2"/>
                </a:solidFill>
                <a:latin typeface="Arial" pitchFamily="34" charset="0"/>
                <a:ea typeface="Arial" pitchFamily="34" charset="-122"/>
                <a:cs typeface="Arial" pitchFamily="34" charset="-120"/>
              </a:rPr>
              <a:t>CONTACT US</a:t>
            </a:r>
            <a:endParaRPr lang="en-US" sz="1100" dirty="0"/>
          </a:p>
        </p:txBody>
      </p:sp>
      <p:sp>
        <p:nvSpPr>
          <p:cNvPr id="4" name="Text 1"/>
          <p:cNvSpPr txBox="1"/>
          <p:nvPr/>
        </p:nvSpPr>
        <p:spPr>
          <a:xfrm>
            <a:off x="640080" y="2148840"/>
            <a:ext cx="4572000" cy="548640"/>
          </a:xfrm>
          <a:prstGeom prst="rect">
            <a:avLst/>
          </a:prstGeom>
          <a:noFill/>
          <a:ln/>
        </p:spPr>
        <p:txBody>
          <a:bodyPr wrap="square" lIns="0" tIns="0" rIns="0" bIns="0" rtlCol="0" anchor="t"/>
          <a:lstStyle/>
          <a:p>
            <a:pPr algn="l" indent="0" marL="0">
              <a:buNone/>
            </a:pPr>
            <a:r>
              <a:rPr lang="ar-AE" altLang="en-US" sz="3200" dirty="0">
                <a:solidFill>
                  <a:schemeClr val="bg1"/>
                </a:solidFill>
                <a:latin typeface="Arial" pitchFamily="34" charset="0"/>
                <a:ea typeface="Arial" pitchFamily="34" charset="-122"/>
                <a:cs typeface="Arial" pitchFamily="34" charset="-120"/>
              </a:rPr>
              <a:t>تواصل معنا</a:t>
            </a:r>
            <a:endParaRPr lang="ar-AE" sz="3200" dirty="0"/>
          </a:p>
        </p:txBody>
      </p:sp>
      <p:sp>
        <p:nvSpPr>
          <p:cNvPr id="5" name="Text 2"/>
          <p:cNvSpPr txBox="1"/>
          <p:nvPr/>
        </p:nvSpPr>
        <p:spPr>
          <a:xfrm>
            <a:off x="640080" y="2926080"/>
            <a:ext cx="4389120" cy="548640"/>
          </a:xfrm>
          <a:prstGeom prst="rect">
            <a:avLst/>
          </a:prstGeom>
          <a:noFill/>
          <a:ln/>
        </p:spPr>
        <p:txBody>
          <a:bodyPr wrap="square" lIns="0" tIns="0" rIns="0" bIns="0" rtlCol="0" anchor="t"/>
          <a:lstStyle/>
          <a:p>
            <a:pPr algn="l" indent="0" marL="0">
              <a:buNone/>
            </a:pPr>
            <a:r>
              <a:rPr lang="en-US" sz="1400" dirty="0">
                <a:solidFill>
                  <a:schemeClr val="accent5"/>
                </a:solidFill>
                <a:latin typeface="Arial" pitchFamily="34" charset="0"/>
                <a:ea typeface="Arial" pitchFamily="34" charset="-122"/>
                <a:cs typeface="Arial" pitchFamily="34" charset="-120"/>
              </a:rPr>
              <a:t>EVCARS — Driving the Electric Vehicle Experience Forward.</a:t>
            </a:r>
            <a:endParaRPr lang="en-US" sz="1400" dirty="0"/>
          </a:p>
        </p:txBody>
      </p:sp>
      <p:sp>
        <p:nvSpPr>
          <p:cNvPr id="6" name="Text 3"/>
          <p:cNvSpPr txBox="1"/>
          <p:nvPr/>
        </p:nvSpPr>
        <p:spPr>
          <a:xfrm>
            <a:off x="640080" y="3520440"/>
            <a:ext cx="4389120" cy="320040"/>
          </a:xfrm>
          <a:prstGeom prst="rect">
            <a:avLst/>
          </a:prstGeom>
          <a:noFill/>
          <a:ln/>
        </p:spPr>
        <p:txBody>
          <a:bodyPr wrap="square" lIns="0" tIns="0" rIns="0" bIns="0" rtlCol="0" anchor="t"/>
          <a:lstStyle/>
          <a:p>
            <a:pPr rtl="1" algn="r" indent="0" marL="0">
              <a:buNone/>
            </a:pPr>
            <a:r>
              <a:rPr lang="ar-AE" altLang="en-US" sz="1400" dirty="0">
                <a:solidFill>
                  <a:schemeClr val="accent5"/>
                </a:solidFill>
                <a:latin typeface="Arial" pitchFamily="34" charset="0"/>
                <a:ea typeface="Arial" pitchFamily="34" charset="-122"/>
                <a:cs typeface="Arial" pitchFamily="34" charset="-120"/>
              </a:rPr>
              <a:t>ندفع تجربة السيارات الكهربائية إلى الأمام.</a:t>
            </a:r>
            <a:endParaRPr lang="ar-AE" sz="1400" dirty="0"/>
          </a:p>
        </p:txBody>
      </p:sp>
      <p:pic>
        <p:nvPicPr>
          <p:cNvPr id="51" name="Closing car" descr="Premium electric vehicle illustration"/>
          <p:cNvPicPr>
            <a:picLocks noChangeAspect="1"/>
          </p:cNvPicPr>
          <p:nvPr/>
        </p:nvPicPr>
        <p:blipFill>
          <a:blip r:embed="rId27"/>
          <a:stretch>
            <a:fillRect/>
          </a:stretch>
        </p:blipFill>
        <p:spPr>
          <a:xfrm>
            <a:off x="502920" y="4681728"/>
            <a:ext cx="4114800" cy="1266092"/>
          </a:xfrm>
          <a:prstGeom prst="rect">
            <a:avLst/>
          </a:prstGeom>
        </p:spPr>
      </p:pic>
      <p:sp>
        <p:nvSpPr>
          <p:cNvPr id="8" name="Contact circle 1"/>
          <p:cNvSpPr/>
          <p:nvPr/>
        </p:nvSpPr>
        <p:spPr>
          <a:xfrm>
            <a:off x="5669280" y="1371600"/>
            <a:ext cx="566928" cy="566928"/>
          </a:xfrm>
          <a:prstGeom prst="ellipse">
            <a:avLst/>
          </a:prstGeom>
          <a:solidFill>
            <a:schemeClr val="bg1">
              <a:alpha val="10000"/>
            </a:schemeClr>
          </a:solidFill>
          <a:ln/>
        </p:spPr>
      </p:sp>
      <p:pic>
        <p:nvPicPr>
          <p:cNvPr id="9" name="Contact icon 1" descr="icon">    </p:cNvPr>
          <p:cNvPicPr>
            <a:picLocks noChangeAspect="1"/>
          </p:cNvPicPr>
          <p:nvPr/>
        </p:nvPicPr>
        <p:blipFill>
          <a:blip r:embed="rId3"/>
          <a:stretch>
            <a:fillRect/>
          </a:stretch>
        </p:blipFill>
        <p:spPr>
          <a:xfrm>
            <a:off x="5806440" y="1508760"/>
            <a:ext cx="292608" cy="292608"/>
          </a:xfrm>
          <a:prstGeom prst="rect">
            <a:avLst/>
          </a:prstGeom>
        </p:spPr>
      </p:pic>
      <p:sp>
        <p:nvSpPr>
          <p:cNvPr id="10" name="Text 5"/>
          <p:cNvSpPr txBox="1"/>
          <p:nvPr/>
        </p:nvSpPr>
        <p:spPr>
          <a:xfrm>
            <a:off x="6446520" y="1353312"/>
            <a:ext cx="3108960" cy="228600"/>
          </a:xfrm>
          <a:prstGeom prst="rect">
            <a:avLst/>
          </a:prstGeom>
          <a:noFill/>
          <a:ln/>
        </p:spPr>
        <p:txBody>
          <a:bodyPr wrap="square" lIns="0" tIns="0" rIns="0" bIns="0" rtlCol="0" anchor="t"/>
          <a:lstStyle/>
          <a:p>
            <a:pPr algn="l" indent="0" marL="0">
              <a:buNone/>
            </a:pPr>
            <a:r>
              <a:rPr lang="en-US" sz="900" b="1" spc="200" kern="0" dirty="0">
                <a:solidFill>
                  <a:schemeClr val="accent2"/>
                </a:solidFill>
                <a:latin typeface="Arial" pitchFamily="34" charset="0"/>
                <a:ea typeface="Arial" pitchFamily="34" charset="-122"/>
                <a:cs typeface="Arial" pitchFamily="34" charset="-120"/>
              </a:rPr>
              <a:t>WEBSITE</a:t>
            </a:r>
            <a:endParaRPr lang="en-US" sz="900" dirty="0"/>
          </a:p>
        </p:txBody>
      </p:sp>
      <p:sp>
        <p:nvSpPr>
          <p:cNvPr id="11" name="Text 6"/>
          <p:cNvSpPr txBox="1"/>
          <p:nvPr/>
        </p:nvSpPr>
        <p:spPr>
          <a:xfrm>
            <a:off x="6446520" y="1591056"/>
            <a:ext cx="3383280" cy="329184"/>
          </a:xfrm>
          <a:prstGeom prst="rect">
            <a:avLst/>
          </a:prstGeom>
          <a:noFill/>
          <a:ln/>
        </p:spPr>
        <p:txBody>
          <a:bodyPr wrap="square" lIns="0" tIns="0" rIns="0" bIns="0" rtlCol="0" anchor="t"/>
          <a:lstStyle/>
          <a:p>
            <a:pPr algn="l" indent="0" marL="0">
              <a:buNone/>
            </a:pPr>
            <a:r>
              <a:rPr lang="en-US" sz="1500" dirty="0">
                <a:solidFill>
                  <a:schemeClr val="bg1"/>
                </a:solidFill>
                <a:latin typeface="Arial" pitchFamily="34" charset="0"/>
                <a:ea typeface="Arial" pitchFamily="34" charset="-122"/>
                <a:cs typeface="Arial" pitchFamily="34" charset="-120"/>
              </a:rPr>
              <a:t>evcarsuae.com</a:t>
            </a:r>
            <a:endParaRPr lang="en-US" sz="1500" dirty="0"/>
          </a:p>
        </p:txBody>
      </p:sp>
      <p:sp>
        <p:nvSpPr>
          <p:cNvPr id="12" name="Contact circle 2"/>
          <p:cNvSpPr/>
          <p:nvPr/>
        </p:nvSpPr>
        <p:spPr>
          <a:xfrm>
            <a:off x="5669280" y="2240280"/>
            <a:ext cx="566928" cy="566928"/>
          </a:xfrm>
          <a:prstGeom prst="ellipse">
            <a:avLst/>
          </a:prstGeom>
          <a:solidFill>
            <a:schemeClr val="bg1">
              <a:alpha val="10000"/>
            </a:schemeClr>
          </a:solidFill>
          <a:ln/>
        </p:spPr>
      </p:sp>
      <p:pic>
        <p:nvPicPr>
          <p:cNvPr id="13" name="Contact icon 2" descr="icon">    </p:cNvPr>
          <p:cNvPicPr>
            <a:picLocks noChangeAspect="1"/>
          </p:cNvPicPr>
          <p:nvPr/>
        </p:nvPicPr>
        <p:blipFill>
          <a:blip r:embed="rId4"/>
          <a:stretch>
            <a:fillRect/>
          </a:stretch>
        </p:blipFill>
        <p:spPr>
          <a:xfrm>
            <a:off x="5806440" y="2377440"/>
            <a:ext cx="292608" cy="292608"/>
          </a:xfrm>
          <a:prstGeom prst="rect">
            <a:avLst/>
          </a:prstGeom>
        </p:spPr>
      </p:pic>
      <p:sp>
        <p:nvSpPr>
          <p:cNvPr id="14" name="Text 8"/>
          <p:cNvSpPr txBox="1"/>
          <p:nvPr/>
        </p:nvSpPr>
        <p:spPr>
          <a:xfrm>
            <a:off x="6446520" y="2221992"/>
            <a:ext cx="3108960" cy="228600"/>
          </a:xfrm>
          <a:prstGeom prst="rect">
            <a:avLst/>
          </a:prstGeom>
          <a:noFill/>
          <a:ln/>
        </p:spPr>
        <p:txBody>
          <a:bodyPr wrap="square" lIns="0" tIns="0" rIns="0" bIns="0" rtlCol="0" anchor="t"/>
          <a:lstStyle/>
          <a:p>
            <a:pPr algn="l" indent="0" marL="0">
              <a:buNone/>
            </a:pPr>
            <a:r>
              <a:rPr lang="en-US" sz="900" b="1" spc="200" kern="0" dirty="0">
                <a:solidFill>
                  <a:schemeClr val="accent2"/>
                </a:solidFill>
                <a:latin typeface="Arial" pitchFamily="34" charset="0"/>
                <a:ea typeface="Arial" pitchFamily="34" charset="-122"/>
                <a:cs typeface="Arial" pitchFamily="34" charset="-120"/>
              </a:rPr>
              <a:t>EMAIL</a:t>
            </a:r>
            <a:endParaRPr lang="en-US" sz="900" dirty="0"/>
          </a:p>
        </p:txBody>
      </p:sp>
      <p:sp>
        <p:nvSpPr>
          <p:cNvPr id="15" name="Text 9"/>
          <p:cNvSpPr txBox="1"/>
          <p:nvPr/>
        </p:nvSpPr>
        <p:spPr>
          <a:xfrm>
            <a:off x="6446520" y="2459736"/>
            <a:ext cx="3383280" cy="329184"/>
          </a:xfrm>
          <a:prstGeom prst="rect">
            <a:avLst/>
          </a:prstGeom>
          <a:noFill/>
          <a:ln/>
        </p:spPr>
        <p:txBody>
          <a:bodyPr wrap="square" lIns="0" tIns="0" rIns="0" bIns="0" rtlCol="0" anchor="t"/>
          <a:lstStyle/>
          <a:p>
            <a:pPr algn="l" indent="0" marL="0">
              <a:buNone/>
            </a:pPr>
            <a:r>
              <a:rPr lang="en-US" sz="1500" dirty="0">
                <a:solidFill>
                  <a:schemeClr val="bg1"/>
                </a:solidFill>
                <a:latin typeface="Arial" pitchFamily="34" charset="0"/>
                <a:ea typeface="Arial" pitchFamily="34" charset="-122"/>
                <a:cs typeface="Arial" pitchFamily="34" charset="-120"/>
              </a:rPr>
              <a:t>info@evcarsuae.com</a:t>
            </a:r>
            <a:endParaRPr lang="en-US" sz="1500" dirty="0"/>
          </a:p>
        </p:txBody>
      </p:sp>
      <p:sp>
        <p:nvSpPr>
          <p:cNvPr id="16" name="Contact circle 3"/>
          <p:cNvSpPr/>
          <p:nvPr/>
        </p:nvSpPr>
        <p:spPr>
          <a:xfrm>
            <a:off x="5669280" y="3108960"/>
            <a:ext cx="566928" cy="566928"/>
          </a:xfrm>
          <a:prstGeom prst="ellipse">
            <a:avLst/>
          </a:prstGeom>
          <a:solidFill>
            <a:schemeClr val="bg1">
              <a:alpha val="10000"/>
            </a:schemeClr>
          </a:solidFill>
          <a:ln/>
        </p:spPr>
      </p:sp>
      <p:pic>
        <p:nvPicPr>
          <p:cNvPr id="17" name="Contact icon 3" descr="icon">    </p:cNvPr>
          <p:cNvPicPr>
            <a:picLocks noChangeAspect="1"/>
          </p:cNvPicPr>
          <p:nvPr/>
        </p:nvPicPr>
        <p:blipFill>
          <a:blip r:embed="rId5"/>
          <a:stretch>
            <a:fillRect/>
          </a:stretch>
        </p:blipFill>
        <p:spPr>
          <a:xfrm>
            <a:off x="5806440" y="3246120"/>
            <a:ext cx="292608" cy="292608"/>
          </a:xfrm>
          <a:prstGeom prst="rect">
            <a:avLst/>
          </a:prstGeom>
        </p:spPr>
      </p:pic>
      <p:sp>
        <p:nvSpPr>
          <p:cNvPr id="18" name="Text 11"/>
          <p:cNvSpPr txBox="1"/>
          <p:nvPr/>
        </p:nvSpPr>
        <p:spPr>
          <a:xfrm>
            <a:off x="6446520" y="3090672"/>
            <a:ext cx="3108960" cy="228600"/>
          </a:xfrm>
          <a:prstGeom prst="rect">
            <a:avLst/>
          </a:prstGeom>
          <a:noFill/>
          <a:ln/>
        </p:spPr>
        <p:txBody>
          <a:bodyPr wrap="square" lIns="0" tIns="0" rIns="0" bIns="0" rtlCol="0" anchor="t"/>
          <a:lstStyle/>
          <a:p>
            <a:pPr algn="l" indent="0" marL="0">
              <a:buNone/>
            </a:pPr>
            <a:r>
              <a:rPr lang="en-US" sz="900" b="1" spc="200" kern="0" dirty="0">
                <a:solidFill>
                  <a:schemeClr val="accent2"/>
                </a:solidFill>
                <a:latin typeface="Arial" pitchFamily="34" charset="0"/>
                <a:ea typeface="Arial" pitchFamily="34" charset="-122"/>
                <a:cs typeface="Arial" pitchFamily="34" charset="-120"/>
              </a:rPr>
              <a:t>CUSTOMER SERVICE &amp; WHATSAPP</a:t>
            </a:r>
            <a:endParaRPr lang="en-US" sz="900" dirty="0"/>
          </a:p>
        </p:txBody>
      </p:sp>
      <p:sp>
        <p:nvSpPr>
          <p:cNvPr id="19" name="Text 12"/>
          <p:cNvSpPr txBox="1"/>
          <p:nvPr/>
        </p:nvSpPr>
        <p:spPr>
          <a:xfrm>
            <a:off x="6446520" y="3328416"/>
            <a:ext cx="3383280" cy="329184"/>
          </a:xfrm>
          <a:prstGeom prst="rect">
            <a:avLst/>
          </a:prstGeom>
          <a:noFill/>
          <a:ln/>
        </p:spPr>
        <p:txBody>
          <a:bodyPr wrap="square" lIns="0" tIns="0" rIns="0" bIns="0" rtlCol="0" anchor="t"/>
          <a:lstStyle/>
          <a:p>
            <a:pPr algn="l" indent="0" marL="0">
              <a:buNone/>
            </a:pPr>
            <a:r>
              <a:rPr lang="en-US" sz="1500" dirty="0">
                <a:solidFill>
                  <a:schemeClr val="bg1"/>
                </a:solidFill>
                <a:latin typeface="Arial" pitchFamily="34" charset="0"/>
                <a:ea typeface="Arial" pitchFamily="34" charset="-122"/>
                <a:cs typeface="Arial" pitchFamily="34" charset="-120"/>
              </a:rPr>
              <a:t>+971 50 777 7134</a:t>
            </a:r>
            <a:endParaRPr lang="en-US" sz="1500" dirty="0"/>
          </a:p>
        </p:txBody>
      </p:sp>
      <p:sp>
        <p:nvSpPr>
          <p:cNvPr id="24" name="Contact circle 5"/>
          <p:cNvSpPr/>
          <p:nvPr/>
        </p:nvSpPr>
        <p:spPr>
          <a:xfrm>
            <a:off x="5669280" y="4846320"/>
            <a:ext cx="566928" cy="566928"/>
          </a:xfrm>
          <a:prstGeom prst="ellipse">
            <a:avLst/>
          </a:prstGeom>
          <a:solidFill>
            <a:schemeClr val="bg1">
              <a:alpha val="10000"/>
            </a:schemeClr>
          </a:solidFill>
          <a:ln/>
        </p:spPr>
      </p:sp>
      <p:pic>
        <p:nvPicPr>
          <p:cNvPr id="25" name="Contact icon 5" descr="icon">    </p:cNvPr>
          <p:cNvPicPr>
            <a:picLocks noChangeAspect="1"/>
          </p:cNvPicPr>
          <p:nvPr/>
        </p:nvPicPr>
        <p:blipFill>
          <a:blip r:embed="rId7"/>
          <a:stretch>
            <a:fillRect/>
          </a:stretch>
        </p:blipFill>
        <p:spPr>
          <a:xfrm>
            <a:off x="5806440" y="4983480"/>
            <a:ext cx="292608" cy="292608"/>
          </a:xfrm>
          <a:prstGeom prst="rect">
            <a:avLst/>
          </a:prstGeom>
        </p:spPr>
      </p:pic>
      <p:sp>
        <p:nvSpPr>
          <p:cNvPr id="26" name="Text 17"/>
          <p:cNvSpPr txBox="1"/>
          <p:nvPr/>
        </p:nvSpPr>
        <p:spPr>
          <a:xfrm>
            <a:off x="6446520" y="4828032"/>
            <a:ext cx="3108960" cy="228600"/>
          </a:xfrm>
          <a:prstGeom prst="rect">
            <a:avLst/>
          </a:prstGeom>
          <a:noFill/>
          <a:ln/>
        </p:spPr>
        <p:txBody>
          <a:bodyPr wrap="square" lIns="0" tIns="0" rIns="0" bIns="0" rtlCol="0" anchor="t"/>
          <a:lstStyle/>
          <a:p>
            <a:pPr algn="l" indent="0" marL="0">
              <a:buNone/>
            </a:pPr>
            <a:r>
              <a:rPr lang="en-US" sz="900" b="1" spc="200" kern="0" dirty="0">
                <a:solidFill>
                  <a:schemeClr val="accent2"/>
                </a:solidFill>
                <a:latin typeface="Arial" pitchFamily="34" charset="0"/>
                <a:ea typeface="Arial" pitchFamily="34" charset="-122"/>
                <a:cs typeface="Arial" pitchFamily="34" charset="-120"/>
              </a:rPr>
              <a:t>LOCATIONS  |  المواقع</a:t>
            </a:r>
            <a:endParaRPr lang="en-US" sz="900" dirty="0"/>
          </a:p>
        </p:txBody>
      </p:sp>
      <p:sp>
        <p:nvSpPr>
          <p:cNvPr id="27" name="Text 18"/>
          <p:cNvSpPr txBox="1"/>
          <p:nvPr/>
        </p:nvSpPr>
        <p:spPr>
          <a:xfrm>
            <a:off x="6446520" y="5065776"/>
            <a:ext cx="3560000" cy="329184"/>
          </a:xfrm>
          <a:prstGeom prst="rect">
            <a:avLst/>
          </a:prstGeom>
          <a:noFill/>
          <a:ln/>
        </p:spPr>
        <p:txBody>
          <a:bodyPr wrap="square" lIns="0" tIns="0" rIns="0" bIns="0" rtlCol="0" anchor="t"/>
          <a:lstStyle/>
          <a:p>
            <a:pPr algn="l" indent="0" marL="0">
              <a:buNone/>
            </a:pPr>
            <a:r>
              <a:rPr lang="en-US" sz="1150" dirty="0">
                <a:solidFill>
                  <a:schemeClr val="bg1"/>
                </a:solidFill>
                <a:latin typeface="Arial" pitchFamily="34" charset="0"/>
                <a:ea typeface="Arial" pitchFamily="34" charset="-122"/>
                <a:cs typeface="Arial" pitchFamily="34" charset="-120"/>
                <a:hlinkClick r:id="rId21" tooltip="Open Dubai on Google Maps">
                  <a:extLst>
                    <a:ext uri="{A12FA001-AC4F-418D-AE19-62706E023703}">
                      <ahyp:hlinkClr xmlns:ahyp="http://schemas.microsoft.com/office/drawing/2018/hyperlinkcolor" val="tx"/>
                    </a:ext>
                  </a:extLst>
                </a:hlinkClick>
              </a:rPr>
              <a:t>Dubai</a:t>
            </a:r>
            <a:r>
              <a:rPr lang="en-US" sz="1150" dirty="0">
                <a:solidFill>
                  <a:schemeClr val="bg1"/>
                </a:solidFill>
                <a:latin typeface="Arial" pitchFamily="34" charset="0"/>
                <a:ea typeface="Arial" pitchFamily="34" charset="-122"/>
                <a:cs typeface="Arial" pitchFamily="34" charset="-120"/>
              </a:rPr>
              <a:t> • </a:t>
            </a:r>
            <a:r>
              <a:rPr lang="en-US" sz="1150" dirty="0">
                <a:solidFill>
                  <a:schemeClr val="bg1"/>
                </a:solidFill>
                <a:latin typeface="Arial" pitchFamily="34" charset="0"/>
                <a:ea typeface="Arial" pitchFamily="34" charset="-122"/>
                <a:cs typeface="Arial" pitchFamily="34" charset="-120"/>
                <a:hlinkClick r:id="rId22" tooltip="Open Sharjah on Google Maps">
                  <a:extLst>
                    <a:ext uri="{A12FA001-AC4F-418D-AE19-62706E023703}">
                      <ahyp:hlinkClr xmlns:ahyp="http://schemas.microsoft.com/office/drawing/2018/hyperlinkcolor" val="tx"/>
                    </a:ext>
                  </a:extLst>
                </a:hlinkClick>
              </a:rPr>
              <a:t>Sharjah</a:t>
            </a:r>
            <a:r>
              <a:rPr lang="en-US" sz="1150" dirty="0">
                <a:solidFill>
                  <a:schemeClr val="bg1"/>
                </a:solidFill>
                <a:latin typeface="Arial" pitchFamily="34" charset="0"/>
                <a:ea typeface="Arial" pitchFamily="34" charset="-122"/>
                <a:cs typeface="Arial" pitchFamily="34" charset="-120"/>
              </a:rPr>
              <a:t> • </a:t>
            </a:r>
            <a:r>
              <a:rPr lang="en-US" sz="1150" dirty="0">
                <a:solidFill>
                  <a:schemeClr val="bg1"/>
                </a:solidFill>
                <a:latin typeface="Arial" pitchFamily="34" charset="0"/>
                <a:ea typeface="Arial" pitchFamily="34" charset="-122"/>
                <a:cs typeface="Arial" pitchFamily="34" charset="-120"/>
                <a:hlinkClick r:id="rId23" tooltip="Open Al Ain on Google Maps">
                  <a:extLst>
                    <a:ext uri="{A12FA001-AC4F-418D-AE19-62706E023703}">
                      <ahyp:hlinkClr xmlns:ahyp="http://schemas.microsoft.com/office/drawing/2018/hyperlinkcolor" val="tx"/>
                    </a:ext>
                  </a:extLst>
                </a:hlinkClick>
              </a:rPr>
              <a:t>Al Ain</a:t>
            </a:r>
            <a:r>
              <a:rPr lang="en-US" sz="1150" dirty="0">
                <a:solidFill>
                  <a:schemeClr val="bg1"/>
                </a:solidFill>
                <a:latin typeface="Arial" pitchFamily="34" charset="0"/>
                <a:ea typeface="Arial" pitchFamily="34" charset="-122"/>
                <a:cs typeface="Arial" pitchFamily="34" charset="-120"/>
              </a:rPr>
              <a:t> • </a:t>
            </a:r>
            <a:r>
              <a:rPr lang="en-US" sz="1150" dirty="0">
                <a:solidFill>
                  <a:schemeClr val="bg1"/>
                </a:solidFill>
                <a:latin typeface="Arial" pitchFamily="34" charset="0"/>
                <a:ea typeface="Arial" pitchFamily="34" charset="-122"/>
                <a:cs typeface="Arial" pitchFamily="34" charset="-120"/>
                <a:hlinkClick r:id="rId24" tooltip="Open Muscat on Google Maps">
                  <a:extLst>
                    <a:ext uri="{A12FA001-AC4F-418D-AE19-62706E023703}">
                      <ahyp:hlinkClr xmlns:ahyp="http://schemas.microsoft.com/office/drawing/2018/hyperlinkcolor" val="tx"/>
                    </a:ext>
                  </a:extLst>
                </a:hlinkClick>
              </a:rPr>
              <a:t>Muscat</a:t>
            </a:r>
            <a:r>
              <a:rPr lang="en-US" sz="1150" dirty="0">
                <a:solidFill>
                  <a:schemeClr val="bg1"/>
                </a:solidFill>
                <a:latin typeface="Arial" pitchFamily="34" charset="0"/>
                <a:ea typeface="Arial" pitchFamily="34" charset="-122"/>
                <a:cs typeface="Arial" pitchFamily="34" charset="-120"/>
              </a:rPr>
              <a:t> • </a:t>
            </a:r>
            <a:r>
              <a:rPr lang="en-US" sz="1150" dirty="0">
                <a:solidFill>
                  <a:schemeClr val="bg1"/>
                </a:solidFill>
                <a:latin typeface="Arial" pitchFamily="34" charset="0"/>
                <a:ea typeface="Arial" pitchFamily="34" charset="-122"/>
                <a:cs typeface="Arial" pitchFamily="34" charset="-120"/>
                <a:hlinkClick r:id="rId25" tooltip="Open Saham on Google Maps">
                  <a:extLst>
                    <a:ext uri="{A12FA001-AC4F-418D-AE19-62706E023703}">
                      <ahyp:hlinkClr xmlns:ahyp="http://schemas.microsoft.com/office/drawing/2018/hyperlinkcolor" val="tx"/>
                    </a:ext>
                  </a:extLst>
                </a:hlinkClick>
              </a:rPr>
              <a:t>Saham</a:t>
            </a:r>
            <a:endParaRPr lang="en-US" sz="1150" dirty="0"/>
          </a:p>
        </p:txBody>
      </p:sp>
      <p:sp>
        <p:nvSpPr>
          <p:cNvPr id="28" name="QR card web"/>
          <p:cNvSpPr/>
          <p:nvPr/>
        </p:nvSpPr>
        <p:spPr>
          <a:xfrm>
            <a:off x="10012680" y="1371600"/>
            <a:ext cx="1554480" cy="1783080"/>
          </a:xfrm>
          <a:prstGeom prst="roundRect">
            <a:avLst>
              <a:gd name="adj" fmla="val 4706"/>
            </a:avLst>
          </a:prstGeom>
          <a:solidFill>
            <a:schemeClr val="bg1"/>
          </a:solidFill>
          <a:ln/>
        </p:spPr>
      </p:sp>
      <p:pic>
        <p:nvPicPr>
          <p:cNvPr id="29" name="QR web" descr="QR code: evcarsuae.com">    </p:cNvPr>
          <p:cNvPicPr>
            <a:picLocks noChangeAspect="1"/>
          </p:cNvPicPr>
          <p:nvPr/>
        </p:nvPicPr>
        <p:blipFill>
          <a:blip r:embed="rId8"/>
          <a:stretch>
            <a:fillRect/>
          </a:stretch>
        </p:blipFill>
        <p:spPr>
          <a:xfrm>
            <a:off x="10104120" y="1463040"/>
            <a:ext cx="1371600" cy="1371600"/>
          </a:xfrm>
          <a:prstGeom prst="rect">
            <a:avLst/>
          </a:prstGeom>
        </p:spPr>
      </p:pic>
      <p:sp>
        <p:nvSpPr>
          <p:cNvPr id="30" name="Text 20"/>
          <p:cNvSpPr txBox="1"/>
          <p:nvPr/>
        </p:nvSpPr>
        <p:spPr>
          <a:xfrm>
            <a:off x="10012680" y="2862072"/>
            <a:ext cx="1554480" cy="228600"/>
          </a:xfrm>
          <a:prstGeom prst="rect">
            <a:avLst/>
          </a:prstGeom>
          <a:noFill/>
          <a:ln/>
        </p:spPr>
        <p:txBody>
          <a:bodyPr wrap="square" lIns="0" tIns="0" rIns="0" bIns="0" rtlCol="0" anchor="t"/>
          <a:lstStyle/>
          <a:p>
            <a:pPr algn="ctr" indent="0" marL="0">
              <a:buNone/>
            </a:pPr>
            <a:r>
              <a:rPr lang="en-US" sz="950" b="1" dirty="0">
                <a:solidFill>
                  <a:schemeClr val="tx1"/>
                </a:solidFill>
                <a:latin typeface="Arial" pitchFamily="34" charset="0"/>
                <a:ea typeface="Arial" pitchFamily="34" charset="-122"/>
                <a:cs typeface="Arial" pitchFamily="34" charset="-120"/>
              </a:rPr>
              <a:t>Online Store</a:t>
            </a:r>
            <a:endParaRPr lang="en-US" sz="950" dirty="0"/>
          </a:p>
        </p:txBody>
      </p:sp>
      <p:sp>
        <p:nvSpPr>
          <p:cNvPr id="31" name="QR card whatsapp"/>
          <p:cNvSpPr/>
          <p:nvPr/>
        </p:nvSpPr>
        <p:spPr>
          <a:xfrm>
            <a:off x="10012680" y="3337560"/>
            <a:ext cx="1554480" cy="1783080"/>
          </a:xfrm>
          <a:prstGeom prst="roundRect">
            <a:avLst>
              <a:gd name="adj" fmla="val 4706"/>
            </a:avLst>
          </a:prstGeom>
          <a:solidFill>
            <a:schemeClr val="bg1"/>
          </a:solidFill>
          <a:ln/>
        </p:spPr>
      </p:sp>
      <p:pic>
        <p:nvPicPr>
          <p:cNvPr id="32" name="QR whatsapp" descr="QR code: WhatsApp">    </p:cNvPr>
          <p:cNvPicPr>
            <a:picLocks noChangeAspect="1"/>
          </p:cNvPicPr>
          <p:nvPr/>
        </p:nvPicPr>
        <p:blipFill>
          <a:blip r:embed="rId9"/>
          <a:stretch>
            <a:fillRect/>
          </a:stretch>
        </p:blipFill>
        <p:spPr>
          <a:xfrm>
            <a:off x="10104120" y="3429000"/>
            <a:ext cx="1371600" cy="1371600"/>
          </a:xfrm>
          <a:prstGeom prst="rect">
            <a:avLst/>
          </a:prstGeom>
        </p:spPr>
      </p:pic>
      <p:sp>
        <p:nvSpPr>
          <p:cNvPr id="33" name="Text 22"/>
          <p:cNvSpPr txBox="1"/>
          <p:nvPr/>
        </p:nvSpPr>
        <p:spPr>
          <a:xfrm>
            <a:off x="10012680" y="4828032"/>
            <a:ext cx="1554480" cy="228600"/>
          </a:xfrm>
          <a:prstGeom prst="rect">
            <a:avLst/>
          </a:prstGeom>
          <a:noFill/>
          <a:ln/>
        </p:spPr>
        <p:txBody>
          <a:bodyPr wrap="square" lIns="0" tIns="0" rIns="0" bIns="0" rtlCol="0" anchor="t"/>
          <a:lstStyle/>
          <a:p>
            <a:pPr algn="ctr" indent="0" marL="0">
              <a:buNone/>
            </a:pPr>
            <a:r>
              <a:rPr lang="en-US" sz="950" b="1" dirty="0">
                <a:solidFill>
                  <a:schemeClr val="tx1"/>
                </a:solidFill>
                <a:latin typeface="Arial" pitchFamily="34" charset="0"/>
                <a:ea typeface="Arial" pitchFamily="34" charset="-122"/>
                <a:cs typeface="Arial" pitchFamily="34" charset="-120"/>
              </a:rPr>
              <a:t>WhatsApp</a:t>
            </a:r>
            <a:endParaRPr lang="en-US" sz="950" dirty="0"/>
          </a:p>
        </p:txBody>
      </p:sp>
      <p:sp>
        <p:nvSpPr>
          <p:cNvPr id="34" name="Text 23"/>
          <p:cNvSpPr txBox="1"/>
          <p:nvPr/>
        </p:nvSpPr>
        <p:spPr>
          <a:xfrm>
            <a:off x="0" y="6327648"/>
            <a:ext cx="12191695" cy="228600"/>
          </a:xfrm>
          <a:prstGeom prst="rect">
            <a:avLst/>
          </a:prstGeom>
          <a:noFill/>
          <a:ln/>
        </p:spPr>
        <p:txBody>
          <a:bodyPr wrap="square" lIns="0" tIns="0" rIns="0" bIns="0" rtlCol="0" anchor="t"/>
          <a:lstStyle/>
          <a:p>
            <a:pPr algn="ctr" indent="0" marL="0">
              <a:buNone/>
            </a:pPr>
            <a:r>
              <a:rPr lang="en-US" sz="1000" spc="400" kern="0" dirty="0">
                <a:solidFill>
                  <a:schemeClr val="accent5"/>
                </a:solidFill>
                <a:latin typeface="Arial" pitchFamily="34" charset="0"/>
                <a:ea typeface="Arial" pitchFamily="34" charset="-122"/>
                <a:cs typeface="Arial" pitchFamily="34" charset="-120"/>
              </a:rPr>
              <a:t>UNITED ARAB EMIRATES   |   SULTANATE OF OMAN</a:t>
            </a:r>
            <a:endParaRPr lang="en-US" sz="1000" dirty="0"/>
          </a:p>
        </p:txBody>
      </p:sp>
      <p:sp>
        <p:nvSpPr>
          <p:cNvPr id="35" name="Open evcarsuae.com" descr="Open evcarsuae.com">
            <a:hlinkClick r:id="rId12" tooltip="Open evcarsuae.com"/>
          </p:cNvPr>
          <p:cNvSpPr/>
          <p:nvPr/>
        </p:nvSpPr>
        <p:spPr>
          <a:xfrm>
            <a:off x="5609280" y="1311600"/>
            <a:ext cx="3837240" cy="668640"/>
          </a:xfrm>
          <a:prstGeom prst="roundRect">
            <a:avLst/>
          </a:prstGeom>
          <a:noFill/>
          <a:ln>
            <a:noFill/>
          </a:ln>
        </p:spPr>
        <p:txBody>
          <a:bodyPr/>
          <a:lstStyle/>
          <a:p>
            <a:endParaRPr lang="en-US"/>
          </a:p>
        </p:txBody>
      </p:sp>
      <p:sp>
        <p:nvSpPr>
          <p:cNvPr id="36" name="Send email" descr="Send email">
            <a:hlinkClick r:id="rId13" tooltip="Send email"/>
          </p:cNvPr>
          <p:cNvSpPr/>
          <p:nvPr/>
        </p:nvSpPr>
        <p:spPr>
          <a:xfrm>
            <a:off x="5609280" y="2180280"/>
            <a:ext cx="3837240" cy="668640"/>
          </a:xfrm>
          <a:prstGeom prst="roundRect">
            <a:avLst/>
          </a:prstGeom>
          <a:noFill/>
          <a:ln>
            <a:noFill/>
          </a:ln>
        </p:spPr>
        <p:txBody>
          <a:bodyPr/>
          <a:lstStyle/>
          <a:p>
            <a:endParaRPr lang="en-US"/>
          </a:p>
        </p:txBody>
      </p:sp>
      <p:sp>
        <p:nvSpPr>
          <p:cNvPr id="37" name="Chat on WhatsApp" descr="Chat on WhatsApp">
            <a:hlinkClick r:id="rId14" tooltip="Chat on WhatsApp"/>
          </p:cNvPr>
          <p:cNvSpPr/>
          <p:nvPr/>
        </p:nvSpPr>
        <p:spPr>
          <a:xfrm>
            <a:off x="5609280" y="3048960"/>
            <a:ext cx="3837240" cy="668640"/>
          </a:xfrm>
          <a:prstGeom prst="roundRect">
            <a:avLst/>
          </a:prstGeom>
          <a:noFill/>
          <a:ln>
            <a:noFill/>
          </a:ln>
        </p:spPr>
        <p:txBody>
          <a:bodyPr/>
          <a:lstStyle/>
          <a:p>
            <a:endParaRPr lang="en-US"/>
          </a:p>
        </p:txBody>
      </p:sp>
      <p:sp>
        <p:nvSpPr>
          <p:cNvPr id="38" name="QR web" descr="Open evcarsuae.com">
            <a:hlinkClick r:id="rId12" tooltip="Open evcarsuae.com"/>
          </p:cNvPr>
          <p:cNvSpPr/>
          <p:nvPr/>
        </p:nvSpPr>
        <p:spPr>
          <a:xfrm>
            <a:off x="10012680" y="1371600"/>
            <a:ext cx="1554480" cy="1783080"/>
          </a:xfrm>
          <a:prstGeom prst="roundRect">
            <a:avLst/>
          </a:prstGeom>
          <a:noFill/>
          <a:ln>
            <a:noFill/>
          </a:ln>
        </p:spPr>
        <p:txBody>
          <a:bodyPr/>
          <a:lstStyle/>
          <a:p>
            <a:endParaRPr lang="en-US"/>
          </a:p>
        </p:txBody>
      </p:sp>
      <p:sp>
        <p:nvSpPr>
          <p:cNvPr id="39" name="QR whatsapp" descr="Chat on WhatsApp">
            <a:hlinkClick r:id="rId14" tooltip="Chat on WhatsApp"/>
          </p:cNvPr>
          <p:cNvSpPr/>
          <p:nvPr/>
        </p:nvSpPr>
        <p:spPr>
          <a:xfrm>
            <a:off x="10012680" y="3337560"/>
            <a:ext cx="1554480" cy="1783080"/>
          </a:xfrm>
          <a:prstGeom prst="roundRect">
            <a:avLst/>
          </a:prstGeom>
          <a:noFill/>
          <a:ln>
            <a:noFill/>
          </a:ln>
        </p:spPr>
        <p:txBody>
          <a:bodyPr/>
          <a:lstStyle/>
          <a:p>
            <a:endParaRPr lang="en-US"/>
          </a:p>
        </p:txBody>
      </p:sp>
      <p:sp>
        <p:nvSpPr>
          <p:cNvPr id="22" name="Text 14"/>
          <p:cNvSpPr txBox="1"/>
          <p:nvPr/>
        </p:nvSpPr>
        <p:spPr>
          <a:xfrm>
            <a:off x="6446520" y="3830000"/>
            <a:ext cx="3108960" cy="228600"/>
          </a:xfrm>
          <a:prstGeom prst="rect">
            <a:avLst/>
          </a:prstGeom>
          <a:noFill/>
          <a:ln/>
        </p:spPr>
        <p:txBody>
          <a:bodyPr wrap="square" lIns="0" tIns="0" rIns="0" bIns="0" rtlCol="0" anchor="t"/>
          <a:lstStyle/>
          <a:p>
            <a:pPr algn="l" indent="0" marL="0">
              <a:buNone/>
            </a:pPr>
            <a:r>
              <a:rPr lang="en-US" sz="900" b="1" spc="200" kern="0" dirty="0">
                <a:solidFill>
                  <a:schemeClr val="accent2"/>
                </a:solidFill>
                <a:latin typeface="Arial" pitchFamily="34" charset="0"/>
                <a:ea typeface="Arial" pitchFamily="34" charset="-122"/>
                <a:cs typeface="Arial" pitchFamily="34" charset="-120"/>
              </a:rPr>
              <a:t>SOCIAL MEDIA</a:t>
            </a:r>
            <a:endParaRPr lang="en-US" sz="900" dirty="0"/>
          </a:p>
        </p:txBody>
      </p:sp>
      <p:sp>
        <p:nvSpPr>
          <p:cNvPr id="40" name="Social circle Instagram"/>
          <p:cNvSpPr/>
          <p:nvPr/>
        </p:nvSpPr>
        <p:spPr>
          <a:xfrm>
            <a:off x="5669280" y="4080000"/>
            <a:ext cx="500000" cy="500000"/>
          </a:xfrm>
          <a:prstGeom prst="ellipse">
            <a:avLst/>
          </a:prstGeom>
          <a:solidFill>
            <a:schemeClr val="bg1">
              <a:alpha val="10000"/>
            </a:schemeClr>
          </a:solidFill>
          <a:ln/>
        </p:spPr>
      </p:sp>
      <p:pic>
        <p:nvPicPr>
          <p:cNvPr id="41" name="Instagram icon" descr="Instagram"/>
          <p:cNvPicPr>
            <a:picLocks noChangeAspect="1"/>
          </p:cNvPicPr>
          <p:nvPr/>
        </p:nvPicPr>
        <p:blipFill>
          <a:blip r:embed="rId15"/>
          <a:stretch>
            <a:fillRect/>
          </a:stretch>
        </p:blipFill>
        <p:spPr>
          <a:xfrm>
            <a:off x="5794280" y="4205000"/>
            <a:ext cx="250000" cy="250000"/>
          </a:xfrm>
          <a:prstGeom prst="rect">
            <a:avLst/>
          </a:prstGeom>
        </p:spPr>
      </p:pic>
      <p:sp>
        <p:nvSpPr>
          <p:cNvPr id="42" name="Link Instagram" descr="Open Instagram">
            <a:hlinkClick r:id="rId16" tooltip="Open Instagram"/>
          </p:cNvPr>
          <p:cNvSpPr/>
          <p:nvPr/>
        </p:nvSpPr>
        <p:spPr>
          <a:xfrm>
            <a:off x="5669280" y="4080000"/>
            <a:ext cx="500000" cy="500000"/>
          </a:xfrm>
          <a:prstGeom prst="ellipse">
            <a:avLst/>
          </a:prstGeom>
          <a:noFill/>
          <a:ln>
            <a:noFill/>
          </a:ln>
        </p:spPr>
        <p:txBody>
          <a:bodyPr/>
          <a:lstStyle/>
          <a:p>
            <a:endParaRPr lang="en-US"/>
          </a:p>
        </p:txBody>
      </p:sp>
      <p:sp>
        <p:nvSpPr>
          <p:cNvPr id="43" name="Social circle TikTok"/>
          <p:cNvSpPr/>
          <p:nvPr/>
        </p:nvSpPr>
        <p:spPr>
          <a:xfrm>
            <a:off x="6339280" y="4080000"/>
            <a:ext cx="500000" cy="500000"/>
          </a:xfrm>
          <a:prstGeom prst="ellipse">
            <a:avLst/>
          </a:prstGeom>
          <a:solidFill>
            <a:schemeClr val="bg1">
              <a:alpha val="10000"/>
            </a:schemeClr>
          </a:solidFill>
          <a:ln/>
        </p:spPr>
      </p:sp>
      <p:pic>
        <p:nvPicPr>
          <p:cNvPr id="44" name="TikTok icon" descr="TikTok"/>
          <p:cNvPicPr>
            <a:picLocks noChangeAspect="1"/>
          </p:cNvPicPr>
          <p:nvPr/>
        </p:nvPicPr>
        <p:blipFill>
          <a:blip r:embed="rId17"/>
          <a:stretch>
            <a:fillRect/>
          </a:stretch>
        </p:blipFill>
        <p:spPr>
          <a:xfrm>
            <a:off x="6464280" y="4205000"/>
            <a:ext cx="250000" cy="250000"/>
          </a:xfrm>
          <a:prstGeom prst="rect">
            <a:avLst/>
          </a:prstGeom>
        </p:spPr>
      </p:pic>
      <p:sp>
        <p:nvSpPr>
          <p:cNvPr id="45" name="Link TikTok" descr="Open TikTok">
            <a:hlinkClick r:id="rId18" tooltip="Open TikTok"/>
          </p:cNvPr>
          <p:cNvSpPr/>
          <p:nvPr/>
        </p:nvSpPr>
        <p:spPr>
          <a:xfrm>
            <a:off x="6339280" y="4080000"/>
            <a:ext cx="500000" cy="500000"/>
          </a:xfrm>
          <a:prstGeom prst="ellipse">
            <a:avLst/>
          </a:prstGeom>
          <a:noFill/>
          <a:ln>
            <a:noFill/>
          </a:ln>
        </p:spPr>
        <p:txBody>
          <a:bodyPr/>
          <a:lstStyle/>
          <a:p>
            <a:endParaRPr lang="en-US"/>
          </a:p>
        </p:txBody>
      </p:sp>
      <p:sp>
        <p:nvSpPr>
          <p:cNvPr id="46" name="Social circle Snapchat"/>
          <p:cNvSpPr/>
          <p:nvPr/>
        </p:nvSpPr>
        <p:spPr>
          <a:xfrm>
            <a:off x="7009280" y="4080000"/>
            <a:ext cx="500000" cy="500000"/>
          </a:xfrm>
          <a:prstGeom prst="ellipse">
            <a:avLst/>
          </a:prstGeom>
          <a:solidFill>
            <a:schemeClr val="bg1">
              <a:alpha val="10000"/>
            </a:schemeClr>
          </a:solidFill>
          <a:ln/>
        </p:spPr>
      </p:sp>
      <p:pic>
        <p:nvPicPr>
          <p:cNvPr id="47" name="Snapchat icon" descr="Snapchat"/>
          <p:cNvPicPr>
            <a:picLocks noChangeAspect="1"/>
          </p:cNvPicPr>
          <p:nvPr/>
        </p:nvPicPr>
        <p:blipFill>
          <a:blip r:embed="rId19"/>
          <a:stretch>
            <a:fillRect/>
          </a:stretch>
        </p:blipFill>
        <p:spPr>
          <a:xfrm>
            <a:off x="7134280" y="4205000"/>
            <a:ext cx="250000" cy="250000"/>
          </a:xfrm>
          <a:prstGeom prst="rect">
            <a:avLst/>
          </a:prstGeom>
        </p:spPr>
      </p:pic>
      <p:sp>
        <p:nvSpPr>
          <p:cNvPr id="48" name="Link Snapchat" descr="Open Snapchat">
            <a:hlinkClick r:id="rId20" tooltip="Open Snapchat"/>
          </p:cNvPr>
          <p:cNvSpPr/>
          <p:nvPr/>
        </p:nvSpPr>
        <p:spPr>
          <a:xfrm>
            <a:off x="7009280" y="4080000"/>
            <a:ext cx="500000" cy="500000"/>
          </a:xfrm>
          <a:prstGeom prst="ellipse">
            <a:avLst/>
          </a:prstGeom>
          <a:noFill/>
          <a:ln>
            <a:noFill/>
          </a:ln>
        </p:spPr>
        <p:txBody>
          <a:bodyPr/>
          <a:lstStyle/>
          <a:p>
            <a:endParaRPr lang="en-US"/>
          </a:p>
        </p:txBody>
      </p:sp>
      <p:sp>
        <p:nvSpPr>
          <p:cNvPr id="49" name="Text 15"/>
          <p:cNvSpPr txBox="1"/>
          <p:nvPr/>
        </p:nvSpPr>
        <p:spPr>
          <a:xfrm>
            <a:off x="7739280" y="4170000"/>
            <a:ext cx="3383280" cy="329184"/>
          </a:xfrm>
          <a:prstGeom prst="rect">
            <a:avLst/>
          </a:prstGeom>
          <a:noFill/>
          <a:ln/>
        </p:spPr>
        <p:txBody>
          <a:bodyPr wrap="square" lIns="0" tIns="0" rIns="0" bIns="0" rtlCol="0" anchor="t"/>
          <a:lstStyle/>
          <a:p>
            <a:pPr algn="l" indent="0" marL="0">
              <a:buNone/>
            </a:pPr>
            <a:r>
              <a:rPr lang="en-US" sz="1500" dirty="0">
                <a:solidFill>
                  <a:schemeClr val="bg1"/>
                </a:solidFill>
                <a:latin typeface="Arial" pitchFamily="34" charset="0"/>
                <a:ea typeface="Arial" pitchFamily="34" charset="-122"/>
                <a:cs typeface="Arial" pitchFamily="34" charset="-120"/>
              </a:rPr>
              <a:t>@evcarsuae</a:t>
            </a:r>
            <a:endParaRPr lang="en-US" sz="1500" dirty="0"/>
          </a:p>
        </p:txBody>
      </p:sp>
      <p:sp>
        <p:nvSpPr>
          <p:cNvPr id="50" name="Back to contents" descr="Back to contents">
            <a:hlinkClick r:id="rId26" action="ppaction://hlinksldjump" tooltip="Back to Contents / العودة إلى المحتويات"/>
          </p:cNvPr>
          <p:cNvSpPr/>
          <p:nvPr/>
        </p:nvSpPr>
        <p:spPr>
          <a:xfrm>
            <a:off x="9716000" y="520000"/>
            <a:ext cx="1850000" cy="300000"/>
          </a:xfrm>
          <a:prstGeom prst="roundRect">
            <a:avLst>
              <a:gd name="adj" fmla="val 50000"/>
            </a:avLst>
          </a:prstGeom>
          <a:noFill/>
          <a:ln w="9525">
            <a:solidFill>
              <a:schemeClr val="accent1"/>
            </a:solidFill>
          </a:ln>
        </p:spPr>
        <p:txBody>
          <a:bodyPr wrap="none" lIns="0" tIns="0" rIns="0" bIns="0" rtlCol="0" anchor="ctr"/>
          <a:lstStyle/>
          <a:p>
            <a:pPr algn="ctr"/>
            <a:r>
              <a:rPr lang="en-US" sz="900" b="1" spc="120" dirty="0">
                <a:solidFill>
                  <a:schemeClr val="accent1"/>
                </a:solidFill>
                <a:latin typeface="Arial"/>
                <a:cs typeface="Arial"/>
              </a:rPr>
              <a:t>CONTENTS  ·  </a:t>
            </a:r>
            <a:r>
              <a:rPr lang="ar-AE" sz="900" b="1" dirty="0">
                <a:solidFill>
                  <a:schemeClr val="accent1"/>
                </a:solidFill>
                <a:latin typeface="Arial"/>
                <a:cs typeface="Arial"/>
              </a:rPr>
              <a:t>المحتويات</a:t>
            </a:r>
          </a:p>
        </p:txBody>
      </p:sp>
    </p:spTree>
  </p:cSld>
  <p:clrMapOvr>
    <a:masterClrMapping/>
  </p:clrMapOvr>
</p:sld>
</file>

<file path=ppt/theme/theme1.xml><?xml version="1.0" encoding="utf-8"?>
<a:theme xmlns:a="http://schemas.openxmlformats.org/drawingml/2006/main" name="EVCARS Luxury">
  <a:themeElements>
    <a:clrScheme name="EVCARS Luxury">
      <a:dk1>
        <a:srgbClr val="0B0D10"/>
      </a:dk1>
      <a:lt1>
        <a:srgbClr val="FFFFFF"/>
      </a:lt1>
      <a:dk2>
        <a:srgbClr val="151A20"/>
      </a:dk2>
      <a:lt2>
        <a:srgbClr val="F3F5F7"/>
      </a:lt2>
      <a:accent1>
        <a:srgbClr val="3D99C9"/>
      </a:accent1>
      <a:accent2>
        <a:srgbClr val="AFD379"/>
      </a:accent2>
      <a:accent3>
        <a:srgbClr val="5F6A75"/>
      </a:accent3>
      <a:accent4>
        <a:srgbClr val="232C35"/>
      </a:accent4>
      <a:accent5>
        <a:srgbClr val="DDE2E7"/>
      </a:accent5>
      <a:accent6>
        <a:srgbClr val="E4F1F8"/>
      </a:accent6>
      <a:hlink>
        <a:srgbClr val="3D99C9"/>
      </a:hlink>
      <a:folHlink>
        <a:srgbClr val="5F6A75"/>
      </a:folHlink>
    </a:clrScheme>
    <a:fontScheme name="EVCARS Luxury">
      <a:majorFont>
        <a:latin typeface="Arial"/>
        <a:ea typeface=""/>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EVCARS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EVCARS — Corporate Profile | الملف التعريفي للشركة</dc:title>
  <dc:subject>Bilingual corporate profile (Arabic / English)</dc:subject>
  <dc:creator>EVCARS</dc:creator>
  <cp:lastModifiedBy>EVCARS</cp:lastModifiedBy>
  <cp:revision>1</cp:revision>
  <dcterms:created xsi:type="dcterms:W3CDTF">2026-10-14T19:36:11Z</dcterms:created>
  <dcterms:modified xsi:type="dcterms:W3CDTF">2026-10-14T19:36:11Z</dcterms:modified>
</cp:coreProperties>
</file>
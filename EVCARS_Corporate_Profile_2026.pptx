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12cefbcd-3948-8cdd-a5b8-b05748d2903e}">
          <p14:sldIdLst>
            <p14:sldId id="256"/>
          </p14:sldIdLst>
        </p14:section>
        <p14:section name="Introduction" id="{53e2da80-8dd0-9bbf-aff1-8612590bb359}">
          <p14:sldIdLst>
            <p14:sldId id="257"/>
          </p14:sldIdLst>
        </p14:section>
        <p14:section name="Who We Are" id="{69857f94-5168-35ed-efff-270afa045dbf}">
          <p14:sldIdLst>
            <p14:sldId id="258"/>
            <p14:sldId id="259"/>
            <p14:sldId id="260"/>
            <p14:sldId id="261"/>
            <p14:sldId id="262"/>
          </p14:sldIdLst>
        </p14:section>
        <p14:section name="What We Do" id="{8e47774d-40cd-d4ce-d877-247b8bb27b8a}">
          <p14:sldIdLst>
            <p14:sldId id="263"/>
            <p14:sldId id="264"/>
            <p14:sldId id="265"/>
            <p14:sldId id="266"/>
          </p14:sldIdLst>
        </p14:section>
        <p14:section name="Who We Serve" id="{4a727d1e-51ce-67f8-3559-21602420dec8}">
          <p14:sldIdLst>
            <p14:sldId id="267"/>
            <p14:sldId id="268"/>
          </p14:sldIdLst>
        </p14:section>
        <p14:section name="Where We Are" id="{d0c42686-840d-8626-6aa2-a8bd23f8cb75}">
          <p14:sldIdLst>
            <p14:sldId id="269"/>
            <p14:sldId id="270"/>
          </p14:sldIdLst>
        </p14:section>
        <p14:section name="Why EVCARS" id="{7f034b87-2024-1c23-1a82-50d7fa0e45bb}">
          <p14:sldIdLst>
            <p14:sldId id="271"/>
            <p14:sldId id="272"/>
            <p14:sldId id="273"/>
            <p14:sldId id="274"/>
          </p14:sldIdLst>
        </p14:section>
        <p14:section name="Ahead &amp; Contact" id="{6b22f51a-53ae-d936-03bf-bbfebfd8bbb4}">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the illustration with a hero photo of an EV with charger and accessories if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plates are typographic placeholders. Drop each partner’s official logo into its tile (keep ~0.9in height, centered).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DARK-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3"/>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F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tx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3"/>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13232"/>
            <a:ext cx="5486400" cy="685800"/>
          </a:xfrm>
          <a:prstGeom prst="rect">
            <a:avLst/>
          </a:prstGeom>
          <a:noFill/>
          <a:ln/>
        </p:spPr>
        <p:txBody>
          <a:bodyPr wrap="square" rtlCol="0"/>
          <a:lstStyle>
            <a:lvl1pPr algn="l" indent="0" marL="0">
              <a:buNone/>
              <a:defRPr lang="en-US" sz="3000" dirty="0">
                <a:solidFill>
                  <a:schemeClr val="bg1"/>
                </a:solidFill>
                <a:latin typeface="IBM Plex Sans Arabic Light" pitchFamily="34" charset="0"/>
                <a:ea typeface="IBM Plex Sans Arabic Light" pitchFamily="34" charset="-122"/>
                <a:cs typeface="IBM Plex Sans Arabic Light" pitchFamily="34" charset="-120"/>
              </a:defRPr>
            </a:lvl1pPr>
          </a:lstStyle>
          <a:p>
            <a:pPr algn="l" indent="0" marL="0">
              <a:buNone/>
            </a:pPr>
            <a:endParaRPr lang="en-US" sz="3000" dirty="0"/>
          </a:p>
        </p:txBody>
      </p:sp>
      <p:sp>
        <p:nvSpPr>
          <p:cNvPr id="3" name="Text 0"/>
          <p:cNvSpPr/>
          <p:nvPr>
            <p:ph idx="101" type="body" hasCustomPrompt="1"/>
          </p:nvPr>
        </p:nvSpPr>
        <p:spPr>
          <a:xfrm>
            <a:off x="6065215" y="713232"/>
            <a:ext cx="5486400" cy="685800"/>
          </a:xfrm>
          <a:prstGeom prst="rect">
            <a:avLst/>
          </a:prstGeom>
          <a:noFill/>
          <a:ln/>
        </p:spPr>
        <p:txBody>
          <a:bodyPr wrap="square" rtlCol="0"/>
          <a:lstStyle>
            <a:lvl1pPr algn="r" indent="0" marL="0">
              <a:buNone/>
              <a:defRPr lang="en-US" sz="3000" dirty="0">
                <a:solidFill>
                  <a:schemeClr val="bg1"/>
                </a:solidFill>
                <a:latin typeface="IBM Plex Sans Arabic Light" pitchFamily="34" charset="0"/>
                <a:ea typeface="IBM Plex Sans Arabic Light" pitchFamily="34" charset="-122"/>
                <a:cs typeface="IBM Plex Sans Arabic Light" pitchFamily="34" charset="-120"/>
              </a:defRPr>
            </a:lvl1pPr>
          </a:lstStyle>
          <a:p>
            <a:pPr algn="r" indent="0" marL="0">
              <a:buNone/>
            </a:pPr>
            <a:endParaRPr lang="en-US" sz="3000" dirty="0"/>
          </a:p>
        </p:txBody>
      </p:sp>
      <p:pic>
        <p:nvPicPr>
          <p:cNvPr id="4" name="Image 0" descr="/home/claude/work/assets/logo_wordmark.png">    </p:cNvPr>
          <p:cNvPicPr>
            <a:picLocks noChangeAspect="1"/>
          </p:cNvPicPr>
          <p:nvPr/>
        </p:nvPicPr>
        <p:blipFill>
          <a:blip r:embed="rId1"/>
          <a:stretch>
            <a:fillRect/>
          </a:stretch>
        </p:blipFill>
        <p:spPr>
          <a:xfrm>
            <a:off x="640080" y="6355080"/>
            <a:ext cx="822960" cy="165506"/>
          </a:xfrm>
          <a:prstGeom prst="rect">
            <a:avLst/>
          </a:prstGeom>
        </p:spPr>
      </p:pic>
      <p:sp>
        <p:nvSpPr>
          <p:cNvPr id="5" name="Text 0"/>
          <p:cNvSpPr/>
          <p:nvPr/>
        </p:nvSpPr>
        <p:spPr>
          <a:xfrm>
            <a:off x="3352648" y="6336792"/>
            <a:ext cx="5486400" cy="228600"/>
          </a:xfrm>
          <a:prstGeom prst="rect">
            <a:avLst/>
          </a:prstGeom>
          <a:noFill/>
          <a:ln/>
        </p:spPr>
        <p:txBody>
          <a:bodyPr wrap="square" lIns="0" tIns="0" rIns="0" bIns="0" rtlCol="0" anchor="ctr"/>
          <a:lstStyle/>
          <a:p>
            <a:pPr algn="ctr" indent="0" marL="0">
              <a:buNone/>
            </a:pPr>
            <a:r>
              <a:rPr lang="en-US" sz="900" spc="200" kern="0" dirty="0">
                <a:solidFill>
                  <a:schemeClr val="accent5"/>
                </a:solidFill>
                <a:latin typeface="IBM Plex Sans Arabic" pitchFamily="34" charset="0"/>
                <a:ea typeface="IBM Plex Sans Arabic" pitchFamily="34" charset="-122"/>
                <a:cs typeface="IBM Plex Sans Arabic" pitchFamily="34" charset="-120"/>
              </a:rPr>
              <a:t>CORPORATE PROFILE   |   الملف التعريفي للشركة</a:t>
            </a:r>
            <a:endParaRPr lang="en-US" sz="9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5.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4.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EVCARS logo" descr="EVCARS logo">    </p:cNvPr>
          <p:cNvPicPr>
            <a:picLocks noChangeAspect="1"/>
          </p:cNvPicPr>
          <p:nvPr/>
        </p:nvPicPr>
        <p:blipFill>
          <a:blip r:embed="rId1"/>
          <a:stretch>
            <a:fillRect/>
          </a:stretch>
        </p:blipFill>
        <p:spPr>
          <a:xfrm>
            <a:off x="4084168" y="640080"/>
            <a:ext cx="4023360" cy="808983"/>
          </a:xfrm>
          <a:prstGeom prst="rect">
            <a:avLst/>
          </a:prstGeom>
        </p:spPr>
      </p:pic>
      <p:sp>
        <p:nvSpPr>
          <p:cNvPr id="3" name="Text 0"/>
          <p:cNvSpPr txBox="1"/>
          <p:nvPr/>
        </p:nvSpPr>
        <p:spPr>
          <a:xfrm>
            <a:off x="0" y="1691640"/>
            <a:ext cx="12191695" cy="274320"/>
          </a:xfrm>
          <a:prstGeom prst="rect">
            <a:avLst/>
          </a:prstGeom>
          <a:noFill/>
          <a:ln/>
        </p:spPr>
        <p:txBody>
          <a:bodyPr wrap="square" lIns="0" tIns="0" rIns="0" bIns="0" rtlCol="0" anchor="t"/>
          <a:lstStyle/>
          <a:p>
            <a:pPr algn="ctr" indent="0" marL="0">
              <a:buNone/>
            </a:pPr>
            <a:r>
              <a:rPr lang="en-US" sz="1200" spc="800" kern="0" dirty="0">
                <a:solidFill>
                  <a:schemeClr val="accent5"/>
                </a:solidFill>
                <a:latin typeface="IBM Plex Sans Arabic" pitchFamily="34" charset="0"/>
                <a:ea typeface="IBM Plex Sans Arabic" pitchFamily="34" charset="-122"/>
                <a:cs typeface="IBM Plex Sans Arabic" pitchFamily="34" charset="-120"/>
              </a:rPr>
              <a:t>ELECTRIC VEHICLE SOLUTIONS</a:t>
            </a:r>
            <a:endParaRPr lang="en-US" sz="1200" dirty="0"/>
          </a:p>
        </p:txBody>
      </p:sp>
      <p:sp>
        <p:nvSpPr>
          <p:cNvPr id="4" name="Text 1"/>
          <p:cNvSpPr txBox="1"/>
          <p:nvPr/>
        </p:nvSpPr>
        <p:spPr>
          <a:xfrm>
            <a:off x="0" y="2148840"/>
            <a:ext cx="12191695" cy="594360"/>
          </a:xfrm>
          <a:prstGeom prst="rect">
            <a:avLst/>
          </a:prstGeom>
          <a:noFill/>
          <a:ln/>
        </p:spPr>
        <p:txBody>
          <a:bodyPr wrap="square" lIns="0" tIns="0" rIns="0" bIns="0" rtlCol="0" anchor="t"/>
          <a:lstStyle/>
          <a:p>
            <a:pPr rtl="1" algn="ctr" indent="0" marL="0">
              <a:buNone/>
            </a:pPr>
            <a:r>
              <a:rPr lang="ar-AE" altLang="en-US" sz="3600" dirty="0">
                <a:solidFill>
                  <a:schemeClr val="bg1"/>
                </a:solidFill>
                <a:latin typeface="IBM Plex Sans Arabic Light" pitchFamily="34" charset="0"/>
                <a:ea typeface="IBM Plex Sans Arabic Light" pitchFamily="34" charset="-122"/>
                <a:cs typeface="IBM Plex Sans Arabic Light" pitchFamily="34" charset="-120"/>
              </a:rPr>
              <a:t>الملف التعريفي للشركة</a:t>
            </a:r>
            <a:endParaRPr lang="ar-AE" sz="3600" dirty="0"/>
          </a:p>
        </p:txBody>
      </p:sp>
      <p:sp>
        <p:nvSpPr>
          <p:cNvPr id="5" name="Text 2"/>
          <p:cNvSpPr txBox="1"/>
          <p:nvPr/>
        </p:nvSpPr>
        <p:spPr>
          <a:xfrm>
            <a:off x="0" y="2743200"/>
            <a:ext cx="12191695" cy="457200"/>
          </a:xfrm>
          <a:prstGeom prst="rect">
            <a:avLst/>
          </a:prstGeom>
          <a:noFill/>
          <a:ln/>
        </p:spPr>
        <p:txBody>
          <a:bodyPr wrap="square" lIns="0" tIns="0" rIns="0" bIns="0" rtlCol="0" anchor="t"/>
          <a:lstStyle/>
          <a:p>
            <a:pPr algn="ctr" indent="0" marL="0">
              <a:buNone/>
            </a:pPr>
            <a:r>
              <a:rPr lang="en-US" sz="2600" spc="200" kern="0" dirty="0">
                <a:solidFill>
                  <a:schemeClr val="bg1"/>
                </a:solidFill>
                <a:latin typeface="IBM Plex Sans Arabic Light" pitchFamily="34" charset="0"/>
                <a:ea typeface="IBM Plex Sans Arabic Light" pitchFamily="34" charset="-122"/>
                <a:cs typeface="IBM Plex Sans Arabic Light" pitchFamily="34" charset="-120"/>
              </a:rPr>
              <a:t>Corporate Profile</a:t>
            </a:r>
            <a:endParaRPr lang="en-US" sz="2600" dirty="0"/>
          </a:p>
        </p:txBody>
      </p:sp>
      <p:sp>
        <p:nvSpPr>
          <p:cNvPr id="6" name="Text 3"/>
          <p:cNvSpPr txBox="1"/>
          <p:nvPr/>
        </p:nvSpPr>
        <p:spPr>
          <a:xfrm>
            <a:off x="0" y="3310128"/>
            <a:ext cx="12191695" cy="292608"/>
          </a:xfrm>
          <a:prstGeom prst="rect">
            <a:avLst/>
          </a:prstGeom>
          <a:noFill/>
          <a:ln/>
        </p:spPr>
        <p:txBody>
          <a:bodyPr wrap="square" lIns="0" tIns="0" rIns="0" bIns="0" rtlCol="0" anchor="t"/>
          <a:lstStyle/>
          <a:p>
            <a:pPr rtl="1" algn="ctr" indent="0" marL="0">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شركة إماراتية متخصصة في حلول السيارات الكهربائية</a:t>
            </a:r>
            <a:endParaRPr lang="ar-AE" sz="1400" dirty="0"/>
          </a:p>
        </p:txBody>
      </p:sp>
      <p:sp>
        <p:nvSpPr>
          <p:cNvPr id="7" name="Text 4"/>
          <p:cNvSpPr txBox="1"/>
          <p:nvPr/>
        </p:nvSpPr>
        <p:spPr>
          <a:xfrm>
            <a:off x="0" y="3593592"/>
            <a:ext cx="12191695" cy="274320"/>
          </a:xfrm>
          <a:prstGeom prst="rect">
            <a:avLst/>
          </a:prstGeom>
          <a:noFill/>
          <a:ln/>
        </p:spPr>
        <p:txBody>
          <a:bodyPr wrap="square" lIns="0" tIns="0" rIns="0" bIns="0" rtlCol="0" anchor="t"/>
          <a:lstStyle/>
          <a:p>
            <a:pPr algn="ctr" indent="0" marL="0">
              <a:buNone/>
            </a:pPr>
            <a:r>
              <a:rPr lang="en-US" sz="1300" dirty="0">
                <a:solidFill>
                  <a:schemeClr val="accent5"/>
                </a:solidFill>
                <a:latin typeface="IBM Plex Sans Arabic" pitchFamily="34" charset="0"/>
                <a:ea typeface="IBM Plex Sans Arabic" pitchFamily="34" charset="-122"/>
                <a:cs typeface="IBM Plex Sans Arabic" pitchFamily="34" charset="-120"/>
              </a:rPr>
              <a:t>An Emirati Brand Specialized in Electric Vehicle Solutions</a:t>
            </a:r>
            <a:endParaRPr lang="en-US" sz="1300" dirty="0"/>
          </a:p>
        </p:txBody>
      </p:sp>
      <p:pic>
        <p:nvPicPr>
          <p:cNvPr id="8" name="Cover car" descr="Electric vehicle illustration">    </p:cNvPr>
          <p:cNvPicPr>
            <a:picLocks noChangeAspect="1"/>
          </p:cNvPicPr>
          <p:nvPr/>
        </p:nvPicPr>
        <p:blipFill>
          <a:blip r:embed="rId2"/>
          <a:stretch>
            <a:fillRect/>
          </a:stretch>
        </p:blipFill>
        <p:spPr>
          <a:xfrm>
            <a:off x="1706728" y="3200400"/>
            <a:ext cx="8778240" cy="4096512"/>
          </a:xfrm>
          <a:prstGeom prst="rect">
            <a:avLst/>
          </a:prstGeom>
        </p:spPr>
      </p:pic>
      <p:sp>
        <p:nvSpPr>
          <p:cNvPr id="9" name="Text 5"/>
          <p:cNvSpPr txBox="1"/>
          <p:nvPr/>
        </p:nvSpPr>
        <p:spPr>
          <a:xfrm>
            <a:off x="0" y="6327648"/>
            <a:ext cx="12191695" cy="228600"/>
          </a:xfrm>
          <a:prstGeom prst="rect">
            <a:avLst/>
          </a:prstGeom>
          <a:noFill/>
          <a:ln/>
        </p:spPr>
        <p:txBody>
          <a:bodyPr wrap="square" lIns="0" tIns="0" rIns="0" bIns="0" rtlCol="0" anchor="t"/>
          <a:lstStyle/>
          <a:p>
            <a:pPr algn="ctr" indent="0" marL="0">
              <a:buNone/>
            </a:pPr>
            <a:r>
              <a:rPr lang="en-US" sz="1000" spc="600" kern="0" dirty="0">
                <a:solidFill>
                  <a:schemeClr val="accent5"/>
                </a:solidFill>
                <a:latin typeface="IBM Plex Sans Arabic" pitchFamily="34" charset="0"/>
                <a:ea typeface="IBM Plex Sans Arabic" pitchFamily="34" charset="-122"/>
                <a:cs typeface="IBM Plex Sans Arabic" pitchFamily="34" charset="-120"/>
              </a:rPr>
              <a:t>UAE   •   OMAN   •   REGIONAL EXPANSION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00   ·   CONTENTS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المحتويات   ·   00</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Contents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المحتويات</a:t>
            </a:r>
            <a:endParaRPr lang="ar-AE" sz="3000" dirty="0"/>
          </a:p>
        </p:txBody>
      </p:sp>
      <p:sp>
        <p:nvSpPr>
          <p:cNvPr id="6" name="Chapter card 01"/>
          <p:cNvSpPr/>
          <p:nvPr/>
        </p:nvSpPr>
        <p:spPr>
          <a:xfrm>
            <a:off x="640080" y="1783080"/>
            <a:ext cx="3456432" cy="1965960"/>
          </a:xfrm>
          <a:prstGeom prst="roundRect">
            <a:avLst>
              <a:gd name="adj" fmla="val 4651"/>
            </a:avLst>
          </a:prstGeom>
          <a:solidFill>
            <a:schemeClr val="bg2"/>
          </a:solidFill>
          <a:ln/>
        </p:spPr>
      </p:sp>
      <p:sp>
        <p:nvSpPr>
          <p:cNvPr id="7" name="Text 5"/>
          <p:cNvSpPr txBox="1"/>
          <p:nvPr/>
        </p:nvSpPr>
        <p:spPr>
          <a:xfrm>
            <a:off x="91440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01</a:t>
            </a:r>
            <a:endParaRPr lang="en-US" sz="3400" dirty="0"/>
          </a:p>
        </p:txBody>
      </p:sp>
      <p:pic>
        <p:nvPicPr>
          <p:cNvPr id="8" name="Chapter icon 01" descr="icon">    </p:cNvPr>
          <p:cNvPicPr>
            <a:picLocks noChangeAspect="1"/>
          </p:cNvPicPr>
          <p:nvPr/>
        </p:nvPicPr>
        <p:blipFill>
          <a:blip r:embed="rId1"/>
          <a:stretch>
            <a:fillRect/>
          </a:stretch>
        </p:blipFill>
        <p:spPr>
          <a:xfrm>
            <a:off x="3410712" y="2039112"/>
            <a:ext cx="411480" cy="411480"/>
          </a:xfrm>
          <a:prstGeom prst="rect">
            <a:avLst/>
          </a:prstGeom>
        </p:spPr>
      </p:pic>
      <p:sp>
        <p:nvSpPr>
          <p:cNvPr id="9" name="Text 6"/>
          <p:cNvSpPr txBox="1"/>
          <p:nvPr/>
        </p:nvSpPr>
        <p:spPr>
          <a:xfrm>
            <a:off x="91440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Who We Are</a:t>
            </a:r>
            <a:endParaRPr lang="en-US" sz="1700" dirty="0"/>
          </a:p>
        </p:txBody>
      </p:sp>
      <p:sp>
        <p:nvSpPr>
          <p:cNvPr id="10" name="Text 7"/>
          <p:cNvSpPr txBox="1"/>
          <p:nvPr/>
        </p:nvSpPr>
        <p:spPr>
          <a:xfrm>
            <a:off x="91440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من نحن</a:t>
            </a:r>
            <a:endParaRPr lang="ar-AE" sz="1600" dirty="0"/>
          </a:p>
        </p:txBody>
      </p:sp>
      <p:sp>
        <p:nvSpPr>
          <p:cNvPr id="11" name="Text 8"/>
          <p:cNvSpPr txBox="1"/>
          <p:nvPr/>
        </p:nvSpPr>
        <p:spPr>
          <a:xfrm>
            <a:off x="91440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About · Founder · Vision · Values · Journey</a:t>
            </a:r>
            <a:endParaRPr lang="en-US" sz="1100" dirty="0"/>
          </a:p>
        </p:txBody>
      </p:sp>
      <p:sp>
        <p:nvSpPr>
          <p:cNvPr id="12" name="Text 9"/>
          <p:cNvSpPr txBox="1"/>
          <p:nvPr/>
        </p:nvSpPr>
        <p:spPr>
          <a:xfrm>
            <a:off x="309067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3 – 7</a:t>
            </a:r>
            <a:endParaRPr lang="en-US" sz="1100" dirty="0"/>
          </a:p>
        </p:txBody>
      </p:sp>
      <p:sp>
        <p:nvSpPr>
          <p:cNvPr id="13" name="Chapter card 02"/>
          <p:cNvSpPr/>
          <p:nvPr/>
        </p:nvSpPr>
        <p:spPr>
          <a:xfrm>
            <a:off x="4366260" y="1783080"/>
            <a:ext cx="3456432" cy="1965960"/>
          </a:xfrm>
          <a:prstGeom prst="roundRect">
            <a:avLst>
              <a:gd name="adj" fmla="val 4651"/>
            </a:avLst>
          </a:prstGeom>
          <a:solidFill>
            <a:schemeClr val="bg2"/>
          </a:solidFill>
          <a:ln/>
        </p:spPr>
      </p:sp>
      <p:sp>
        <p:nvSpPr>
          <p:cNvPr id="14" name="Text 11"/>
          <p:cNvSpPr txBox="1"/>
          <p:nvPr/>
        </p:nvSpPr>
        <p:spPr>
          <a:xfrm>
            <a:off x="464058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02</a:t>
            </a:r>
            <a:endParaRPr lang="en-US" sz="3400" dirty="0"/>
          </a:p>
        </p:txBody>
      </p:sp>
      <p:pic>
        <p:nvPicPr>
          <p:cNvPr id="15" name="Chapter icon 02" descr="icon">    </p:cNvPr>
          <p:cNvPicPr>
            <a:picLocks noChangeAspect="1"/>
          </p:cNvPicPr>
          <p:nvPr/>
        </p:nvPicPr>
        <p:blipFill>
          <a:blip r:embed="rId2"/>
          <a:stretch>
            <a:fillRect/>
          </a:stretch>
        </p:blipFill>
        <p:spPr>
          <a:xfrm>
            <a:off x="7136892" y="2039112"/>
            <a:ext cx="411480" cy="411480"/>
          </a:xfrm>
          <a:prstGeom prst="rect">
            <a:avLst/>
          </a:prstGeom>
        </p:spPr>
      </p:pic>
      <p:sp>
        <p:nvSpPr>
          <p:cNvPr id="16" name="Text 12"/>
          <p:cNvSpPr txBox="1"/>
          <p:nvPr/>
        </p:nvSpPr>
        <p:spPr>
          <a:xfrm>
            <a:off x="464058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What We Do</a:t>
            </a:r>
            <a:endParaRPr lang="en-US" sz="1700" dirty="0"/>
          </a:p>
        </p:txBody>
      </p:sp>
      <p:sp>
        <p:nvSpPr>
          <p:cNvPr id="17" name="Text 13"/>
          <p:cNvSpPr txBox="1"/>
          <p:nvPr/>
        </p:nvSpPr>
        <p:spPr>
          <a:xfrm>
            <a:off x="464058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ماذا نقدم</a:t>
            </a:r>
            <a:endParaRPr lang="ar-AE" sz="1600" dirty="0"/>
          </a:p>
        </p:txBody>
      </p:sp>
      <p:sp>
        <p:nvSpPr>
          <p:cNvPr id="18" name="Text 14"/>
          <p:cNvSpPr txBox="1"/>
          <p:nvPr/>
        </p:nvSpPr>
        <p:spPr>
          <a:xfrm>
            <a:off x="464058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Business areas · Accessories · Charging · Services</a:t>
            </a:r>
            <a:endParaRPr lang="en-US" sz="1100" dirty="0"/>
          </a:p>
        </p:txBody>
      </p:sp>
      <p:sp>
        <p:nvSpPr>
          <p:cNvPr id="19" name="Text 15"/>
          <p:cNvSpPr txBox="1"/>
          <p:nvPr/>
        </p:nvSpPr>
        <p:spPr>
          <a:xfrm>
            <a:off x="681685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8 – 11</a:t>
            </a:r>
            <a:endParaRPr lang="en-US" sz="1100" dirty="0"/>
          </a:p>
        </p:txBody>
      </p:sp>
      <p:sp>
        <p:nvSpPr>
          <p:cNvPr id="20" name="Chapter card 03"/>
          <p:cNvSpPr/>
          <p:nvPr/>
        </p:nvSpPr>
        <p:spPr>
          <a:xfrm>
            <a:off x="8092440" y="1783080"/>
            <a:ext cx="3456432" cy="1965960"/>
          </a:xfrm>
          <a:prstGeom prst="roundRect">
            <a:avLst>
              <a:gd name="adj" fmla="val 4651"/>
            </a:avLst>
          </a:prstGeom>
          <a:solidFill>
            <a:schemeClr val="bg2"/>
          </a:solidFill>
          <a:ln/>
        </p:spPr>
      </p:sp>
      <p:sp>
        <p:nvSpPr>
          <p:cNvPr id="21" name="Text 17"/>
          <p:cNvSpPr txBox="1"/>
          <p:nvPr/>
        </p:nvSpPr>
        <p:spPr>
          <a:xfrm>
            <a:off x="8366760" y="198424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03</a:t>
            </a:r>
            <a:endParaRPr lang="en-US" sz="3400" dirty="0"/>
          </a:p>
        </p:txBody>
      </p:sp>
      <p:pic>
        <p:nvPicPr>
          <p:cNvPr id="22" name="Chapter icon 03" descr="icon">    </p:cNvPr>
          <p:cNvPicPr>
            <a:picLocks noChangeAspect="1"/>
          </p:cNvPicPr>
          <p:nvPr/>
        </p:nvPicPr>
        <p:blipFill>
          <a:blip r:embed="rId3"/>
          <a:stretch>
            <a:fillRect/>
          </a:stretch>
        </p:blipFill>
        <p:spPr>
          <a:xfrm>
            <a:off x="10863072" y="2039112"/>
            <a:ext cx="411480" cy="411480"/>
          </a:xfrm>
          <a:prstGeom prst="rect">
            <a:avLst/>
          </a:prstGeom>
        </p:spPr>
      </p:pic>
      <p:sp>
        <p:nvSpPr>
          <p:cNvPr id="23" name="Text 18"/>
          <p:cNvSpPr txBox="1"/>
          <p:nvPr/>
        </p:nvSpPr>
        <p:spPr>
          <a:xfrm>
            <a:off x="8366760" y="269748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Who We Serve</a:t>
            </a:r>
            <a:endParaRPr lang="en-US" sz="1700" dirty="0"/>
          </a:p>
        </p:txBody>
      </p:sp>
      <p:sp>
        <p:nvSpPr>
          <p:cNvPr id="24" name="Text 19"/>
          <p:cNvSpPr txBox="1"/>
          <p:nvPr/>
        </p:nvSpPr>
        <p:spPr>
          <a:xfrm>
            <a:off x="8366760" y="269748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من نخدم</a:t>
            </a:r>
            <a:endParaRPr lang="ar-AE" sz="1600" dirty="0"/>
          </a:p>
        </p:txBody>
      </p:sp>
      <p:sp>
        <p:nvSpPr>
          <p:cNvPr id="25" name="Text 20"/>
          <p:cNvSpPr txBox="1"/>
          <p:nvPr/>
        </p:nvSpPr>
        <p:spPr>
          <a:xfrm>
            <a:off x="8366760" y="315468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Vehicle brands · Partner brands</a:t>
            </a:r>
            <a:endParaRPr lang="en-US" sz="1100" dirty="0"/>
          </a:p>
        </p:txBody>
      </p:sp>
      <p:sp>
        <p:nvSpPr>
          <p:cNvPr id="26" name="Text 21"/>
          <p:cNvSpPr txBox="1"/>
          <p:nvPr/>
        </p:nvSpPr>
        <p:spPr>
          <a:xfrm>
            <a:off x="10543032" y="315468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12 – 13</a:t>
            </a:r>
            <a:endParaRPr lang="en-US" sz="1100" dirty="0"/>
          </a:p>
        </p:txBody>
      </p:sp>
      <p:sp>
        <p:nvSpPr>
          <p:cNvPr id="27" name="Chapter card 04"/>
          <p:cNvSpPr/>
          <p:nvPr/>
        </p:nvSpPr>
        <p:spPr>
          <a:xfrm>
            <a:off x="640080" y="4023360"/>
            <a:ext cx="3456432" cy="1965960"/>
          </a:xfrm>
          <a:prstGeom prst="roundRect">
            <a:avLst>
              <a:gd name="adj" fmla="val 4651"/>
            </a:avLst>
          </a:prstGeom>
          <a:solidFill>
            <a:schemeClr val="bg2"/>
          </a:solidFill>
          <a:ln/>
        </p:spPr>
      </p:sp>
      <p:sp>
        <p:nvSpPr>
          <p:cNvPr id="28" name="Text 23"/>
          <p:cNvSpPr txBox="1"/>
          <p:nvPr/>
        </p:nvSpPr>
        <p:spPr>
          <a:xfrm>
            <a:off x="91440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04</a:t>
            </a:r>
            <a:endParaRPr lang="en-US" sz="3400" dirty="0"/>
          </a:p>
        </p:txBody>
      </p:sp>
      <p:pic>
        <p:nvPicPr>
          <p:cNvPr id="29" name="Chapter icon 04" descr="icon">    </p:cNvPr>
          <p:cNvPicPr>
            <a:picLocks noChangeAspect="1"/>
          </p:cNvPicPr>
          <p:nvPr/>
        </p:nvPicPr>
        <p:blipFill>
          <a:blip r:embed="rId4"/>
          <a:stretch>
            <a:fillRect/>
          </a:stretch>
        </p:blipFill>
        <p:spPr>
          <a:xfrm>
            <a:off x="3410712" y="4279392"/>
            <a:ext cx="411480" cy="411480"/>
          </a:xfrm>
          <a:prstGeom prst="rect">
            <a:avLst/>
          </a:prstGeom>
        </p:spPr>
      </p:pic>
      <p:sp>
        <p:nvSpPr>
          <p:cNvPr id="30" name="Text 24"/>
          <p:cNvSpPr txBox="1"/>
          <p:nvPr/>
        </p:nvSpPr>
        <p:spPr>
          <a:xfrm>
            <a:off x="91440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Where We Are</a:t>
            </a:r>
            <a:endParaRPr lang="en-US" sz="1700" dirty="0"/>
          </a:p>
        </p:txBody>
      </p:sp>
      <p:sp>
        <p:nvSpPr>
          <p:cNvPr id="31" name="Text 25"/>
          <p:cNvSpPr txBox="1"/>
          <p:nvPr/>
        </p:nvSpPr>
        <p:spPr>
          <a:xfrm>
            <a:off x="91440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أين نحن</a:t>
            </a:r>
            <a:endParaRPr lang="ar-AE" sz="1600" dirty="0"/>
          </a:p>
        </p:txBody>
      </p:sp>
      <p:sp>
        <p:nvSpPr>
          <p:cNvPr id="32" name="Text 26"/>
          <p:cNvSpPr txBox="1"/>
          <p:nvPr/>
        </p:nvSpPr>
        <p:spPr>
          <a:xfrm>
            <a:off x="91440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Branch network · Operations</a:t>
            </a:r>
            <a:endParaRPr lang="en-US" sz="1100" dirty="0"/>
          </a:p>
        </p:txBody>
      </p:sp>
      <p:sp>
        <p:nvSpPr>
          <p:cNvPr id="33" name="Text 27"/>
          <p:cNvSpPr txBox="1"/>
          <p:nvPr/>
        </p:nvSpPr>
        <p:spPr>
          <a:xfrm>
            <a:off x="309067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14 – 15</a:t>
            </a:r>
            <a:endParaRPr lang="en-US" sz="1100" dirty="0"/>
          </a:p>
        </p:txBody>
      </p:sp>
      <p:sp>
        <p:nvSpPr>
          <p:cNvPr id="34" name="Chapter card 05"/>
          <p:cNvSpPr/>
          <p:nvPr/>
        </p:nvSpPr>
        <p:spPr>
          <a:xfrm>
            <a:off x="4366260" y="4023360"/>
            <a:ext cx="3456432" cy="1965960"/>
          </a:xfrm>
          <a:prstGeom prst="roundRect">
            <a:avLst>
              <a:gd name="adj" fmla="val 4651"/>
            </a:avLst>
          </a:prstGeom>
          <a:solidFill>
            <a:schemeClr val="bg2"/>
          </a:solidFill>
          <a:ln/>
        </p:spPr>
      </p:sp>
      <p:sp>
        <p:nvSpPr>
          <p:cNvPr id="35" name="Text 29"/>
          <p:cNvSpPr txBox="1"/>
          <p:nvPr/>
        </p:nvSpPr>
        <p:spPr>
          <a:xfrm>
            <a:off x="464058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05</a:t>
            </a:r>
            <a:endParaRPr lang="en-US" sz="3400" dirty="0"/>
          </a:p>
        </p:txBody>
      </p:sp>
      <p:pic>
        <p:nvPicPr>
          <p:cNvPr id="36" name="Chapter icon 05" descr="icon">    </p:cNvPr>
          <p:cNvPicPr>
            <a:picLocks noChangeAspect="1"/>
          </p:cNvPicPr>
          <p:nvPr/>
        </p:nvPicPr>
        <p:blipFill>
          <a:blip r:embed="rId5"/>
          <a:stretch>
            <a:fillRect/>
          </a:stretch>
        </p:blipFill>
        <p:spPr>
          <a:xfrm>
            <a:off x="7136892" y="4279392"/>
            <a:ext cx="411480" cy="411480"/>
          </a:xfrm>
          <a:prstGeom prst="rect">
            <a:avLst/>
          </a:prstGeom>
        </p:spPr>
      </p:pic>
      <p:sp>
        <p:nvSpPr>
          <p:cNvPr id="37" name="Text 30"/>
          <p:cNvSpPr txBox="1"/>
          <p:nvPr/>
        </p:nvSpPr>
        <p:spPr>
          <a:xfrm>
            <a:off x="464058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Why EVCARS</a:t>
            </a:r>
            <a:endParaRPr lang="en-US" sz="1700" dirty="0"/>
          </a:p>
        </p:txBody>
      </p:sp>
      <p:sp>
        <p:nvSpPr>
          <p:cNvPr id="38" name="Text 31"/>
          <p:cNvSpPr txBox="1"/>
          <p:nvPr/>
        </p:nvSpPr>
        <p:spPr>
          <a:xfrm>
            <a:off x="464058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لماذا نحن</a:t>
            </a:r>
            <a:endParaRPr lang="ar-AE" sz="1600" dirty="0"/>
          </a:p>
        </p:txBody>
      </p:sp>
      <p:sp>
        <p:nvSpPr>
          <p:cNvPr id="39" name="Text 32"/>
          <p:cNvSpPr txBox="1"/>
          <p:nvPr/>
        </p:nvSpPr>
        <p:spPr>
          <a:xfrm>
            <a:off x="464058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Warranty · Online · Exhibitions · Strengths</a:t>
            </a:r>
            <a:endParaRPr lang="en-US" sz="1100" dirty="0"/>
          </a:p>
        </p:txBody>
      </p:sp>
      <p:sp>
        <p:nvSpPr>
          <p:cNvPr id="40" name="Text 33"/>
          <p:cNvSpPr txBox="1"/>
          <p:nvPr/>
        </p:nvSpPr>
        <p:spPr>
          <a:xfrm>
            <a:off x="681685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16 – 19</a:t>
            </a:r>
            <a:endParaRPr lang="en-US" sz="1100" dirty="0"/>
          </a:p>
        </p:txBody>
      </p:sp>
      <p:sp>
        <p:nvSpPr>
          <p:cNvPr id="41" name="Chapter card 06"/>
          <p:cNvSpPr/>
          <p:nvPr/>
        </p:nvSpPr>
        <p:spPr>
          <a:xfrm>
            <a:off x="8092440" y="4023360"/>
            <a:ext cx="3456432" cy="1965960"/>
          </a:xfrm>
          <a:prstGeom prst="roundRect">
            <a:avLst>
              <a:gd name="adj" fmla="val 4651"/>
            </a:avLst>
          </a:prstGeom>
          <a:solidFill>
            <a:schemeClr val="bg2"/>
          </a:solidFill>
          <a:ln/>
        </p:spPr>
      </p:sp>
      <p:sp>
        <p:nvSpPr>
          <p:cNvPr id="42" name="Text 35"/>
          <p:cNvSpPr txBox="1"/>
          <p:nvPr/>
        </p:nvSpPr>
        <p:spPr>
          <a:xfrm>
            <a:off x="8366760" y="4224528"/>
            <a:ext cx="1097280" cy="548640"/>
          </a:xfrm>
          <a:prstGeom prst="rect">
            <a:avLst/>
          </a:prstGeom>
          <a:noFill/>
          <a:ln/>
        </p:spPr>
        <p:txBody>
          <a:bodyPr wrap="square" lIns="0" tIns="0" rIns="0" bIns="0" rtlCol="0" anchor="t"/>
          <a:lstStyle/>
          <a:p>
            <a:pPr algn="l" indent="0" marL="0">
              <a:buNone/>
            </a:pPr>
            <a:r>
              <a:rPr lang="en-US" sz="3400" dirty="0">
                <a:solidFill>
                  <a:schemeClr val="accent1"/>
                </a:solidFill>
                <a:latin typeface="IBM Plex Sans Arabic Light" pitchFamily="34" charset="0"/>
                <a:ea typeface="IBM Plex Sans Arabic Light" pitchFamily="34" charset="-122"/>
                <a:cs typeface="IBM Plex Sans Arabic Light" pitchFamily="34" charset="-120"/>
              </a:rPr>
              <a:t>06</a:t>
            </a:r>
            <a:endParaRPr lang="en-US" sz="3400" dirty="0"/>
          </a:p>
        </p:txBody>
      </p:sp>
      <p:pic>
        <p:nvPicPr>
          <p:cNvPr id="43" name="Chapter icon 06" descr="icon">    </p:cNvPr>
          <p:cNvPicPr>
            <a:picLocks noChangeAspect="1"/>
          </p:cNvPicPr>
          <p:nvPr/>
        </p:nvPicPr>
        <p:blipFill>
          <a:blip r:embed="rId6"/>
          <a:stretch>
            <a:fillRect/>
          </a:stretch>
        </p:blipFill>
        <p:spPr>
          <a:xfrm>
            <a:off x="10863072" y="4279392"/>
            <a:ext cx="411480" cy="411480"/>
          </a:xfrm>
          <a:prstGeom prst="rect">
            <a:avLst/>
          </a:prstGeom>
        </p:spPr>
      </p:pic>
      <p:sp>
        <p:nvSpPr>
          <p:cNvPr id="44" name="Text 36"/>
          <p:cNvSpPr txBox="1"/>
          <p:nvPr/>
        </p:nvSpPr>
        <p:spPr>
          <a:xfrm>
            <a:off x="8366760" y="4937760"/>
            <a:ext cx="290779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Ahead</a:t>
            </a:r>
            <a:endParaRPr lang="en-US" sz="1700" dirty="0"/>
          </a:p>
        </p:txBody>
      </p:sp>
      <p:sp>
        <p:nvSpPr>
          <p:cNvPr id="45" name="Text 37"/>
          <p:cNvSpPr txBox="1"/>
          <p:nvPr/>
        </p:nvSpPr>
        <p:spPr>
          <a:xfrm>
            <a:off x="8366760" y="4937760"/>
            <a:ext cx="2907792" cy="292608"/>
          </a:xfrm>
          <a:prstGeom prst="rect">
            <a:avLst/>
          </a:prstGeom>
          <a:noFill/>
          <a:ln/>
        </p:spPr>
        <p:txBody>
          <a:bodyPr wrap="square" lIns="0" tIns="0" rIns="0" bIns="0" rtlCol="0" anchor="t"/>
          <a:lstStyle/>
          <a:p>
            <a:pPr rtl="1" algn="r" indent="0" marL="0">
              <a:buNone/>
            </a:pPr>
            <a:r>
              <a:rPr lang="ar-AE" altLang="en-US" sz="1600" b="1" dirty="0">
                <a:solidFill>
                  <a:schemeClr val="tx1"/>
                </a:solidFill>
                <a:latin typeface="IBM Plex Sans Arabic" pitchFamily="34" charset="0"/>
                <a:ea typeface="IBM Plex Sans Arabic" pitchFamily="34" charset="-122"/>
                <a:cs typeface="IBM Plex Sans Arabic" pitchFamily="34" charset="-120"/>
              </a:rPr>
              <a:t>المستقبل</a:t>
            </a:r>
            <a:endParaRPr lang="ar-AE" sz="1600" dirty="0"/>
          </a:p>
        </p:txBody>
      </p:sp>
      <p:sp>
        <p:nvSpPr>
          <p:cNvPr id="46" name="Text 38"/>
          <p:cNvSpPr txBox="1"/>
          <p:nvPr/>
        </p:nvSpPr>
        <p:spPr>
          <a:xfrm>
            <a:off x="8366760" y="5394960"/>
            <a:ext cx="2084832" cy="411480"/>
          </a:xfrm>
          <a:prstGeom prst="rect">
            <a:avLst/>
          </a:prstGeom>
          <a:noFill/>
          <a:ln/>
        </p:spPr>
        <p:txBody>
          <a:bodyPr wrap="square" lIns="0" tIns="0" rIns="0" bIns="0" rtlCol="0" anchor="t"/>
          <a:lstStyle/>
          <a:p>
            <a:pPr algn="l"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Future direction · Contact</a:t>
            </a:r>
            <a:endParaRPr lang="en-US" sz="1100" dirty="0"/>
          </a:p>
        </p:txBody>
      </p:sp>
      <p:sp>
        <p:nvSpPr>
          <p:cNvPr id="47" name="Text 39"/>
          <p:cNvSpPr txBox="1"/>
          <p:nvPr/>
        </p:nvSpPr>
        <p:spPr>
          <a:xfrm>
            <a:off x="10543032" y="5394960"/>
            <a:ext cx="731520" cy="274320"/>
          </a:xfrm>
          <a:prstGeom prst="rect">
            <a:avLst/>
          </a:prstGeom>
          <a:noFill/>
          <a:ln/>
        </p:spPr>
        <p:txBody>
          <a:bodyPr wrap="square" lIns="0" tIns="0" rIns="0" bIns="0" rtlCol="0" anchor="t"/>
          <a:lstStyle/>
          <a:p>
            <a:pPr algn="r" indent="0" marL="0">
              <a:buNone/>
            </a:pPr>
            <a:r>
              <a:rPr lang="en-US" sz="1100" dirty="0">
                <a:solidFill>
                  <a:schemeClr val="accent3"/>
                </a:solidFill>
                <a:latin typeface="IBM Plex Sans Arabic" pitchFamily="34" charset="0"/>
                <a:ea typeface="IBM Plex Sans Arabic" pitchFamily="34" charset="-122"/>
                <a:cs typeface="IBM Plex Sans Arabic" pitchFamily="34" charset="-120"/>
              </a:rPr>
              <a:t>p. 20 – 21</a:t>
            </a:r>
            <a:endParaRPr lang="en-US"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About EVCARS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من نحن</a:t>
            </a:r>
            <a:endParaRPr lang="ar-AE" sz="3000" dirty="0"/>
          </a:p>
        </p:txBody>
      </p:sp>
      <p:sp>
        <p:nvSpPr>
          <p:cNvPr id="6" name="Text 4"/>
          <p:cNvSpPr txBox="1"/>
          <p:nvPr/>
        </p:nvSpPr>
        <p:spPr>
          <a:xfrm>
            <a:off x="640080" y="1645920"/>
            <a:ext cx="5074920" cy="2468880"/>
          </a:xfrm>
          <a:prstGeom prst="rect">
            <a:avLst/>
          </a:prstGeom>
          <a:noFill/>
          <a:ln/>
        </p:spPr>
        <p:txBody>
          <a:bodyPr wrap="square" lIns="0" tIns="0" rIns="0" bIns="0" rtlCol="0" anchor="t"/>
          <a:lstStyle/>
          <a:p>
            <a:pPr algn="l" indent="0" marL="0">
              <a:lnSpc>
                <a:spcPct val="115000"/>
              </a:lnSpc>
              <a:spcAft>
                <a:spcPts val="1000"/>
              </a:spcAft>
              <a:buNone/>
            </a:pPr>
            <a:r>
              <a:rPr lang="en-US" sz="1400" dirty="0">
                <a:solidFill>
                  <a:schemeClr val="accent4"/>
                </a:solidFill>
                <a:latin typeface="IBM Plex Sans Arabic" pitchFamily="34" charset="0"/>
                <a:ea typeface="IBM Plex Sans Arabic" pitchFamily="34" charset="-122"/>
                <a:cs typeface="IBM Plex Sans Arabic" pitchFamily="34" charset="-120"/>
              </a:rPr>
              <a:t>EVCARS is an Emirati brand specializing in comprehensive electric vehicle solutions, including interior and exterior accessories, EV charging equipment, charging adapters, professional installation, and specialized technical services.</a:t>
            </a:r>
            <a:endParaRPr lang="en-US" sz="1400" dirty="0"/>
          </a:p>
          <a:p>
            <a:pPr algn="l" indent="0" marL="0">
              <a:lnSpc>
                <a:spcPct val="115000"/>
              </a:lnSpc>
              <a:buNone/>
            </a:pPr>
            <a:r>
              <a:rPr lang="en-US" sz="1400" dirty="0">
                <a:solidFill>
                  <a:schemeClr val="accent4"/>
                </a:solidFill>
                <a:latin typeface="IBM Plex Sans Arabic" pitchFamily="34" charset="0"/>
                <a:ea typeface="IBM Plex Sans Arabic" pitchFamily="34" charset="-122"/>
                <a:cs typeface="IBM Plex Sans Arabic" pitchFamily="34" charset="-120"/>
              </a:rPr>
              <a:t>Established in 2023 as an e-commerce business in the United Arab Emirates, EVCARS has grown into a physical retail network serving customers directly, with operations extending into the Sultanate of Oman.</a:t>
            </a:r>
            <a:endParaRPr lang="en-US" sz="1400" dirty="0"/>
          </a:p>
        </p:txBody>
      </p:sp>
      <p:sp>
        <p:nvSpPr>
          <p:cNvPr id="7" name="Text 5"/>
          <p:cNvSpPr txBox="1"/>
          <p:nvPr/>
        </p:nvSpPr>
        <p:spPr>
          <a:xfrm>
            <a:off x="6476695" y="1645920"/>
            <a:ext cx="5074920" cy="2468880"/>
          </a:xfrm>
          <a:prstGeom prst="rect">
            <a:avLst/>
          </a:prstGeom>
          <a:noFill/>
          <a:ln/>
        </p:spPr>
        <p:txBody>
          <a:bodyPr wrap="square" lIns="0" tIns="0" rIns="0" bIns="0" rtlCol="0" anchor="t"/>
          <a:lstStyle/>
          <a:p>
            <a:pPr algn="r" indent="0" marL="0">
              <a:lnSpc>
                <a:spcPct val="115000"/>
              </a:lnSpc>
              <a:spcAft>
                <a:spcPts val="1000"/>
              </a:spcAft>
              <a:buNone/>
            </a:pPr>
            <a:r>
              <a:rPr lang="ar-AE" altLang="en-US" sz="1400" dirty="0">
                <a:solidFill>
                  <a:schemeClr val="accent4"/>
                </a:solidFill>
                <a:latin typeface="IBM Plex Sans Arabic" pitchFamily="34" charset="0"/>
                <a:ea typeface="IBM Plex Sans Arabic" pitchFamily="34" charset="-122"/>
                <a:cs typeface="IBM Plex Sans Arabic" pitchFamily="34" charset="-120"/>
              </a:rPr>
              <a:t>EVCARS علامة تجارية إماراتية متخصصة في تقديم حلول متكاملة للسيارات الكهربائية، تشمل الإكسسوارات الداخلية والخارجية، وشواحن السيارات الكهربائية، ومحولات الشحن، وخدمات التركيب والدعم الفني المتخصص.</a:t>
            </a:r>
            <a:endParaRPr lang="ar-AE" sz="1400" dirty="0"/>
          </a:p>
          <a:p>
            <a:pPr algn="r" indent="0" marL="0">
              <a:lnSpc>
                <a:spcPct val="115000"/>
              </a:lnSpc>
              <a:buNone/>
            </a:pPr>
            <a:r>
              <a:rPr lang="ar-AE" altLang="en-US" sz="1400" dirty="0">
                <a:solidFill>
                  <a:schemeClr val="accent4"/>
                </a:solidFill>
                <a:latin typeface="IBM Plex Sans Arabic" pitchFamily="34" charset="0"/>
                <a:ea typeface="IBM Plex Sans Arabic" pitchFamily="34" charset="-122"/>
                <a:cs typeface="IBM Plex Sans Arabic" pitchFamily="34" charset="-120"/>
              </a:rPr>
              <a:t>انطلقت EVCARS في عام 2023 من خلال التجارة الإلكترونية في دولة الإمارات العربية المتحدة، ثم توسعت إلى شبكة من الفروع الفعلية لخدمة العملاء بصورة مباشرة، وصولاً إلى التوسع في سلطنة عُمان.</a:t>
            </a:r>
            <a:endParaRPr lang="ar-AE" sz="1400" dirty="0"/>
          </a:p>
        </p:txBody>
      </p:sp>
      <p:sp>
        <p:nvSpPr>
          <p:cNvPr id="8" name="hairline"/>
          <p:cNvSpPr/>
          <p:nvPr/>
        </p:nvSpPr>
        <p:spPr>
          <a:xfrm>
            <a:off x="6095848" y="1691640"/>
            <a:ext cx="0" cy="2331720"/>
          </a:xfrm>
          <a:prstGeom prst="line">
            <a:avLst/>
          </a:prstGeom>
          <a:noFill/>
          <a:ln w="9525">
            <a:solidFill>
              <a:schemeClr val="accent5"/>
            </a:solidFill>
            <a:prstDash val="solid"/>
          </a:ln>
        </p:spPr>
      </p:sp>
      <p:sp>
        <p:nvSpPr>
          <p:cNvPr id="9" name="Fact tile 1"/>
          <p:cNvSpPr/>
          <p:nvPr/>
        </p:nvSpPr>
        <p:spPr>
          <a:xfrm>
            <a:off x="640080" y="4389120"/>
            <a:ext cx="2560320" cy="1691640"/>
          </a:xfrm>
          <a:prstGeom prst="roundRect">
            <a:avLst>
              <a:gd name="adj" fmla="val 5405"/>
            </a:avLst>
          </a:prstGeom>
          <a:solidFill>
            <a:schemeClr val="bg2"/>
          </a:solidFill>
          <a:ln/>
        </p:spPr>
      </p:sp>
      <p:sp>
        <p:nvSpPr>
          <p:cNvPr id="10" name="Text 8"/>
          <p:cNvSpPr txBox="1"/>
          <p:nvPr/>
        </p:nvSpPr>
        <p:spPr>
          <a:xfrm>
            <a:off x="914400"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2023</a:t>
            </a:r>
            <a:endParaRPr lang="en-US" sz="4000" dirty="0"/>
          </a:p>
        </p:txBody>
      </p:sp>
      <p:pic>
        <p:nvPicPr>
          <p:cNvPr id="11" name="Fact icon 1" descr="icon">    </p:cNvPr>
          <p:cNvPicPr>
            <a:picLocks noChangeAspect="1"/>
          </p:cNvPicPr>
          <p:nvPr/>
        </p:nvPicPr>
        <p:blipFill>
          <a:blip r:embed="rId1"/>
          <a:stretch>
            <a:fillRect/>
          </a:stretch>
        </p:blipFill>
        <p:spPr>
          <a:xfrm>
            <a:off x="2542032" y="4645152"/>
            <a:ext cx="384048" cy="384048"/>
          </a:xfrm>
          <a:prstGeom prst="rect">
            <a:avLst/>
          </a:prstGeom>
        </p:spPr>
      </p:pic>
      <p:sp>
        <p:nvSpPr>
          <p:cNvPr id="12" name="Text 9"/>
          <p:cNvSpPr txBox="1"/>
          <p:nvPr/>
        </p:nvSpPr>
        <p:spPr>
          <a:xfrm>
            <a:off x="914400"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Established</a:t>
            </a:r>
            <a:endParaRPr lang="en-US" sz="1200" dirty="0"/>
          </a:p>
        </p:txBody>
      </p:sp>
      <p:sp>
        <p:nvSpPr>
          <p:cNvPr id="13" name="Text 10"/>
          <p:cNvSpPr txBox="1"/>
          <p:nvPr/>
        </p:nvSpPr>
        <p:spPr>
          <a:xfrm>
            <a:off x="914400"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التأسيس</a:t>
            </a:r>
            <a:endParaRPr lang="ar-AE" sz="1200" dirty="0"/>
          </a:p>
        </p:txBody>
      </p:sp>
      <p:sp>
        <p:nvSpPr>
          <p:cNvPr id="14" name="Fact tile 2"/>
          <p:cNvSpPr/>
          <p:nvPr/>
        </p:nvSpPr>
        <p:spPr>
          <a:xfrm>
            <a:off x="3423818" y="4389120"/>
            <a:ext cx="2560320" cy="1691640"/>
          </a:xfrm>
          <a:prstGeom prst="roundRect">
            <a:avLst>
              <a:gd name="adj" fmla="val 5405"/>
            </a:avLst>
          </a:prstGeom>
          <a:solidFill>
            <a:schemeClr val="bg2"/>
          </a:solidFill>
          <a:ln/>
        </p:spPr>
      </p:sp>
      <p:sp>
        <p:nvSpPr>
          <p:cNvPr id="15" name="Text 12"/>
          <p:cNvSpPr txBox="1"/>
          <p:nvPr/>
        </p:nvSpPr>
        <p:spPr>
          <a:xfrm>
            <a:off x="3698138"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5</a:t>
            </a:r>
            <a:endParaRPr lang="en-US" sz="4000" dirty="0"/>
          </a:p>
        </p:txBody>
      </p:sp>
      <p:pic>
        <p:nvPicPr>
          <p:cNvPr id="16" name="Fact icon 2" descr="icon">    </p:cNvPr>
          <p:cNvPicPr>
            <a:picLocks noChangeAspect="1"/>
          </p:cNvPicPr>
          <p:nvPr/>
        </p:nvPicPr>
        <p:blipFill>
          <a:blip r:embed="rId2"/>
          <a:stretch>
            <a:fillRect/>
          </a:stretch>
        </p:blipFill>
        <p:spPr>
          <a:xfrm>
            <a:off x="5325770" y="4645152"/>
            <a:ext cx="384048" cy="384048"/>
          </a:xfrm>
          <a:prstGeom prst="rect">
            <a:avLst/>
          </a:prstGeom>
        </p:spPr>
      </p:pic>
      <p:sp>
        <p:nvSpPr>
          <p:cNvPr id="17" name="Text 13"/>
          <p:cNvSpPr txBox="1"/>
          <p:nvPr/>
        </p:nvSpPr>
        <p:spPr>
          <a:xfrm>
            <a:off x="3698138"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Branches</a:t>
            </a:r>
            <a:endParaRPr lang="en-US" sz="1200" dirty="0"/>
          </a:p>
        </p:txBody>
      </p:sp>
      <p:sp>
        <p:nvSpPr>
          <p:cNvPr id="18" name="Text 14"/>
          <p:cNvSpPr txBox="1"/>
          <p:nvPr/>
        </p:nvSpPr>
        <p:spPr>
          <a:xfrm>
            <a:off x="3698138"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فروع</a:t>
            </a:r>
            <a:endParaRPr lang="ar-AE" sz="1200" dirty="0"/>
          </a:p>
        </p:txBody>
      </p:sp>
      <p:sp>
        <p:nvSpPr>
          <p:cNvPr id="19" name="Fact tile 3"/>
          <p:cNvSpPr/>
          <p:nvPr/>
        </p:nvSpPr>
        <p:spPr>
          <a:xfrm>
            <a:off x="6207557" y="4389120"/>
            <a:ext cx="2560320" cy="1691640"/>
          </a:xfrm>
          <a:prstGeom prst="roundRect">
            <a:avLst>
              <a:gd name="adj" fmla="val 5405"/>
            </a:avLst>
          </a:prstGeom>
          <a:solidFill>
            <a:schemeClr val="bg2"/>
          </a:solidFill>
          <a:ln/>
        </p:spPr>
      </p:sp>
      <p:sp>
        <p:nvSpPr>
          <p:cNvPr id="20" name="Text 16"/>
          <p:cNvSpPr txBox="1"/>
          <p:nvPr/>
        </p:nvSpPr>
        <p:spPr>
          <a:xfrm>
            <a:off x="6481877"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2</a:t>
            </a:r>
            <a:endParaRPr lang="en-US" sz="4000" dirty="0"/>
          </a:p>
        </p:txBody>
      </p:sp>
      <p:pic>
        <p:nvPicPr>
          <p:cNvPr id="21" name="Fact icon 3" descr="icon">    </p:cNvPr>
          <p:cNvPicPr>
            <a:picLocks noChangeAspect="1"/>
          </p:cNvPicPr>
          <p:nvPr/>
        </p:nvPicPr>
        <p:blipFill>
          <a:blip r:embed="rId3"/>
          <a:stretch>
            <a:fillRect/>
          </a:stretch>
        </p:blipFill>
        <p:spPr>
          <a:xfrm>
            <a:off x="8109509" y="4645152"/>
            <a:ext cx="384048" cy="384048"/>
          </a:xfrm>
          <a:prstGeom prst="rect">
            <a:avLst/>
          </a:prstGeom>
        </p:spPr>
      </p:pic>
      <p:sp>
        <p:nvSpPr>
          <p:cNvPr id="22" name="Text 17"/>
          <p:cNvSpPr txBox="1"/>
          <p:nvPr/>
        </p:nvSpPr>
        <p:spPr>
          <a:xfrm>
            <a:off x="6481877"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Countries</a:t>
            </a:r>
            <a:endParaRPr lang="en-US" sz="1200" dirty="0"/>
          </a:p>
        </p:txBody>
      </p:sp>
      <p:sp>
        <p:nvSpPr>
          <p:cNvPr id="23" name="Text 18"/>
          <p:cNvSpPr txBox="1"/>
          <p:nvPr/>
        </p:nvSpPr>
        <p:spPr>
          <a:xfrm>
            <a:off x="6481877"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دولتان</a:t>
            </a:r>
            <a:endParaRPr lang="ar-AE" sz="1200" dirty="0"/>
          </a:p>
        </p:txBody>
      </p:sp>
      <p:sp>
        <p:nvSpPr>
          <p:cNvPr id="24" name="Fact tile 4"/>
          <p:cNvSpPr/>
          <p:nvPr/>
        </p:nvSpPr>
        <p:spPr>
          <a:xfrm>
            <a:off x="8991295" y="4389120"/>
            <a:ext cx="2560320" cy="1691640"/>
          </a:xfrm>
          <a:prstGeom prst="roundRect">
            <a:avLst>
              <a:gd name="adj" fmla="val 5405"/>
            </a:avLst>
          </a:prstGeom>
          <a:solidFill>
            <a:schemeClr val="bg2"/>
          </a:solidFill>
          <a:ln/>
        </p:spPr>
      </p:sp>
      <p:sp>
        <p:nvSpPr>
          <p:cNvPr id="25" name="Text 20"/>
          <p:cNvSpPr txBox="1"/>
          <p:nvPr/>
        </p:nvSpPr>
        <p:spPr>
          <a:xfrm>
            <a:off x="9265615" y="4572000"/>
            <a:ext cx="1463040" cy="685800"/>
          </a:xfrm>
          <a:prstGeom prst="rect">
            <a:avLst/>
          </a:prstGeom>
          <a:noFill/>
          <a:ln/>
        </p:spPr>
        <p:txBody>
          <a:bodyPr wrap="square" lIns="0" tIns="0" rIns="0" bIns="0" rtlCol="0" anchor="t"/>
          <a:lstStyle/>
          <a:p>
            <a:pPr algn="l" indent="0" marL="0">
              <a:buNone/>
            </a:pPr>
            <a:r>
              <a:rPr lang="en-US" sz="4000" dirty="0">
                <a:solidFill>
                  <a:schemeClr val="tx1"/>
                </a:solidFill>
                <a:latin typeface="IBM Plex Sans Arabic Light" pitchFamily="34" charset="0"/>
                <a:ea typeface="IBM Plex Sans Arabic Light" pitchFamily="34" charset="-122"/>
                <a:cs typeface="IBM Plex Sans Arabic Light" pitchFamily="34" charset="-120"/>
              </a:rPr>
              <a:t>1</a:t>
            </a:r>
            <a:endParaRPr lang="en-US" sz="4000" dirty="0"/>
          </a:p>
        </p:txBody>
      </p:sp>
      <p:pic>
        <p:nvPicPr>
          <p:cNvPr id="26" name="Fact icon 4" descr="icon">    </p:cNvPr>
          <p:cNvPicPr>
            <a:picLocks noChangeAspect="1"/>
          </p:cNvPicPr>
          <p:nvPr/>
        </p:nvPicPr>
        <p:blipFill>
          <a:blip r:embed="rId4"/>
          <a:stretch>
            <a:fillRect/>
          </a:stretch>
        </p:blipFill>
        <p:spPr>
          <a:xfrm>
            <a:off x="10893247" y="4645152"/>
            <a:ext cx="384048" cy="384048"/>
          </a:xfrm>
          <a:prstGeom prst="rect">
            <a:avLst/>
          </a:prstGeom>
        </p:spPr>
      </p:pic>
      <p:sp>
        <p:nvSpPr>
          <p:cNvPr id="27" name="Text 21"/>
          <p:cNvSpPr txBox="1"/>
          <p:nvPr/>
        </p:nvSpPr>
        <p:spPr>
          <a:xfrm>
            <a:off x="9265615" y="5394960"/>
            <a:ext cx="2011680" cy="256032"/>
          </a:xfrm>
          <a:prstGeom prst="rect">
            <a:avLst/>
          </a:prstGeom>
          <a:noFill/>
          <a:ln/>
        </p:spPr>
        <p:txBody>
          <a:bodyPr wrap="square" lIns="0" tIns="0" rIns="0" bIns="0" rtlCol="0" anchor="t"/>
          <a:lstStyle/>
          <a:p>
            <a:pPr algn="l" indent="0" marL="0">
              <a:buNone/>
            </a:pPr>
            <a:r>
              <a:rPr lang="en-US" sz="1200" b="1" dirty="0">
                <a:solidFill>
                  <a:schemeClr val="accent4"/>
                </a:solidFill>
                <a:latin typeface="IBM Plex Sans Arabic" pitchFamily="34" charset="0"/>
                <a:ea typeface="IBM Plex Sans Arabic" pitchFamily="34" charset="-122"/>
                <a:cs typeface="IBM Plex Sans Arabic" pitchFamily="34" charset="-120"/>
              </a:rPr>
              <a:t>Central warehouse, Dubai</a:t>
            </a:r>
            <a:endParaRPr lang="en-US" sz="1200" dirty="0"/>
          </a:p>
        </p:txBody>
      </p:sp>
      <p:sp>
        <p:nvSpPr>
          <p:cNvPr id="28" name="Text 22"/>
          <p:cNvSpPr txBox="1"/>
          <p:nvPr/>
        </p:nvSpPr>
        <p:spPr>
          <a:xfrm>
            <a:off x="9265615" y="5669280"/>
            <a:ext cx="2011680" cy="256032"/>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مستودع مركزي في دبي</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Founder’s Message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كلمة المؤسس</a:t>
            </a:r>
            <a:endParaRPr lang="ar-AE" sz="3000" dirty="0"/>
          </a:p>
        </p:txBody>
      </p:sp>
      <p:pic>
        <p:nvPicPr>
          <p:cNvPr id="6" name="Quote icon" descr="quote mark">    </p:cNvPr>
          <p:cNvPicPr>
            <a:picLocks noChangeAspect="1"/>
          </p:cNvPicPr>
          <p:nvPr/>
        </p:nvPicPr>
        <p:blipFill>
          <a:blip r:embed="rId1"/>
          <a:stretch>
            <a:fillRect/>
          </a:stretch>
        </p:blipFill>
        <p:spPr>
          <a:xfrm>
            <a:off x="5821528" y="1572768"/>
            <a:ext cx="548640" cy="548640"/>
          </a:xfrm>
          <a:prstGeom prst="rect">
            <a:avLst/>
          </a:prstGeom>
        </p:spPr>
      </p:pic>
      <p:sp>
        <p:nvSpPr>
          <p:cNvPr id="7" name="Text 4"/>
          <p:cNvSpPr txBox="1"/>
          <p:nvPr/>
        </p:nvSpPr>
        <p:spPr>
          <a:xfrm>
            <a:off x="640080" y="2331720"/>
            <a:ext cx="5074920" cy="2743200"/>
          </a:xfrm>
          <a:prstGeom prst="rect">
            <a:avLst/>
          </a:prstGeom>
          <a:noFill/>
          <a:ln/>
        </p:spPr>
        <p:txBody>
          <a:bodyPr wrap="square" lIns="0" tIns="0" rIns="0" bIns="0" rtlCol="0" anchor="t"/>
          <a:lstStyle/>
          <a:p>
            <a:pPr algn="l" indent="0" marL="0">
              <a:lnSpc>
                <a:spcPct val="115000"/>
              </a:lnSpc>
              <a:spcAft>
                <a:spcPts val="1000"/>
              </a:spcAft>
              <a:buNone/>
            </a:pPr>
            <a:r>
              <a:rPr lang="en-US" sz="1400" dirty="0">
                <a:solidFill>
                  <a:schemeClr val="accent5"/>
                </a:solidFill>
                <a:latin typeface="IBM Plex Sans Arabic" pitchFamily="34" charset="0"/>
                <a:ea typeface="IBM Plex Sans Arabic" pitchFamily="34" charset="-122"/>
                <a:cs typeface="IBM Plex Sans Arabic" pitchFamily="34" charset="-120"/>
              </a:rPr>
              <a:t>Our journey began as an online store. Through the trust of our customers and the dedication of our team, we have grown into a branch network across the UAE and the Sultanate of Oman.</a:t>
            </a:r>
            <a:endParaRPr lang="en-US" sz="1400" dirty="0"/>
          </a:p>
          <a:p>
            <a:pPr algn="l" indent="0" marL="0">
              <a:lnSpc>
                <a:spcPct val="115000"/>
              </a:lnSpc>
              <a:spcAft>
                <a:spcPts val="1000"/>
              </a:spcAft>
              <a:buNone/>
            </a:pPr>
            <a:r>
              <a:rPr lang="en-US" sz="1400" dirty="0">
                <a:solidFill>
                  <a:schemeClr val="accent5"/>
                </a:solidFill>
                <a:latin typeface="IBM Plex Sans Arabic" pitchFamily="34" charset="0"/>
                <a:ea typeface="IBM Plex Sans Arabic" pitchFamily="34" charset="-122"/>
                <a:cs typeface="IBM Plex Sans Arabic" pitchFamily="34" charset="-120"/>
              </a:rPr>
              <a:t>We believe that the future of electric mobility requires more than vehicles. It also depends on a complete ecosystem of accessories, charging solutions, and specialized services.</a:t>
            </a:r>
            <a:endParaRPr lang="en-US" sz="1400" dirty="0"/>
          </a:p>
          <a:p>
            <a:pPr algn="l" indent="0" marL="0">
              <a:lnSpc>
                <a:spcPct val="115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Our ambition is to establish EVCARS as a recognized and trusted brand among electric vehicle owners across the region and beyond.</a:t>
            </a:r>
            <a:endParaRPr lang="en-US" sz="1400" dirty="0"/>
          </a:p>
        </p:txBody>
      </p:sp>
      <p:sp>
        <p:nvSpPr>
          <p:cNvPr id="8" name="Text 5"/>
          <p:cNvSpPr txBox="1"/>
          <p:nvPr/>
        </p:nvSpPr>
        <p:spPr>
          <a:xfrm>
            <a:off x="6476695" y="2331720"/>
            <a:ext cx="5074920" cy="2743200"/>
          </a:xfrm>
          <a:prstGeom prst="rect">
            <a:avLst/>
          </a:prstGeom>
          <a:noFill/>
          <a:ln/>
        </p:spPr>
        <p:txBody>
          <a:bodyPr wrap="square" lIns="0" tIns="0" rIns="0" bIns="0" rtlCol="0" anchor="t"/>
          <a:lstStyle/>
          <a:p>
            <a:pPr algn="r" indent="0" marL="0">
              <a:lnSpc>
                <a:spcPct val="115000"/>
              </a:lnSpc>
              <a:spcAft>
                <a:spcPts val="1000"/>
              </a:spcAft>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بدأت رحلتنا من متجر إلكتروني، وبفضل ثقة عملائنا والتزام فريق العمل، تطورنا إلى شبكة فروع في دولة الإمارات العربية المتحدة وسلطنة عُمان.</a:t>
            </a:r>
            <a:endParaRPr lang="ar-AE" sz="1400" dirty="0"/>
          </a:p>
          <a:p>
            <a:pPr algn="r" indent="0" marL="0">
              <a:lnSpc>
                <a:spcPct val="115000"/>
              </a:lnSpc>
              <a:spcAft>
                <a:spcPts val="1000"/>
              </a:spcAft>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نؤمن بأن مستقبل قطاع السيارات الكهربائية لا يعتمد على المركبات وحدها، بل يحتاج أيضاً إلى منظومة متكاملة من الإكسسوارات وحلول الشحن والخدمات المتخصصة.</a:t>
            </a:r>
            <a:endParaRPr lang="ar-AE" sz="1400" dirty="0"/>
          </a:p>
          <a:p>
            <a:pPr algn="r" indent="0" marL="0">
              <a:lnSpc>
                <a:spcPct val="115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طموحنا أن تصبح EVCARS علامة تجارية معروفة وموثوقة لدى ملاك السيارات الكهربائية في المنطقة وخارجها.</a:t>
            </a:r>
            <a:endParaRPr lang="ar-AE" sz="1400" dirty="0"/>
          </a:p>
        </p:txBody>
      </p:sp>
      <p:sp>
        <p:nvSpPr>
          <p:cNvPr id="9" name="hairline"/>
          <p:cNvSpPr/>
          <p:nvPr/>
        </p:nvSpPr>
        <p:spPr>
          <a:xfrm>
            <a:off x="6095848" y="2377440"/>
            <a:ext cx="0" cy="2651760"/>
          </a:xfrm>
          <a:prstGeom prst="line">
            <a:avLst/>
          </a:prstGeom>
          <a:noFill/>
          <a:ln w="9525">
            <a:solidFill>
              <a:schemeClr val="accent3"/>
            </a:solidFill>
            <a:prstDash val="solid"/>
          </a:ln>
        </p:spPr>
      </p:sp>
      <p:sp>
        <p:nvSpPr>
          <p:cNvPr id="10" name="hairline"/>
          <p:cNvSpPr/>
          <p:nvPr/>
        </p:nvSpPr>
        <p:spPr>
          <a:xfrm>
            <a:off x="640080" y="5349240"/>
            <a:ext cx="2743200" cy="0"/>
          </a:xfrm>
          <a:prstGeom prst="line">
            <a:avLst/>
          </a:prstGeom>
          <a:noFill/>
          <a:ln w="9525">
            <a:solidFill>
              <a:schemeClr val="accent3"/>
            </a:solidFill>
            <a:prstDash val="solid"/>
          </a:ln>
        </p:spPr>
      </p:sp>
      <p:sp>
        <p:nvSpPr>
          <p:cNvPr id="11" name="hairline"/>
          <p:cNvSpPr/>
          <p:nvPr/>
        </p:nvSpPr>
        <p:spPr>
          <a:xfrm>
            <a:off x="8808415" y="5349240"/>
            <a:ext cx="2743200" cy="0"/>
          </a:xfrm>
          <a:prstGeom prst="line">
            <a:avLst/>
          </a:prstGeom>
          <a:noFill/>
          <a:ln w="9525">
            <a:solidFill>
              <a:schemeClr val="accent3"/>
            </a:solidFill>
            <a:prstDash val="solid"/>
          </a:ln>
        </p:spPr>
      </p:sp>
      <p:sp>
        <p:nvSpPr>
          <p:cNvPr id="12" name="Text 9"/>
          <p:cNvSpPr txBox="1"/>
          <p:nvPr/>
        </p:nvSpPr>
        <p:spPr>
          <a:xfrm>
            <a:off x="640080" y="5440680"/>
            <a:ext cx="457200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Ahmed Al Ketbi (Bu Saeed)</a:t>
            </a:r>
            <a:endParaRPr lang="en-US" sz="1500" dirty="0"/>
          </a:p>
        </p:txBody>
      </p:sp>
      <p:sp>
        <p:nvSpPr>
          <p:cNvPr id="13" name="Text 10"/>
          <p:cNvSpPr txBox="1"/>
          <p:nvPr/>
        </p:nvSpPr>
        <p:spPr>
          <a:xfrm>
            <a:off x="640080" y="5733288"/>
            <a:ext cx="4572000" cy="256032"/>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Founder &amp; General Manager, EVCARS</a:t>
            </a:r>
            <a:endParaRPr lang="en-US" sz="1200" dirty="0"/>
          </a:p>
        </p:txBody>
      </p:sp>
      <p:sp>
        <p:nvSpPr>
          <p:cNvPr id="14" name="Text 11"/>
          <p:cNvSpPr txBox="1"/>
          <p:nvPr/>
        </p:nvSpPr>
        <p:spPr>
          <a:xfrm>
            <a:off x="6979615" y="5440680"/>
            <a:ext cx="4572000" cy="274320"/>
          </a:xfrm>
          <a:prstGeom prst="rect">
            <a:avLst/>
          </a:prstGeom>
          <a:noFill/>
          <a:ln/>
        </p:spPr>
        <p:txBody>
          <a:bodyPr wrap="square" lIns="0" tIns="0" rIns="0" bIns="0" rtlCol="0" anchor="t"/>
          <a:lstStyle/>
          <a:p>
            <a:pPr rtl="1" algn="r" indent="0" marL="0">
              <a:buNone/>
            </a:pPr>
            <a:r>
              <a:rPr lang="ar-AE" altLang="en-US" sz="1500" b="1" dirty="0">
                <a:solidFill>
                  <a:schemeClr val="bg1"/>
                </a:solidFill>
                <a:latin typeface="IBM Plex Sans Arabic" pitchFamily="34" charset="0"/>
                <a:ea typeface="IBM Plex Sans Arabic" pitchFamily="34" charset="-122"/>
                <a:cs typeface="IBM Plex Sans Arabic" pitchFamily="34" charset="-120"/>
              </a:rPr>
              <a:t>أحمد الكتبي (بوسعيد)</a:t>
            </a:r>
            <a:endParaRPr lang="ar-AE" sz="1500" dirty="0"/>
          </a:p>
        </p:txBody>
      </p:sp>
      <p:sp>
        <p:nvSpPr>
          <p:cNvPr id="15" name="Text 12"/>
          <p:cNvSpPr txBox="1"/>
          <p:nvPr/>
        </p:nvSpPr>
        <p:spPr>
          <a:xfrm>
            <a:off x="6979615" y="5733288"/>
            <a:ext cx="4572000" cy="256032"/>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المؤسس والمدير العام، EVCARS</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Vision &amp; Mission</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الرؤية والرسالة</a:t>
            </a:r>
            <a:endParaRPr lang="ar-AE" sz="3000" dirty="0"/>
          </a:p>
        </p:txBody>
      </p:sp>
      <p:sp>
        <p:nvSpPr>
          <p:cNvPr id="6" name="Our Vision card"/>
          <p:cNvSpPr/>
          <p:nvPr/>
        </p:nvSpPr>
        <p:spPr>
          <a:xfrm>
            <a:off x="640080" y="1645920"/>
            <a:ext cx="5349240" cy="4434840"/>
          </a:xfrm>
          <a:prstGeom prst="roundRect">
            <a:avLst>
              <a:gd name="adj" fmla="val 2062"/>
            </a:avLst>
          </a:prstGeom>
          <a:solidFill>
            <a:schemeClr val="tx1"/>
          </a:solidFill>
          <a:ln/>
          <a:effectLst>
            <a:outerShdw sx="100000" sy="100000" kx="0" ky="0" algn="bl" rotWithShape="0" blurRad="177800" dist="38100" dir="5400000">
              <a:srgbClr val="0B0D10">
                <a:alpha val="10000"/>
              </a:srgbClr>
            </a:outerShdw>
          </a:effectLst>
        </p:spPr>
      </p:sp>
      <p:pic>
        <p:nvPicPr>
          <p:cNvPr id="7" name="Our Vision icon" descr="icon">    </p:cNvPr>
          <p:cNvPicPr>
            <a:picLocks noChangeAspect="1"/>
          </p:cNvPicPr>
          <p:nvPr/>
        </p:nvPicPr>
        <p:blipFill>
          <a:blip r:embed="rId1"/>
          <a:stretch>
            <a:fillRect/>
          </a:stretch>
        </p:blipFill>
        <p:spPr>
          <a:xfrm>
            <a:off x="1005840" y="2011680"/>
            <a:ext cx="502920" cy="502920"/>
          </a:xfrm>
          <a:prstGeom prst="rect">
            <a:avLst/>
          </a:prstGeom>
        </p:spPr>
      </p:pic>
      <p:sp>
        <p:nvSpPr>
          <p:cNvPr id="8" name="Text 5"/>
          <p:cNvSpPr txBox="1"/>
          <p:nvPr/>
        </p:nvSpPr>
        <p:spPr>
          <a:xfrm>
            <a:off x="1691640" y="2057400"/>
            <a:ext cx="201168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latin typeface="IBM Plex Sans Arabic" pitchFamily="34" charset="0"/>
                <a:ea typeface="IBM Plex Sans Arabic" pitchFamily="34" charset="-122"/>
                <a:cs typeface="IBM Plex Sans Arabic" pitchFamily="34" charset="-120"/>
              </a:rPr>
              <a:t>OUR VISION</a:t>
            </a:r>
            <a:endParaRPr lang="en-US" sz="1100" dirty="0"/>
          </a:p>
        </p:txBody>
      </p:sp>
      <p:sp>
        <p:nvSpPr>
          <p:cNvPr id="9" name="Text 6"/>
          <p:cNvSpPr txBox="1"/>
          <p:nvPr/>
        </p:nvSpPr>
        <p:spPr>
          <a:xfrm>
            <a:off x="3611880" y="2011680"/>
            <a:ext cx="2011680" cy="365760"/>
          </a:xfrm>
          <a:prstGeom prst="rect">
            <a:avLst/>
          </a:prstGeom>
          <a:noFill/>
          <a:ln/>
        </p:spPr>
        <p:txBody>
          <a:bodyPr wrap="square" lIns="0" tIns="0" rIns="0" bIns="0" rtlCol="0" anchor="t"/>
          <a:lstStyle/>
          <a:p>
            <a:pPr rtl="1" algn="r" indent="0" marL="0">
              <a:buNone/>
            </a:pPr>
            <a:r>
              <a:rPr lang="ar-AE" altLang="en-US" sz="2000" b="1" dirty="0">
                <a:solidFill>
                  <a:schemeClr val="bg1"/>
                </a:solidFill>
                <a:latin typeface="IBM Plex Sans Arabic" pitchFamily="34" charset="0"/>
                <a:ea typeface="IBM Plex Sans Arabic" pitchFamily="34" charset="-122"/>
                <a:cs typeface="IBM Plex Sans Arabic" pitchFamily="34" charset="-120"/>
              </a:rPr>
              <a:t>رؤيتنا</a:t>
            </a:r>
            <a:endParaRPr lang="ar-AE" sz="2000" dirty="0"/>
          </a:p>
        </p:txBody>
      </p:sp>
      <p:sp>
        <p:nvSpPr>
          <p:cNvPr id="10" name="Text 7"/>
          <p:cNvSpPr txBox="1"/>
          <p:nvPr/>
        </p:nvSpPr>
        <p:spPr>
          <a:xfrm>
            <a:off x="1005840" y="2788920"/>
            <a:ext cx="4617720" cy="1417320"/>
          </a:xfrm>
          <a:prstGeom prst="rect">
            <a:avLst/>
          </a:prstGeom>
          <a:noFill/>
          <a:ln/>
        </p:spPr>
        <p:txBody>
          <a:bodyPr wrap="square" lIns="0" tIns="0" rIns="0" bIns="0" rtlCol="0" anchor="t"/>
          <a:lstStyle/>
          <a:p>
            <a:pPr algn="l" indent="0" marL="0">
              <a:lnSpc>
                <a:spcPct val="112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To become a leading brand in electric vehicle solutions across regional and global markets by delivering innovative products and reliable services that enhance the electric vehicle ownership experience.</a:t>
            </a:r>
            <a:endParaRPr lang="en-US" sz="1400" dirty="0"/>
          </a:p>
        </p:txBody>
      </p:sp>
      <p:sp>
        <p:nvSpPr>
          <p:cNvPr id="11" name="hairline"/>
          <p:cNvSpPr/>
          <p:nvPr/>
        </p:nvSpPr>
        <p:spPr>
          <a:xfrm>
            <a:off x="1005840" y="4343400"/>
            <a:ext cx="4617720" cy="0"/>
          </a:xfrm>
          <a:prstGeom prst="line">
            <a:avLst/>
          </a:prstGeom>
          <a:noFill/>
          <a:ln w="9525">
            <a:solidFill>
              <a:schemeClr val="accent3"/>
            </a:solidFill>
            <a:prstDash val="solid"/>
          </a:ln>
        </p:spPr>
      </p:sp>
      <p:sp>
        <p:nvSpPr>
          <p:cNvPr id="12" name="Text 9"/>
          <p:cNvSpPr txBox="1"/>
          <p:nvPr/>
        </p:nvSpPr>
        <p:spPr>
          <a:xfrm>
            <a:off x="1005840" y="4526280"/>
            <a:ext cx="4617720" cy="1417320"/>
          </a:xfrm>
          <a:prstGeom prst="rect">
            <a:avLst/>
          </a:prstGeom>
          <a:noFill/>
          <a:ln/>
        </p:spPr>
        <p:txBody>
          <a:bodyPr wrap="square" lIns="0" tIns="0" rIns="0" bIns="0" rtlCol="0" anchor="t"/>
          <a:lstStyle/>
          <a:p>
            <a:pPr rtl="1" algn="r" indent="0" marL="0">
              <a:lnSpc>
                <a:spcPct val="112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أن نكون من أبرز العلامات التجارية المتخصصة في حلول السيارات الكهربائية على المستوى الإقليمي والعالمي، من خلال تقديم منتجات مبتكرة وخدمات موثوقة تسهم في تطوير تجربة امتلاك واستخدام السيارات الكهربائية.</a:t>
            </a:r>
            <a:endParaRPr lang="ar-AE" sz="1400" dirty="0"/>
          </a:p>
        </p:txBody>
      </p:sp>
      <p:sp>
        <p:nvSpPr>
          <p:cNvPr id="13" name="Our Mission card"/>
          <p:cNvSpPr/>
          <p:nvPr/>
        </p:nvSpPr>
        <p:spPr>
          <a:xfrm>
            <a:off x="6202375" y="1645920"/>
            <a:ext cx="5349240" cy="4434840"/>
          </a:xfrm>
          <a:prstGeom prst="roundRect">
            <a:avLst>
              <a:gd name="adj" fmla="val 2062"/>
            </a:avLst>
          </a:prstGeom>
          <a:solidFill>
            <a:schemeClr val="tx1"/>
          </a:solidFill>
          <a:ln/>
          <a:effectLst>
            <a:outerShdw sx="100000" sy="100000" kx="0" ky="0" algn="bl" rotWithShape="0" blurRad="177800" dist="38100" dir="5400000">
              <a:srgbClr val="0B0D10">
                <a:alpha val="10000"/>
              </a:srgbClr>
            </a:outerShdw>
          </a:effectLst>
        </p:spPr>
      </p:sp>
      <p:pic>
        <p:nvPicPr>
          <p:cNvPr id="14" name="Our Mission icon" descr="icon">    </p:cNvPr>
          <p:cNvPicPr>
            <a:picLocks noChangeAspect="1"/>
          </p:cNvPicPr>
          <p:nvPr/>
        </p:nvPicPr>
        <p:blipFill>
          <a:blip r:embed="rId2"/>
          <a:stretch>
            <a:fillRect/>
          </a:stretch>
        </p:blipFill>
        <p:spPr>
          <a:xfrm>
            <a:off x="6568135" y="2011680"/>
            <a:ext cx="502920" cy="502920"/>
          </a:xfrm>
          <a:prstGeom prst="rect">
            <a:avLst/>
          </a:prstGeom>
        </p:spPr>
      </p:pic>
      <p:sp>
        <p:nvSpPr>
          <p:cNvPr id="15" name="Text 11"/>
          <p:cNvSpPr txBox="1"/>
          <p:nvPr/>
        </p:nvSpPr>
        <p:spPr>
          <a:xfrm>
            <a:off x="7253935" y="2057400"/>
            <a:ext cx="201168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latin typeface="IBM Plex Sans Arabic" pitchFamily="34" charset="0"/>
                <a:ea typeface="IBM Plex Sans Arabic" pitchFamily="34" charset="-122"/>
                <a:cs typeface="IBM Plex Sans Arabic" pitchFamily="34" charset="-120"/>
              </a:rPr>
              <a:t>OUR MISSION</a:t>
            </a:r>
            <a:endParaRPr lang="en-US" sz="1100" dirty="0"/>
          </a:p>
        </p:txBody>
      </p:sp>
      <p:sp>
        <p:nvSpPr>
          <p:cNvPr id="16" name="Text 12"/>
          <p:cNvSpPr txBox="1"/>
          <p:nvPr/>
        </p:nvSpPr>
        <p:spPr>
          <a:xfrm>
            <a:off x="9174175" y="2011680"/>
            <a:ext cx="2011680" cy="365760"/>
          </a:xfrm>
          <a:prstGeom prst="rect">
            <a:avLst/>
          </a:prstGeom>
          <a:noFill/>
          <a:ln/>
        </p:spPr>
        <p:txBody>
          <a:bodyPr wrap="square" lIns="0" tIns="0" rIns="0" bIns="0" rtlCol="0" anchor="t"/>
          <a:lstStyle/>
          <a:p>
            <a:pPr rtl="1" algn="r" indent="0" marL="0">
              <a:buNone/>
            </a:pPr>
            <a:r>
              <a:rPr lang="ar-AE" altLang="en-US" sz="2000" b="1" dirty="0">
                <a:solidFill>
                  <a:schemeClr val="bg1"/>
                </a:solidFill>
                <a:latin typeface="IBM Plex Sans Arabic" pitchFamily="34" charset="0"/>
                <a:ea typeface="IBM Plex Sans Arabic" pitchFamily="34" charset="-122"/>
                <a:cs typeface="IBM Plex Sans Arabic" pitchFamily="34" charset="-120"/>
              </a:rPr>
              <a:t>رسالتنا</a:t>
            </a:r>
            <a:endParaRPr lang="ar-AE" sz="2000" dirty="0"/>
          </a:p>
        </p:txBody>
      </p:sp>
      <p:sp>
        <p:nvSpPr>
          <p:cNvPr id="17" name="Text 13"/>
          <p:cNvSpPr txBox="1"/>
          <p:nvPr/>
        </p:nvSpPr>
        <p:spPr>
          <a:xfrm>
            <a:off x="6568135" y="2788920"/>
            <a:ext cx="4617720" cy="1417320"/>
          </a:xfrm>
          <a:prstGeom prst="rect">
            <a:avLst/>
          </a:prstGeom>
          <a:noFill/>
          <a:ln/>
        </p:spPr>
        <p:txBody>
          <a:bodyPr wrap="square" lIns="0" tIns="0" rIns="0" bIns="0" rtlCol="0" anchor="t"/>
          <a:lstStyle/>
          <a:p>
            <a:pPr algn="l" indent="0" marL="0">
              <a:lnSpc>
                <a:spcPct val="112000"/>
              </a:lnSpc>
              <a:buNone/>
            </a:pPr>
            <a:r>
              <a:rPr lang="en-US" sz="1400" dirty="0">
                <a:solidFill>
                  <a:schemeClr val="accent5"/>
                </a:solidFill>
                <a:latin typeface="IBM Plex Sans Arabic" pitchFamily="34" charset="0"/>
                <a:ea typeface="IBM Plex Sans Arabic" pitchFamily="34" charset="-122"/>
                <a:cs typeface="IBM Plex Sans Arabic" pitchFamily="34" charset="-120"/>
              </a:rPr>
              <a:t>To provide comprehensive electric vehicle solutions, including specialized accessories, charging systems, and technical services, while maintaining a strong commitment to quality, innovation, and customer satisfaction.</a:t>
            </a:r>
            <a:endParaRPr lang="en-US" sz="1400" dirty="0"/>
          </a:p>
        </p:txBody>
      </p:sp>
      <p:sp>
        <p:nvSpPr>
          <p:cNvPr id="18" name="hairline"/>
          <p:cNvSpPr/>
          <p:nvPr/>
        </p:nvSpPr>
        <p:spPr>
          <a:xfrm>
            <a:off x="6568135" y="4343400"/>
            <a:ext cx="4617720" cy="0"/>
          </a:xfrm>
          <a:prstGeom prst="line">
            <a:avLst/>
          </a:prstGeom>
          <a:noFill/>
          <a:ln w="9525">
            <a:solidFill>
              <a:schemeClr val="accent3"/>
            </a:solidFill>
            <a:prstDash val="solid"/>
          </a:ln>
        </p:spPr>
      </p:sp>
      <p:sp>
        <p:nvSpPr>
          <p:cNvPr id="19" name="Text 15"/>
          <p:cNvSpPr txBox="1"/>
          <p:nvPr/>
        </p:nvSpPr>
        <p:spPr>
          <a:xfrm>
            <a:off x="6568135" y="4526280"/>
            <a:ext cx="4617720" cy="1417320"/>
          </a:xfrm>
          <a:prstGeom prst="rect">
            <a:avLst/>
          </a:prstGeom>
          <a:noFill/>
          <a:ln/>
        </p:spPr>
        <p:txBody>
          <a:bodyPr wrap="square" lIns="0" tIns="0" rIns="0" bIns="0" rtlCol="0" anchor="t"/>
          <a:lstStyle/>
          <a:p>
            <a:pPr rtl="1" algn="r" indent="0" marL="0">
              <a:lnSpc>
                <a:spcPct val="112000"/>
              </a:lnSpc>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توفير حلول متكاملة للسيارات الكهربائية تشمل الإكسسوارات المتخصصة، وأنظمة الشحن، والخدمات الفنية، مع الالتزام بالجودة والابتكار ورضا العملاء، وبناء تجربة متكاملة تجمع بين المنتجات الموثوقة والخدمة الاحترافية.</a:t>
            </a:r>
            <a:endParaRPr lang="ar-AE"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Core Values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قيمنا</a:t>
            </a:r>
            <a:endParaRPr lang="ar-AE" sz="3000" dirty="0"/>
          </a:p>
        </p:txBody>
      </p:sp>
      <p:sp>
        <p:nvSpPr>
          <p:cNvPr id="6" name="Value card 1"/>
          <p:cNvSpPr/>
          <p:nvPr/>
        </p:nvSpPr>
        <p:spPr>
          <a:xfrm>
            <a:off x="64008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7" name="Value icon 1 circle"/>
          <p:cNvSpPr/>
          <p:nvPr/>
        </p:nvSpPr>
        <p:spPr>
          <a:xfrm>
            <a:off x="896112" y="1965960"/>
            <a:ext cx="685800" cy="685800"/>
          </a:xfrm>
          <a:prstGeom prst="ellipse">
            <a:avLst/>
          </a:prstGeom>
          <a:solidFill>
            <a:schemeClr val="accent6"/>
          </a:solidFill>
          <a:ln/>
        </p:spPr>
      </p:sp>
      <p:pic>
        <p:nvPicPr>
          <p:cNvPr id="8" name="Value icon 1" descr="icon">    </p:cNvPr>
          <p:cNvPicPr>
            <a:picLocks noChangeAspect="1"/>
          </p:cNvPicPr>
          <p:nvPr/>
        </p:nvPicPr>
        <p:blipFill>
          <a:blip r:embed="rId1"/>
          <a:stretch>
            <a:fillRect/>
          </a:stretch>
        </p:blipFill>
        <p:spPr>
          <a:xfrm>
            <a:off x="1060704" y="2130552"/>
            <a:ext cx="356616" cy="356616"/>
          </a:xfrm>
          <a:prstGeom prst="rect">
            <a:avLst/>
          </a:prstGeom>
        </p:spPr>
      </p:pic>
      <p:sp>
        <p:nvSpPr>
          <p:cNvPr id="9" name="Text 6"/>
          <p:cNvSpPr txBox="1"/>
          <p:nvPr/>
        </p:nvSpPr>
        <p:spPr>
          <a:xfrm>
            <a:off x="89611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Quality</a:t>
            </a:r>
            <a:endParaRPr lang="en-US" sz="1500" dirty="0"/>
          </a:p>
        </p:txBody>
      </p:sp>
      <p:sp>
        <p:nvSpPr>
          <p:cNvPr id="10" name="Text 7"/>
          <p:cNvSpPr txBox="1"/>
          <p:nvPr/>
        </p:nvSpPr>
        <p:spPr>
          <a:xfrm>
            <a:off x="89611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الجودة</a:t>
            </a:r>
            <a:endParaRPr lang="ar-AE" sz="1400" dirty="0"/>
          </a:p>
        </p:txBody>
      </p:sp>
      <p:sp>
        <p:nvSpPr>
          <p:cNvPr id="11" name="Text 8"/>
          <p:cNvSpPr txBox="1"/>
          <p:nvPr/>
        </p:nvSpPr>
        <p:spPr>
          <a:xfrm>
            <a:off x="89611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Products and services that meet quality and reliability standards.</a:t>
            </a:r>
            <a:endParaRPr lang="en-US" sz="1200" dirty="0"/>
          </a:p>
        </p:txBody>
      </p:sp>
      <p:sp>
        <p:nvSpPr>
          <p:cNvPr id="12" name="Text 9"/>
          <p:cNvSpPr txBox="1"/>
          <p:nvPr/>
        </p:nvSpPr>
        <p:spPr>
          <a:xfrm>
            <a:off x="89611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منتجات وخدمات تحقق معايير الجودة والاعتمادية.</a:t>
            </a:r>
            <a:endParaRPr lang="ar-AE" sz="1200" dirty="0"/>
          </a:p>
        </p:txBody>
      </p:sp>
      <p:sp>
        <p:nvSpPr>
          <p:cNvPr id="13" name="Value card 2"/>
          <p:cNvSpPr/>
          <p:nvPr/>
        </p:nvSpPr>
        <p:spPr>
          <a:xfrm>
            <a:off x="285590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14" name="Value icon 2 circle"/>
          <p:cNvSpPr/>
          <p:nvPr/>
        </p:nvSpPr>
        <p:spPr>
          <a:xfrm>
            <a:off x="3111932" y="1965960"/>
            <a:ext cx="685800" cy="685800"/>
          </a:xfrm>
          <a:prstGeom prst="ellipse">
            <a:avLst/>
          </a:prstGeom>
          <a:solidFill>
            <a:schemeClr val="accent6"/>
          </a:solidFill>
          <a:ln/>
        </p:spPr>
      </p:sp>
      <p:pic>
        <p:nvPicPr>
          <p:cNvPr id="15" name="Value icon 2" descr="icon">    </p:cNvPr>
          <p:cNvPicPr>
            <a:picLocks noChangeAspect="1"/>
          </p:cNvPicPr>
          <p:nvPr/>
        </p:nvPicPr>
        <p:blipFill>
          <a:blip r:embed="rId2"/>
          <a:stretch>
            <a:fillRect/>
          </a:stretch>
        </p:blipFill>
        <p:spPr>
          <a:xfrm>
            <a:off x="3276524" y="2130552"/>
            <a:ext cx="356616" cy="356616"/>
          </a:xfrm>
          <a:prstGeom prst="rect">
            <a:avLst/>
          </a:prstGeom>
        </p:spPr>
      </p:pic>
      <p:sp>
        <p:nvSpPr>
          <p:cNvPr id="16" name="Text 12"/>
          <p:cNvSpPr txBox="1"/>
          <p:nvPr/>
        </p:nvSpPr>
        <p:spPr>
          <a:xfrm>
            <a:off x="311193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Innovation</a:t>
            </a:r>
            <a:endParaRPr lang="en-US" sz="1500" dirty="0"/>
          </a:p>
        </p:txBody>
      </p:sp>
      <p:sp>
        <p:nvSpPr>
          <p:cNvPr id="17" name="Text 13"/>
          <p:cNvSpPr txBox="1"/>
          <p:nvPr/>
        </p:nvSpPr>
        <p:spPr>
          <a:xfrm>
            <a:off x="311193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الابتكار</a:t>
            </a:r>
            <a:endParaRPr lang="ar-AE" sz="1400" dirty="0"/>
          </a:p>
        </p:txBody>
      </p:sp>
      <p:sp>
        <p:nvSpPr>
          <p:cNvPr id="18" name="Text 14"/>
          <p:cNvSpPr txBox="1"/>
          <p:nvPr/>
        </p:nvSpPr>
        <p:spPr>
          <a:xfrm>
            <a:off x="311193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Keeping pace with the EV sector and delivering fresh solutions.</a:t>
            </a:r>
            <a:endParaRPr lang="en-US" sz="1200" dirty="0"/>
          </a:p>
        </p:txBody>
      </p:sp>
      <p:sp>
        <p:nvSpPr>
          <p:cNvPr id="19" name="Text 15"/>
          <p:cNvSpPr txBox="1"/>
          <p:nvPr/>
        </p:nvSpPr>
        <p:spPr>
          <a:xfrm>
            <a:off x="311193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مواكبة التطورات في قطاع السيارات الكهربائية وتقديم حلول متجددة.</a:t>
            </a:r>
            <a:endParaRPr lang="ar-AE" sz="1200" dirty="0"/>
          </a:p>
        </p:txBody>
      </p:sp>
      <p:sp>
        <p:nvSpPr>
          <p:cNvPr id="20" name="Value card 3"/>
          <p:cNvSpPr/>
          <p:nvPr/>
        </p:nvSpPr>
        <p:spPr>
          <a:xfrm>
            <a:off x="5071720"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21" name="Value icon 3 circle"/>
          <p:cNvSpPr/>
          <p:nvPr/>
        </p:nvSpPr>
        <p:spPr>
          <a:xfrm>
            <a:off x="5327752" y="1965960"/>
            <a:ext cx="685800" cy="685800"/>
          </a:xfrm>
          <a:prstGeom prst="ellipse">
            <a:avLst/>
          </a:prstGeom>
          <a:solidFill>
            <a:schemeClr val="accent6"/>
          </a:solidFill>
          <a:ln/>
        </p:spPr>
      </p:sp>
      <p:pic>
        <p:nvPicPr>
          <p:cNvPr id="22" name="Value icon 3" descr="icon">    </p:cNvPr>
          <p:cNvPicPr>
            <a:picLocks noChangeAspect="1"/>
          </p:cNvPicPr>
          <p:nvPr/>
        </p:nvPicPr>
        <p:blipFill>
          <a:blip r:embed="rId3"/>
          <a:stretch>
            <a:fillRect/>
          </a:stretch>
        </p:blipFill>
        <p:spPr>
          <a:xfrm>
            <a:off x="5492344" y="2130552"/>
            <a:ext cx="356616" cy="356616"/>
          </a:xfrm>
          <a:prstGeom prst="rect">
            <a:avLst/>
          </a:prstGeom>
        </p:spPr>
      </p:pic>
      <p:sp>
        <p:nvSpPr>
          <p:cNvPr id="23" name="Text 18"/>
          <p:cNvSpPr txBox="1"/>
          <p:nvPr/>
        </p:nvSpPr>
        <p:spPr>
          <a:xfrm>
            <a:off x="5327752"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Trust &amp; Integrity</a:t>
            </a:r>
            <a:endParaRPr lang="en-US" sz="1500" dirty="0"/>
          </a:p>
        </p:txBody>
      </p:sp>
      <p:sp>
        <p:nvSpPr>
          <p:cNvPr id="24" name="Text 19"/>
          <p:cNvSpPr txBox="1"/>
          <p:nvPr/>
        </p:nvSpPr>
        <p:spPr>
          <a:xfrm>
            <a:off x="5327752"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الثقة والمصداقية</a:t>
            </a:r>
            <a:endParaRPr lang="ar-AE" sz="1400" dirty="0"/>
          </a:p>
        </p:txBody>
      </p:sp>
      <p:sp>
        <p:nvSpPr>
          <p:cNvPr id="25" name="Text 20"/>
          <p:cNvSpPr txBox="1"/>
          <p:nvPr/>
        </p:nvSpPr>
        <p:spPr>
          <a:xfrm>
            <a:off x="5327752"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Long-term customer relationships built on clarity and credibility.</a:t>
            </a:r>
            <a:endParaRPr lang="en-US" sz="1200" dirty="0"/>
          </a:p>
        </p:txBody>
      </p:sp>
      <p:sp>
        <p:nvSpPr>
          <p:cNvPr id="26" name="Text 21"/>
          <p:cNvSpPr txBox="1"/>
          <p:nvPr/>
        </p:nvSpPr>
        <p:spPr>
          <a:xfrm>
            <a:off x="5327752"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علاقات طويلة الأمد مع العملاء قائمة على الوضوح والمصداقية.</a:t>
            </a:r>
            <a:endParaRPr lang="ar-AE" sz="1200" dirty="0"/>
          </a:p>
        </p:txBody>
      </p:sp>
      <p:sp>
        <p:nvSpPr>
          <p:cNvPr id="27" name="Value card 4"/>
          <p:cNvSpPr/>
          <p:nvPr/>
        </p:nvSpPr>
        <p:spPr>
          <a:xfrm>
            <a:off x="7287539"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28" name="Value icon 4 circle"/>
          <p:cNvSpPr/>
          <p:nvPr/>
        </p:nvSpPr>
        <p:spPr>
          <a:xfrm>
            <a:off x="7543571" y="1965960"/>
            <a:ext cx="685800" cy="685800"/>
          </a:xfrm>
          <a:prstGeom prst="ellipse">
            <a:avLst/>
          </a:prstGeom>
          <a:solidFill>
            <a:schemeClr val="accent6"/>
          </a:solidFill>
          <a:ln/>
        </p:spPr>
      </p:sp>
      <p:pic>
        <p:nvPicPr>
          <p:cNvPr id="29" name="Value icon 4" descr="icon">    </p:cNvPr>
          <p:cNvPicPr>
            <a:picLocks noChangeAspect="1"/>
          </p:cNvPicPr>
          <p:nvPr/>
        </p:nvPicPr>
        <p:blipFill>
          <a:blip r:embed="rId4"/>
          <a:stretch>
            <a:fillRect/>
          </a:stretch>
        </p:blipFill>
        <p:spPr>
          <a:xfrm>
            <a:off x="7708163" y="2130552"/>
            <a:ext cx="356616" cy="356616"/>
          </a:xfrm>
          <a:prstGeom prst="rect">
            <a:avLst/>
          </a:prstGeom>
        </p:spPr>
      </p:pic>
      <p:sp>
        <p:nvSpPr>
          <p:cNvPr id="30" name="Text 24"/>
          <p:cNvSpPr txBox="1"/>
          <p:nvPr/>
        </p:nvSpPr>
        <p:spPr>
          <a:xfrm>
            <a:off x="7543571"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Customer Focus</a:t>
            </a:r>
            <a:endParaRPr lang="en-US" sz="1500" dirty="0"/>
          </a:p>
        </p:txBody>
      </p:sp>
      <p:sp>
        <p:nvSpPr>
          <p:cNvPr id="31" name="Text 25"/>
          <p:cNvSpPr txBox="1"/>
          <p:nvPr/>
        </p:nvSpPr>
        <p:spPr>
          <a:xfrm>
            <a:off x="7543571"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التركيز على العملاء</a:t>
            </a:r>
            <a:endParaRPr lang="ar-AE" sz="1400" dirty="0"/>
          </a:p>
        </p:txBody>
      </p:sp>
      <p:sp>
        <p:nvSpPr>
          <p:cNvPr id="32" name="Text 26"/>
          <p:cNvSpPr txBox="1"/>
          <p:nvPr/>
        </p:nvSpPr>
        <p:spPr>
          <a:xfrm>
            <a:off x="7543571"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Understanding customer needs and continually improving their experience.</a:t>
            </a:r>
            <a:endParaRPr lang="en-US" sz="1200" dirty="0"/>
          </a:p>
        </p:txBody>
      </p:sp>
      <p:sp>
        <p:nvSpPr>
          <p:cNvPr id="33" name="Text 27"/>
          <p:cNvSpPr txBox="1"/>
          <p:nvPr/>
        </p:nvSpPr>
        <p:spPr>
          <a:xfrm>
            <a:off x="7543571"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فهم احتياجات العملاء وتحسين تجربتهم باستمرار.</a:t>
            </a:r>
            <a:endParaRPr lang="ar-AE" sz="1200" dirty="0"/>
          </a:p>
        </p:txBody>
      </p:sp>
      <p:sp>
        <p:nvSpPr>
          <p:cNvPr id="34" name="Value card 5"/>
          <p:cNvSpPr/>
          <p:nvPr/>
        </p:nvSpPr>
        <p:spPr>
          <a:xfrm>
            <a:off x="9503359" y="1691640"/>
            <a:ext cx="2048256" cy="4389120"/>
          </a:xfrm>
          <a:prstGeom prst="roundRect">
            <a:avLst>
              <a:gd name="adj" fmla="val 4464"/>
            </a:avLst>
          </a:prstGeom>
          <a:solidFill>
            <a:schemeClr val="bg1"/>
          </a:solidFill>
          <a:ln/>
          <a:effectLst>
            <a:outerShdw sx="100000" sy="100000" kx="0" ky="0" algn="bl" rotWithShape="0" blurRad="177800" dist="38100" dir="5400000">
              <a:srgbClr val="0B0D10">
                <a:alpha val="10000"/>
              </a:srgbClr>
            </a:outerShdw>
          </a:effectLst>
        </p:spPr>
      </p:sp>
      <p:sp>
        <p:nvSpPr>
          <p:cNvPr id="35" name="Value icon 5 circle"/>
          <p:cNvSpPr/>
          <p:nvPr/>
        </p:nvSpPr>
        <p:spPr>
          <a:xfrm>
            <a:off x="9759391" y="1965960"/>
            <a:ext cx="685800" cy="685800"/>
          </a:xfrm>
          <a:prstGeom prst="ellipse">
            <a:avLst/>
          </a:prstGeom>
          <a:solidFill>
            <a:schemeClr val="accent6"/>
          </a:solidFill>
          <a:ln/>
        </p:spPr>
      </p:sp>
      <p:pic>
        <p:nvPicPr>
          <p:cNvPr id="36" name="Value icon 5" descr="icon">    </p:cNvPr>
          <p:cNvPicPr>
            <a:picLocks noChangeAspect="1"/>
          </p:cNvPicPr>
          <p:nvPr/>
        </p:nvPicPr>
        <p:blipFill>
          <a:blip r:embed="rId5"/>
          <a:stretch>
            <a:fillRect/>
          </a:stretch>
        </p:blipFill>
        <p:spPr>
          <a:xfrm>
            <a:off x="9923983" y="2130552"/>
            <a:ext cx="356616" cy="356616"/>
          </a:xfrm>
          <a:prstGeom prst="rect">
            <a:avLst/>
          </a:prstGeom>
        </p:spPr>
      </p:pic>
      <p:sp>
        <p:nvSpPr>
          <p:cNvPr id="37" name="Text 30"/>
          <p:cNvSpPr txBox="1"/>
          <p:nvPr/>
        </p:nvSpPr>
        <p:spPr>
          <a:xfrm>
            <a:off x="9759391" y="2880360"/>
            <a:ext cx="1591056" cy="45720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Continuous Improvement</a:t>
            </a:r>
            <a:endParaRPr lang="en-US" sz="1500" dirty="0"/>
          </a:p>
        </p:txBody>
      </p:sp>
      <p:sp>
        <p:nvSpPr>
          <p:cNvPr id="38" name="Text 31"/>
          <p:cNvSpPr txBox="1"/>
          <p:nvPr/>
        </p:nvSpPr>
        <p:spPr>
          <a:xfrm>
            <a:off x="9759391" y="3520440"/>
            <a:ext cx="1591056"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التطوير المستمر</a:t>
            </a:r>
            <a:endParaRPr lang="ar-AE" sz="1400" dirty="0"/>
          </a:p>
        </p:txBody>
      </p:sp>
      <p:sp>
        <p:nvSpPr>
          <p:cNvPr id="39" name="Text 32"/>
          <p:cNvSpPr txBox="1"/>
          <p:nvPr/>
        </p:nvSpPr>
        <p:spPr>
          <a:xfrm>
            <a:off x="9759391" y="3931920"/>
            <a:ext cx="1591056" cy="10058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Ongoing development of products, services and technical capabilities.</a:t>
            </a:r>
            <a:endParaRPr lang="en-US" sz="1200" dirty="0"/>
          </a:p>
        </p:txBody>
      </p:sp>
      <p:sp>
        <p:nvSpPr>
          <p:cNvPr id="40" name="Text 33"/>
          <p:cNvSpPr txBox="1"/>
          <p:nvPr/>
        </p:nvSpPr>
        <p:spPr>
          <a:xfrm>
            <a:off x="9759391" y="4983480"/>
            <a:ext cx="1591056" cy="10058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تطوير المنتجات والخدمات والقدرات الفنية بصورة مستمرة.</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01   ·   WHO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نحن   ·   01</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Our Journey</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رحلتنا</a:t>
            </a:r>
            <a:endParaRPr lang="ar-AE" sz="3000" dirty="0"/>
          </a:p>
        </p:txBody>
      </p:sp>
      <p:sp>
        <p:nvSpPr>
          <p:cNvPr id="6" name="hairline"/>
          <p:cNvSpPr/>
          <p:nvPr/>
        </p:nvSpPr>
        <p:spPr>
          <a:xfrm>
            <a:off x="640080" y="2542032"/>
            <a:ext cx="10911535" cy="0"/>
          </a:xfrm>
          <a:prstGeom prst="line">
            <a:avLst/>
          </a:prstGeom>
          <a:noFill/>
          <a:ln w="9525">
            <a:solidFill>
              <a:schemeClr val="accent3"/>
            </a:solidFill>
            <a:prstDash val="solid"/>
          </a:ln>
        </p:spPr>
      </p:sp>
      <p:sp>
        <p:nvSpPr>
          <p:cNvPr id="7" name="Text 5"/>
          <p:cNvSpPr txBox="1"/>
          <p:nvPr/>
        </p:nvSpPr>
        <p:spPr>
          <a:xfrm>
            <a:off x="640080"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2023</a:t>
            </a:r>
            <a:endParaRPr lang="en-US" sz="4400" dirty="0"/>
          </a:p>
        </p:txBody>
      </p:sp>
      <p:sp>
        <p:nvSpPr>
          <p:cNvPr id="8" name="Timeline dot 2023"/>
          <p:cNvSpPr/>
          <p:nvPr/>
        </p:nvSpPr>
        <p:spPr>
          <a:xfrm>
            <a:off x="640080" y="2450592"/>
            <a:ext cx="182880" cy="182880"/>
          </a:xfrm>
          <a:prstGeom prst="ellipse">
            <a:avLst/>
          </a:prstGeom>
          <a:solidFill>
            <a:schemeClr val="accent1"/>
          </a:solidFill>
          <a:ln/>
        </p:spPr>
      </p:sp>
      <p:pic>
        <p:nvPicPr>
          <p:cNvPr id="9" name="Journey icon 2023" descr="icon">    </p:cNvPr>
          <p:cNvPicPr>
            <a:picLocks noChangeAspect="1"/>
          </p:cNvPicPr>
          <p:nvPr/>
        </p:nvPicPr>
        <p:blipFill>
          <a:blip r:embed="rId2"/>
          <a:stretch>
            <a:fillRect/>
          </a:stretch>
        </p:blipFill>
        <p:spPr>
          <a:xfrm>
            <a:off x="640080" y="2926080"/>
            <a:ext cx="411480" cy="411480"/>
          </a:xfrm>
          <a:prstGeom prst="rect">
            <a:avLst/>
          </a:prstGeom>
        </p:spPr>
      </p:pic>
      <p:sp>
        <p:nvSpPr>
          <p:cNvPr id="10" name="Text 7"/>
          <p:cNvSpPr txBox="1"/>
          <p:nvPr/>
        </p:nvSpPr>
        <p:spPr>
          <a:xfrm>
            <a:off x="640080"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The Beginning</a:t>
            </a:r>
            <a:endParaRPr lang="en-US" sz="1500" dirty="0"/>
          </a:p>
        </p:txBody>
      </p:sp>
      <p:sp>
        <p:nvSpPr>
          <p:cNvPr id="11" name="Text 8"/>
          <p:cNvSpPr txBox="1"/>
          <p:nvPr/>
        </p:nvSpPr>
        <p:spPr>
          <a:xfrm>
            <a:off x="640080"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الانطلاقة</a:t>
            </a:r>
            <a:endParaRPr lang="ar-AE" sz="1400" dirty="0"/>
          </a:p>
        </p:txBody>
      </p:sp>
      <p:sp>
        <p:nvSpPr>
          <p:cNvPr id="12" name="Text 9"/>
          <p:cNvSpPr txBox="1"/>
          <p:nvPr/>
        </p:nvSpPr>
        <p:spPr>
          <a:xfrm>
            <a:off x="640080"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Launched as an online EV accessories store in the UAE; first physical branch opened in Dubai later that year.</a:t>
            </a:r>
            <a:endParaRPr lang="en-US" sz="1200" dirty="0"/>
          </a:p>
        </p:txBody>
      </p:sp>
      <p:sp>
        <p:nvSpPr>
          <p:cNvPr id="13" name="Text 10"/>
          <p:cNvSpPr txBox="1"/>
          <p:nvPr/>
        </p:nvSpPr>
        <p:spPr>
          <a:xfrm>
            <a:off x="640080"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انطلقت كمتجر إلكتروني لإكسسوارات السيارات الكهربائية في الإمارات، وافتتحت أول فرع في دبي أواخر العام.</a:t>
            </a:r>
            <a:endParaRPr lang="ar-AE" sz="1200" dirty="0"/>
          </a:p>
        </p:txBody>
      </p:sp>
      <p:sp>
        <p:nvSpPr>
          <p:cNvPr id="14" name="Text 11"/>
          <p:cNvSpPr txBox="1"/>
          <p:nvPr/>
        </p:nvSpPr>
        <p:spPr>
          <a:xfrm>
            <a:off x="3454298"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2024</a:t>
            </a:r>
            <a:endParaRPr lang="en-US" sz="4400" dirty="0"/>
          </a:p>
        </p:txBody>
      </p:sp>
      <p:sp>
        <p:nvSpPr>
          <p:cNvPr id="15" name="Timeline dot 2024"/>
          <p:cNvSpPr/>
          <p:nvPr/>
        </p:nvSpPr>
        <p:spPr>
          <a:xfrm>
            <a:off x="3454298" y="2450592"/>
            <a:ext cx="182880" cy="182880"/>
          </a:xfrm>
          <a:prstGeom prst="ellipse">
            <a:avLst/>
          </a:prstGeom>
          <a:solidFill>
            <a:schemeClr val="accent1"/>
          </a:solidFill>
          <a:ln/>
        </p:spPr>
      </p:sp>
      <p:pic>
        <p:nvPicPr>
          <p:cNvPr id="16" name="Journey icon 2024" descr="icon">    </p:cNvPr>
          <p:cNvPicPr>
            <a:picLocks noChangeAspect="1"/>
          </p:cNvPicPr>
          <p:nvPr/>
        </p:nvPicPr>
        <p:blipFill>
          <a:blip r:embed="rId3"/>
          <a:stretch>
            <a:fillRect/>
          </a:stretch>
        </p:blipFill>
        <p:spPr>
          <a:xfrm>
            <a:off x="3454298" y="2926080"/>
            <a:ext cx="411480" cy="411480"/>
          </a:xfrm>
          <a:prstGeom prst="rect">
            <a:avLst/>
          </a:prstGeom>
        </p:spPr>
      </p:pic>
      <p:sp>
        <p:nvSpPr>
          <p:cNvPr id="17" name="Text 13"/>
          <p:cNvSpPr txBox="1"/>
          <p:nvPr/>
        </p:nvSpPr>
        <p:spPr>
          <a:xfrm>
            <a:off x="3454298"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UAE Expansion</a:t>
            </a:r>
            <a:endParaRPr lang="en-US" sz="1500" dirty="0"/>
          </a:p>
        </p:txBody>
      </p:sp>
      <p:sp>
        <p:nvSpPr>
          <p:cNvPr id="18" name="Text 14"/>
          <p:cNvSpPr txBox="1"/>
          <p:nvPr/>
        </p:nvSpPr>
        <p:spPr>
          <a:xfrm>
            <a:off x="3454298"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التوسع المحلي</a:t>
            </a:r>
            <a:endParaRPr lang="ar-AE" sz="1400" dirty="0"/>
          </a:p>
        </p:txBody>
      </p:sp>
      <p:sp>
        <p:nvSpPr>
          <p:cNvPr id="19" name="Text 15"/>
          <p:cNvSpPr txBox="1"/>
          <p:nvPr/>
        </p:nvSpPr>
        <p:spPr>
          <a:xfrm>
            <a:off x="3454298"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Expanded its UAE retail presence through branches in Al Ain and Sharjah.</a:t>
            </a:r>
            <a:endParaRPr lang="en-US" sz="1200" dirty="0"/>
          </a:p>
        </p:txBody>
      </p:sp>
      <p:sp>
        <p:nvSpPr>
          <p:cNvPr id="20" name="Text 16"/>
          <p:cNvSpPr txBox="1"/>
          <p:nvPr/>
        </p:nvSpPr>
        <p:spPr>
          <a:xfrm>
            <a:off x="3454298"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التوسع في دولة الإمارات العربية المتحدة بافتتاح فروع في العين والشارقة.</a:t>
            </a:r>
            <a:endParaRPr lang="ar-AE" sz="1200" dirty="0"/>
          </a:p>
        </p:txBody>
      </p:sp>
      <p:sp>
        <p:nvSpPr>
          <p:cNvPr id="21" name="Text 17"/>
          <p:cNvSpPr txBox="1"/>
          <p:nvPr/>
        </p:nvSpPr>
        <p:spPr>
          <a:xfrm>
            <a:off x="6268517" y="1600200"/>
            <a:ext cx="2468880" cy="731520"/>
          </a:xfrm>
          <a:prstGeom prst="rect">
            <a:avLst/>
          </a:prstGeom>
          <a:noFill/>
          <a:ln/>
        </p:spPr>
        <p:txBody>
          <a:bodyPr wrap="square" lIns="0" tIns="0" rIns="0" bIns="0" rtlCol="0" anchor="t"/>
          <a:lstStyle/>
          <a:p>
            <a:pPr algn="l" indent="0" marL="0">
              <a:buNone/>
            </a:pPr>
            <a:r>
              <a:rPr lang="en-US" sz="4400" dirty="0">
                <a:solidFill>
                  <a:schemeClr val="bg1"/>
                </a:solidFill>
                <a:latin typeface="IBM Plex Sans Arabic Light" pitchFamily="34" charset="0"/>
                <a:ea typeface="IBM Plex Sans Arabic Light" pitchFamily="34" charset="-122"/>
                <a:cs typeface="IBM Plex Sans Arabic Light" pitchFamily="34" charset="-120"/>
              </a:rPr>
              <a:t>2025</a:t>
            </a:r>
            <a:endParaRPr lang="en-US" sz="4400" dirty="0"/>
          </a:p>
        </p:txBody>
      </p:sp>
      <p:sp>
        <p:nvSpPr>
          <p:cNvPr id="22" name="Timeline dot 2025"/>
          <p:cNvSpPr/>
          <p:nvPr/>
        </p:nvSpPr>
        <p:spPr>
          <a:xfrm>
            <a:off x="6268517" y="2450592"/>
            <a:ext cx="182880" cy="182880"/>
          </a:xfrm>
          <a:prstGeom prst="ellipse">
            <a:avLst/>
          </a:prstGeom>
          <a:solidFill>
            <a:schemeClr val="accent1"/>
          </a:solidFill>
          <a:ln/>
        </p:spPr>
      </p:sp>
      <p:pic>
        <p:nvPicPr>
          <p:cNvPr id="23" name="Journey icon 2025" descr="icon">    </p:cNvPr>
          <p:cNvPicPr>
            <a:picLocks noChangeAspect="1"/>
          </p:cNvPicPr>
          <p:nvPr/>
        </p:nvPicPr>
        <p:blipFill>
          <a:blip r:embed="rId4"/>
          <a:stretch>
            <a:fillRect/>
          </a:stretch>
        </p:blipFill>
        <p:spPr>
          <a:xfrm>
            <a:off x="6268517" y="2926080"/>
            <a:ext cx="411480" cy="411480"/>
          </a:xfrm>
          <a:prstGeom prst="rect">
            <a:avLst/>
          </a:prstGeom>
        </p:spPr>
      </p:pic>
      <p:sp>
        <p:nvSpPr>
          <p:cNvPr id="24" name="Text 19"/>
          <p:cNvSpPr txBox="1"/>
          <p:nvPr/>
        </p:nvSpPr>
        <p:spPr>
          <a:xfrm>
            <a:off x="6268517"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Regional Expansion</a:t>
            </a:r>
            <a:endParaRPr lang="en-US" sz="1500" dirty="0"/>
          </a:p>
        </p:txBody>
      </p:sp>
      <p:sp>
        <p:nvSpPr>
          <p:cNvPr id="25" name="Text 20"/>
          <p:cNvSpPr txBox="1"/>
          <p:nvPr/>
        </p:nvSpPr>
        <p:spPr>
          <a:xfrm>
            <a:off x="6268517"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التوسع الإقليمي</a:t>
            </a:r>
            <a:endParaRPr lang="ar-AE" sz="1400" dirty="0"/>
          </a:p>
        </p:txBody>
      </p:sp>
      <p:sp>
        <p:nvSpPr>
          <p:cNvPr id="26" name="Text 21"/>
          <p:cNvSpPr txBox="1"/>
          <p:nvPr/>
        </p:nvSpPr>
        <p:spPr>
          <a:xfrm>
            <a:off x="6268517"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Entered Oman with branches in Muscat and North Al Batinah, and strengthened presence at industry exhibitions.</a:t>
            </a:r>
            <a:endParaRPr lang="en-US" sz="1200" dirty="0"/>
          </a:p>
        </p:txBody>
      </p:sp>
      <p:sp>
        <p:nvSpPr>
          <p:cNvPr id="27" name="Text 22"/>
          <p:cNvSpPr txBox="1"/>
          <p:nvPr/>
        </p:nvSpPr>
        <p:spPr>
          <a:xfrm>
            <a:off x="6268517"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دخول السوق العُماني بفروع في مسقط وشمال الباطنة، وتعزيز الحضور في المعارض المتخصصة.</a:t>
            </a:r>
            <a:endParaRPr lang="ar-AE" sz="1200" dirty="0"/>
          </a:p>
        </p:txBody>
      </p:sp>
      <p:sp>
        <p:nvSpPr>
          <p:cNvPr id="28" name="Text 23"/>
          <p:cNvSpPr txBox="1"/>
          <p:nvPr/>
        </p:nvSpPr>
        <p:spPr>
          <a:xfrm>
            <a:off x="9082735" y="1600200"/>
            <a:ext cx="2468880" cy="731520"/>
          </a:xfrm>
          <a:prstGeom prst="rect">
            <a:avLst/>
          </a:prstGeom>
          <a:noFill/>
          <a:ln/>
        </p:spPr>
        <p:txBody>
          <a:bodyPr wrap="square" lIns="0" tIns="0" rIns="0" bIns="0" rtlCol="0" anchor="t"/>
          <a:lstStyle/>
          <a:p>
            <a:pPr algn="l" indent="0" marL="0">
              <a:buNone/>
            </a:pPr>
            <a:r>
              <a:rPr lang="en-US" sz="4400" dirty="0">
                <a:solidFill>
                  <a:schemeClr val="accent2"/>
                </a:solidFill>
                <a:latin typeface="IBM Plex Sans Arabic Light" pitchFamily="34" charset="0"/>
                <a:ea typeface="IBM Plex Sans Arabic Light" pitchFamily="34" charset="-122"/>
                <a:cs typeface="IBM Plex Sans Arabic Light" pitchFamily="34" charset="-120"/>
              </a:rPr>
              <a:t>2026</a:t>
            </a:r>
            <a:endParaRPr lang="en-US" sz="4400" dirty="0"/>
          </a:p>
        </p:txBody>
      </p:sp>
      <p:sp>
        <p:nvSpPr>
          <p:cNvPr id="29" name="Timeline dot 2026"/>
          <p:cNvSpPr/>
          <p:nvPr/>
        </p:nvSpPr>
        <p:spPr>
          <a:xfrm>
            <a:off x="9082735" y="2450592"/>
            <a:ext cx="182880" cy="182880"/>
          </a:xfrm>
          <a:prstGeom prst="ellipse">
            <a:avLst/>
          </a:prstGeom>
          <a:solidFill>
            <a:schemeClr val="accent2"/>
          </a:solidFill>
          <a:ln/>
        </p:spPr>
      </p:sp>
      <p:pic>
        <p:nvPicPr>
          <p:cNvPr id="30" name="Journey icon 2026" descr="icon">    </p:cNvPr>
          <p:cNvPicPr>
            <a:picLocks noChangeAspect="1"/>
          </p:cNvPicPr>
          <p:nvPr/>
        </p:nvPicPr>
        <p:blipFill>
          <a:blip r:embed="rId5"/>
          <a:stretch>
            <a:fillRect/>
          </a:stretch>
        </p:blipFill>
        <p:spPr>
          <a:xfrm>
            <a:off x="9082735" y="2926080"/>
            <a:ext cx="411480" cy="411480"/>
          </a:xfrm>
          <a:prstGeom prst="rect">
            <a:avLst/>
          </a:prstGeom>
        </p:spPr>
      </p:pic>
      <p:sp>
        <p:nvSpPr>
          <p:cNvPr id="31" name="Text 25"/>
          <p:cNvSpPr txBox="1"/>
          <p:nvPr/>
        </p:nvSpPr>
        <p:spPr>
          <a:xfrm>
            <a:off x="9082735" y="3520440"/>
            <a:ext cx="2468880" cy="274320"/>
          </a:xfrm>
          <a:prstGeom prst="rect">
            <a:avLst/>
          </a:prstGeom>
          <a:noFill/>
          <a:ln/>
        </p:spPr>
        <p:txBody>
          <a:bodyPr wrap="square" lIns="0" tIns="0" rIns="0" bIns="0" rtlCol="0" anchor="t"/>
          <a:lstStyle/>
          <a:p>
            <a:pPr algn="l" indent="0" marL="0">
              <a:buNone/>
            </a:pPr>
            <a:r>
              <a:rPr lang="en-US" sz="1500" b="1" dirty="0">
                <a:solidFill>
                  <a:schemeClr val="bg1"/>
                </a:solidFill>
                <a:latin typeface="IBM Plex Sans Arabic" pitchFamily="34" charset="0"/>
                <a:ea typeface="IBM Plex Sans Arabic" pitchFamily="34" charset="-122"/>
                <a:cs typeface="IBM Plex Sans Arabic" pitchFamily="34" charset="-120"/>
              </a:rPr>
              <a:t>Development &amp; Growth</a:t>
            </a:r>
            <a:endParaRPr lang="en-US" sz="1500" dirty="0"/>
          </a:p>
        </p:txBody>
      </p:sp>
      <p:sp>
        <p:nvSpPr>
          <p:cNvPr id="32" name="Text 26"/>
          <p:cNvSpPr txBox="1"/>
          <p:nvPr/>
        </p:nvSpPr>
        <p:spPr>
          <a:xfrm>
            <a:off x="9082735" y="3822192"/>
            <a:ext cx="2468880"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التطوير والنمو</a:t>
            </a:r>
            <a:endParaRPr lang="ar-AE" sz="1400" dirty="0"/>
          </a:p>
        </p:txBody>
      </p:sp>
      <p:sp>
        <p:nvSpPr>
          <p:cNvPr id="33" name="Text 27"/>
          <p:cNvSpPr txBox="1"/>
          <p:nvPr/>
        </p:nvSpPr>
        <p:spPr>
          <a:xfrm>
            <a:off x="9082735" y="4251960"/>
            <a:ext cx="2468880" cy="9144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Developing branches, technical services and charging solutions, with expansion plans for Riyadh, Saudi Arabia.</a:t>
            </a:r>
            <a:endParaRPr lang="en-US" sz="1200" dirty="0"/>
          </a:p>
        </p:txBody>
      </p:sp>
      <p:sp>
        <p:nvSpPr>
          <p:cNvPr id="34" name="Text 28"/>
          <p:cNvSpPr txBox="1"/>
          <p:nvPr/>
        </p:nvSpPr>
        <p:spPr>
          <a:xfrm>
            <a:off x="9082735" y="5212080"/>
            <a:ext cx="2468880" cy="91440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مواصلة تطوير الفروع والخدمات الفنية وحلول الشحن، مع خطط للتوسع في الرياض بالمملكة العربية السعودية.</a:t>
            </a:r>
            <a:endParaRPr lang="ar-AE" sz="12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Business Areas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مجالات أعمالنا</a:t>
            </a:r>
            <a:endParaRPr lang="ar-AE" sz="3000" dirty="0"/>
          </a:p>
        </p:txBody>
      </p:sp>
      <p:sp>
        <p:nvSpPr>
          <p:cNvPr id="6" name="Business tile 1"/>
          <p:cNvSpPr/>
          <p:nvPr/>
        </p:nvSpPr>
        <p:spPr>
          <a:xfrm>
            <a:off x="640080" y="1691640"/>
            <a:ext cx="3456432" cy="2011680"/>
          </a:xfrm>
          <a:prstGeom prst="roundRect">
            <a:avLst>
              <a:gd name="adj" fmla="val 4545"/>
            </a:avLst>
          </a:prstGeom>
          <a:solidFill>
            <a:schemeClr val="bg2"/>
          </a:solidFill>
          <a:ln/>
        </p:spPr>
      </p:sp>
      <p:sp>
        <p:nvSpPr>
          <p:cNvPr id="7" name="Business icon 1 circle"/>
          <p:cNvSpPr/>
          <p:nvPr/>
        </p:nvSpPr>
        <p:spPr>
          <a:xfrm>
            <a:off x="914400" y="1947672"/>
            <a:ext cx="731520" cy="731520"/>
          </a:xfrm>
          <a:prstGeom prst="ellipse">
            <a:avLst/>
          </a:prstGeom>
          <a:solidFill>
            <a:schemeClr val="accent6"/>
          </a:solidFill>
          <a:ln/>
        </p:spPr>
      </p:sp>
      <p:pic>
        <p:nvPicPr>
          <p:cNvPr id="8" name="Business icon 1" descr="icon">    </p:cNvPr>
          <p:cNvPicPr>
            <a:picLocks noChangeAspect="1"/>
          </p:cNvPicPr>
          <p:nvPr/>
        </p:nvPicPr>
        <p:blipFill>
          <a:blip r:embed="rId1"/>
          <a:stretch>
            <a:fillRect/>
          </a:stretch>
        </p:blipFill>
        <p:spPr>
          <a:xfrm>
            <a:off x="1089965" y="2123237"/>
            <a:ext cx="380390" cy="380390"/>
          </a:xfrm>
          <a:prstGeom prst="rect">
            <a:avLst/>
          </a:prstGeom>
        </p:spPr>
      </p:pic>
      <p:sp>
        <p:nvSpPr>
          <p:cNvPr id="9" name="Text 6"/>
          <p:cNvSpPr txBox="1"/>
          <p:nvPr/>
        </p:nvSpPr>
        <p:spPr>
          <a:xfrm>
            <a:off x="290779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01</a:t>
            </a:r>
            <a:endParaRPr lang="en-US" sz="2000" dirty="0"/>
          </a:p>
        </p:txBody>
      </p:sp>
      <p:sp>
        <p:nvSpPr>
          <p:cNvPr id="10" name="Text 7"/>
          <p:cNvSpPr txBox="1"/>
          <p:nvPr/>
        </p:nvSpPr>
        <p:spPr>
          <a:xfrm>
            <a:off x="91440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Electric Vehicle Accessories</a:t>
            </a:r>
            <a:endParaRPr lang="en-US" sz="1500" dirty="0"/>
          </a:p>
        </p:txBody>
      </p:sp>
      <p:sp>
        <p:nvSpPr>
          <p:cNvPr id="11" name="Text 8"/>
          <p:cNvSpPr txBox="1"/>
          <p:nvPr/>
        </p:nvSpPr>
        <p:spPr>
          <a:xfrm>
            <a:off x="91440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إكسسوارات السيارات الكهربائية</a:t>
            </a:r>
            <a:endParaRPr lang="ar-AE" sz="1400" dirty="0"/>
          </a:p>
        </p:txBody>
      </p:sp>
      <p:sp>
        <p:nvSpPr>
          <p:cNvPr id="12" name="Business tile 2"/>
          <p:cNvSpPr/>
          <p:nvPr/>
        </p:nvSpPr>
        <p:spPr>
          <a:xfrm>
            <a:off x="4366260" y="1691640"/>
            <a:ext cx="3456432" cy="2011680"/>
          </a:xfrm>
          <a:prstGeom prst="roundRect">
            <a:avLst>
              <a:gd name="adj" fmla="val 4545"/>
            </a:avLst>
          </a:prstGeom>
          <a:solidFill>
            <a:schemeClr val="bg2"/>
          </a:solidFill>
          <a:ln/>
        </p:spPr>
      </p:sp>
      <p:sp>
        <p:nvSpPr>
          <p:cNvPr id="13" name="Business icon 2 circle"/>
          <p:cNvSpPr/>
          <p:nvPr/>
        </p:nvSpPr>
        <p:spPr>
          <a:xfrm>
            <a:off x="4640580" y="1947672"/>
            <a:ext cx="731520" cy="731520"/>
          </a:xfrm>
          <a:prstGeom prst="ellipse">
            <a:avLst/>
          </a:prstGeom>
          <a:solidFill>
            <a:schemeClr val="accent6"/>
          </a:solidFill>
          <a:ln/>
        </p:spPr>
      </p:sp>
      <p:pic>
        <p:nvPicPr>
          <p:cNvPr id="14" name="Business icon 2" descr="icon">    </p:cNvPr>
          <p:cNvPicPr>
            <a:picLocks noChangeAspect="1"/>
          </p:cNvPicPr>
          <p:nvPr/>
        </p:nvPicPr>
        <p:blipFill>
          <a:blip r:embed="rId2"/>
          <a:stretch>
            <a:fillRect/>
          </a:stretch>
        </p:blipFill>
        <p:spPr>
          <a:xfrm>
            <a:off x="4816145" y="2123237"/>
            <a:ext cx="380390" cy="380390"/>
          </a:xfrm>
          <a:prstGeom prst="rect">
            <a:avLst/>
          </a:prstGeom>
        </p:spPr>
      </p:pic>
      <p:sp>
        <p:nvSpPr>
          <p:cNvPr id="15" name="Text 11"/>
          <p:cNvSpPr txBox="1"/>
          <p:nvPr/>
        </p:nvSpPr>
        <p:spPr>
          <a:xfrm>
            <a:off x="663397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02</a:t>
            </a:r>
            <a:endParaRPr lang="en-US" sz="2000" dirty="0"/>
          </a:p>
        </p:txBody>
      </p:sp>
      <p:sp>
        <p:nvSpPr>
          <p:cNvPr id="16" name="Text 12"/>
          <p:cNvSpPr txBox="1"/>
          <p:nvPr/>
        </p:nvSpPr>
        <p:spPr>
          <a:xfrm>
            <a:off x="464058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Charging Solutions</a:t>
            </a:r>
            <a:endParaRPr lang="en-US" sz="1500" dirty="0"/>
          </a:p>
        </p:txBody>
      </p:sp>
      <p:sp>
        <p:nvSpPr>
          <p:cNvPr id="17" name="Text 13"/>
          <p:cNvSpPr txBox="1"/>
          <p:nvPr/>
        </p:nvSpPr>
        <p:spPr>
          <a:xfrm>
            <a:off x="464058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شواحن السيارات الكهربائية</a:t>
            </a:r>
            <a:endParaRPr lang="ar-AE" sz="1400" dirty="0"/>
          </a:p>
        </p:txBody>
      </p:sp>
      <p:sp>
        <p:nvSpPr>
          <p:cNvPr id="18" name="Business tile 3"/>
          <p:cNvSpPr/>
          <p:nvPr/>
        </p:nvSpPr>
        <p:spPr>
          <a:xfrm>
            <a:off x="8092440" y="1691640"/>
            <a:ext cx="3456432" cy="2011680"/>
          </a:xfrm>
          <a:prstGeom prst="roundRect">
            <a:avLst>
              <a:gd name="adj" fmla="val 4545"/>
            </a:avLst>
          </a:prstGeom>
          <a:solidFill>
            <a:schemeClr val="bg2"/>
          </a:solidFill>
          <a:ln/>
        </p:spPr>
      </p:sp>
      <p:sp>
        <p:nvSpPr>
          <p:cNvPr id="19" name="Business icon 3 circle"/>
          <p:cNvSpPr/>
          <p:nvPr/>
        </p:nvSpPr>
        <p:spPr>
          <a:xfrm>
            <a:off x="8366760" y="1947672"/>
            <a:ext cx="731520" cy="731520"/>
          </a:xfrm>
          <a:prstGeom prst="ellipse">
            <a:avLst/>
          </a:prstGeom>
          <a:solidFill>
            <a:schemeClr val="accent6"/>
          </a:solidFill>
          <a:ln/>
        </p:spPr>
      </p:sp>
      <p:pic>
        <p:nvPicPr>
          <p:cNvPr id="20" name="Business icon 3" descr="icon">    </p:cNvPr>
          <p:cNvPicPr>
            <a:picLocks noChangeAspect="1"/>
          </p:cNvPicPr>
          <p:nvPr/>
        </p:nvPicPr>
        <p:blipFill>
          <a:blip r:embed="rId3"/>
          <a:stretch>
            <a:fillRect/>
          </a:stretch>
        </p:blipFill>
        <p:spPr>
          <a:xfrm>
            <a:off x="8542325" y="2123237"/>
            <a:ext cx="380390" cy="380390"/>
          </a:xfrm>
          <a:prstGeom prst="rect">
            <a:avLst/>
          </a:prstGeom>
        </p:spPr>
      </p:pic>
      <p:sp>
        <p:nvSpPr>
          <p:cNvPr id="21" name="Text 16"/>
          <p:cNvSpPr txBox="1"/>
          <p:nvPr/>
        </p:nvSpPr>
        <p:spPr>
          <a:xfrm>
            <a:off x="10360152" y="1947672"/>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03</a:t>
            </a:r>
            <a:endParaRPr lang="en-US" sz="2000" dirty="0"/>
          </a:p>
        </p:txBody>
      </p:sp>
      <p:sp>
        <p:nvSpPr>
          <p:cNvPr id="22" name="Text 17"/>
          <p:cNvSpPr txBox="1"/>
          <p:nvPr/>
        </p:nvSpPr>
        <p:spPr>
          <a:xfrm>
            <a:off x="8366760" y="2926080"/>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Charging Adapters</a:t>
            </a:r>
            <a:endParaRPr lang="en-US" sz="1500" dirty="0"/>
          </a:p>
        </p:txBody>
      </p:sp>
      <p:sp>
        <p:nvSpPr>
          <p:cNvPr id="23" name="Text 18"/>
          <p:cNvSpPr txBox="1"/>
          <p:nvPr/>
        </p:nvSpPr>
        <p:spPr>
          <a:xfrm>
            <a:off x="8366760" y="3264408"/>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محولات الشحن</a:t>
            </a:r>
            <a:endParaRPr lang="ar-AE" sz="1400" dirty="0"/>
          </a:p>
        </p:txBody>
      </p:sp>
      <p:sp>
        <p:nvSpPr>
          <p:cNvPr id="24" name="Business tile 4"/>
          <p:cNvSpPr/>
          <p:nvPr/>
        </p:nvSpPr>
        <p:spPr>
          <a:xfrm>
            <a:off x="640080" y="3959352"/>
            <a:ext cx="3456432" cy="2011680"/>
          </a:xfrm>
          <a:prstGeom prst="roundRect">
            <a:avLst>
              <a:gd name="adj" fmla="val 4545"/>
            </a:avLst>
          </a:prstGeom>
          <a:solidFill>
            <a:schemeClr val="bg2"/>
          </a:solidFill>
          <a:ln/>
        </p:spPr>
      </p:sp>
      <p:sp>
        <p:nvSpPr>
          <p:cNvPr id="25" name="Business icon 4 circle"/>
          <p:cNvSpPr/>
          <p:nvPr/>
        </p:nvSpPr>
        <p:spPr>
          <a:xfrm>
            <a:off x="914400" y="4215384"/>
            <a:ext cx="731520" cy="731520"/>
          </a:xfrm>
          <a:prstGeom prst="ellipse">
            <a:avLst/>
          </a:prstGeom>
          <a:solidFill>
            <a:schemeClr val="accent6"/>
          </a:solidFill>
          <a:ln/>
        </p:spPr>
      </p:sp>
      <p:pic>
        <p:nvPicPr>
          <p:cNvPr id="26" name="Business icon 4" descr="icon">    </p:cNvPr>
          <p:cNvPicPr>
            <a:picLocks noChangeAspect="1"/>
          </p:cNvPicPr>
          <p:nvPr/>
        </p:nvPicPr>
        <p:blipFill>
          <a:blip r:embed="rId4"/>
          <a:stretch>
            <a:fillRect/>
          </a:stretch>
        </p:blipFill>
        <p:spPr>
          <a:xfrm>
            <a:off x="1089965" y="4390949"/>
            <a:ext cx="380390" cy="380390"/>
          </a:xfrm>
          <a:prstGeom prst="rect">
            <a:avLst/>
          </a:prstGeom>
        </p:spPr>
      </p:pic>
      <p:sp>
        <p:nvSpPr>
          <p:cNvPr id="27" name="Text 21"/>
          <p:cNvSpPr txBox="1"/>
          <p:nvPr/>
        </p:nvSpPr>
        <p:spPr>
          <a:xfrm>
            <a:off x="290779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04</a:t>
            </a:r>
            <a:endParaRPr lang="en-US" sz="2000" dirty="0"/>
          </a:p>
        </p:txBody>
      </p:sp>
      <p:sp>
        <p:nvSpPr>
          <p:cNvPr id="28" name="Text 22"/>
          <p:cNvSpPr txBox="1"/>
          <p:nvPr/>
        </p:nvSpPr>
        <p:spPr>
          <a:xfrm>
            <a:off x="91440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EV Charger Installation</a:t>
            </a:r>
            <a:endParaRPr lang="en-US" sz="1500" dirty="0"/>
          </a:p>
        </p:txBody>
      </p:sp>
      <p:sp>
        <p:nvSpPr>
          <p:cNvPr id="29" name="Text 23"/>
          <p:cNvSpPr txBox="1"/>
          <p:nvPr/>
        </p:nvSpPr>
        <p:spPr>
          <a:xfrm>
            <a:off x="91440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تركيب شواحن السيارات الكهربائية</a:t>
            </a:r>
            <a:endParaRPr lang="ar-AE" sz="1400" dirty="0"/>
          </a:p>
        </p:txBody>
      </p:sp>
      <p:sp>
        <p:nvSpPr>
          <p:cNvPr id="30" name="Business tile 5"/>
          <p:cNvSpPr/>
          <p:nvPr/>
        </p:nvSpPr>
        <p:spPr>
          <a:xfrm>
            <a:off x="4366260" y="3959352"/>
            <a:ext cx="3456432" cy="2011680"/>
          </a:xfrm>
          <a:prstGeom prst="roundRect">
            <a:avLst>
              <a:gd name="adj" fmla="val 4545"/>
            </a:avLst>
          </a:prstGeom>
          <a:solidFill>
            <a:schemeClr val="bg2"/>
          </a:solidFill>
          <a:ln/>
        </p:spPr>
      </p:sp>
      <p:sp>
        <p:nvSpPr>
          <p:cNvPr id="31" name="Business icon 5 circle"/>
          <p:cNvSpPr/>
          <p:nvPr/>
        </p:nvSpPr>
        <p:spPr>
          <a:xfrm>
            <a:off x="4640580" y="4215384"/>
            <a:ext cx="731520" cy="731520"/>
          </a:xfrm>
          <a:prstGeom prst="ellipse">
            <a:avLst/>
          </a:prstGeom>
          <a:solidFill>
            <a:schemeClr val="accent6"/>
          </a:solidFill>
          <a:ln/>
        </p:spPr>
      </p:sp>
      <p:pic>
        <p:nvPicPr>
          <p:cNvPr id="32" name="Business icon 5" descr="icon">    </p:cNvPr>
          <p:cNvPicPr>
            <a:picLocks noChangeAspect="1"/>
          </p:cNvPicPr>
          <p:nvPr/>
        </p:nvPicPr>
        <p:blipFill>
          <a:blip r:embed="rId5"/>
          <a:stretch>
            <a:fillRect/>
          </a:stretch>
        </p:blipFill>
        <p:spPr>
          <a:xfrm>
            <a:off x="4816145" y="4390949"/>
            <a:ext cx="380390" cy="380390"/>
          </a:xfrm>
          <a:prstGeom prst="rect">
            <a:avLst/>
          </a:prstGeom>
        </p:spPr>
      </p:pic>
      <p:sp>
        <p:nvSpPr>
          <p:cNvPr id="33" name="Text 26"/>
          <p:cNvSpPr txBox="1"/>
          <p:nvPr/>
        </p:nvSpPr>
        <p:spPr>
          <a:xfrm>
            <a:off x="663397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05</a:t>
            </a:r>
            <a:endParaRPr lang="en-US" sz="2000" dirty="0"/>
          </a:p>
        </p:txBody>
      </p:sp>
      <p:sp>
        <p:nvSpPr>
          <p:cNvPr id="34" name="Text 27"/>
          <p:cNvSpPr txBox="1"/>
          <p:nvPr/>
        </p:nvSpPr>
        <p:spPr>
          <a:xfrm>
            <a:off x="464058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Accessory Sales &amp; Installation</a:t>
            </a:r>
            <a:endParaRPr lang="en-US" sz="1500" dirty="0"/>
          </a:p>
        </p:txBody>
      </p:sp>
      <p:sp>
        <p:nvSpPr>
          <p:cNvPr id="35" name="Text 28"/>
          <p:cNvSpPr txBox="1"/>
          <p:nvPr/>
        </p:nvSpPr>
        <p:spPr>
          <a:xfrm>
            <a:off x="464058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بيع وتركيب الإكسسوارات</a:t>
            </a:r>
            <a:endParaRPr lang="ar-AE" sz="1400" dirty="0"/>
          </a:p>
        </p:txBody>
      </p:sp>
      <p:sp>
        <p:nvSpPr>
          <p:cNvPr id="36" name="Business tile 6"/>
          <p:cNvSpPr/>
          <p:nvPr/>
        </p:nvSpPr>
        <p:spPr>
          <a:xfrm>
            <a:off x="8092440" y="3959352"/>
            <a:ext cx="3456432" cy="2011680"/>
          </a:xfrm>
          <a:prstGeom prst="roundRect">
            <a:avLst>
              <a:gd name="adj" fmla="val 4545"/>
            </a:avLst>
          </a:prstGeom>
          <a:solidFill>
            <a:schemeClr val="bg2"/>
          </a:solidFill>
          <a:ln/>
        </p:spPr>
      </p:sp>
      <p:sp>
        <p:nvSpPr>
          <p:cNvPr id="37" name="Business icon 6 circle"/>
          <p:cNvSpPr/>
          <p:nvPr/>
        </p:nvSpPr>
        <p:spPr>
          <a:xfrm>
            <a:off x="8366760" y="4215384"/>
            <a:ext cx="731520" cy="731520"/>
          </a:xfrm>
          <a:prstGeom prst="ellipse">
            <a:avLst/>
          </a:prstGeom>
          <a:solidFill>
            <a:schemeClr val="accent6"/>
          </a:solidFill>
          <a:ln/>
        </p:spPr>
      </p:sp>
      <p:pic>
        <p:nvPicPr>
          <p:cNvPr id="38" name="Business icon 6" descr="icon">    </p:cNvPr>
          <p:cNvPicPr>
            <a:picLocks noChangeAspect="1"/>
          </p:cNvPicPr>
          <p:nvPr/>
        </p:nvPicPr>
        <p:blipFill>
          <a:blip r:embed="rId6"/>
          <a:stretch>
            <a:fillRect/>
          </a:stretch>
        </p:blipFill>
        <p:spPr>
          <a:xfrm>
            <a:off x="8542325" y="4390949"/>
            <a:ext cx="380390" cy="380390"/>
          </a:xfrm>
          <a:prstGeom prst="rect">
            <a:avLst/>
          </a:prstGeom>
        </p:spPr>
      </p:pic>
      <p:sp>
        <p:nvSpPr>
          <p:cNvPr id="39" name="Text 31"/>
          <p:cNvSpPr txBox="1"/>
          <p:nvPr/>
        </p:nvSpPr>
        <p:spPr>
          <a:xfrm>
            <a:off x="10360152" y="4215384"/>
            <a:ext cx="914400" cy="365760"/>
          </a:xfrm>
          <a:prstGeom prst="rect">
            <a:avLst/>
          </a:prstGeom>
          <a:noFill/>
          <a:ln/>
        </p:spPr>
        <p:txBody>
          <a:bodyPr wrap="square" lIns="0" tIns="0" rIns="0" bIns="0" rtlCol="0" anchor="t"/>
          <a:lstStyle/>
          <a:p>
            <a:pPr algn="r" indent="0" marL="0">
              <a:buNone/>
            </a:pPr>
            <a:r>
              <a:rPr lang="en-US" sz="2000" dirty="0">
                <a:solidFill>
                  <a:schemeClr val="accent3"/>
                </a:solidFill>
                <a:latin typeface="IBM Plex Sans Arabic Light" pitchFamily="34" charset="0"/>
                <a:ea typeface="IBM Plex Sans Arabic Light" pitchFamily="34" charset="-122"/>
                <a:cs typeface="IBM Plex Sans Arabic Light" pitchFamily="34" charset="-120"/>
              </a:rPr>
              <a:t>06</a:t>
            </a:r>
            <a:endParaRPr lang="en-US" sz="2000" dirty="0"/>
          </a:p>
        </p:txBody>
      </p:sp>
      <p:sp>
        <p:nvSpPr>
          <p:cNvPr id="40" name="Text 32"/>
          <p:cNvSpPr txBox="1"/>
          <p:nvPr/>
        </p:nvSpPr>
        <p:spPr>
          <a:xfrm>
            <a:off x="8366760" y="5193792"/>
            <a:ext cx="2907792" cy="274320"/>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Tesla Air-Conditioning Care</a:t>
            </a:r>
            <a:endParaRPr lang="en-US" sz="1500" dirty="0"/>
          </a:p>
        </p:txBody>
      </p:sp>
      <p:sp>
        <p:nvSpPr>
          <p:cNvPr id="41" name="Text 33"/>
          <p:cNvSpPr txBox="1"/>
          <p:nvPr/>
        </p:nvSpPr>
        <p:spPr>
          <a:xfrm>
            <a:off x="8366760" y="5532120"/>
            <a:ext cx="2907792" cy="274320"/>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خدمات تكييف سيارات تسلا</a:t>
            </a:r>
            <a:endParaRPr lang="ar-AE"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Accessories panel" descr="Electric vehicle illustration on dark panel">    </p:cNvPr>
          <p:cNvPicPr>
            <a:picLocks noChangeAspect="1"/>
          </p:cNvPicPr>
          <p:nvPr/>
        </p:nvPicPr>
        <p:blipFill>
          <a:blip r:embed="rId1"/>
          <a:stretch>
            <a:fillRect/>
          </a:stretch>
        </p:blipFill>
        <p:spPr>
          <a:xfrm>
            <a:off x="640080" y="1691640"/>
            <a:ext cx="4023360" cy="4389120"/>
          </a:xfrm>
          <a:prstGeom prst="rect">
            <a:avLst/>
          </a:prstGeom>
        </p:spPr>
      </p:pic>
      <p:sp>
        <p:nvSpPr>
          <p:cNvPr id="3" name="Text 0"/>
          <p:cNvSpPr txBox="1"/>
          <p:nvPr/>
        </p:nvSpPr>
        <p:spPr>
          <a:xfrm>
            <a:off x="1005840" y="1920240"/>
            <a:ext cx="2286000" cy="914400"/>
          </a:xfrm>
          <a:prstGeom prst="rect">
            <a:avLst/>
          </a:prstGeom>
          <a:noFill/>
          <a:ln/>
        </p:spPr>
        <p:txBody>
          <a:bodyPr wrap="square" lIns="0" tIns="0" rIns="0" bIns="0" rtlCol="0" anchor="t"/>
          <a:lstStyle/>
          <a:p>
            <a:pPr algn="l" indent="0" marL="0">
              <a:buNone/>
            </a:pPr>
            <a:r>
              <a:rPr lang="en-US" sz="6400" dirty="0">
                <a:solidFill>
                  <a:schemeClr val="accent2"/>
                </a:solidFill>
                <a:latin typeface="IBM Plex Sans Arabic Light" pitchFamily="34" charset="0"/>
                <a:ea typeface="IBM Plex Sans Arabic Light" pitchFamily="34" charset="-122"/>
                <a:cs typeface="IBM Plex Sans Arabic Light" pitchFamily="34" charset="-120"/>
              </a:rPr>
              <a:t>8</a:t>
            </a:r>
            <a:endParaRPr lang="en-US" sz="6400" dirty="0"/>
          </a:p>
        </p:txBody>
      </p:sp>
      <p:sp>
        <p:nvSpPr>
          <p:cNvPr id="4" name="Text 1"/>
          <p:cNvSpPr txBox="1"/>
          <p:nvPr/>
        </p:nvSpPr>
        <p:spPr>
          <a:xfrm>
            <a:off x="1005840" y="2926080"/>
            <a:ext cx="3291840" cy="274320"/>
          </a:xfrm>
          <a:prstGeom prst="rect">
            <a:avLst/>
          </a:prstGeom>
          <a:noFill/>
          <a:ln/>
        </p:spPr>
        <p:txBody>
          <a:bodyPr wrap="square" lIns="0" tIns="0" rIns="0" bIns="0" rtlCol="0" anchor="t"/>
          <a:lstStyle/>
          <a:p>
            <a:pPr algn="l" indent="0" marL="0">
              <a:buNone/>
            </a:pPr>
            <a:r>
              <a:rPr lang="en-US" sz="1300" b="1" dirty="0">
                <a:solidFill>
                  <a:schemeClr val="bg1"/>
                </a:solidFill>
                <a:latin typeface="IBM Plex Sans Arabic" pitchFamily="34" charset="0"/>
                <a:ea typeface="IBM Plex Sans Arabic" pitchFamily="34" charset="-122"/>
                <a:cs typeface="IBM Plex Sans Arabic" pitchFamily="34" charset="-120"/>
              </a:rPr>
              <a:t>Product categories</a:t>
            </a:r>
            <a:endParaRPr lang="en-US" sz="1300" dirty="0"/>
          </a:p>
        </p:txBody>
      </p:sp>
      <p:sp>
        <p:nvSpPr>
          <p:cNvPr id="5" name="Text 2"/>
          <p:cNvSpPr txBox="1"/>
          <p:nvPr/>
        </p:nvSpPr>
        <p:spPr>
          <a:xfrm>
            <a:off x="1005840" y="3246120"/>
            <a:ext cx="3291840" cy="27432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فئات المنتجات</a:t>
            </a:r>
            <a:endParaRPr lang="ar-AE" sz="1300" dirty="0"/>
          </a:p>
        </p:txBody>
      </p:sp>
      <p:sp>
        <p:nvSpPr>
          <p:cNvPr id="6" name="Text 3"/>
          <p:cNvSpPr txBox="1"/>
          <p:nvPr/>
        </p:nvSpPr>
        <p:spPr>
          <a:xfrm>
            <a:off x="5029200" y="411480"/>
            <a:ext cx="36576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7" name="Text 4"/>
          <p:cNvSpPr txBox="1"/>
          <p:nvPr/>
        </p:nvSpPr>
        <p:spPr>
          <a:xfrm>
            <a:off x="8808415" y="411480"/>
            <a:ext cx="27432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8" name="Text 5"/>
          <p:cNvSpPr txBox="1"/>
          <p:nvPr/>
        </p:nvSpPr>
        <p:spPr>
          <a:xfrm>
            <a:off x="5029200" y="713232"/>
            <a:ext cx="310896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EV Accessories</a:t>
            </a:r>
            <a:endParaRPr lang="en-US" sz="3000" dirty="0"/>
          </a:p>
        </p:txBody>
      </p:sp>
      <p:sp>
        <p:nvSpPr>
          <p:cNvPr id="9" name="Text 6"/>
          <p:cNvSpPr txBox="1"/>
          <p:nvPr/>
        </p:nvSpPr>
        <p:spPr>
          <a:xfrm>
            <a:off x="7345375" y="713232"/>
            <a:ext cx="4206240" cy="685800"/>
          </a:xfrm>
          <a:prstGeom prst="rect">
            <a:avLst/>
          </a:prstGeom>
          <a:noFill/>
          <a:ln/>
        </p:spPr>
        <p:txBody>
          <a:bodyPr wrap="square" lIns="0" tIns="0" rIns="0" bIns="0" rtlCol="0" anchor="t"/>
          <a:lstStyle/>
          <a:p>
            <a:pPr rtl="1" algn="r" indent="0" marL="0">
              <a:buNone/>
            </a:pPr>
            <a:r>
              <a:rPr lang="ar-AE" altLang="en-US" sz="2600" dirty="0">
                <a:solidFill>
                  <a:schemeClr val="tx1"/>
                </a:solidFill>
                <a:latin typeface="IBM Plex Sans Arabic Light" pitchFamily="34" charset="0"/>
                <a:ea typeface="IBM Plex Sans Arabic Light" pitchFamily="34" charset="-122"/>
                <a:cs typeface="IBM Plex Sans Arabic Light" pitchFamily="34" charset="-120"/>
              </a:rPr>
              <a:t>إكسسوارات السيارات الكهربائية</a:t>
            </a:r>
            <a:endParaRPr lang="ar-AE" sz="2600" dirty="0"/>
          </a:p>
        </p:txBody>
      </p:sp>
      <p:sp>
        <p:nvSpPr>
          <p:cNvPr id="10" name="Text 7"/>
          <p:cNvSpPr txBox="1"/>
          <p:nvPr/>
        </p:nvSpPr>
        <p:spPr>
          <a:xfrm>
            <a:off x="5029200" y="1371600"/>
            <a:ext cx="3200400" cy="457200"/>
          </a:xfrm>
          <a:prstGeom prst="rect">
            <a:avLst/>
          </a:prstGeom>
          <a:noFill/>
          <a:ln/>
        </p:spPr>
        <p:txBody>
          <a:bodyPr wrap="square" lIns="0" tIns="0" rIns="0" bIns="0" rtlCol="0" anchor="t"/>
          <a:lstStyle/>
          <a:p>
            <a:pPr algn="l" indent="0" marL="0">
              <a:buNone/>
            </a:pPr>
            <a:r>
              <a:rPr lang="en-US" sz="1150" dirty="0">
                <a:solidFill>
                  <a:schemeClr val="accent3"/>
                </a:solidFill>
                <a:latin typeface="IBM Plex Sans Arabic" pitchFamily="34" charset="0"/>
                <a:ea typeface="IBM Plex Sans Arabic" pitchFamily="34" charset="-122"/>
                <a:cs typeface="IBM Plex Sans Arabic" pitchFamily="34" charset="-120"/>
              </a:rPr>
              <a:t>Specialized accessories across multiple categories for electric vehicle owners.</a:t>
            </a:r>
            <a:endParaRPr lang="en-US" sz="1150" dirty="0"/>
          </a:p>
        </p:txBody>
      </p:sp>
      <p:sp>
        <p:nvSpPr>
          <p:cNvPr id="11" name="Text 8"/>
          <p:cNvSpPr txBox="1"/>
          <p:nvPr/>
        </p:nvSpPr>
        <p:spPr>
          <a:xfrm>
            <a:off x="8321040" y="1371600"/>
            <a:ext cx="3227832" cy="457200"/>
          </a:xfrm>
          <a:prstGeom prst="rect">
            <a:avLst/>
          </a:prstGeom>
          <a:noFill/>
          <a:ln/>
        </p:spPr>
        <p:txBody>
          <a:bodyPr wrap="square" lIns="0" tIns="0" rIns="0" bIns="0" rtlCol="0" anchor="t"/>
          <a:lstStyle/>
          <a:p>
            <a:pPr rtl="1" algn="r" indent="0" marL="0">
              <a:buNone/>
            </a:pPr>
            <a:r>
              <a:rPr lang="ar-AE" altLang="en-US" sz="1150" dirty="0">
                <a:solidFill>
                  <a:schemeClr val="accent3"/>
                </a:solidFill>
                <a:latin typeface="IBM Plex Sans Arabic" pitchFamily="34" charset="0"/>
                <a:ea typeface="IBM Plex Sans Arabic" pitchFamily="34" charset="-122"/>
                <a:cs typeface="IBM Plex Sans Arabic" pitchFamily="34" charset="-120"/>
              </a:rPr>
              <a:t>منتجات متخصصة لملاك السيارات الكهربائية، تشمل فئات متعددة من الإكسسوارات.</a:t>
            </a:r>
            <a:endParaRPr lang="ar-AE" sz="1150" dirty="0"/>
          </a:p>
        </p:txBody>
      </p:sp>
      <p:sp>
        <p:nvSpPr>
          <p:cNvPr id="12" name="Category row 1"/>
          <p:cNvSpPr/>
          <p:nvPr/>
        </p:nvSpPr>
        <p:spPr>
          <a:xfrm>
            <a:off x="5029200" y="2011680"/>
            <a:ext cx="6522415" cy="448056"/>
          </a:xfrm>
          <a:prstGeom prst="roundRect">
            <a:avLst>
              <a:gd name="adj" fmla="val 14286"/>
            </a:avLst>
          </a:prstGeom>
          <a:solidFill>
            <a:schemeClr val="bg2"/>
          </a:solidFill>
          <a:ln/>
        </p:spPr>
      </p:sp>
      <p:pic>
        <p:nvPicPr>
          <p:cNvPr id="13" name="Category icon 1" descr="icon">    </p:cNvPr>
          <p:cNvPicPr>
            <a:picLocks noChangeAspect="1"/>
          </p:cNvPicPr>
          <p:nvPr/>
        </p:nvPicPr>
        <p:blipFill>
          <a:blip r:embed="rId2"/>
          <a:stretch>
            <a:fillRect/>
          </a:stretch>
        </p:blipFill>
        <p:spPr>
          <a:xfrm>
            <a:off x="5166360" y="2093976"/>
            <a:ext cx="283464" cy="283464"/>
          </a:xfrm>
          <a:prstGeom prst="rect">
            <a:avLst/>
          </a:prstGeom>
        </p:spPr>
      </p:pic>
      <p:sp>
        <p:nvSpPr>
          <p:cNvPr id="14" name="Text 10"/>
          <p:cNvSpPr txBox="1"/>
          <p:nvPr/>
        </p:nvSpPr>
        <p:spPr>
          <a:xfrm>
            <a:off x="5623560" y="2084832"/>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Interior Accessories</a:t>
            </a:r>
            <a:endParaRPr lang="en-US" sz="1200" dirty="0"/>
          </a:p>
        </p:txBody>
      </p:sp>
      <p:sp>
        <p:nvSpPr>
          <p:cNvPr id="15" name="Text 11"/>
          <p:cNvSpPr txBox="1"/>
          <p:nvPr/>
        </p:nvSpPr>
        <p:spPr>
          <a:xfrm>
            <a:off x="8854135" y="2084832"/>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الإكسسوارات الداخلية</a:t>
            </a:r>
            <a:endParaRPr lang="ar-AE" sz="1200" dirty="0"/>
          </a:p>
        </p:txBody>
      </p:sp>
      <p:sp>
        <p:nvSpPr>
          <p:cNvPr id="16" name="Category row 2"/>
          <p:cNvSpPr/>
          <p:nvPr/>
        </p:nvSpPr>
        <p:spPr>
          <a:xfrm>
            <a:off x="5029200" y="2519172"/>
            <a:ext cx="6522415" cy="448056"/>
          </a:xfrm>
          <a:prstGeom prst="roundRect">
            <a:avLst>
              <a:gd name="adj" fmla="val 14286"/>
            </a:avLst>
          </a:prstGeom>
          <a:solidFill>
            <a:schemeClr val="bg2"/>
          </a:solidFill>
          <a:ln/>
        </p:spPr>
      </p:sp>
      <p:pic>
        <p:nvPicPr>
          <p:cNvPr id="17" name="Category icon 2" descr="icon">    </p:cNvPr>
          <p:cNvPicPr>
            <a:picLocks noChangeAspect="1"/>
          </p:cNvPicPr>
          <p:nvPr/>
        </p:nvPicPr>
        <p:blipFill>
          <a:blip r:embed="rId3"/>
          <a:stretch>
            <a:fillRect/>
          </a:stretch>
        </p:blipFill>
        <p:spPr>
          <a:xfrm>
            <a:off x="5166360" y="2601468"/>
            <a:ext cx="283464" cy="283464"/>
          </a:xfrm>
          <a:prstGeom prst="rect">
            <a:avLst/>
          </a:prstGeom>
        </p:spPr>
      </p:pic>
      <p:sp>
        <p:nvSpPr>
          <p:cNvPr id="18" name="Text 13"/>
          <p:cNvSpPr txBox="1"/>
          <p:nvPr/>
        </p:nvSpPr>
        <p:spPr>
          <a:xfrm>
            <a:off x="5623560" y="2592324"/>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Exterior Accessories</a:t>
            </a:r>
            <a:endParaRPr lang="en-US" sz="1200" dirty="0"/>
          </a:p>
        </p:txBody>
      </p:sp>
      <p:sp>
        <p:nvSpPr>
          <p:cNvPr id="19" name="Text 14"/>
          <p:cNvSpPr txBox="1"/>
          <p:nvPr/>
        </p:nvSpPr>
        <p:spPr>
          <a:xfrm>
            <a:off x="8854135" y="2592324"/>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الإكسسوارات الخارجية</a:t>
            </a:r>
            <a:endParaRPr lang="ar-AE" sz="1200" dirty="0"/>
          </a:p>
        </p:txBody>
      </p:sp>
      <p:sp>
        <p:nvSpPr>
          <p:cNvPr id="20" name="Category row 3"/>
          <p:cNvSpPr/>
          <p:nvPr/>
        </p:nvSpPr>
        <p:spPr>
          <a:xfrm>
            <a:off x="5029200" y="3026664"/>
            <a:ext cx="6522415" cy="448056"/>
          </a:xfrm>
          <a:prstGeom prst="roundRect">
            <a:avLst>
              <a:gd name="adj" fmla="val 14286"/>
            </a:avLst>
          </a:prstGeom>
          <a:solidFill>
            <a:schemeClr val="bg2"/>
          </a:solidFill>
          <a:ln/>
        </p:spPr>
      </p:sp>
      <p:pic>
        <p:nvPicPr>
          <p:cNvPr id="21" name="Category icon 3" descr="icon">    </p:cNvPr>
          <p:cNvPicPr>
            <a:picLocks noChangeAspect="1"/>
          </p:cNvPicPr>
          <p:nvPr/>
        </p:nvPicPr>
        <p:blipFill>
          <a:blip r:embed="rId4"/>
          <a:stretch>
            <a:fillRect/>
          </a:stretch>
        </p:blipFill>
        <p:spPr>
          <a:xfrm>
            <a:off x="5166360" y="3108960"/>
            <a:ext cx="283464" cy="283464"/>
          </a:xfrm>
          <a:prstGeom prst="rect">
            <a:avLst/>
          </a:prstGeom>
        </p:spPr>
      </p:pic>
      <p:sp>
        <p:nvSpPr>
          <p:cNvPr id="22" name="Text 16"/>
          <p:cNvSpPr txBox="1"/>
          <p:nvPr/>
        </p:nvSpPr>
        <p:spPr>
          <a:xfrm>
            <a:off x="5623560" y="3099816"/>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Protection &amp; Organization</a:t>
            </a:r>
            <a:endParaRPr lang="en-US" sz="1200" dirty="0"/>
          </a:p>
        </p:txBody>
      </p:sp>
      <p:sp>
        <p:nvSpPr>
          <p:cNvPr id="23" name="Text 17"/>
          <p:cNvSpPr txBox="1"/>
          <p:nvPr/>
        </p:nvSpPr>
        <p:spPr>
          <a:xfrm>
            <a:off x="8854135" y="3099816"/>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الحماية والتنظيم</a:t>
            </a:r>
            <a:endParaRPr lang="ar-AE" sz="1200" dirty="0"/>
          </a:p>
        </p:txBody>
      </p:sp>
      <p:sp>
        <p:nvSpPr>
          <p:cNvPr id="24" name="Category row 4"/>
          <p:cNvSpPr/>
          <p:nvPr/>
        </p:nvSpPr>
        <p:spPr>
          <a:xfrm>
            <a:off x="5029200" y="3534156"/>
            <a:ext cx="6522415" cy="448056"/>
          </a:xfrm>
          <a:prstGeom prst="roundRect">
            <a:avLst>
              <a:gd name="adj" fmla="val 14286"/>
            </a:avLst>
          </a:prstGeom>
          <a:solidFill>
            <a:schemeClr val="bg2"/>
          </a:solidFill>
          <a:ln/>
        </p:spPr>
      </p:sp>
      <p:pic>
        <p:nvPicPr>
          <p:cNvPr id="25" name="Category icon 4" descr="icon">    </p:cNvPr>
          <p:cNvPicPr>
            <a:picLocks noChangeAspect="1"/>
          </p:cNvPicPr>
          <p:nvPr/>
        </p:nvPicPr>
        <p:blipFill>
          <a:blip r:embed="rId5"/>
          <a:stretch>
            <a:fillRect/>
          </a:stretch>
        </p:blipFill>
        <p:spPr>
          <a:xfrm>
            <a:off x="5166360" y="3616452"/>
            <a:ext cx="283464" cy="283464"/>
          </a:xfrm>
          <a:prstGeom prst="rect">
            <a:avLst/>
          </a:prstGeom>
        </p:spPr>
      </p:pic>
      <p:sp>
        <p:nvSpPr>
          <p:cNvPr id="26" name="Text 19"/>
          <p:cNvSpPr txBox="1"/>
          <p:nvPr/>
        </p:nvSpPr>
        <p:spPr>
          <a:xfrm>
            <a:off x="5623560" y="3607308"/>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Sunshades &amp; Heat Protection</a:t>
            </a:r>
            <a:endParaRPr lang="en-US" sz="1200" dirty="0"/>
          </a:p>
        </p:txBody>
      </p:sp>
      <p:sp>
        <p:nvSpPr>
          <p:cNvPr id="27" name="Text 20"/>
          <p:cNvSpPr txBox="1"/>
          <p:nvPr/>
        </p:nvSpPr>
        <p:spPr>
          <a:xfrm>
            <a:off x="8854135" y="3607308"/>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المظلات والعوازل</a:t>
            </a:r>
            <a:endParaRPr lang="ar-AE" sz="1200" dirty="0"/>
          </a:p>
        </p:txBody>
      </p:sp>
      <p:sp>
        <p:nvSpPr>
          <p:cNvPr id="28" name="Category row 5"/>
          <p:cNvSpPr/>
          <p:nvPr/>
        </p:nvSpPr>
        <p:spPr>
          <a:xfrm>
            <a:off x="5029200" y="4041648"/>
            <a:ext cx="6522415" cy="448056"/>
          </a:xfrm>
          <a:prstGeom prst="roundRect">
            <a:avLst>
              <a:gd name="adj" fmla="val 14286"/>
            </a:avLst>
          </a:prstGeom>
          <a:solidFill>
            <a:schemeClr val="bg2"/>
          </a:solidFill>
          <a:ln/>
        </p:spPr>
      </p:sp>
      <p:pic>
        <p:nvPicPr>
          <p:cNvPr id="29" name="Category icon 5" descr="icon">    </p:cNvPr>
          <p:cNvPicPr>
            <a:picLocks noChangeAspect="1"/>
          </p:cNvPicPr>
          <p:nvPr/>
        </p:nvPicPr>
        <p:blipFill>
          <a:blip r:embed="rId6"/>
          <a:stretch>
            <a:fillRect/>
          </a:stretch>
        </p:blipFill>
        <p:spPr>
          <a:xfrm>
            <a:off x="5166360" y="4123944"/>
            <a:ext cx="283464" cy="283464"/>
          </a:xfrm>
          <a:prstGeom prst="rect">
            <a:avLst/>
          </a:prstGeom>
        </p:spPr>
      </p:pic>
      <p:sp>
        <p:nvSpPr>
          <p:cNvPr id="30" name="Text 22"/>
          <p:cNvSpPr txBox="1"/>
          <p:nvPr/>
        </p:nvSpPr>
        <p:spPr>
          <a:xfrm>
            <a:off x="5623560" y="4114800"/>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Floor Mats &amp; Interior Protection</a:t>
            </a:r>
            <a:endParaRPr lang="en-US" sz="1200" dirty="0"/>
          </a:p>
        </p:txBody>
      </p:sp>
      <p:sp>
        <p:nvSpPr>
          <p:cNvPr id="31" name="Text 23"/>
          <p:cNvSpPr txBox="1"/>
          <p:nvPr/>
        </p:nvSpPr>
        <p:spPr>
          <a:xfrm>
            <a:off x="8854135" y="4114800"/>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الفرش والأرضيات</a:t>
            </a:r>
            <a:endParaRPr lang="ar-AE" sz="1200" dirty="0"/>
          </a:p>
        </p:txBody>
      </p:sp>
      <p:sp>
        <p:nvSpPr>
          <p:cNvPr id="32" name="Category row 6"/>
          <p:cNvSpPr/>
          <p:nvPr/>
        </p:nvSpPr>
        <p:spPr>
          <a:xfrm>
            <a:off x="5029200" y="4549140"/>
            <a:ext cx="6522415" cy="448056"/>
          </a:xfrm>
          <a:prstGeom prst="roundRect">
            <a:avLst>
              <a:gd name="adj" fmla="val 14286"/>
            </a:avLst>
          </a:prstGeom>
          <a:solidFill>
            <a:schemeClr val="bg2"/>
          </a:solidFill>
          <a:ln/>
        </p:spPr>
      </p:sp>
      <p:pic>
        <p:nvPicPr>
          <p:cNvPr id="33" name="Category icon 6" descr="icon">    </p:cNvPr>
          <p:cNvPicPr>
            <a:picLocks noChangeAspect="1"/>
          </p:cNvPicPr>
          <p:nvPr/>
        </p:nvPicPr>
        <p:blipFill>
          <a:blip r:embed="rId7"/>
          <a:stretch>
            <a:fillRect/>
          </a:stretch>
        </p:blipFill>
        <p:spPr>
          <a:xfrm>
            <a:off x="5166360" y="4631436"/>
            <a:ext cx="283464" cy="283464"/>
          </a:xfrm>
          <a:prstGeom prst="rect">
            <a:avLst/>
          </a:prstGeom>
        </p:spPr>
      </p:pic>
      <p:sp>
        <p:nvSpPr>
          <p:cNvPr id="34" name="Text 25"/>
          <p:cNvSpPr txBox="1"/>
          <p:nvPr/>
        </p:nvSpPr>
        <p:spPr>
          <a:xfrm>
            <a:off x="5623560" y="4622292"/>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Wheel Covers &amp; Exterior Enhancements</a:t>
            </a:r>
            <a:endParaRPr lang="en-US" sz="1200" dirty="0"/>
          </a:p>
        </p:txBody>
      </p:sp>
      <p:sp>
        <p:nvSpPr>
          <p:cNvPr id="35" name="Text 26"/>
          <p:cNvSpPr txBox="1"/>
          <p:nvPr/>
        </p:nvSpPr>
        <p:spPr>
          <a:xfrm>
            <a:off x="8854135" y="4622292"/>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أغطية العجلات والإضافات الخارجية</a:t>
            </a:r>
            <a:endParaRPr lang="ar-AE" sz="1200" dirty="0"/>
          </a:p>
        </p:txBody>
      </p:sp>
      <p:sp>
        <p:nvSpPr>
          <p:cNvPr id="36" name="Category row 7"/>
          <p:cNvSpPr/>
          <p:nvPr/>
        </p:nvSpPr>
        <p:spPr>
          <a:xfrm>
            <a:off x="5029200" y="5056632"/>
            <a:ext cx="6522415" cy="448056"/>
          </a:xfrm>
          <a:prstGeom prst="roundRect">
            <a:avLst>
              <a:gd name="adj" fmla="val 14286"/>
            </a:avLst>
          </a:prstGeom>
          <a:solidFill>
            <a:schemeClr val="bg2"/>
          </a:solidFill>
          <a:ln/>
        </p:spPr>
      </p:sp>
      <p:pic>
        <p:nvPicPr>
          <p:cNvPr id="37" name="Category icon 7" descr="icon">    </p:cNvPr>
          <p:cNvPicPr>
            <a:picLocks noChangeAspect="1"/>
          </p:cNvPicPr>
          <p:nvPr/>
        </p:nvPicPr>
        <p:blipFill>
          <a:blip r:embed="rId8"/>
          <a:stretch>
            <a:fillRect/>
          </a:stretch>
        </p:blipFill>
        <p:spPr>
          <a:xfrm>
            <a:off x="5166360" y="5138928"/>
            <a:ext cx="283464" cy="283464"/>
          </a:xfrm>
          <a:prstGeom prst="rect">
            <a:avLst/>
          </a:prstGeom>
        </p:spPr>
      </p:pic>
      <p:sp>
        <p:nvSpPr>
          <p:cNvPr id="38" name="Text 28"/>
          <p:cNvSpPr txBox="1"/>
          <p:nvPr/>
        </p:nvSpPr>
        <p:spPr>
          <a:xfrm>
            <a:off x="5623560" y="5129784"/>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Cabin Air Filters</a:t>
            </a:r>
            <a:endParaRPr lang="en-US" sz="1200" dirty="0"/>
          </a:p>
        </p:txBody>
      </p:sp>
      <p:sp>
        <p:nvSpPr>
          <p:cNvPr id="39" name="Text 29"/>
          <p:cNvSpPr txBox="1"/>
          <p:nvPr/>
        </p:nvSpPr>
        <p:spPr>
          <a:xfrm>
            <a:off x="8854135" y="5129784"/>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فلاتر المقصورة</a:t>
            </a:r>
            <a:endParaRPr lang="ar-AE" sz="1200" dirty="0"/>
          </a:p>
        </p:txBody>
      </p:sp>
      <p:sp>
        <p:nvSpPr>
          <p:cNvPr id="40" name="Category row 8"/>
          <p:cNvSpPr/>
          <p:nvPr/>
        </p:nvSpPr>
        <p:spPr>
          <a:xfrm>
            <a:off x="5029200" y="5564124"/>
            <a:ext cx="6522415" cy="448056"/>
          </a:xfrm>
          <a:prstGeom prst="roundRect">
            <a:avLst>
              <a:gd name="adj" fmla="val 14286"/>
            </a:avLst>
          </a:prstGeom>
          <a:solidFill>
            <a:schemeClr val="bg2"/>
          </a:solidFill>
          <a:ln/>
        </p:spPr>
      </p:sp>
      <p:pic>
        <p:nvPicPr>
          <p:cNvPr id="41" name="Category icon 8" descr="icon">    </p:cNvPr>
          <p:cNvPicPr>
            <a:picLocks noChangeAspect="1"/>
          </p:cNvPicPr>
          <p:nvPr/>
        </p:nvPicPr>
        <p:blipFill>
          <a:blip r:embed="rId9"/>
          <a:stretch>
            <a:fillRect/>
          </a:stretch>
        </p:blipFill>
        <p:spPr>
          <a:xfrm>
            <a:off x="5166360" y="5646420"/>
            <a:ext cx="283464" cy="283464"/>
          </a:xfrm>
          <a:prstGeom prst="rect">
            <a:avLst/>
          </a:prstGeom>
        </p:spPr>
      </p:pic>
      <p:sp>
        <p:nvSpPr>
          <p:cNvPr id="42" name="Text 31"/>
          <p:cNvSpPr txBox="1"/>
          <p:nvPr/>
        </p:nvSpPr>
        <p:spPr>
          <a:xfrm>
            <a:off x="5623560" y="5637276"/>
            <a:ext cx="3246120" cy="301752"/>
          </a:xfrm>
          <a:prstGeom prst="rect">
            <a:avLst/>
          </a:prstGeom>
          <a:noFill/>
          <a:ln/>
        </p:spPr>
        <p:txBody>
          <a:bodyPr wrap="square" lIns="0" tIns="0" rIns="0" bIns="0" rtlCol="0" anchor="ctr"/>
          <a:lstStyle/>
          <a:p>
            <a:pPr algn="l" indent="0" marL="0">
              <a:buNone/>
            </a:pPr>
            <a:r>
              <a:rPr lang="en-US" sz="1200" b="1" dirty="0">
                <a:solidFill>
                  <a:schemeClr val="tx1"/>
                </a:solidFill>
                <a:latin typeface="IBM Plex Sans Arabic" pitchFamily="34" charset="0"/>
                <a:ea typeface="IBM Plex Sans Arabic" pitchFamily="34" charset="-122"/>
                <a:cs typeface="IBM Plex Sans Arabic" pitchFamily="34" charset="-120"/>
              </a:rPr>
              <a:t>Smart &amp; Functional Accessories</a:t>
            </a:r>
            <a:endParaRPr lang="en-US" sz="1200" dirty="0"/>
          </a:p>
        </p:txBody>
      </p:sp>
      <p:sp>
        <p:nvSpPr>
          <p:cNvPr id="43" name="Text 32"/>
          <p:cNvSpPr txBox="1"/>
          <p:nvPr/>
        </p:nvSpPr>
        <p:spPr>
          <a:xfrm>
            <a:off x="8854135" y="5637276"/>
            <a:ext cx="2514600" cy="301752"/>
          </a:xfrm>
          <a:prstGeom prst="rect">
            <a:avLst/>
          </a:prstGeom>
          <a:noFill/>
          <a:ln/>
        </p:spPr>
        <p:txBody>
          <a:bodyPr wrap="square" lIns="0" tIns="0" rIns="0" bIns="0" rtlCol="0" anchor="ctr"/>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المنتجات الذكية والعملية</a:t>
            </a:r>
            <a:endParaRPr lang="ar-AE" sz="1200" dirty="0"/>
          </a:p>
        </p:txBody>
      </p:sp>
      <p:sp>
        <p:nvSpPr>
          <p:cNvPr id="4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endParaRPr lang="en-US" sz="3000" dirty="0"/>
          </a:p>
        </p:txBody>
      </p:sp>
      <p:sp>
        <p:nvSpPr>
          <p:cNvPr id="4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algn="r" indent="0" marL="0">
              <a:buNone/>
            </a:pPr>
            <a:endParaRPr lang="en-US" sz="3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EV Charging Solutions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حلول الشحن</a:t>
            </a:r>
            <a:endParaRPr lang="ar-AE" sz="3000" dirty="0"/>
          </a:p>
        </p:txBody>
      </p:sp>
      <p:pic>
        <p:nvPicPr>
          <p:cNvPr id="6" name="Charger" descr="EV wall charger illustration">    </p:cNvPr>
          <p:cNvPicPr>
            <a:picLocks noChangeAspect="1"/>
          </p:cNvPicPr>
          <p:nvPr/>
        </p:nvPicPr>
        <p:blipFill>
          <a:blip r:embed="rId1"/>
          <a:srcRect l="0" r="0" t="0" b="0"/>
          <a:stretch/>
        </p:blipFill>
        <p:spPr>
          <a:xfrm>
            <a:off x="548640" y="1417320"/>
            <a:ext cx="4069080" cy="4575454"/>
          </a:xfrm>
          <a:prstGeom prst="rect">
            <a:avLst/>
          </a:prstGeom>
        </p:spPr>
      </p:pic>
      <p:sp>
        <p:nvSpPr>
          <p:cNvPr id="7" name="Charging icon 1 circle"/>
          <p:cNvSpPr/>
          <p:nvPr/>
        </p:nvSpPr>
        <p:spPr>
          <a:xfrm>
            <a:off x="4846320" y="1691640"/>
            <a:ext cx="566928" cy="566928"/>
          </a:xfrm>
          <a:prstGeom prst="ellipse">
            <a:avLst/>
          </a:prstGeom>
          <a:solidFill>
            <a:schemeClr val="bg1">
              <a:alpha val="10000"/>
            </a:schemeClr>
          </a:solidFill>
          <a:ln/>
        </p:spPr>
      </p:sp>
      <p:pic>
        <p:nvPicPr>
          <p:cNvPr id="8" name="Charging icon 1" descr="icon">    </p:cNvPr>
          <p:cNvPicPr>
            <a:picLocks noChangeAspect="1"/>
          </p:cNvPicPr>
          <p:nvPr/>
        </p:nvPicPr>
        <p:blipFill>
          <a:blip r:embed="rId2"/>
          <a:stretch>
            <a:fillRect/>
          </a:stretch>
        </p:blipFill>
        <p:spPr>
          <a:xfrm>
            <a:off x="4982383" y="1827703"/>
            <a:ext cx="294803" cy="294803"/>
          </a:xfrm>
          <a:prstGeom prst="rect">
            <a:avLst/>
          </a:prstGeom>
        </p:spPr>
      </p:pic>
      <p:sp>
        <p:nvSpPr>
          <p:cNvPr id="9" name="Text 5"/>
          <p:cNvSpPr txBox="1"/>
          <p:nvPr/>
        </p:nvSpPr>
        <p:spPr>
          <a:xfrm>
            <a:off x="5623560" y="1673352"/>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Matched to your vehicle</a:t>
            </a:r>
            <a:endParaRPr lang="en-US" sz="1400" dirty="0"/>
          </a:p>
        </p:txBody>
      </p:sp>
      <p:sp>
        <p:nvSpPr>
          <p:cNvPr id="10" name="Text 6"/>
          <p:cNvSpPr txBox="1"/>
          <p:nvPr/>
        </p:nvSpPr>
        <p:spPr>
          <a:xfrm>
            <a:off x="8641080" y="1673352"/>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حلول مناسبة لمركبتك</a:t>
            </a:r>
            <a:endParaRPr lang="ar-AE" sz="1400" dirty="0"/>
          </a:p>
        </p:txBody>
      </p:sp>
      <p:sp>
        <p:nvSpPr>
          <p:cNvPr id="11" name="Text 7"/>
          <p:cNvSpPr txBox="1"/>
          <p:nvPr/>
        </p:nvSpPr>
        <p:spPr>
          <a:xfrm>
            <a:off x="5623560" y="2039112"/>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We help customers choose the right charging solution based on vehicle compatibility, usage and technical specifications.</a:t>
            </a:r>
            <a:endParaRPr lang="en-US" sz="1150" dirty="0"/>
          </a:p>
        </p:txBody>
      </p:sp>
      <p:sp>
        <p:nvSpPr>
          <p:cNvPr id="12" name="Text 8"/>
          <p:cNvSpPr txBox="1"/>
          <p:nvPr/>
        </p:nvSpPr>
        <p:spPr>
          <a:xfrm>
            <a:off x="8641080" y="2039112"/>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نساعد العملاء في اختيار حلول الشحن المناسبة بناءً على نوع المركبة ومتطلبات الاستخدام والمواصفات الفنية.</a:t>
            </a:r>
            <a:endParaRPr lang="ar-AE" sz="1150" dirty="0"/>
          </a:p>
        </p:txBody>
      </p:sp>
      <p:sp>
        <p:nvSpPr>
          <p:cNvPr id="13" name="Charging icon 2 circle"/>
          <p:cNvSpPr/>
          <p:nvPr/>
        </p:nvSpPr>
        <p:spPr>
          <a:xfrm>
            <a:off x="4846320" y="3172968"/>
            <a:ext cx="566928" cy="566928"/>
          </a:xfrm>
          <a:prstGeom prst="ellipse">
            <a:avLst/>
          </a:prstGeom>
          <a:solidFill>
            <a:schemeClr val="bg1">
              <a:alpha val="10000"/>
            </a:schemeClr>
          </a:solidFill>
          <a:ln/>
        </p:spPr>
      </p:sp>
      <p:pic>
        <p:nvPicPr>
          <p:cNvPr id="14" name="Charging icon 2" descr="icon">    </p:cNvPr>
          <p:cNvPicPr>
            <a:picLocks noChangeAspect="1"/>
          </p:cNvPicPr>
          <p:nvPr/>
        </p:nvPicPr>
        <p:blipFill>
          <a:blip r:embed="rId3"/>
          <a:stretch>
            <a:fillRect/>
          </a:stretch>
        </p:blipFill>
        <p:spPr>
          <a:xfrm>
            <a:off x="4982383" y="3309031"/>
            <a:ext cx="294803" cy="294803"/>
          </a:xfrm>
          <a:prstGeom prst="rect">
            <a:avLst/>
          </a:prstGeom>
        </p:spPr>
      </p:pic>
      <p:sp>
        <p:nvSpPr>
          <p:cNvPr id="15" name="Text 10"/>
          <p:cNvSpPr txBox="1"/>
          <p:nvPr/>
        </p:nvSpPr>
        <p:spPr>
          <a:xfrm>
            <a:off x="5623560" y="3154680"/>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Professional installation</a:t>
            </a:r>
            <a:endParaRPr lang="en-US" sz="1400" dirty="0"/>
          </a:p>
        </p:txBody>
      </p:sp>
      <p:sp>
        <p:nvSpPr>
          <p:cNvPr id="16" name="Text 11"/>
          <p:cNvSpPr txBox="1"/>
          <p:nvPr/>
        </p:nvSpPr>
        <p:spPr>
          <a:xfrm>
            <a:off x="8641080" y="3154680"/>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تركيب احترافي</a:t>
            </a:r>
            <a:endParaRPr lang="ar-AE" sz="1400" dirty="0"/>
          </a:p>
        </p:txBody>
      </p:sp>
      <p:sp>
        <p:nvSpPr>
          <p:cNvPr id="17" name="Text 12"/>
          <p:cNvSpPr txBox="1"/>
          <p:nvPr/>
        </p:nvSpPr>
        <p:spPr>
          <a:xfrm>
            <a:off x="5623560" y="3520440"/>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A dedicated technical team installs chargers and adapters for homes, workplaces and other suitable locations.</a:t>
            </a:r>
            <a:endParaRPr lang="en-US" sz="1150" dirty="0"/>
          </a:p>
        </p:txBody>
      </p:sp>
      <p:sp>
        <p:nvSpPr>
          <p:cNvPr id="18" name="Text 13"/>
          <p:cNvSpPr txBox="1"/>
          <p:nvPr/>
        </p:nvSpPr>
        <p:spPr>
          <a:xfrm>
            <a:off x="8641080" y="3520440"/>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فريق فني متخصص يتولى تركيب الشواحن والمحولات للمنازل ومواقع العمل وغيرها من المواقع المناسبة.</a:t>
            </a:r>
            <a:endParaRPr lang="ar-AE" sz="1150" dirty="0"/>
          </a:p>
        </p:txBody>
      </p:sp>
      <p:sp>
        <p:nvSpPr>
          <p:cNvPr id="19" name="Charging icon 3 circle"/>
          <p:cNvSpPr/>
          <p:nvPr/>
        </p:nvSpPr>
        <p:spPr>
          <a:xfrm>
            <a:off x="4846320" y="4654296"/>
            <a:ext cx="566928" cy="566928"/>
          </a:xfrm>
          <a:prstGeom prst="ellipse">
            <a:avLst/>
          </a:prstGeom>
          <a:solidFill>
            <a:schemeClr val="bg1">
              <a:alpha val="10000"/>
            </a:schemeClr>
          </a:solidFill>
          <a:ln/>
        </p:spPr>
      </p:sp>
      <p:pic>
        <p:nvPicPr>
          <p:cNvPr id="20" name="Charging icon 3" descr="icon">    </p:cNvPr>
          <p:cNvPicPr>
            <a:picLocks noChangeAspect="1"/>
          </p:cNvPicPr>
          <p:nvPr/>
        </p:nvPicPr>
        <p:blipFill>
          <a:blip r:embed="rId4"/>
          <a:stretch>
            <a:fillRect/>
          </a:stretch>
        </p:blipFill>
        <p:spPr>
          <a:xfrm>
            <a:off x="4982383" y="4790359"/>
            <a:ext cx="294803" cy="294803"/>
          </a:xfrm>
          <a:prstGeom prst="rect">
            <a:avLst/>
          </a:prstGeom>
        </p:spPr>
      </p:pic>
      <p:sp>
        <p:nvSpPr>
          <p:cNvPr id="21" name="Text 15"/>
          <p:cNvSpPr txBox="1"/>
          <p:nvPr/>
        </p:nvSpPr>
        <p:spPr>
          <a:xfrm>
            <a:off x="5623560" y="4636008"/>
            <a:ext cx="2926080" cy="274320"/>
          </a:xfrm>
          <a:prstGeom prst="rect">
            <a:avLst/>
          </a:prstGeom>
          <a:noFill/>
          <a:ln/>
        </p:spPr>
        <p:txBody>
          <a:bodyPr wrap="square" lIns="0" tIns="0" rIns="0" bIns="0" rtlCol="0" anchor="t"/>
          <a:lstStyle/>
          <a:p>
            <a:pPr algn="l" indent="0" marL="0">
              <a:buNone/>
            </a:pPr>
            <a:r>
              <a:rPr lang="en-US" sz="1400" b="1" dirty="0">
                <a:solidFill>
                  <a:schemeClr val="bg1"/>
                </a:solidFill>
                <a:latin typeface="IBM Plex Sans Arabic" pitchFamily="34" charset="0"/>
                <a:ea typeface="IBM Plex Sans Arabic" pitchFamily="34" charset="-122"/>
                <a:cs typeface="IBM Plex Sans Arabic" pitchFamily="34" charset="-120"/>
              </a:rPr>
              <a:t>Warranty-backed service</a:t>
            </a:r>
            <a:endParaRPr lang="en-US" sz="1400" dirty="0"/>
          </a:p>
        </p:txBody>
      </p:sp>
      <p:sp>
        <p:nvSpPr>
          <p:cNvPr id="22" name="Text 16"/>
          <p:cNvSpPr txBox="1"/>
          <p:nvPr/>
        </p:nvSpPr>
        <p:spPr>
          <a:xfrm>
            <a:off x="8641080" y="4636008"/>
            <a:ext cx="2910535" cy="274320"/>
          </a:xfrm>
          <a:prstGeom prst="rect">
            <a:avLst/>
          </a:prstGeom>
          <a:noFill/>
          <a:ln/>
        </p:spPr>
        <p:txBody>
          <a:bodyPr wrap="square" lIns="0" tIns="0" rIns="0" bIns="0" rtlCol="0" anchor="t"/>
          <a:lstStyle/>
          <a:p>
            <a:pPr rtl="1" algn="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خدمة مدعومة بالضمان</a:t>
            </a:r>
            <a:endParaRPr lang="ar-AE" sz="1400" dirty="0"/>
          </a:p>
        </p:txBody>
      </p:sp>
      <p:sp>
        <p:nvSpPr>
          <p:cNvPr id="23" name="Text 17"/>
          <p:cNvSpPr txBox="1"/>
          <p:nvPr/>
        </p:nvSpPr>
        <p:spPr>
          <a:xfrm>
            <a:off x="5623560" y="5001768"/>
            <a:ext cx="2926080" cy="914400"/>
          </a:xfrm>
          <a:prstGeom prst="rect">
            <a:avLst/>
          </a:prstGeom>
          <a:noFill/>
          <a:ln/>
        </p:spPr>
        <p:txBody>
          <a:bodyPr wrap="square" lIns="0" tIns="0" rIns="0" bIns="0" rtlCol="0" anchor="t"/>
          <a:lstStyle/>
          <a:p>
            <a:pPr algn="l" indent="0" marL="0">
              <a:buNone/>
            </a:pPr>
            <a:r>
              <a:rPr lang="en-US" sz="1150" dirty="0">
                <a:solidFill>
                  <a:schemeClr val="accent5"/>
                </a:solidFill>
                <a:latin typeface="IBM Plex Sans Arabic" pitchFamily="34" charset="0"/>
                <a:ea typeface="IBM Plex Sans Arabic" pitchFamily="34" charset="-122"/>
                <a:cs typeface="IBM Plex Sans Arabic" pitchFamily="34" charset="-120"/>
              </a:rPr>
              <a:t>Installation services come with a warranty, subject to the applicable terms and conditions.</a:t>
            </a:r>
            <a:endParaRPr lang="en-US" sz="1150" dirty="0"/>
          </a:p>
        </p:txBody>
      </p:sp>
      <p:sp>
        <p:nvSpPr>
          <p:cNvPr id="24" name="Text 18"/>
          <p:cNvSpPr txBox="1"/>
          <p:nvPr/>
        </p:nvSpPr>
        <p:spPr>
          <a:xfrm>
            <a:off x="8641080" y="5001768"/>
            <a:ext cx="2910535" cy="914400"/>
          </a:xfrm>
          <a:prstGeom prst="rect">
            <a:avLst/>
          </a:prstGeom>
          <a:noFill/>
          <a:ln/>
        </p:spPr>
        <p:txBody>
          <a:bodyPr wrap="square" lIns="0" tIns="0" rIns="0" bIns="0" rtlCol="0" anchor="t"/>
          <a:lstStyle/>
          <a:p>
            <a:pPr rtl="1" algn="r" indent="0" marL="0">
              <a:buNone/>
            </a:pPr>
            <a:r>
              <a:rPr lang="ar-AE" altLang="en-US" sz="1150" dirty="0">
                <a:solidFill>
                  <a:schemeClr val="accent5"/>
                </a:solidFill>
                <a:latin typeface="IBM Plex Sans Arabic" pitchFamily="34" charset="0"/>
                <a:ea typeface="IBM Plex Sans Arabic" pitchFamily="34" charset="-122"/>
                <a:cs typeface="IBM Plex Sans Arabic" pitchFamily="34" charset="-120"/>
              </a:rPr>
              <a:t>نوفر ضماناً على خدمات التركيب وفقاً للشروط المعتمدة.</a:t>
            </a:r>
            <a:endParaRPr lang="ar-AE" sz="11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02   ·   WHAT WE DO</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ماذا نقدم   ·   02</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Technical Services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خدماتنا الفنية</a:t>
            </a:r>
            <a:endParaRPr lang="ar-AE" sz="3000" dirty="0"/>
          </a:p>
        </p:txBody>
      </p:sp>
      <p:sp>
        <p:nvSpPr>
          <p:cNvPr id="6" name="Service card 1"/>
          <p:cNvSpPr/>
          <p:nvPr/>
        </p:nvSpPr>
        <p:spPr>
          <a:xfrm>
            <a:off x="64008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7" name="Service icon 1 circle"/>
          <p:cNvSpPr/>
          <p:nvPr/>
        </p:nvSpPr>
        <p:spPr>
          <a:xfrm>
            <a:off x="960120" y="2011680"/>
            <a:ext cx="822960" cy="822960"/>
          </a:xfrm>
          <a:prstGeom prst="ellipse">
            <a:avLst/>
          </a:prstGeom>
          <a:solidFill>
            <a:schemeClr val="accent6"/>
          </a:solidFill>
          <a:ln/>
        </p:spPr>
      </p:sp>
      <p:pic>
        <p:nvPicPr>
          <p:cNvPr id="8" name="Service icon 1" descr="icon">    </p:cNvPr>
          <p:cNvPicPr>
            <a:picLocks noChangeAspect="1"/>
          </p:cNvPicPr>
          <p:nvPr/>
        </p:nvPicPr>
        <p:blipFill>
          <a:blip r:embed="rId1"/>
          <a:stretch>
            <a:fillRect/>
          </a:stretch>
        </p:blipFill>
        <p:spPr>
          <a:xfrm>
            <a:off x="1157630" y="2209190"/>
            <a:ext cx="427939" cy="427939"/>
          </a:xfrm>
          <a:prstGeom prst="rect">
            <a:avLst/>
          </a:prstGeom>
        </p:spPr>
      </p:pic>
      <p:sp>
        <p:nvSpPr>
          <p:cNvPr id="9" name="Text 6"/>
          <p:cNvSpPr txBox="1"/>
          <p:nvPr/>
        </p:nvSpPr>
        <p:spPr>
          <a:xfrm>
            <a:off x="96012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Charger Installation</a:t>
            </a:r>
            <a:endParaRPr lang="en-US" sz="1700" dirty="0"/>
          </a:p>
        </p:txBody>
      </p:sp>
      <p:sp>
        <p:nvSpPr>
          <p:cNvPr id="10" name="Text 7"/>
          <p:cNvSpPr txBox="1"/>
          <p:nvPr/>
        </p:nvSpPr>
        <p:spPr>
          <a:xfrm>
            <a:off x="96012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تركيب الشواحن</a:t>
            </a:r>
            <a:endParaRPr lang="ar-AE" sz="1500" dirty="0"/>
          </a:p>
        </p:txBody>
      </p:sp>
      <p:sp>
        <p:nvSpPr>
          <p:cNvPr id="11" name="Text 8"/>
          <p:cNvSpPr txBox="1"/>
          <p:nvPr/>
        </p:nvSpPr>
        <p:spPr>
          <a:xfrm>
            <a:off x="96012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Carried out by EVCARS’ dedicated technical team after assessing the installation requirements.</a:t>
            </a:r>
            <a:endParaRPr lang="en-US" sz="1200" dirty="0"/>
          </a:p>
        </p:txBody>
      </p:sp>
      <p:sp>
        <p:nvSpPr>
          <p:cNvPr id="12" name="Text 9"/>
          <p:cNvSpPr txBox="1"/>
          <p:nvPr/>
        </p:nvSpPr>
        <p:spPr>
          <a:xfrm>
            <a:off x="96012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يتولاها فريق فني متخصص تابع للشركة بعد تقييم متطلبات التركيب.</a:t>
            </a:r>
            <a:endParaRPr lang="ar-AE" sz="1200" dirty="0"/>
          </a:p>
        </p:txBody>
      </p:sp>
      <p:sp>
        <p:nvSpPr>
          <p:cNvPr id="13" name="hairline"/>
          <p:cNvSpPr/>
          <p:nvPr/>
        </p:nvSpPr>
        <p:spPr>
          <a:xfrm>
            <a:off x="960120" y="5532120"/>
            <a:ext cx="2816352" cy="0"/>
          </a:xfrm>
          <a:prstGeom prst="line">
            <a:avLst/>
          </a:prstGeom>
          <a:noFill/>
          <a:ln w="9525">
            <a:solidFill>
              <a:schemeClr val="accent5"/>
            </a:solidFill>
            <a:prstDash val="solid"/>
          </a:ln>
        </p:spPr>
      </p:sp>
      <p:sp>
        <p:nvSpPr>
          <p:cNvPr id="14" name="Text 11"/>
          <p:cNvSpPr txBox="1"/>
          <p:nvPr/>
        </p:nvSpPr>
        <p:spPr>
          <a:xfrm>
            <a:off x="96012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Warranty on installation  ·  ضمان على التركيب</a:t>
            </a:r>
            <a:endParaRPr lang="en-US" sz="1000" dirty="0"/>
          </a:p>
        </p:txBody>
      </p:sp>
      <p:sp>
        <p:nvSpPr>
          <p:cNvPr id="15" name="Service card 2"/>
          <p:cNvSpPr/>
          <p:nvPr/>
        </p:nvSpPr>
        <p:spPr>
          <a:xfrm>
            <a:off x="436626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16" name="Service icon 2 circle"/>
          <p:cNvSpPr/>
          <p:nvPr/>
        </p:nvSpPr>
        <p:spPr>
          <a:xfrm>
            <a:off x="4686300" y="2011680"/>
            <a:ext cx="822960" cy="822960"/>
          </a:xfrm>
          <a:prstGeom prst="ellipse">
            <a:avLst/>
          </a:prstGeom>
          <a:solidFill>
            <a:schemeClr val="accent6"/>
          </a:solidFill>
          <a:ln/>
        </p:spPr>
      </p:sp>
      <p:pic>
        <p:nvPicPr>
          <p:cNvPr id="17" name="Service icon 2" descr="icon">    </p:cNvPr>
          <p:cNvPicPr>
            <a:picLocks noChangeAspect="1"/>
          </p:cNvPicPr>
          <p:nvPr/>
        </p:nvPicPr>
        <p:blipFill>
          <a:blip r:embed="rId2"/>
          <a:stretch>
            <a:fillRect/>
          </a:stretch>
        </p:blipFill>
        <p:spPr>
          <a:xfrm>
            <a:off x="4883810" y="2209190"/>
            <a:ext cx="427939" cy="427939"/>
          </a:xfrm>
          <a:prstGeom prst="rect">
            <a:avLst/>
          </a:prstGeom>
        </p:spPr>
      </p:pic>
      <p:sp>
        <p:nvSpPr>
          <p:cNvPr id="18" name="Text 14"/>
          <p:cNvSpPr txBox="1"/>
          <p:nvPr/>
        </p:nvSpPr>
        <p:spPr>
          <a:xfrm>
            <a:off x="468630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Accessory Installation</a:t>
            </a:r>
            <a:endParaRPr lang="en-US" sz="1700" dirty="0"/>
          </a:p>
        </p:txBody>
      </p:sp>
      <p:sp>
        <p:nvSpPr>
          <p:cNvPr id="19" name="Text 15"/>
          <p:cNvSpPr txBox="1"/>
          <p:nvPr/>
        </p:nvSpPr>
        <p:spPr>
          <a:xfrm>
            <a:off x="468630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تركيب الإكسسوارات</a:t>
            </a:r>
            <a:endParaRPr lang="ar-AE" sz="1500" dirty="0"/>
          </a:p>
        </p:txBody>
      </p:sp>
      <p:sp>
        <p:nvSpPr>
          <p:cNvPr id="20" name="Text 16"/>
          <p:cNvSpPr txBox="1"/>
          <p:nvPr/>
        </p:nvSpPr>
        <p:spPr>
          <a:xfrm>
            <a:off x="468630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Complimentary in-branch installation for eligible accessories purchased from EVCARS.</a:t>
            </a:r>
            <a:endParaRPr lang="en-US" sz="1200" dirty="0"/>
          </a:p>
        </p:txBody>
      </p:sp>
      <p:sp>
        <p:nvSpPr>
          <p:cNvPr id="21" name="Text 17"/>
          <p:cNvSpPr txBox="1"/>
          <p:nvPr/>
        </p:nvSpPr>
        <p:spPr>
          <a:xfrm>
            <a:off x="468630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تركيب مجاني داخل الفروع للإكسسوارات المؤهلة التي يتم شراؤها من الشركة.</a:t>
            </a:r>
            <a:endParaRPr lang="ar-AE" sz="1200" dirty="0"/>
          </a:p>
        </p:txBody>
      </p:sp>
      <p:sp>
        <p:nvSpPr>
          <p:cNvPr id="22" name="hairline"/>
          <p:cNvSpPr/>
          <p:nvPr/>
        </p:nvSpPr>
        <p:spPr>
          <a:xfrm>
            <a:off x="4686300" y="5532120"/>
            <a:ext cx="2816352" cy="0"/>
          </a:xfrm>
          <a:prstGeom prst="line">
            <a:avLst/>
          </a:prstGeom>
          <a:noFill/>
          <a:ln w="9525">
            <a:solidFill>
              <a:schemeClr val="accent5"/>
            </a:solidFill>
            <a:prstDash val="solid"/>
          </a:ln>
        </p:spPr>
      </p:sp>
      <p:sp>
        <p:nvSpPr>
          <p:cNvPr id="23" name="Text 19"/>
          <p:cNvSpPr txBox="1"/>
          <p:nvPr/>
        </p:nvSpPr>
        <p:spPr>
          <a:xfrm>
            <a:off x="468630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UAE &amp; Oman branches  ·  فروع الإمارات وعُمان</a:t>
            </a:r>
            <a:endParaRPr lang="en-US" sz="1000" dirty="0"/>
          </a:p>
        </p:txBody>
      </p:sp>
      <p:sp>
        <p:nvSpPr>
          <p:cNvPr id="24" name="Service card 3"/>
          <p:cNvSpPr/>
          <p:nvPr/>
        </p:nvSpPr>
        <p:spPr>
          <a:xfrm>
            <a:off x="8092440" y="1691640"/>
            <a:ext cx="3456432" cy="4389120"/>
          </a:xfrm>
          <a:prstGeom prst="roundRect">
            <a:avLst>
              <a:gd name="adj" fmla="val 2646"/>
            </a:avLst>
          </a:prstGeom>
          <a:solidFill>
            <a:schemeClr val="bg1"/>
          </a:solidFill>
          <a:ln/>
          <a:effectLst>
            <a:outerShdw sx="100000" sy="100000" kx="0" ky="0" algn="bl" rotWithShape="0" blurRad="177800" dist="38100" dir="5400000">
              <a:srgbClr val="0B0D10">
                <a:alpha val="10000"/>
              </a:srgbClr>
            </a:outerShdw>
          </a:effectLst>
        </p:spPr>
      </p:sp>
      <p:sp>
        <p:nvSpPr>
          <p:cNvPr id="25" name="Service icon 3 circle"/>
          <p:cNvSpPr/>
          <p:nvPr/>
        </p:nvSpPr>
        <p:spPr>
          <a:xfrm>
            <a:off x="8412480" y="2011680"/>
            <a:ext cx="822960" cy="822960"/>
          </a:xfrm>
          <a:prstGeom prst="ellipse">
            <a:avLst/>
          </a:prstGeom>
          <a:solidFill>
            <a:schemeClr val="accent6"/>
          </a:solidFill>
          <a:ln/>
        </p:spPr>
      </p:sp>
      <p:pic>
        <p:nvPicPr>
          <p:cNvPr id="26" name="Service icon 3" descr="icon">    </p:cNvPr>
          <p:cNvPicPr>
            <a:picLocks noChangeAspect="1"/>
          </p:cNvPicPr>
          <p:nvPr/>
        </p:nvPicPr>
        <p:blipFill>
          <a:blip r:embed="rId3"/>
          <a:stretch>
            <a:fillRect/>
          </a:stretch>
        </p:blipFill>
        <p:spPr>
          <a:xfrm>
            <a:off x="8609990" y="2209190"/>
            <a:ext cx="427939" cy="427939"/>
          </a:xfrm>
          <a:prstGeom prst="rect">
            <a:avLst/>
          </a:prstGeom>
        </p:spPr>
      </p:pic>
      <p:sp>
        <p:nvSpPr>
          <p:cNvPr id="27" name="Text 22"/>
          <p:cNvSpPr txBox="1"/>
          <p:nvPr/>
        </p:nvSpPr>
        <p:spPr>
          <a:xfrm>
            <a:off x="8412480" y="3063240"/>
            <a:ext cx="2816352" cy="292608"/>
          </a:xfrm>
          <a:prstGeom prst="rect">
            <a:avLst/>
          </a:prstGeom>
          <a:noFill/>
          <a:ln/>
        </p:spPr>
        <p:txBody>
          <a:bodyPr wrap="square" lIns="0" tIns="0" rIns="0" bIns="0" rtlCol="0" anchor="t"/>
          <a:lstStyle/>
          <a:p>
            <a:pPr algn="l" indent="0" marL="0">
              <a:buNone/>
            </a:pPr>
            <a:r>
              <a:rPr lang="en-US" sz="1700" b="1" dirty="0">
                <a:solidFill>
                  <a:schemeClr val="tx1"/>
                </a:solidFill>
                <a:latin typeface="IBM Plex Sans Arabic" pitchFamily="34" charset="0"/>
                <a:ea typeface="IBM Plex Sans Arabic" pitchFamily="34" charset="-122"/>
                <a:cs typeface="IBM Plex Sans Arabic" pitchFamily="34" charset="-120"/>
              </a:rPr>
              <a:t>Tesla AC Care</a:t>
            </a:r>
            <a:endParaRPr lang="en-US" sz="1700" dirty="0"/>
          </a:p>
        </p:txBody>
      </p:sp>
      <p:sp>
        <p:nvSpPr>
          <p:cNvPr id="28" name="Text 23"/>
          <p:cNvSpPr txBox="1"/>
          <p:nvPr/>
        </p:nvSpPr>
        <p:spPr>
          <a:xfrm>
            <a:off x="8412480" y="3410712"/>
            <a:ext cx="2816352" cy="292608"/>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العناية بتكييف تسلا</a:t>
            </a:r>
            <a:endParaRPr lang="ar-AE" sz="1500" dirty="0"/>
          </a:p>
        </p:txBody>
      </p:sp>
      <p:sp>
        <p:nvSpPr>
          <p:cNvPr id="29" name="Text 24"/>
          <p:cNvSpPr txBox="1"/>
          <p:nvPr/>
        </p:nvSpPr>
        <p:spPr>
          <a:xfrm>
            <a:off x="8412480" y="3840480"/>
            <a:ext cx="2816352" cy="777240"/>
          </a:xfrm>
          <a:prstGeom prst="rect">
            <a:avLst/>
          </a:prstGeom>
          <a:noFill/>
          <a:ln/>
        </p:spPr>
        <p:txBody>
          <a:bodyPr wrap="square" lIns="0" tIns="0" rIns="0" bIns="0" rtlCol="0" anchor="t"/>
          <a:lstStyle/>
          <a:p>
            <a:pPr algn="l" indent="0" marL="0">
              <a:buNone/>
            </a:pPr>
            <a:r>
              <a:rPr lang="en-US" sz="1200" dirty="0">
                <a:solidFill>
                  <a:schemeClr val="accent3"/>
                </a:solidFill>
                <a:latin typeface="IBM Plex Sans Arabic" pitchFamily="34" charset="0"/>
                <a:ea typeface="IBM Plex Sans Arabic" pitchFamily="34" charset="-122"/>
                <a:cs typeface="IBM Plex Sans Arabic" pitchFamily="34" charset="-120"/>
              </a:rPr>
              <a:t>Quick, focused care for Tesla AC systems: filter replacement, cleaning and cooling checks.</a:t>
            </a:r>
            <a:endParaRPr lang="en-US" sz="1200" dirty="0"/>
          </a:p>
        </p:txBody>
      </p:sp>
      <p:sp>
        <p:nvSpPr>
          <p:cNvPr id="30" name="Text 25"/>
          <p:cNvSpPr txBox="1"/>
          <p:nvPr/>
        </p:nvSpPr>
        <p:spPr>
          <a:xfrm>
            <a:off x="8412480" y="4709160"/>
            <a:ext cx="2816352" cy="777240"/>
          </a:xfrm>
          <a:prstGeom prst="rect">
            <a:avLst/>
          </a:prstGeom>
          <a:noFill/>
          <a:ln/>
        </p:spPr>
        <p:txBody>
          <a:bodyPr wrap="square" lIns="0" tIns="0" rIns="0" bIns="0" rtlCol="0" anchor="t"/>
          <a:lstStyle/>
          <a:p>
            <a:pPr rtl="1" algn="r" indent="0" marL="0">
              <a:buNone/>
            </a:pPr>
            <a:r>
              <a:rPr lang="ar-AE" altLang="en-US" sz="1200" dirty="0">
                <a:solidFill>
                  <a:schemeClr val="accent3"/>
                </a:solidFill>
                <a:latin typeface="IBM Plex Sans Arabic" pitchFamily="34" charset="0"/>
                <a:ea typeface="IBM Plex Sans Arabic" pitchFamily="34" charset="-122"/>
                <a:cs typeface="IBM Plex Sans Arabic" pitchFamily="34" charset="-120"/>
              </a:rPr>
              <a:t>صيانة سريعة ومحددة لتكييف تسلا: تبديل الفلاتر، التنظيف، وفحص أداء التبريد.</a:t>
            </a:r>
            <a:endParaRPr lang="ar-AE" sz="1200" dirty="0"/>
          </a:p>
        </p:txBody>
      </p:sp>
      <p:sp>
        <p:nvSpPr>
          <p:cNvPr id="31" name="hairline"/>
          <p:cNvSpPr/>
          <p:nvPr/>
        </p:nvSpPr>
        <p:spPr>
          <a:xfrm>
            <a:off x="8412480" y="5532120"/>
            <a:ext cx="2816352" cy="0"/>
          </a:xfrm>
          <a:prstGeom prst="line">
            <a:avLst/>
          </a:prstGeom>
          <a:noFill/>
          <a:ln w="9525">
            <a:solidFill>
              <a:schemeClr val="accent5"/>
            </a:solidFill>
            <a:prstDash val="solid"/>
          </a:ln>
        </p:spPr>
      </p:sp>
      <p:sp>
        <p:nvSpPr>
          <p:cNvPr id="32" name="Text 27"/>
          <p:cNvSpPr txBox="1"/>
          <p:nvPr/>
        </p:nvSpPr>
        <p:spPr>
          <a:xfrm>
            <a:off x="8412480" y="5650992"/>
            <a:ext cx="281635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Dubai · Sharjah · Al Ain  ·  دبي · الشارقة · العين</a:t>
            </a:r>
            <a:endParaRPr lang="en-US"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03   ·   WHO WE SERVE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من نخدم   ·   03</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Vehicle Brands We Serve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السيارات التي نخدمها</a:t>
            </a:r>
            <a:endParaRPr lang="ar-AE" sz="3000" dirty="0"/>
          </a:p>
        </p:txBody>
      </p:sp>
      <p:sp>
        <p:nvSpPr>
          <p:cNvPr id="6" name="TESLA panel"/>
          <p:cNvSpPr/>
          <p:nvPr/>
        </p:nvSpPr>
        <p:spPr>
          <a:xfrm>
            <a:off x="64008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7" name="TESLA icon" descr="icon">    </p:cNvPr>
          <p:cNvPicPr>
            <a:picLocks noChangeAspect="1"/>
          </p:cNvPicPr>
          <p:nvPr/>
        </p:nvPicPr>
        <p:blipFill>
          <a:blip r:embed="rId2"/>
          <a:stretch>
            <a:fillRect/>
          </a:stretch>
        </p:blipFill>
        <p:spPr>
          <a:xfrm>
            <a:off x="1005840" y="2057400"/>
            <a:ext cx="457200" cy="457200"/>
          </a:xfrm>
          <a:prstGeom prst="rect">
            <a:avLst/>
          </a:prstGeom>
        </p:spPr>
      </p:pic>
      <p:sp>
        <p:nvSpPr>
          <p:cNvPr id="8" name="Text 5"/>
          <p:cNvSpPr txBox="1"/>
          <p:nvPr/>
        </p:nvSpPr>
        <p:spPr>
          <a:xfrm>
            <a:off x="100584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TESLA</a:t>
            </a:r>
            <a:endParaRPr lang="en-US" sz="3600" dirty="0"/>
          </a:p>
        </p:txBody>
      </p:sp>
      <p:sp>
        <p:nvSpPr>
          <p:cNvPr id="9" name="Text 6"/>
          <p:cNvSpPr txBox="1"/>
          <p:nvPr/>
        </p:nvSpPr>
        <p:spPr>
          <a:xfrm>
            <a:off x="100584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Interior and exterior accessories, charging solutions, and specialized products and services.</a:t>
            </a:r>
            <a:endParaRPr lang="en-US" sz="1200" dirty="0"/>
          </a:p>
        </p:txBody>
      </p:sp>
      <p:sp>
        <p:nvSpPr>
          <p:cNvPr id="10" name="Text 7"/>
          <p:cNvSpPr txBox="1"/>
          <p:nvPr/>
        </p:nvSpPr>
        <p:spPr>
          <a:xfrm>
            <a:off x="100584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إكسسوارات داخلية وخارجية، حلول شحن، ومنتجات وخدمات متخصصة.</a:t>
            </a:r>
            <a:endParaRPr lang="ar-AE" sz="1200" dirty="0"/>
          </a:p>
        </p:txBody>
      </p:sp>
      <p:sp>
        <p:nvSpPr>
          <p:cNvPr id="11" name="ROX panel"/>
          <p:cNvSpPr/>
          <p:nvPr/>
        </p:nvSpPr>
        <p:spPr>
          <a:xfrm>
            <a:off x="436626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12" name="ROX icon" descr="icon">    </p:cNvPr>
          <p:cNvPicPr>
            <a:picLocks noChangeAspect="1"/>
          </p:cNvPicPr>
          <p:nvPr/>
        </p:nvPicPr>
        <p:blipFill>
          <a:blip r:embed="rId3"/>
          <a:stretch>
            <a:fillRect/>
          </a:stretch>
        </p:blipFill>
        <p:spPr>
          <a:xfrm>
            <a:off x="4732020" y="2057400"/>
            <a:ext cx="457200" cy="457200"/>
          </a:xfrm>
          <a:prstGeom prst="rect">
            <a:avLst/>
          </a:prstGeom>
        </p:spPr>
      </p:pic>
      <p:sp>
        <p:nvSpPr>
          <p:cNvPr id="13" name="Text 9"/>
          <p:cNvSpPr txBox="1"/>
          <p:nvPr/>
        </p:nvSpPr>
        <p:spPr>
          <a:xfrm>
            <a:off x="473202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ROX</a:t>
            </a:r>
            <a:endParaRPr lang="en-US" sz="3600" dirty="0"/>
          </a:p>
        </p:txBody>
      </p:sp>
      <p:sp>
        <p:nvSpPr>
          <p:cNvPr id="14" name="Text 10"/>
          <p:cNvSpPr txBox="1"/>
          <p:nvPr/>
        </p:nvSpPr>
        <p:spPr>
          <a:xfrm>
            <a:off x="473202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Specialized accessories and products for selected ROX models.</a:t>
            </a:r>
            <a:endParaRPr lang="en-US" sz="1200" dirty="0"/>
          </a:p>
        </p:txBody>
      </p:sp>
      <p:sp>
        <p:nvSpPr>
          <p:cNvPr id="15" name="Text 11"/>
          <p:cNvSpPr txBox="1"/>
          <p:nvPr/>
        </p:nvSpPr>
        <p:spPr>
          <a:xfrm>
            <a:off x="473202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إكسسوارات ومنتجات متخصصة تناسب طرازات مختارة من سيارات ROX.</a:t>
            </a:r>
            <a:endParaRPr lang="ar-AE" sz="1200" dirty="0"/>
          </a:p>
        </p:txBody>
      </p:sp>
      <p:sp>
        <p:nvSpPr>
          <p:cNvPr id="16" name="LEOPARD panel"/>
          <p:cNvSpPr/>
          <p:nvPr/>
        </p:nvSpPr>
        <p:spPr>
          <a:xfrm>
            <a:off x="8092440" y="1691640"/>
            <a:ext cx="3456432" cy="3429000"/>
          </a:xfrm>
          <a:prstGeom prst="roundRect">
            <a:avLst>
              <a:gd name="adj" fmla="val 2667"/>
            </a:avLst>
          </a:prstGeom>
          <a:solidFill>
            <a:schemeClr val="bg1">
              <a:alpha val="6000"/>
            </a:schemeClr>
          </a:solidFill>
          <a:ln w="9525">
            <a:solidFill>
              <a:schemeClr val="bg1">
                <a:alpha val="18000"/>
              </a:schemeClr>
            </a:solidFill>
            <a:prstDash val="solid"/>
          </a:ln>
        </p:spPr>
      </p:sp>
      <p:pic>
        <p:nvPicPr>
          <p:cNvPr id="17" name="LEOPARD icon" descr="icon">    </p:cNvPr>
          <p:cNvPicPr>
            <a:picLocks noChangeAspect="1"/>
          </p:cNvPicPr>
          <p:nvPr/>
        </p:nvPicPr>
        <p:blipFill>
          <a:blip r:embed="rId4"/>
          <a:stretch>
            <a:fillRect/>
          </a:stretch>
        </p:blipFill>
        <p:spPr>
          <a:xfrm>
            <a:off x="8458200" y="2057400"/>
            <a:ext cx="457200" cy="457200"/>
          </a:xfrm>
          <a:prstGeom prst="rect">
            <a:avLst/>
          </a:prstGeom>
        </p:spPr>
      </p:pic>
      <p:sp>
        <p:nvSpPr>
          <p:cNvPr id="18" name="Text 13"/>
          <p:cNvSpPr txBox="1"/>
          <p:nvPr/>
        </p:nvSpPr>
        <p:spPr>
          <a:xfrm>
            <a:off x="8458200" y="2743200"/>
            <a:ext cx="2724912" cy="640080"/>
          </a:xfrm>
          <a:prstGeom prst="rect">
            <a:avLst/>
          </a:prstGeom>
          <a:noFill/>
          <a:ln/>
        </p:spPr>
        <p:txBody>
          <a:bodyPr wrap="square" lIns="0" tIns="0" rIns="0" bIns="0" rtlCol="0" anchor="t"/>
          <a:lstStyle/>
          <a:p>
            <a:pPr algn="l" indent="0" marL="0">
              <a:buNone/>
            </a:pPr>
            <a:r>
              <a:rPr lang="en-US" sz="3600" spc="600" kern="0" dirty="0">
                <a:solidFill>
                  <a:schemeClr val="bg1"/>
                </a:solidFill>
                <a:latin typeface="IBM Plex Sans Arabic Light" pitchFamily="34" charset="0"/>
                <a:ea typeface="IBM Plex Sans Arabic Light" pitchFamily="34" charset="-122"/>
                <a:cs typeface="IBM Plex Sans Arabic Light" pitchFamily="34" charset="-120"/>
              </a:rPr>
              <a:t>LEOPARD</a:t>
            </a:r>
            <a:endParaRPr lang="en-US" sz="3600" dirty="0"/>
          </a:p>
        </p:txBody>
      </p:sp>
      <p:sp>
        <p:nvSpPr>
          <p:cNvPr id="19" name="Text 14"/>
          <p:cNvSpPr txBox="1"/>
          <p:nvPr/>
        </p:nvSpPr>
        <p:spPr>
          <a:xfrm>
            <a:off x="8458200" y="3520440"/>
            <a:ext cx="2724912" cy="73152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Selected accessories and enhancements for Leopard models.</a:t>
            </a:r>
            <a:endParaRPr lang="en-US" sz="1200" dirty="0"/>
          </a:p>
        </p:txBody>
      </p:sp>
      <p:sp>
        <p:nvSpPr>
          <p:cNvPr id="20" name="Text 15"/>
          <p:cNvSpPr txBox="1"/>
          <p:nvPr/>
        </p:nvSpPr>
        <p:spPr>
          <a:xfrm>
            <a:off x="8458200" y="4297680"/>
            <a:ext cx="2724912" cy="6400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مجموعة مختارة من الإكسسوارات والإضافات الخاصة بطرازات Leopard.</a:t>
            </a:r>
            <a:endParaRPr lang="ar-AE" sz="1200" dirty="0"/>
          </a:p>
        </p:txBody>
      </p:sp>
      <p:sp>
        <p:nvSpPr>
          <p:cNvPr id="21" name="Text 16"/>
          <p:cNvSpPr txBox="1"/>
          <p:nvPr/>
        </p:nvSpPr>
        <p:spPr>
          <a:xfrm>
            <a:off x="640080" y="5440680"/>
            <a:ext cx="5120640" cy="548640"/>
          </a:xfrm>
          <a:prstGeom prst="rect">
            <a:avLst/>
          </a:prstGeom>
          <a:noFill/>
          <a:ln/>
        </p:spPr>
        <p:txBody>
          <a:bodyPr wrap="square" lIns="0" tIns="0" rIns="0" bIns="0" rtlCol="0" anchor="t"/>
          <a:lstStyle/>
          <a:p>
            <a:pPr algn="l" indent="0" marL="0">
              <a:buNone/>
            </a:pPr>
            <a:r>
              <a:rPr lang="en-US" sz="1000" i="1" dirty="0">
                <a:solidFill>
                  <a:schemeClr val="accent5"/>
                </a:solidFill>
                <a:latin typeface="IBM Plex Sans Arabic" pitchFamily="34" charset="0"/>
                <a:ea typeface="IBM Plex Sans Arabic" pitchFamily="34" charset="-122"/>
                <a:cs typeface="IBM Plex Sans Arabic" pitchFamily="34" charset="-120"/>
              </a:rPr>
              <a:t>Vehicle brands are listed to identify compatible product categories and do not imply official manufacturer authorization or dealership status.</a:t>
            </a:r>
            <a:endParaRPr lang="en-US" sz="1000" dirty="0"/>
          </a:p>
        </p:txBody>
      </p:sp>
      <p:sp>
        <p:nvSpPr>
          <p:cNvPr id="22" name="Text 17"/>
          <p:cNvSpPr txBox="1"/>
          <p:nvPr/>
        </p:nvSpPr>
        <p:spPr>
          <a:xfrm>
            <a:off x="6430975" y="5440680"/>
            <a:ext cx="5120640" cy="548640"/>
          </a:xfrm>
          <a:prstGeom prst="rect">
            <a:avLst/>
          </a:prstGeom>
          <a:noFill/>
          <a:ln/>
        </p:spPr>
        <p:txBody>
          <a:bodyPr wrap="square" lIns="0" tIns="0" rIns="0" bIns="0" rtlCol="0" anchor="t"/>
          <a:lstStyle/>
          <a:p>
            <a:pPr rtl="1" algn="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العلامات المذكورة هي علامات المركبات التي تخدمها EVCARS، ولا يعني إدراجها وجود اعتماد أو وكالة رسمية من مصنّعي المركبات.</a:t>
            </a:r>
            <a:endParaRPr lang="ar-AE"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03   ·   WHO WE SERVE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من نخدم   ·   03</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Brands We Work With</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علامات نعمل معها</a:t>
            </a:r>
            <a:endParaRPr lang="ar-AE" sz="3000" dirty="0"/>
          </a:p>
        </p:txBody>
      </p:sp>
      <p:sp>
        <p:nvSpPr>
          <p:cNvPr id="6" name="Text 4"/>
          <p:cNvSpPr txBox="1"/>
          <p:nvPr/>
        </p:nvSpPr>
        <p:spPr>
          <a:xfrm>
            <a:off x="640080" y="1600200"/>
            <a:ext cx="5120640" cy="685800"/>
          </a:xfrm>
          <a:prstGeom prst="rect">
            <a:avLst/>
          </a:prstGeom>
          <a:noFill/>
          <a:ln/>
        </p:spPr>
        <p:txBody>
          <a:bodyPr wrap="square" lIns="0" tIns="0" rIns="0" bIns="0" rtlCol="0" anchor="t"/>
          <a:lstStyle/>
          <a:p>
            <a:pPr algn="l"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EVCARS works with a range of brands and companies across the EV accessories, charging solutions and related services sectors.</a:t>
            </a:r>
            <a:endParaRPr lang="en-US" sz="1300" dirty="0"/>
          </a:p>
        </p:txBody>
      </p:sp>
      <p:sp>
        <p:nvSpPr>
          <p:cNvPr id="7" name="Text 5"/>
          <p:cNvSpPr txBox="1"/>
          <p:nvPr/>
        </p:nvSpPr>
        <p:spPr>
          <a:xfrm>
            <a:off x="6430975" y="1600200"/>
            <a:ext cx="5120640" cy="685800"/>
          </a:xfrm>
          <a:prstGeom prst="rect">
            <a:avLst/>
          </a:prstGeom>
          <a:noFill/>
          <a:ln/>
        </p:spPr>
        <p:txBody>
          <a:bodyPr wrap="square" lIns="0" tIns="0" rIns="0" bIns="0" rtlCol="0" anchor="t"/>
          <a:lstStyle/>
          <a:p>
            <a:pPr rtl="1" algn="r" indent="0" marL="0">
              <a:buNone/>
            </a:pPr>
            <a:r>
              <a:rPr lang="ar-AE" altLang="en-US" sz="1300" dirty="0">
                <a:solidFill>
                  <a:schemeClr val="accent3"/>
                </a:solidFill>
                <a:latin typeface="IBM Plex Sans Arabic" pitchFamily="34" charset="0"/>
                <a:ea typeface="IBM Plex Sans Arabic" pitchFamily="34" charset="-122"/>
                <a:cs typeface="IBM Plex Sans Arabic" pitchFamily="34" charset="-120"/>
              </a:rPr>
              <a:t>تعمل EVCARS مع مجموعة من العلامات التجارية والشركات في قطاع السيارات الكهربائية والإكسسوارات وحلول الشحن والخدمات المرتبطة بها.</a:t>
            </a:r>
            <a:endParaRPr lang="ar-AE" sz="1300" dirty="0"/>
          </a:p>
        </p:txBody>
      </p:sp>
      <p:sp>
        <p:nvSpPr>
          <p:cNvPr id="8" name="Partner tile 1"/>
          <p:cNvSpPr/>
          <p:nvPr/>
        </p:nvSpPr>
        <p:spPr>
          <a:xfrm>
            <a:off x="640080" y="2514600"/>
            <a:ext cx="3456432" cy="1051560"/>
          </a:xfrm>
          <a:prstGeom prst="roundRect">
            <a:avLst>
              <a:gd name="adj" fmla="val 6957"/>
            </a:avLst>
          </a:prstGeom>
          <a:solidFill>
            <a:schemeClr val="bg2"/>
          </a:solidFill>
          <a:ln/>
        </p:spPr>
      </p:sp>
      <p:sp>
        <p:nvSpPr>
          <p:cNvPr id="9" name="Text 7"/>
          <p:cNvSpPr txBox="1"/>
          <p:nvPr/>
        </p:nvSpPr>
        <p:spPr>
          <a:xfrm>
            <a:off x="822960" y="2862072"/>
            <a:ext cx="3090672" cy="365760"/>
          </a:xfrm>
          <a:prstGeom prst="rect">
            <a:avLst/>
          </a:prstGeom>
          <a:noFill/>
          <a:ln/>
        </p:spPr>
        <p:txBody>
          <a:bodyPr wrap="square" lIns="0" tIns="0" rIns="0" bIns="0" rtlCol="0" anchor="t"/>
          <a:lstStyle/>
          <a:p>
            <a:pPr algn="ctr" indent="0" marL="0">
              <a:buNone/>
            </a:pPr>
            <a:r>
              <a:rPr lang="en-US" sz="1700" b="1" spc="300" kern="0" dirty="0">
                <a:solidFill>
                  <a:schemeClr val="tx1"/>
                </a:solidFill>
                <a:latin typeface="IBM Plex Sans Arabic Light" pitchFamily="34" charset="0"/>
                <a:ea typeface="IBM Plex Sans Arabic Light" pitchFamily="34" charset="-122"/>
                <a:cs typeface="IBM Plex Sans Arabic Light" pitchFamily="34" charset="-120"/>
              </a:rPr>
              <a:t>HALOBLK</a:t>
            </a:r>
            <a:endParaRPr lang="en-US" sz="1700" dirty="0"/>
          </a:p>
        </p:txBody>
      </p:sp>
      <p:sp>
        <p:nvSpPr>
          <p:cNvPr id="10" name="Partner tile 2"/>
          <p:cNvSpPr/>
          <p:nvPr/>
        </p:nvSpPr>
        <p:spPr>
          <a:xfrm>
            <a:off x="4366260" y="2514600"/>
            <a:ext cx="3456432" cy="1051560"/>
          </a:xfrm>
          <a:prstGeom prst="roundRect">
            <a:avLst>
              <a:gd name="adj" fmla="val 6957"/>
            </a:avLst>
          </a:prstGeom>
          <a:solidFill>
            <a:schemeClr val="bg2"/>
          </a:solidFill>
          <a:ln/>
        </p:spPr>
      </p:sp>
      <p:sp>
        <p:nvSpPr>
          <p:cNvPr id="11" name="Text 9"/>
          <p:cNvSpPr txBox="1"/>
          <p:nvPr/>
        </p:nvSpPr>
        <p:spPr>
          <a:xfrm>
            <a:off x="4549140" y="2862072"/>
            <a:ext cx="3090672" cy="365760"/>
          </a:xfrm>
          <a:prstGeom prst="rect">
            <a:avLst/>
          </a:prstGeom>
          <a:noFill/>
          <a:ln/>
        </p:spPr>
        <p:txBody>
          <a:bodyPr wrap="square" lIns="0" tIns="0" rIns="0" bIns="0" rtlCol="0" anchor="t"/>
          <a:lstStyle/>
          <a:p>
            <a:pPr algn="ctr" indent="0" marL="0">
              <a:buNone/>
            </a:pPr>
            <a:r>
              <a:rPr lang="en-US" sz="1700" b="1" spc="300" kern="0" dirty="0">
                <a:solidFill>
                  <a:schemeClr val="tx1"/>
                </a:solidFill>
                <a:latin typeface="IBM Plex Sans Arabic Light" pitchFamily="34" charset="0"/>
                <a:ea typeface="IBM Plex Sans Arabic Light" pitchFamily="34" charset="-122"/>
                <a:cs typeface="IBM Plex Sans Arabic Light" pitchFamily="34" charset="-120"/>
              </a:rPr>
              <a:t>EVSPACE</a:t>
            </a:r>
            <a:endParaRPr lang="en-US" sz="1700" dirty="0"/>
          </a:p>
        </p:txBody>
      </p:sp>
      <p:sp>
        <p:nvSpPr>
          <p:cNvPr id="12" name="Partner tile 3"/>
          <p:cNvSpPr/>
          <p:nvPr/>
        </p:nvSpPr>
        <p:spPr>
          <a:xfrm>
            <a:off x="8092440" y="2514600"/>
            <a:ext cx="3456432" cy="1051560"/>
          </a:xfrm>
          <a:prstGeom prst="roundRect">
            <a:avLst>
              <a:gd name="adj" fmla="val 6957"/>
            </a:avLst>
          </a:prstGeom>
          <a:solidFill>
            <a:schemeClr val="bg2"/>
          </a:solidFill>
          <a:ln/>
        </p:spPr>
      </p:sp>
      <p:sp>
        <p:nvSpPr>
          <p:cNvPr id="13" name="Text 11"/>
          <p:cNvSpPr txBox="1"/>
          <p:nvPr/>
        </p:nvSpPr>
        <p:spPr>
          <a:xfrm>
            <a:off x="8275320" y="2743200"/>
            <a:ext cx="3090672" cy="365760"/>
          </a:xfrm>
          <a:prstGeom prst="rect">
            <a:avLst/>
          </a:prstGeom>
          <a:noFill/>
          <a:ln/>
        </p:spPr>
        <p:txBody>
          <a:bodyPr wrap="square" lIns="0" tIns="0" rIns="0" bIns="0" rtlCol="0" anchor="t"/>
          <a:lstStyle/>
          <a:p>
            <a:pPr algn="ctr" indent="0" marL="0">
              <a:buNone/>
            </a:pPr>
            <a:r>
              <a:rPr lang="en-US" sz="1700" b="1" spc="300" kern="0" dirty="0">
                <a:solidFill>
                  <a:schemeClr val="tx1"/>
                </a:solidFill>
                <a:latin typeface="IBM Plex Sans Arabic Light" pitchFamily="34" charset="0"/>
                <a:ea typeface="IBM Plex Sans Arabic Light" pitchFamily="34" charset="-122"/>
                <a:cs typeface="IBM Plex Sans Arabic Light" pitchFamily="34" charset="-120"/>
              </a:rPr>
              <a:t>EVS</a:t>
            </a:r>
            <a:endParaRPr lang="en-US" sz="1700" dirty="0"/>
          </a:p>
        </p:txBody>
      </p:sp>
      <p:sp>
        <p:nvSpPr>
          <p:cNvPr id="14" name="Text 12"/>
          <p:cNvSpPr txBox="1"/>
          <p:nvPr/>
        </p:nvSpPr>
        <p:spPr>
          <a:xfrm>
            <a:off x="8275320" y="3108960"/>
            <a:ext cx="309067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for Electric Vehicles Services</a:t>
            </a:r>
            <a:endParaRPr lang="en-US" sz="1000" dirty="0"/>
          </a:p>
        </p:txBody>
      </p:sp>
      <p:sp>
        <p:nvSpPr>
          <p:cNvPr id="15" name="Partner tile 4"/>
          <p:cNvSpPr/>
          <p:nvPr/>
        </p:nvSpPr>
        <p:spPr>
          <a:xfrm>
            <a:off x="640080" y="3749040"/>
            <a:ext cx="3456432" cy="1051560"/>
          </a:xfrm>
          <a:prstGeom prst="roundRect">
            <a:avLst>
              <a:gd name="adj" fmla="val 6957"/>
            </a:avLst>
          </a:prstGeom>
          <a:solidFill>
            <a:schemeClr val="bg2"/>
          </a:solidFill>
          <a:ln/>
        </p:spPr>
      </p:sp>
      <p:sp>
        <p:nvSpPr>
          <p:cNvPr id="16" name="Text 14"/>
          <p:cNvSpPr txBox="1"/>
          <p:nvPr/>
        </p:nvSpPr>
        <p:spPr>
          <a:xfrm>
            <a:off x="822960" y="3977640"/>
            <a:ext cx="3090672" cy="365760"/>
          </a:xfrm>
          <a:prstGeom prst="rect">
            <a:avLst/>
          </a:prstGeom>
          <a:noFill/>
          <a:ln/>
        </p:spPr>
        <p:txBody>
          <a:bodyPr wrap="square" lIns="0" tIns="0" rIns="0" bIns="0" rtlCol="0" anchor="t"/>
          <a:lstStyle/>
          <a:p>
            <a:pPr algn="ctr" indent="0" marL="0">
              <a:buNone/>
            </a:pPr>
            <a:r>
              <a:rPr lang="en-US" sz="1500" b="1" spc="150" kern="0" dirty="0">
                <a:solidFill>
                  <a:schemeClr val="tx1"/>
                </a:solidFill>
                <a:latin typeface="IBM Plex Sans Arabic Light" pitchFamily="34" charset="0"/>
                <a:ea typeface="IBM Plex Sans Arabic Light" pitchFamily="34" charset="-122"/>
                <a:cs typeface="IBM Plex Sans Arabic Light" pitchFamily="34" charset="-120"/>
              </a:rPr>
              <a:t>Al Atlalah Al Shamikha</a:t>
            </a:r>
            <a:endParaRPr lang="en-US" sz="1500" dirty="0"/>
          </a:p>
        </p:txBody>
      </p:sp>
      <p:sp>
        <p:nvSpPr>
          <p:cNvPr id="17" name="Text 15"/>
          <p:cNvSpPr txBox="1"/>
          <p:nvPr/>
        </p:nvSpPr>
        <p:spPr>
          <a:xfrm>
            <a:off x="822960" y="4343400"/>
            <a:ext cx="3090672" cy="274320"/>
          </a:xfrm>
          <a:prstGeom prst="rect">
            <a:avLst/>
          </a:prstGeom>
          <a:noFill/>
          <a:ln/>
        </p:spPr>
        <p:txBody>
          <a:bodyPr wrap="square" lIns="0" tIns="0" rIns="0" bIns="0" rtlCol="0" anchor="t"/>
          <a:lstStyle/>
          <a:p>
            <a:pPr algn="ctr" indent="0" marL="0">
              <a:buNone/>
            </a:pPr>
            <a:r>
              <a:rPr lang="en-US" sz="1000" dirty="0">
                <a:solidFill>
                  <a:schemeClr val="accent3"/>
                </a:solidFill>
                <a:latin typeface="IBM Plex Sans Arabic" pitchFamily="34" charset="0"/>
                <a:ea typeface="IBM Plex Sans Arabic" pitchFamily="34" charset="-122"/>
                <a:cs typeface="IBM Plex Sans Arabic" pitchFamily="34" charset="-120"/>
              </a:rPr>
              <a:t>for Electric Cars Spare Parts</a:t>
            </a:r>
            <a:endParaRPr lang="en-US" sz="1000" dirty="0"/>
          </a:p>
        </p:txBody>
      </p:sp>
      <p:sp>
        <p:nvSpPr>
          <p:cNvPr id="18" name="Partner tile 5"/>
          <p:cNvSpPr/>
          <p:nvPr/>
        </p:nvSpPr>
        <p:spPr>
          <a:xfrm>
            <a:off x="4366260" y="3749040"/>
            <a:ext cx="3456432" cy="1051560"/>
          </a:xfrm>
          <a:prstGeom prst="roundRect">
            <a:avLst>
              <a:gd name="adj" fmla="val 6957"/>
            </a:avLst>
          </a:prstGeom>
          <a:solidFill>
            <a:schemeClr val="bg2"/>
          </a:solidFill>
          <a:ln/>
        </p:spPr>
      </p:sp>
      <p:sp>
        <p:nvSpPr>
          <p:cNvPr id="19" name="Text 17"/>
          <p:cNvSpPr txBox="1"/>
          <p:nvPr/>
        </p:nvSpPr>
        <p:spPr>
          <a:xfrm>
            <a:off x="4549140" y="4096512"/>
            <a:ext cx="3090672" cy="365760"/>
          </a:xfrm>
          <a:prstGeom prst="rect">
            <a:avLst/>
          </a:prstGeom>
          <a:noFill/>
          <a:ln/>
        </p:spPr>
        <p:txBody>
          <a:bodyPr wrap="square" lIns="0" tIns="0" rIns="0" bIns="0" rtlCol="0" anchor="t"/>
          <a:lstStyle/>
          <a:p>
            <a:pPr algn="ctr" indent="0" marL="0">
              <a:buNone/>
            </a:pPr>
            <a:r>
              <a:rPr lang="en-US" sz="1500" b="1" spc="150" kern="0" dirty="0">
                <a:solidFill>
                  <a:schemeClr val="tx1"/>
                </a:solidFill>
                <a:latin typeface="IBM Plex Sans Arabic Light" pitchFamily="34" charset="0"/>
                <a:ea typeface="IBM Plex Sans Arabic Light" pitchFamily="34" charset="-122"/>
                <a:cs typeface="IBM Plex Sans Arabic Light" pitchFamily="34" charset="-120"/>
              </a:rPr>
              <a:t>IGUANA Premium Auto Care</a:t>
            </a:r>
            <a:endParaRPr lang="en-US" sz="1500" dirty="0"/>
          </a:p>
        </p:txBody>
      </p:sp>
      <p:sp>
        <p:nvSpPr>
          <p:cNvPr id="20" name="Partner tile 6"/>
          <p:cNvSpPr/>
          <p:nvPr/>
        </p:nvSpPr>
        <p:spPr>
          <a:xfrm>
            <a:off x="8092440" y="3749040"/>
            <a:ext cx="3456432" cy="1051560"/>
          </a:xfrm>
          <a:prstGeom prst="roundRect">
            <a:avLst>
              <a:gd name="adj" fmla="val 6957"/>
            </a:avLst>
          </a:prstGeom>
          <a:solidFill>
            <a:schemeClr val="bg2"/>
          </a:solidFill>
          <a:ln/>
        </p:spPr>
      </p:sp>
      <p:sp>
        <p:nvSpPr>
          <p:cNvPr id="21" name="Text 19"/>
          <p:cNvSpPr txBox="1"/>
          <p:nvPr/>
        </p:nvSpPr>
        <p:spPr>
          <a:xfrm>
            <a:off x="8275320" y="4096512"/>
            <a:ext cx="3090672" cy="365760"/>
          </a:xfrm>
          <a:prstGeom prst="rect">
            <a:avLst/>
          </a:prstGeom>
          <a:noFill/>
          <a:ln/>
        </p:spPr>
        <p:txBody>
          <a:bodyPr wrap="square" lIns="0" tIns="0" rIns="0" bIns="0" rtlCol="0" anchor="t"/>
          <a:lstStyle/>
          <a:p>
            <a:pPr algn="ctr" indent="0" marL="0">
              <a:buNone/>
            </a:pPr>
            <a:r>
              <a:rPr lang="en-US" sz="1700" b="1" spc="300" kern="0" dirty="0">
                <a:solidFill>
                  <a:schemeClr val="tx1"/>
                </a:solidFill>
                <a:latin typeface="IBM Plex Sans Arabic Light" pitchFamily="34" charset="0"/>
                <a:ea typeface="IBM Plex Sans Arabic Light" pitchFamily="34" charset="-122"/>
                <a:cs typeface="IBM Plex Sans Arabic Light" pitchFamily="34" charset="-120"/>
              </a:rPr>
              <a:t>Enhance Automotive</a:t>
            </a:r>
            <a:endParaRPr lang="en-US" sz="1700" dirty="0"/>
          </a:p>
        </p:txBody>
      </p:sp>
      <p:sp>
        <p:nvSpPr>
          <p:cNvPr id="22" name="Partner tile 7"/>
          <p:cNvSpPr/>
          <p:nvPr/>
        </p:nvSpPr>
        <p:spPr>
          <a:xfrm>
            <a:off x="640080" y="4983480"/>
            <a:ext cx="3456432" cy="1051560"/>
          </a:xfrm>
          <a:prstGeom prst="roundRect">
            <a:avLst>
              <a:gd name="adj" fmla="val 6957"/>
            </a:avLst>
          </a:prstGeom>
          <a:solidFill>
            <a:schemeClr val="bg2"/>
          </a:solidFill>
          <a:ln/>
        </p:spPr>
      </p:sp>
      <p:sp>
        <p:nvSpPr>
          <p:cNvPr id="23" name="Text 21"/>
          <p:cNvSpPr txBox="1"/>
          <p:nvPr/>
        </p:nvSpPr>
        <p:spPr>
          <a:xfrm>
            <a:off x="822960" y="5330952"/>
            <a:ext cx="3090672" cy="365760"/>
          </a:xfrm>
          <a:prstGeom prst="rect">
            <a:avLst/>
          </a:prstGeom>
          <a:noFill/>
          <a:ln/>
        </p:spPr>
        <p:txBody>
          <a:bodyPr wrap="square" lIns="0" tIns="0" rIns="0" bIns="0" rtlCol="0" anchor="t"/>
          <a:lstStyle/>
          <a:p>
            <a:pPr rtl="1" algn="ctr" indent="0" marL="0">
              <a:buNone/>
            </a:pPr>
            <a:r>
              <a:rPr lang="ar-AE" altLang="en-US" sz="1500" b="1" dirty="0">
                <a:solidFill>
                  <a:schemeClr val="tx1"/>
                </a:solidFill>
                <a:latin typeface="IBM Plex Sans Arabic Light" pitchFamily="34" charset="0"/>
                <a:ea typeface="IBM Plex Sans Arabic Light" pitchFamily="34" charset="-122"/>
                <a:cs typeface="IBM Plex Sans Arabic Light" pitchFamily="34" charset="-120"/>
              </a:rPr>
              <a:t>مؤسسة النحلة التجارية</a:t>
            </a:r>
            <a:endParaRPr lang="ar-AE" sz="1500" dirty="0"/>
          </a:p>
        </p:txBody>
      </p:sp>
      <p:sp>
        <p:nvSpPr>
          <p:cNvPr id="24" name="Partner tile 8"/>
          <p:cNvSpPr/>
          <p:nvPr/>
        </p:nvSpPr>
        <p:spPr>
          <a:xfrm>
            <a:off x="4366260" y="4983480"/>
            <a:ext cx="3456432" cy="1051560"/>
          </a:xfrm>
          <a:prstGeom prst="roundRect">
            <a:avLst>
              <a:gd name="adj" fmla="val 6957"/>
            </a:avLst>
          </a:prstGeom>
          <a:solidFill>
            <a:schemeClr val="bg2"/>
          </a:solidFill>
          <a:ln/>
        </p:spPr>
      </p:sp>
      <p:sp>
        <p:nvSpPr>
          <p:cNvPr id="25" name="Text 23"/>
          <p:cNvSpPr txBox="1"/>
          <p:nvPr/>
        </p:nvSpPr>
        <p:spPr>
          <a:xfrm>
            <a:off x="4549140" y="5330952"/>
            <a:ext cx="3090672" cy="365760"/>
          </a:xfrm>
          <a:prstGeom prst="rect">
            <a:avLst/>
          </a:prstGeom>
          <a:noFill/>
          <a:ln/>
        </p:spPr>
        <p:txBody>
          <a:bodyPr wrap="square" lIns="0" tIns="0" rIns="0" bIns="0" rtlCol="0" anchor="t"/>
          <a:lstStyle/>
          <a:p>
            <a:pPr algn="ctr" indent="0" marL="0">
              <a:buNone/>
            </a:pPr>
            <a:r>
              <a:rPr lang="en-US" sz="1700" b="1" spc="300" kern="0" dirty="0">
                <a:solidFill>
                  <a:schemeClr val="tx1"/>
                </a:solidFill>
                <a:latin typeface="IBM Plex Sans Arabic Light" pitchFamily="34" charset="0"/>
                <a:ea typeface="IBM Plex Sans Arabic Light" pitchFamily="34" charset="-122"/>
                <a:cs typeface="IBM Plex Sans Arabic Light" pitchFamily="34" charset="-120"/>
              </a:rPr>
              <a:t>Best Store</a:t>
            </a:r>
            <a:endParaRPr lang="en-US" sz="1700" dirty="0"/>
          </a:p>
        </p:txBody>
      </p:sp>
      <p:sp>
        <p:nvSpPr>
          <p:cNvPr id="26" name="Partner tile 9"/>
          <p:cNvSpPr/>
          <p:nvPr/>
        </p:nvSpPr>
        <p:spPr>
          <a:xfrm>
            <a:off x="8092440" y="4983480"/>
            <a:ext cx="3456432" cy="1051560"/>
          </a:xfrm>
          <a:prstGeom prst="roundRect">
            <a:avLst>
              <a:gd name="adj" fmla="val 6957"/>
            </a:avLst>
          </a:prstGeom>
          <a:solidFill>
            <a:schemeClr val="bg2"/>
          </a:solidFill>
          <a:ln/>
        </p:spPr>
      </p:sp>
      <p:sp>
        <p:nvSpPr>
          <p:cNvPr id="27" name="Text 25"/>
          <p:cNvSpPr txBox="1"/>
          <p:nvPr/>
        </p:nvSpPr>
        <p:spPr>
          <a:xfrm>
            <a:off x="8275320" y="5330952"/>
            <a:ext cx="3090672" cy="365760"/>
          </a:xfrm>
          <a:prstGeom prst="rect">
            <a:avLst/>
          </a:prstGeom>
          <a:noFill/>
          <a:ln/>
        </p:spPr>
        <p:txBody>
          <a:bodyPr wrap="square" lIns="0" tIns="0" rIns="0" bIns="0" rtlCol="0" anchor="t"/>
          <a:lstStyle/>
          <a:p>
            <a:pPr algn="ctr" indent="0" marL="0">
              <a:buNone/>
            </a:pPr>
            <a:r>
              <a:rPr lang="en-US" sz="1700" b="1" spc="300" kern="0" dirty="0">
                <a:solidFill>
                  <a:schemeClr val="tx1"/>
                </a:solidFill>
                <a:latin typeface="IBM Plex Sans Arabic Light" pitchFamily="34" charset="0"/>
                <a:ea typeface="IBM Plex Sans Arabic Light" pitchFamily="34" charset="-122"/>
                <a:cs typeface="IBM Plex Sans Arabic Light" pitchFamily="34" charset="-120"/>
              </a:rPr>
              <a:t>EV BSGT</a:t>
            </a:r>
            <a:endParaRPr lang="en-US" sz="17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04   ·   WHERE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أين نحن   ·   04</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Our Branch Network</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شبكة فروعنا</a:t>
            </a:r>
            <a:endParaRPr lang="ar-AE" sz="3000" dirty="0"/>
          </a:p>
        </p:txBody>
      </p:sp>
      <p:sp>
        <p:nvSpPr>
          <p:cNvPr id="6" name="Text 4"/>
          <p:cNvSpPr txBox="1"/>
          <p:nvPr/>
        </p:nvSpPr>
        <p:spPr>
          <a:xfrm>
            <a:off x="640080" y="1481328"/>
            <a:ext cx="5120640" cy="274320"/>
          </a:xfrm>
          <a:prstGeom prst="rect">
            <a:avLst/>
          </a:prstGeom>
          <a:noFill/>
          <a:ln/>
        </p:spPr>
        <p:txBody>
          <a:bodyPr wrap="square" lIns="0" tIns="0" rIns="0" bIns="0" rtlCol="0" anchor="t"/>
          <a:lstStyle/>
          <a:p>
            <a:pPr algn="l"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Five branches across the UAE and the Sultanate of Oman.</a:t>
            </a:r>
            <a:endParaRPr lang="en-US" sz="1300" dirty="0"/>
          </a:p>
        </p:txBody>
      </p:sp>
      <p:sp>
        <p:nvSpPr>
          <p:cNvPr id="7" name="Text 5"/>
          <p:cNvSpPr txBox="1"/>
          <p:nvPr/>
        </p:nvSpPr>
        <p:spPr>
          <a:xfrm>
            <a:off x="6430975" y="1481328"/>
            <a:ext cx="5120640" cy="274320"/>
          </a:xfrm>
          <a:prstGeom prst="rect">
            <a:avLst/>
          </a:prstGeom>
          <a:noFill/>
          <a:ln/>
        </p:spPr>
        <p:txBody>
          <a:bodyPr wrap="square" lIns="0" tIns="0" rIns="0" bIns="0" rtlCol="0" anchor="t"/>
          <a:lstStyle/>
          <a:p>
            <a:pPr rtl="1" algn="r" indent="0" marL="0">
              <a:buNone/>
            </a:pPr>
            <a:r>
              <a:rPr lang="ar-AE" altLang="en-US" sz="1300" dirty="0">
                <a:solidFill>
                  <a:schemeClr val="accent3"/>
                </a:solidFill>
                <a:latin typeface="IBM Plex Sans Arabic" pitchFamily="34" charset="0"/>
                <a:ea typeface="IBM Plex Sans Arabic" pitchFamily="34" charset="-122"/>
                <a:cs typeface="IBM Plex Sans Arabic" pitchFamily="34" charset="-120"/>
              </a:rPr>
              <a:t>شبكة تضم خمسة فروع في دولة الإمارات العربية المتحدة وسلطنة عُمان.</a:t>
            </a:r>
            <a:endParaRPr lang="ar-AE" sz="1300" dirty="0"/>
          </a:p>
        </p:txBody>
      </p:sp>
      <p:sp>
        <p:nvSpPr>
          <p:cNvPr id="8" name="Text 6"/>
          <p:cNvSpPr txBox="1"/>
          <p:nvPr/>
        </p:nvSpPr>
        <p:spPr>
          <a:xfrm>
            <a:off x="640080" y="2011680"/>
            <a:ext cx="6254496" cy="256032"/>
          </a:xfrm>
          <a:prstGeom prst="rect">
            <a:avLst/>
          </a:prstGeom>
          <a:noFill/>
          <a:ln/>
        </p:spPr>
        <p:txBody>
          <a:bodyPr wrap="square" lIns="0" tIns="0" rIns="0" bIns="0" rtlCol="0" anchor="t"/>
          <a:lstStyle/>
          <a:p>
            <a:pPr algn="l" indent="0" marL="0">
              <a:buNone/>
            </a:pPr>
            <a:r>
              <a:rPr lang="en-US" sz="1000" b="1" spc="200" kern="0" dirty="0">
                <a:solidFill>
                  <a:schemeClr val="accent1"/>
                </a:solidFill>
                <a:latin typeface="IBM Plex Sans Arabic" pitchFamily="34" charset="0"/>
                <a:ea typeface="IBM Plex Sans Arabic" pitchFamily="34" charset="-122"/>
                <a:cs typeface="IBM Plex Sans Arabic" pitchFamily="34" charset="-120"/>
              </a:rPr>
              <a:t>UNITED ARAB EMIRATES   |   دولة الإمارات العربية المتحدة</a:t>
            </a:r>
            <a:endParaRPr lang="en-US" sz="1000" dirty="0"/>
          </a:p>
        </p:txBody>
      </p:sp>
      <p:sp>
        <p:nvSpPr>
          <p:cNvPr id="9" name="Text 7"/>
          <p:cNvSpPr txBox="1"/>
          <p:nvPr/>
        </p:nvSpPr>
        <p:spPr>
          <a:xfrm>
            <a:off x="7351776" y="2011680"/>
            <a:ext cx="4123944" cy="256032"/>
          </a:xfrm>
          <a:prstGeom prst="rect">
            <a:avLst/>
          </a:prstGeom>
          <a:noFill/>
          <a:ln/>
        </p:spPr>
        <p:txBody>
          <a:bodyPr wrap="square" lIns="0" tIns="0" rIns="0" bIns="0" rtlCol="0" anchor="t"/>
          <a:lstStyle/>
          <a:p>
            <a:pPr algn="l" indent="0" marL="0">
              <a:buNone/>
            </a:pPr>
            <a:r>
              <a:rPr lang="en-US" sz="1000" b="1" spc="200" kern="0" dirty="0">
                <a:solidFill>
                  <a:schemeClr val="accent1"/>
                </a:solidFill>
                <a:latin typeface="IBM Plex Sans Arabic" pitchFamily="34" charset="0"/>
                <a:ea typeface="IBM Plex Sans Arabic" pitchFamily="34" charset="-122"/>
                <a:cs typeface="IBM Plex Sans Arabic" pitchFamily="34" charset="-120"/>
              </a:rPr>
              <a:t>SULTANATE OF OMAN   |   سلطنة عُمان</a:t>
            </a:r>
            <a:endParaRPr lang="en-US" sz="1000" dirty="0"/>
          </a:p>
        </p:txBody>
      </p:sp>
      <p:sp>
        <p:nvSpPr>
          <p:cNvPr id="10" name="Branch card Dubai"/>
          <p:cNvSpPr/>
          <p:nvPr/>
        </p:nvSpPr>
        <p:spPr>
          <a:xfrm>
            <a:off x="640080" y="2377440"/>
            <a:ext cx="1993392" cy="3017520"/>
          </a:xfrm>
          <a:prstGeom prst="roundRect">
            <a:avLst>
              <a:gd name="adj" fmla="val 4587"/>
            </a:avLst>
          </a:prstGeom>
          <a:solidFill>
            <a:schemeClr val="bg2"/>
          </a:solidFill>
          <a:ln/>
        </p:spPr>
      </p:sp>
      <p:pic>
        <p:nvPicPr>
          <p:cNvPr id="11" name="Branch icon Dubai" descr="storefront icon">    </p:cNvPr>
          <p:cNvPicPr>
            <a:picLocks noChangeAspect="1"/>
          </p:cNvPicPr>
          <p:nvPr/>
        </p:nvPicPr>
        <p:blipFill>
          <a:blip r:embed="rId1"/>
          <a:stretch>
            <a:fillRect/>
          </a:stretch>
        </p:blipFill>
        <p:spPr>
          <a:xfrm>
            <a:off x="868680" y="2633472"/>
            <a:ext cx="457200" cy="457200"/>
          </a:xfrm>
          <a:prstGeom prst="rect">
            <a:avLst/>
          </a:prstGeom>
        </p:spPr>
      </p:pic>
      <p:sp>
        <p:nvSpPr>
          <p:cNvPr id="12" name="Text 9"/>
          <p:cNvSpPr txBox="1"/>
          <p:nvPr/>
        </p:nvSpPr>
        <p:spPr>
          <a:xfrm>
            <a:off x="868680"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rPr>
              <a:t>Dubai</a:t>
            </a:r>
            <a:endParaRPr lang="en-US" sz="1900" dirty="0"/>
          </a:p>
        </p:txBody>
      </p:sp>
      <p:sp>
        <p:nvSpPr>
          <p:cNvPr id="13" name="Text 10"/>
          <p:cNvSpPr txBox="1"/>
          <p:nvPr/>
        </p:nvSpPr>
        <p:spPr>
          <a:xfrm>
            <a:off x="868680"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دبي</a:t>
            </a:r>
            <a:endParaRPr lang="ar-AE" sz="1500" dirty="0"/>
          </a:p>
        </p:txBody>
      </p:sp>
      <p:sp>
        <p:nvSpPr>
          <p:cNvPr id="14" name="Text 11"/>
          <p:cNvSpPr txBox="1"/>
          <p:nvPr/>
        </p:nvSpPr>
        <p:spPr>
          <a:xfrm>
            <a:off x="868680"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Accessories, charging solutions and related customer services.</a:t>
            </a:r>
            <a:endParaRPr lang="en-US" sz="1050" dirty="0"/>
          </a:p>
        </p:txBody>
      </p:sp>
      <p:sp>
        <p:nvSpPr>
          <p:cNvPr id="15" name="Text 12"/>
          <p:cNvSpPr txBox="1"/>
          <p:nvPr/>
        </p:nvSpPr>
        <p:spPr>
          <a:xfrm>
            <a:off x="868680"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إكسسوارات وحلول شحن وخدمات مرتبطة.</a:t>
            </a:r>
            <a:endParaRPr lang="ar-AE" sz="1050" dirty="0"/>
          </a:p>
        </p:txBody>
      </p:sp>
      <p:sp>
        <p:nvSpPr>
          <p:cNvPr id="16" name="Branch card Sharjah"/>
          <p:cNvSpPr/>
          <p:nvPr/>
        </p:nvSpPr>
        <p:spPr>
          <a:xfrm>
            <a:off x="2770632" y="2377440"/>
            <a:ext cx="1993392" cy="3017520"/>
          </a:xfrm>
          <a:prstGeom prst="roundRect">
            <a:avLst>
              <a:gd name="adj" fmla="val 4587"/>
            </a:avLst>
          </a:prstGeom>
          <a:solidFill>
            <a:schemeClr val="bg2"/>
          </a:solidFill>
          <a:ln/>
        </p:spPr>
      </p:sp>
      <p:pic>
        <p:nvPicPr>
          <p:cNvPr id="17" name="Branch icon Sharjah" descr="storefront icon">    </p:cNvPr>
          <p:cNvPicPr>
            <a:picLocks noChangeAspect="1"/>
          </p:cNvPicPr>
          <p:nvPr/>
        </p:nvPicPr>
        <p:blipFill>
          <a:blip r:embed="rId2"/>
          <a:stretch>
            <a:fillRect/>
          </a:stretch>
        </p:blipFill>
        <p:spPr>
          <a:xfrm>
            <a:off x="2999232" y="2633472"/>
            <a:ext cx="457200" cy="457200"/>
          </a:xfrm>
          <a:prstGeom prst="rect">
            <a:avLst/>
          </a:prstGeom>
        </p:spPr>
      </p:pic>
      <p:sp>
        <p:nvSpPr>
          <p:cNvPr id="18" name="Text 14"/>
          <p:cNvSpPr txBox="1"/>
          <p:nvPr/>
        </p:nvSpPr>
        <p:spPr>
          <a:xfrm>
            <a:off x="2999232"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rPr>
              <a:t>Sharjah</a:t>
            </a:r>
            <a:endParaRPr lang="en-US" sz="1900" dirty="0"/>
          </a:p>
        </p:txBody>
      </p:sp>
      <p:sp>
        <p:nvSpPr>
          <p:cNvPr id="19" name="Text 15"/>
          <p:cNvSpPr txBox="1"/>
          <p:nvPr/>
        </p:nvSpPr>
        <p:spPr>
          <a:xfrm>
            <a:off x="2999232"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الشارقة</a:t>
            </a:r>
            <a:endParaRPr lang="ar-AE" sz="1500" dirty="0"/>
          </a:p>
        </p:txBody>
      </p:sp>
      <p:sp>
        <p:nvSpPr>
          <p:cNvPr id="20" name="Text 16"/>
          <p:cNvSpPr txBox="1"/>
          <p:nvPr/>
        </p:nvSpPr>
        <p:spPr>
          <a:xfrm>
            <a:off x="2999232"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Specialized products and services for EV owners.</a:t>
            </a:r>
            <a:endParaRPr lang="en-US" sz="1050" dirty="0"/>
          </a:p>
        </p:txBody>
      </p:sp>
      <p:sp>
        <p:nvSpPr>
          <p:cNvPr id="21" name="Text 17"/>
          <p:cNvSpPr txBox="1"/>
          <p:nvPr/>
        </p:nvSpPr>
        <p:spPr>
          <a:xfrm>
            <a:off x="2999232"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منتجات وخدمات متخصصة لملاك السيارات الكهربائية.</a:t>
            </a:r>
            <a:endParaRPr lang="ar-AE" sz="1050" dirty="0"/>
          </a:p>
        </p:txBody>
      </p:sp>
      <p:sp>
        <p:nvSpPr>
          <p:cNvPr id="22" name="Branch card Al Ain"/>
          <p:cNvSpPr/>
          <p:nvPr/>
        </p:nvSpPr>
        <p:spPr>
          <a:xfrm>
            <a:off x="4901184" y="2377440"/>
            <a:ext cx="1993392" cy="3017520"/>
          </a:xfrm>
          <a:prstGeom prst="roundRect">
            <a:avLst>
              <a:gd name="adj" fmla="val 4587"/>
            </a:avLst>
          </a:prstGeom>
          <a:solidFill>
            <a:schemeClr val="bg2"/>
          </a:solidFill>
          <a:ln/>
        </p:spPr>
      </p:sp>
      <p:pic>
        <p:nvPicPr>
          <p:cNvPr id="23" name="Branch icon Al Ain" descr="storefront icon">    </p:cNvPr>
          <p:cNvPicPr>
            <a:picLocks noChangeAspect="1"/>
          </p:cNvPicPr>
          <p:nvPr/>
        </p:nvPicPr>
        <p:blipFill>
          <a:blip r:embed="rId3"/>
          <a:stretch>
            <a:fillRect/>
          </a:stretch>
        </p:blipFill>
        <p:spPr>
          <a:xfrm>
            <a:off x="5129784" y="2633472"/>
            <a:ext cx="457200" cy="457200"/>
          </a:xfrm>
          <a:prstGeom prst="rect">
            <a:avLst/>
          </a:prstGeom>
        </p:spPr>
      </p:pic>
      <p:sp>
        <p:nvSpPr>
          <p:cNvPr id="24" name="Text 19"/>
          <p:cNvSpPr txBox="1"/>
          <p:nvPr/>
        </p:nvSpPr>
        <p:spPr>
          <a:xfrm>
            <a:off x="5129784"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rPr>
              <a:t>Al Ain</a:t>
            </a:r>
            <a:endParaRPr lang="en-US" sz="1900" dirty="0"/>
          </a:p>
        </p:txBody>
      </p:sp>
      <p:sp>
        <p:nvSpPr>
          <p:cNvPr id="25" name="Text 20"/>
          <p:cNvSpPr txBox="1"/>
          <p:nvPr/>
        </p:nvSpPr>
        <p:spPr>
          <a:xfrm>
            <a:off x="5129784"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العين</a:t>
            </a:r>
            <a:endParaRPr lang="ar-AE" sz="1500" dirty="0"/>
          </a:p>
        </p:txBody>
      </p:sp>
      <p:sp>
        <p:nvSpPr>
          <p:cNvPr id="26" name="Text 21"/>
          <p:cNvSpPr txBox="1"/>
          <p:nvPr/>
        </p:nvSpPr>
        <p:spPr>
          <a:xfrm>
            <a:off x="5129784"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EV accessories and related services.</a:t>
            </a:r>
            <a:endParaRPr lang="en-US" sz="1050" dirty="0"/>
          </a:p>
        </p:txBody>
      </p:sp>
      <p:sp>
        <p:nvSpPr>
          <p:cNvPr id="27" name="Text 22"/>
          <p:cNvSpPr txBox="1"/>
          <p:nvPr/>
        </p:nvSpPr>
        <p:spPr>
          <a:xfrm>
            <a:off x="5129784"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إكسسوارات السيارات الكهربائية والخدمات المرتبطة بها.</a:t>
            </a:r>
            <a:endParaRPr lang="ar-AE" sz="1050" dirty="0"/>
          </a:p>
        </p:txBody>
      </p:sp>
      <p:sp>
        <p:nvSpPr>
          <p:cNvPr id="28" name="Branch card Muscat"/>
          <p:cNvSpPr/>
          <p:nvPr/>
        </p:nvSpPr>
        <p:spPr>
          <a:xfrm>
            <a:off x="7351776" y="2377440"/>
            <a:ext cx="1993392" cy="3017520"/>
          </a:xfrm>
          <a:prstGeom prst="roundRect">
            <a:avLst>
              <a:gd name="adj" fmla="val 4587"/>
            </a:avLst>
          </a:prstGeom>
          <a:solidFill>
            <a:schemeClr val="accent6"/>
          </a:solidFill>
          <a:ln/>
        </p:spPr>
      </p:sp>
      <p:pic>
        <p:nvPicPr>
          <p:cNvPr id="29" name="Branch icon Muscat" descr="storefront icon">    </p:cNvPr>
          <p:cNvPicPr>
            <a:picLocks noChangeAspect="1"/>
          </p:cNvPicPr>
          <p:nvPr/>
        </p:nvPicPr>
        <p:blipFill>
          <a:blip r:embed="rId4"/>
          <a:stretch>
            <a:fillRect/>
          </a:stretch>
        </p:blipFill>
        <p:spPr>
          <a:xfrm>
            <a:off x="7580376" y="2633472"/>
            <a:ext cx="457200" cy="457200"/>
          </a:xfrm>
          <a:prstGeom prst="rect">
            <a:avLst/>
          </a:prstGeom>
        </p:spPr>
      </p:pic>
      <p:sp>
        <p:nvSpPr>
          <p:cNvPr id="30" name="Text 24"/>
          <p:cNvSpPr txBox="1"/>
          <p:nvPr/>
        </p:nvSpPr>
        <p:spPr>
          <a:xfrm>
            <a:off x="7580376"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rPr>
              <a:t>Muscat</a:t>
            </a:r>
            <a:endParaRPr lang="en-US" sz="1900" dirty="0"/>
          </a:p>
        </p:txBody>
      </p:sp>
      <p:sp>
        <p:nvSpPr>
          <p:cNvPr id="31" name="Text 25"/>
          <p:cNvSpPr txBox="1"/>
          <p:nvPr/>
        </p:nvSpPr>
        <p:spPr>
          <a:xfrm>
            <a:off x="7580376"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مسقط</a:t>
            </a:r>
            <a:endParaRPr lang="ar-AE" sz="1500" dirty="0"/>
          </a:p>
        </p:txBody>
      </p:sp>
      <p:sp>
        <p:nvSpPr>
          <p:cNvPr id="32" name="Text 26"/>
          <p:cNvSpPr txBox="1"/>
          <p:nvPr/>
        </p:nvSpPr>
        <p:spPr>
          <a:xfrm>
            <a:off x="7580376"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Specialized products and services for EV owners in Oman.</a:t>
            </a:r>
            <a:endParaRPr lang="en-US" sz="1050" dirty="0"/>
          </a:p>
        </p:txBody>
      </p:sp>
      <p:sp>
        <p:nvSpPr>
          <p:cNvPr id="33" name="Text 27"/>
          <p:cNvSpPr txBox="1"/>
          <p:nvPr/>
        </p:nvSpPr>
        <p:spPr>
          <a:xfrm>
            <a:off x="7580376"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منتجات وخدمات متخصصة لملاك السيارات الكهربائية في عُمان.</a:t>
            </a:r>
            <a:endParaRPr lang="ar-AE" sz="1050" dirty="0"/>
          </a:p>
        </p:txBody>
      </p:sp>
      <p:sp>
        <p:nvSpPr>
          <p:cNvPr id="34" name="Branch card Saham"/>
          <p:cNvSpPr/>
          <p:nvPr/>
        </p:nvSpPr>
        <p:spPr>
          <a:xfrm>
            <a:off x="9482328" y="2377440"/>
            <a:ext cx="1993392" cy="3017520"/>
          </a:xfrm>
          <a:prstGeom prst="roundRect">
            <a:avLst>
              <a:gd name="adj" fmla="val 4587"/>
            </a:avLst>
          </a:prstGeom>
          <a:solidFill>
            <a:schemeClr val="accent6"/>
          </a:solidFill>
          <a:ln/>
        </p:spPr>
      </p:sp>
      <p:pic>
        <p:nvPicPr>
          <p:cNvPr id="35" name="Branch icon Saham" descr="storefront icon">    </p:cNvPr>
          <p:cNvPicPr>
            <a:picLocks noChangeAspect="1"/>
          </p:cNvPicPr>
          <p:nvPr/>
        </p:nvPicPr>
        <p:blipFill>
          <a:blip r:embed="rId5"/>
          <a:stretch>
            <a:fillRect/>
          </a:stretch>
        </p:blipFill>
        <p:spPr>
          <a:xfrm>
            <a:off x="9710928" y="2633472"/>
            <a:ext cx="457200" cy="457200"/>
          </a:xfrm>
          <a:prstGeom prst="rect">
            <a:avLst/>
          </a:prstGeom>
        </p:spPr>
      </p:pic>
      <p:sp>
        <p:nvSpPr>
          <p:cNvPr id="36" name="Text 29"/>
          <p:cNvSpPr txBox="1"/>
          <p:nvPr/>
        </p:nvSpPr>
        <p:spPr>
          <a:xfrm>
            <a:off x="9710928" y="3291840"/>
            <a:ext cx="1627632" cy="347472"/>
          </a:xfrm>
          <a:prstGeom prst="rect">
            <a:avLst/>
          </a:prstGeom>
          <a:noFill/>
          <a:ln/>
        </p:spPr>
        <p:txBody>
          <a:bodyPr wrap="square" lIns="0" tIns="0" rIns="0" bIns="0" rtlCol="0" anchor="t"/>
          <a:lstStyle/>
          <a:p>
            <a:pPr algn="l" indent="0" marL="0">
              <a:buNone/>
            </a:pPr>
            <a:r>
              <a:rPr lang="en-US" sz="1900" dirty="0">
                <a:solidFill>
                  <a:schemeClr val="tx1"/>
                </a:solidFill>
                <a:latin typeface="IBM Plex Sans Arabic Light" pitchFamily="34" charset="0"/>
                <a:ea typeface="IBM Plex Sans Arabic Light" pitchFamily="34" charset="-122"/>
                <a:cs typeface="IBM Plex Sans Arabic Light" pitchFamily="34" charset="-120"/>
              </a:rPr>
              <a:t>Saham</a:t>
            </a:r>
            <a:endParaRPr lang="en-US" sz="1900" dirty="0"/>
          </a:p>
        </p:txBody>
      </p:sp>
      <p:sp>
        <p:nvSpPr>
          <p:cNvPr id="37" name="Text 30"/>
          <p:cNvSpPr txBox="1"/>
          <p:nvPr/>
        </p:nvSpPr>
        <p:spPr>
          <a:xfrm>
            <a:off x="9710928" y="3657600"/>
            <a:ext cx="1627632" cy="274320"/>
          </a:xfrm>
          <a:prstGeom prst="rect">
            <a:avLst/>
          </a:prstGeom>
          <a:noFill/>
          <a:ln/>
        </p:spPr>
        <p:txBody>
          <a:bodyPr wrap="square" lIns="0" tIns="0" rIns="0" bIns="0" rtlCol="0" anchor="t"/>
          <a:lstStyle/>
          <a:p>
            <a:pPr rtl="1" algn="r" indent="0" marL="0">
              <a:buNone/>
            </a:pPr>
            <a:r>
              <a:rPr lang="ar-AE" altLang="en-US" sz="1500" b="1" dirty="0">
                <a:solidFill>
                  <a:schemeClr val="accent1"/>
                </a:solidFill>
                <a:latin typeface="IBM Plex Sans Arabic" pitchFamily="34" charset="0"/>
                <a:ea typeface="IBM Plex Sans Arabic" pitchFamily="34" charset="-122"/>
                <a:cs typeface="IBM Plex Sans Arabic" pitchFamily="34" charset="-120"/>
              </a:rPr>
              <a:t>صحم</a:t>
            </a:r>
            <a:endParaRPr lang="ar-AE" sz="1500" dirty="0"/>
          </a:p>
        </p:txBody>
      </p:sp>
      <p:sp>
        <p:nvSpPr>
          <p:cNvPr id="38" name="Text 31"/>
          <p:cNvSpPr txBox="1"/>
          <p:nvPr/>
        </p:nvSpPr>
        <p:spPr>
          <a:xfrm>
            <a:off x="9710928" y="4069080"/>
            <a:ext cx="1627632" cy="59436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Expanding access to products and services in North Al Batinah.</a:t>
            </a:r>
            <a:endParaRPr lang="en-US" sz="1050" dirty="0"/>
          </a:p>
        </p:txBody>
      </p:sp>
      <p:sp>
        <p:nvSpPr>
          <p:cNvPr id="39" name="Text 32"/>
          <p:cNvSpPr txBox="1"/>
          <p:nvPr/>
        </p:nvSpPr>
        <p:spPr>
          <a:xfrm>
            <a:off x="9710928" y="4663440"/>
            <a:ext cx="1627632" cy="59436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تعزيز الوصول إلى المنتجات والخدمات في شمال الباطنة.</a:t>
            </a:r>
            <a:endParaRPr lang="ar-AE" sz="1050" dirty="0"/>
          </a:p>
        </p:txBody>
      </p:sp>
      <p:sp>
        <p:nvSpPr>
          <p:cNvPr id="40" name="Service band"/>
          <p:cNvSpPr/>
          <p:nvPr/>
        </p:nvSpPr>
        <p:spPr>
          <a:xfrm>
            <a:off x="640080" y="5532120"/>
            <a:ext cx="10911535" cy="640080"/>
          </a:xfrm>
          <a:prstGeom prst="roundRect">
            <a:avLst>
              <a:gd name="adj" fmla="val 14286"/>
            </a:avLst>
          </a:prstGeom>
          <a:solidFill>
            <a:schemeClr val="tx1"/>
          </a:solidFill>
          <a:ln/>
        </p:spPr>
      </p:sp>
      <p:pic>
        <p:nvPicPr>
          <p:cNvPr id="41" name="WhatsApp icon" descr="WhatsApp icon">    </p:cNvPr>
          <p:cNvPicPr>
            <a:picLocks noChangeAspect="1"/>
          </p:cNvPicPr>
          <p:nvPr/>
        </p:nvPicPr>
        <p:blipFill>
          <a:blip r:embed="rId6"/>
          <a:stretch>
            <a:fillRect/>
          </a:stretch>
        </p:blipFill>
        <p:spPr>
          <a:xfrm>
            <a:off x="914400" y="5660136"/>
            <a:ext cx="384048" cy="384048"/>
          </a:xfrm>
          <a:prstGeom prst="rect">
            <a:avLst/>
          </a:prstGeom>
        </p:spPr>
      </p:pic>
      <p:sp>
        <p:nvSpPr>
          <p:cNvPr id="42" name="Text 34"/>
          <p:cNvSpPr txBox="1"/>
          <p:nvPr/>
        </p:nvSpPr>
        <p:spPr>
          <a:xfrm>
            <a:off x="1508760" y="5605272"/>
            <a:ext cx="3017520" cy="228600"/>
          </a:xfrm>
          <a:prstGeom prst="rect">
            <a:avLst/>
          </a:prstGeom>
          <a:noFill/>
          <a:ln/>
        </p:spPr>
        <p:txBody>
          <a:bodyPr wrap="square" lIns="0" tIns="0" rIns="0" bIns="0" rtlCol="0" anchor="t"/>
          <a:lstStyle/>
          <a:p>
            <a:pPr algn="l" indent="0" marL="0">
              <a:buNone/>
            </a:pPr>
            <a:r>
              <a:rPr lang="en-US" sz="950" b="1" spc="300" kern="0" dirty="0">
                <a:solidFill>
                  <a:schemeClr val="accent2"/>
                </a:solidFill>
                <a:latin typeface="IBM Plex Sans Arabic" pitchFamily="34" charset="0"/>
                <a:ea typeface="IBM Plex Sans Arabic" pitchFamily="34" charset="-122"/>
                <a:cs typeface="IBM Plex Sans Arabic" pitchFamily="34" charset="-120"/>
              </a:rPr>
              <a:t>UNIFIED CUSTOMER SERVICE</a:t>
            </a:r>
            <a:endParaRPr lang="en-US" sz="950" dirty="0"/>
          </a:p>
        </p:txBody>
      </p:sp>
      <p:sp>
        <p:nvSpPr>
          <p:cNvPr id="43" name="Text 35"/>
          <p:cNvSpPr txBox="1"/>
          <p:nvPr/>
        </p:nvSpPr>
        <p:spPr>
          <a:xfrm>
            <a:off x="1508760" y="5815584"/>
            <a:ext cx="3017520" cy="292608"/>
          </a:xfrm>
          <a:prstGeom prst="rect">
            <a:avLst/>
          </a:prstGeom>
          <a:noFill/>
          <a:ln/>
        </p:spPr>
        <p:txBody>
          <a:bodyPr wrap="square" lIns="0" tIns="0" rIns="0" bIns="0" rtlCol="0" anchor="t"/>
          <a:lstStyle/>
          <a:p>
            <a:pPr algn="l" indent="0" marL="0">
              <a:buNone/>
            </a:pPr>
            <a:r>
              <a:rPr lang="en-US" sz="1600" b="1" dirty="0">
                <a:solidFill>
                  <a:schemeClr val="bg1"/>
                </a:solidFill>
                <a:latin typeface="IBM Plex Sans Arabic" pitchFamily="34" charset="0"/>
                <a:ea typeface="IBM Plex Sans Arabic" pitchFamily="34" charset="-122"/>
                <a:cs typeface="IBM Plex Sans Arabic" pitchFamily="34" charset="-120"/>
              </a:rPr>
              <a:t>+971 50 777 7134</a:t>
            </a:r>
            <a:endParaRPr lang="en-US" sz="1600" dirty="0"/>
          </a:p>
        </p:txBody>
      </p:sp>
      <p:sp>
        <p:nvSpPr>
          <p:cNvPr id="44" name="Text 36"/>
          <p:cNvSpPr txBox="1"/>
          <p:nvPr/>
        </p:nvSpPr>
        <p:spPr>
          <a:xfrm>
            <a:off x="7345375" y="5605272"/>
            <a:ext cx="393192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خدمة العملاء الموحدة</a:t>
            </a:r>
            <a:endParaRPr lang="ar-AE" sz="1100" dirty="0"/>
          </a:p>
        </p:txBody>
      </p:sp>
      <p:sp>
        <p:nvSpPr>
          <p:cNvPr id="45" name="Text 37"/>
          <p:cNvSpPr txBox="1"/>
          <p:nvPr/>
        </p:nvSpPr>
        <p:spPr>
          <a:xfrm>
            <a:off x="7345375" y="5833872"/>
            <a:ext cx="3931920" cy="274320"/>
          </a:xfrm>
          <a:prstGeom prst="rect">
            <a:avLst/>
          </a:prstGeom>
          <a:noFill/>
          <a:ln/>
        </p:spPr>
        <p:txBody>
          <a:bodyPr wrap="square" lIns="0" tIns="0" rIns="0" bIns="0" rtlCol="0" anchor="t"/>
          <a:lstStyle/>
          <a:p>
            <a:pPr rtl="1" algn="r" indent="0" marL="0">
              <a:buNone/>
            </a:pPr>
            <a:r>
              <a:rPr lang="ar-AE" altLang="en-US" sz="1300" dirty="0">
                <a:solidFill>
                  <a:schemeClr val="bg1"/>
                </a:solidFill>
                <a:latin typeface="IBM Plex Sans Arabic" pitchFamily="34" charset="0"/>
                <a:ea typeface="IBM Plex Sans Arabic" pitchFamily="34" charset="-122"/>
                <a:cs typeface="IBM Plex Sans Arabic" pitchFamily="34" charset="-120"/>
              </a:rPr>
              <a:t>اتصال وواتساب  ·  Call &amp; WhatsApp</a:t>
            </a:r>
            <a:endParaRPr lang="ar-AE" sz="13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04   ·   WHERE WE ARE</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أين نحن   ·   04</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Operational Capabilities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قدراتنا التشغيلية</a:t>
            </a:r>
            <a:endParaRPr lang="ar-AE" sz="3000" dirty="0"/>
          </a:p>
        </p:txBody>
      </p:sp>
      <p:sp>
        <p:nvSpPr>
          <p:cNvPr id="6" name="Text 4"/>
          <p:cNvSpPr txBox="1"/>
          <p:nvPr/>
        </p:nvSpPr>
        <p:spPr>
          <a:xfrm>
            <a:off x="640080" y="1554480"/>
            <a:ext cx="5120640" cy="914400"/>
          </a:xfrm>
          <a:prstGeom prst="rect">
            <a:avLst/>
          </a:prstGeom>
          <a:noFill/>
          <a:ln/>
        </p:spPr>
        <p:txBody>
          <a:bodyPr wrap="square" lIns="0" tIns="0" rIns="0" bIns="0" rtlCol="0" anchor="t"/>
          <a:lstStyle/>
          <a:p>
            <a:pPr algn="l" indent="0" marL="0">
              <a:buNone/>
            </a:pPr>
            <a:r>
              <a:rPr lang="en-US" sz="1300" dirty="0">
                <a:solidFill>
                  <a:schemeClr val="accent5"/>
                </a:solidFill>
                <a:latin typeface="IBM Plex Sans Arabic" pitchFamily="34" charset="0"/>
                <a:ea typeface="IBM Plex Sans Arabic" pitchFamily="34" charset="-122"/>
                <a:cs typeface="IBM Plex Sans Arabic" pitchFamily="34" charset="-120"/>
              </a:rPr>
              <a:t>A business infrastructure supporting retail, distribution and technical services, built to support product availability, direct customer service and future expansion.</a:t>
            </a:r>
            <a:endParaRPr lang="en-US" sz="1300" dirty="0"/>
          </a:p>
        </p:txBody>
      </p:sp>
      <p:sp>
        <p:nvSpPr>
          <p:cNvPr id="7" name="Text 5"/>
          <p:cNvSpPr txBox="1"/>
          <p:nvPr/>
        </p:nvSpPr>
        <p:spPr>
          <a:xfrm>
            <a:off x="6430975" y="1554480"/>
            <a:ext cx="5120640" cy="91440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بنية تشغيلية تدعم أعمال البيع والتوزيع والخدمات الفنية، وتساعد على توفير المنتجات للعملاء وتقديم خدمات فنية مباشرة ودعم التوسع المستقبلي.</a:t>
            </a:r>
            <a:endParaRPr lang="ar-AE" sz="1300" dirty="0"/>
          </a:p>
        </p:txBody>
      </p:sp>
      <p:sp>
        <p:nvSpPr>
          <p:cNvPr id="8" name="Capability panel 1"/>
          <p:cNvSpPr/>
          <p:nvPr/>
        </p:nvSpPr>
        <p:spPr>
          <a:xfrm>
            <a:off x="64008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9" name="Capability icon 1" descr="icon">    </p:cNvPr>
          <p:cNvPicPr>
            <a:picLocks noChangeAspect="1"/>
          </p:cNvPicPr>
          <p:nvPr/>
        </p:nvPicPr>
        <p:blipFill>
          <a:blip r:embed="rId1"/>
          <a:stretch>
            <a:fillRect/>
          </a:stretch>
        </p:blipFill>
        <p:spPr>
          <a:xfrm>
            <a:off x="1005840" y="3154680"/>
            <a:ext cx="777240" cy="777240"/>
          </a:xfrm>
          <a:prstGeom prst="rect">
            <a:avLst/>
          </a:prstGeom>
        </p:spPr>
      </p:pic>
      <p:sp>
        <p:nvSpPr>
          <p:cNvPr id="10" name="Text 7"/>
          <p:cNvSpPr txBox="1"/>
          <p:nvPr/>
        </p:nvSpPr>
        <p:spPr>
          <a:xfrm>
            <a:off x="100584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Central Warehouse</a:t>
            </a:r>
            <a:endParaRPr lang="en-US" sz="1900" dirty="0"/>
          </a:p>
        </p:txBody>
      </p:sp>
      <p:sp>
        <p:nvSpPr>
          <p:cNvPr id="11" name="Text 8"/>
          <p:cNvSpPr txBox="1"/>
          <p:nvPr/>
        </p:nvSpPr>
        <p:spPr>
          <a:xfrm>
            <a:off x="100584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مستودع مركزي</a:t>
            </a:r>
            <a:endParaRPr lang="ar-AE" sz="1600" dirty="0"/>
          </a:p>
        </p:txBody>
      </p:sp>
      <p:sp>
        <p:nvSpPr>
          <p:cNvPr id="12" name="Text 9"/>
          <p:cNvSpPr txBox="1"/>
          <p:nvPr/>
        </p:nvSpPr>
        <p:spPr>
          <a:xfrm>
            <a:off x="100584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Dubai</a:t>
            </a:r>
            <a:endParaRPr lang="en-US" sz="1100" dirty="0"/>
          </a:p>
        </p:txBody>
      </p:sp>
      <p:sp>
        <p:nvSpPr>
          <p:cNvPr id="13" name="Text 10"/>
          <p:cNvSpPr txBox="1"/>
          <p:nvPr/>
        </p:nvSpPr>
        <p:spPr>
          <a:xfrm>
            <a:off x="100584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دبي</a:t>
            </a:r>
            <a:endParaRPr lang="ar-AE" sz="1100" dirty="0"/>
          </a:p>
        </p:txBody>
      </p:sp>
      <p:sp>
        <p:nvSpPr>
          <p:cNvPr id="14" name="Capability panel 2"/>
          <p:cNvSpPr/>
          <p:nvPr/>
        </p:nvSpPr>
        <p:spPr>
          <a:xfrm>
            <a:off x="436626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15" name="Capability icon 2" descr="icon">    </p:cNvPr>
          <p:cNvPicPr>
            <a:picLocks noChangeAspect="1"/>
          </p:cNvPicPr>
          <p:nvPr/>
        </p:nvPicPr>
        <p:blipFill>
          <a:blip r:embed="rId2"/>
          <a:stretch>
            <a:fillRect/>
          </a:stretch>
        </p:blipFill>
        <p:spPr>
          <a:xfrm>
            <a:off x="4732020" y="3154680"/>
            <a:ext cx="777240" cy="777240"/>
          </a:xfrm>
          <a:prstGeom prst="rect">
            <a:avLst/>
          </a:prstGeom>
        </p:spPr>
      </p:pic>
      <p:sp>
        <p:nvSpPr>
          <p:cNvPr id="16" name="Text 12"/>
          <p:cNvSpPr txBox="1"/>
          <p:nvPr/>
        </p:nvSpPr>
        <p:spPr>
          <a:xfrm>
            <a:off x="473202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Retail Branch Network</a:t>
            </a:r>
            <a:endParaRPr lang="en-US" sz="1900" dirty="0"/>
          </a:p>
        </p:txBody>
      </p:sp>
      <p:sp>
        <p:nvSpPr>
          <p:cNvPr id="17" name="Text 13"/>
          <p:cNvSpPr txBox="1"/>
          <p:nvPr/>
        </p:nvSpPr>
        <p:spPr>
          <a:xfrm>
            <a:off x="473202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شبكة فروع</a:t>
            </a:r>
            <a:endParaRPr lang="ar-AE" sz="1600" dirty="0"/>
          </a:p>
        </p:txBody>
      </p:sp>
      <p:sp>
        <p:nvSpPr>
          <p:cNvPr id="18" name="Text 14"/>
          <p:cNvSpPr txBox="1"/>
          <p:nvPr/>
        </p:nvSpPr>
        <p:spPr>
          <a:xfrm>
            <a:off x="473202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UAE &amp; Oman</a:t>
            </a:r>
            <a:endParaRPr lang="en-US" sz="1100" dirty="0"/>
          </a:p>
        </p:txBody>
      </p:sp>
      <p:sp>
        <p:nvSpPr>
          <p:cNvPr id="19" name="Text 15"/>
          <p:cNvSpPr txBox="1"/>
          <p:nvPr/>
        </p:nvSpPr>
        <p:spPr>
          <a:xfrm>
            <a:off x="473202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الإمارات وسلطنة عُمان</a:t>
            </a:r>
            <a:endParaRPr lang="ar-AE" sz="1100" dirty="0"/>
          </a:p>
        </p:txBody>
      </p:sp>
      <p:sp>
        <p:nvSpPr>
          <p:cNvPr id="20" name="Capability panel 3"/>
          <p:cNvSpPr/>
          <p:nvPr/>
        </p:nvSpPr>
        <p:spPr>
          <a:xfrm>
            <a:off x="8092440" y="2788920"/>
            <a:ext cx="3456432" cy="3108960"/>
          </a:xfrm>
          <a:prstGeom prst="roundRect">
            <a:avLst>
              <a:gd name="adj" fmla="val 2941"/>
            </a:avLst>
          </a:prstGeom>
          <a:solidFill>
            <a:schemeClr val="bg1">
              <a:alpha val="6000"/>
            </a:schemeClr>
          </a:solidFill>
          <a:ln w="9525">
            <a:solidFill>
              <a:schemeClr val="bg1">
                <a:alpha val="18000"/>
              </a:schemeClr>
            </a:solidFill>
            <a:prstDash val="solid"/>
          </a:ln>
        </p:spPr>
      </p:sp>
      <p:pic>
        <p:nvPicPr>
          <p:cNvPr id="21" name="Capability icon 3" descr="icon">    </p:cNvPr>
          <p:cNvPicPr>
            <a:picLocks noChangeAspect="1"/>
          </p:cNvPicPr>
          <p:nvPr/>
        </p:nvPicPr>
        <p:blipFill>
          <a:blip r:embed="rId3"/>
          <a:stretch>
            <a:fillRect/>
          </a:stretch>
        </p:blipFill>
        <p:spPr>
          <a:xfrm>
            <a:off x="8458200" y="3154680"/>
            <a:ext cx="777240" cy="777240"/>
          </a:xfrm>
          <a:prstGeom prst="rect">
            <a:avLst/>
          </a:prstGeom>
        </p:spPr>
      </p:pic>
      <p:sp>
        <p:nvSpPr>
          <p:cNvPr id="22" name="Text 17"/>
          <p:cNvSpPr txBox="1"/>
          <p:nvPr/>
        </p:nvSpPr>
        <p:spPr>
          <a:xfrm>
            <a:off x="8458200" y="4251960"/>
            <a:ext cx="2724912" cy="365760"/>
          </a:xfrm>
          <a:prstGeom prst="rect">
            <a:avLst/>
          </a:prstGeom>
          <a:noFill/>
          <a:ln/>
        </p:spPr>
        <p:txBody>
          <a:bodyPr wrap="square" lIns="0" tIns="0" rIns="0" bIns="0" rtlCol="0" anchor="t"/>
          <a:lstStyle/>
          <a:p>
            <a:pPr algn="l" indent="0" marL="0">
              <a:buNone/>
            </a:pPr>
            <a:r>
              <a:rPr lang="en-US" sz="1900" dirty="0">
                <a:solidFill>
                  <a:schemeClr val="bg1"/>
                </a:solidFill>
                <a:latin typeface="IBM Plex Sans Arabic Light" pitchFamily="34" charset="0"/>
                <a:ea typeface="IBM Plex Sans Arabic Light" pitchFamily="34" charset="-122"/>
                <a:cs typeface="IBM Plex Sans Arabic Light" pitchFamily="34" charset="-120"/>
              </a:rPr>
              <a:t>Installation Teams</a:t>
            </a:r>
            <a:endParaRPr lang="en-US" sz="1900" dirty="0"/>
          </a:p>
        </p:txBody>
      </p:sp>
      <p:sp>
        <p:nvSpPr>
          <p:cNvPr id="23" name="Text 18"/>
          <p:cNvSpPr txBox="1"/>
          <p:nvPr/>
        </p:nvSpPr>
        <p:spPr>
          <a:xfrm>
            <a:off x="8458200" y="4663440"/>
            <a:ext cx="2724912" cy="320040"/>
          </a:xfrm>
          <a:prstGeom prst="rect">
            <a:avLst/>
          </a:prstGeom>
          <a:noFill/>
          <a:ln/>
        </p:spPr>
        <p:txBody>
          <a:bodyPr wrap="square" lIns="0" tIns="0" rIns="0" bIns="0" rtlCol="0" anchor="t"/>
          <a:lstStyle/>
          <a:p>
            <a:pPr rtl="1" algn="r" indent="0" marL="0">
              <a:buNone/>
            </a:pPr>
            <a:r>
              <a:rPr lang="ar-AE" altLang="en-US" sz="1600" b="1" dirty="0">
                <a:solidFill>
                  <a:schemeClr val="accent2"/>
                </a:solidFill>
                <a:latin typeface="IBM Plex Sans Arabic" pitchFamily="34" charset="0"/>
                <a:ea typeface="IBM Plex Sans Arabic" pitchFamily="34" charset="-122"/>
                <a:cs typeface="IBM Plex Sans Arabic" pitchFamily="34" charset="-120"/>
              </a:rPr>
              <a:t>فرق التركيب</a:t>
            </a:r>
            <a:endParaRPr lang="ar-AE" sz="1600" dirty="0"/>
          </a:p>
        </p:txBody>
      </p:sp>
      <p:sp>
        <p:nvSpPr>
          <p:cNvPr id="24" name="Text 19"/>
          <p:cNvSpPr txBox="1"/>
          <p:nvPr/>
        </p:nvSpPr>
        <p:spPr>
          <a:xfrm>
            <a:off x="8458200" y="5257800"/>
            <a:ext cx="2724912" cy="256032"/>
          </a:xfrm>
          <a:prstGeom prst="rect">
            <a:avLst/>
          </a:prstGeom>
          <a:noFill/>
          <a:ln/>
        </p:spPr>
        <p:txBody>
          <a:bodyPr wrap="square" lIns="0" tIns="0" rIns="0" bIns="0" rtlCol="0" anchor="t"/>
          <a:lstStyle/>
          <a:p>
            <a:pPr algn="l"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Chargers &amp; accessories</a:t>
            </a:r>
            <a:endParaRPr lang="en-US" sz="1100" dirty="0"/>
          </a:p>
        </p:txBody>
      </p:sp>
      <p:sp>
        <p:nvSpPr>
          <p:cNvPr id="25" name="Text 20"/>
          <p:cNvSpPr txBox="1"/>
          <p:nvPr/>
        </p:nvSpPr>
        <p:spPr>
          <a:xfrm>
            <a:off x="8458200" y="5513832"/>
            <a:ext cx="2724912" cy="256032"/>
          </a:xfrm>
          <a:prstGeom prst="rect">
            <a:avLst/>
          </a:prstGeom>
          <a:noFill/>
          <a:ln/>
        </p:spPr>
        <p:txBody>
          <a:bodyPr wrap="square" lIns="0" tIns="0" rIns="0" bIns="0" rtlCol="0" anchor="t"/>
          <a:lstStyle/>
          <a:p>
            <a:pPr rtl="1" algn="r" indent="0" marL="0">
              <a:buNone/>
            </a:pPr>
            <a:r>
              <a:rPr lang="ar-AE" altLang="en-US" sz="1100" dirty="0">
                <a:solidFill>
                  <a:schemeClr val="accent5"/>
                </a:solidFill>
                <a:latin typeface="IBM Plex Sans Arabic" pitchFamily="34" charset="0"/>
                <a:ea typeface="IBM Plex Sans Arabic" pitchFamily="34" charset="-122"/>
                <a:cs typeface="IBM Plex Sans Arabic" pitchFamily="34" charset="-120"/>
              </a:rPr>
              <a:t>الشواحن والإكسسوارات</a:t>
            </a:r>
            <a:endParaRPr lang="ar-AE"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Warranty &amp; Customer Care</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الضمان وخدمة العملاء</a:t>
            </a:r>
            <a:endParaRPr lang="ar-AE" sz="3000" dirty="0"/>
          </a:p>
        </p:txBody>
      </p:sp>
      <p:graphicFrame>
        <p:nvGraphicFramePr>
          <p:cNvPr id="17" name="Warranty table"/>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3840480"/>
                <a:gridCol w="3227832"/>
                <a:gridCol w="3840480"/>
              </a:tblGrid>
              <a:tr h="411480">
                <a:tc>
                  <a:txBody>
                    <a:bodyPr/>
                    <a:lstStyle/>
                    <a:p>
                      <a:pPr algn="l" indent="0" marL="0">
                        <a:buNone/>
                      </a:pPr>
                      <a:r>
                        <a:rPr lang="en-US" sz="1100" b="1" spc="200" kern="0" dirty="0">
                          <a:solidFill>
                            <a:schemeClr val="bg1"/>
                          </a:solidFill>
                          <a:latin typeface="IBM Plex Sans Arabic" pitchFamily="34" charset="0"/>
                          <a:ea typeface="IBM Plex Sans Arabic" pitchFamily="34" charset="-122"/>
                          <a:cs typeface="IBM Plex Sans Arabic" pitchFamily="34" charset="-120"/>
                        </a:rPr>
                        <a:t>CATEGORY</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100" b="1" spc="200" kern="0" dirty="0">
                          <a:solidFill>
                            <a:schemeClr val="bg1"/>
                          </a:solidFill>
                          <a:latin typeface="IBM Plex Sans Arabic" pitchFamily="34" charset="0"/>
                          <a:ea typeface="IBM Plex Sans Arabic" pitchFamily="34" charset="-122"/>
                          <a:cs typeface="IBM Plex Sans Arabic" pitchFamily="34" charset="-120"/>
                        </a:rPr>
                        <a:t>WARRANTY  |  الضمان</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c>
                  <a:txBody>
                    <a:bodyPr/>
                    <a:lstStyle/>
                    <a:p>
                      <a:pPr rtl="1" algn="r" indent="0" marL="0">
                        <a:buNone/>
                      </a:pPr>
                      <a:r>
                        <a:rPr lang="en-US" sz="1100" b="1" dirty="0">
                          <a:solidFill>
                            <a:schemeClr val="bg1"/>
                          </a:solidFill>
                          <a:latin typeface="IBM Plex Sans Arabic" pitchFamily="34" charset="0"/>
                          <a:ea typeface="IBM Plex Sans Arabic" pitchFamily="34" charset="-122"/>
                          <a:cs typeface="IBM Plex Sans Arabic" pitchFamily="34" charset="-120"/>
                        </a:rPr>
                        <a:t>الفئة</a:t>
                      </a:r>
                      <a:endParaRPr lang="en-US" sz="1100" dirty="0">
                        <a:latin typeface="IBM Plex Sans Arabic" charset="0"/>
                        <a:ea typeface="IBM Plex Sans Arabic" charset="0"/>
                        <a:cs typeface="IBM Plex Sans Arabic" charset="0"/>
                      </a:endParaRPr>
                    </a:p>
                  </a:txBody>
                  <a:tcPr marL="228600" marR="228600" marT="73152" marB="73152" anchor="ctr">
                    <a:lnL w="0" cap="flat" cmpd="sng" algn="ctr">
                      <a:noFill/>
                    </a:lnL>
                    <a:lnR w="0" cap="flat" cmpd="sng" algn="ctr">
                      <a:noFill/>
                    </a:lnR>
                    <a:lnT w="0" cap="flat" cmpd="sng" algn="ctr">
                      <a:noFill/>
                    </a:lnT>
                    <a:lnB w="0" cap="flat" cmpd="sng" algn="ctr">
                      <a:noFill/>
                    </a:lnB>
                    <a:solidFill>
                      <a:schemeClr val="tx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Electrical Accessories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1 Year</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سنة واحدة</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الإكسسوارات الكهربائية</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Charging Adapters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1 Year</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سنة واحدة</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محولات الشحن</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EVSPACE Chargers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2 Years</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سنتان</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شواحن EVSPACE</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Charger Installation</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2 Years</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سنتان</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خدمة تركيب الشواحن</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algn="l" indent="0" marL="0">
                        <a:buNone/>
                      </a:pPr>
                      <a:r>
                        <a:rPr lang="en-US" sz="1500" dirty="0">
                          <a:solidFill>
                            <a:schemeClr val="tx1"/>
                          </a:solidFill>
                          <a:latin typeface="IBM Plex Sans Arabic" pitchFamily="34" charset="0"/>
                          <a:ea typeface="IBM Plex Sans Arabic" pitchFamily="34" charset="-122"/>
                          <a:cs typeface="IBM Plex Sans Arabic" pitchFamily="34" charset="-120"/>
                        </a:rPr>
                        <a:t>Other Accessories</a:t>
                      </a:r>
                      <a:endParaRPr lang="en-US"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Product-specific</a:t>
                      </a:r>
                      <a:pPr algn="ctr" indent="0" marL="0">
                        <a:buNone/>
                      </a:pPr>
                      <a:r>
                        <a:rPr lang="en-US" sz="1300" dirty="0">
                          <a:solidFill>
                            <a:schemeClr val="accent3"/>
                          </a:solidFill>
                          <a:latin typeface="IBM Plex Sans Arabic" pitchFamily="34" charset="0"/>
                          <a:ea typeface="IBM Plex Sans Arabic" pitchFamily="34" charset="-122"/>
                          <a:cs typeface="IBM Plex Sans Arabic" pitchFamily="34" charset="-120"/>
                        </a:rPr>
                        <a:t>   |   </a:t>
                      </a:r>
                      <a:pPr algn="ctr" indent="0" marL="0">
                        <a:buNone/>
                      </a:pPr>
                      <a:r>
                        <a:rPr lang="en-US" sz="1500" b="1" dirty="0">
                          <a:solidFill>
                            <a:schemeClr val="accent1"/>
                          </a:solidFill>
                          <a:latin typeface="IBM Plex Sans Arabic" pitchFamily="34" charset="0"/>
                          <a:ea typeface="IBM Plex Sans Arabic" pitchFamily="34" charset="-122"/>
                          <a:cs typeface="IBM Plex Sans Arabic" pitchFamily="34" charset="-120"/>
                        </a:rPr>
                        <a:t>حسب المنتج</a:t>
                      </a:r>
                      <a:endParaRPr lang="en-US" sz="1200" dirty="0"/>
                    </a:p>
                  </a:txBody>
                  <a:tcPr marL="182880" marR="182880" marT="91440" marB="9144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rtl="1" algn="r" indent="0" marL="0">
                        <a:buNone/>
                      </a:pPr>
                      <a:r>
                        <a:rPr lang="ar-AE" altLang="en-US" sz="1500" dirty="0">
                          <a:solidFill>
                            <a:schemeClr val="tx1"/>
                          </a:solidFill>
                          <a:latin typeface="IBM Plex Sans Arabic" pitchFamily="34" charset="0"/>
                          <a:ea typeface="IBM Plex Sans Arabic" pitchFamily="34" charset="-122"/>
                          <a:cs typeface="IBM Plex Sans Arabic" pitchFamily="34" charset="-120"/>
                        </a:rPr>
                        <a:t>الإكسسوارات الأخرى</a:t>
                      </a:r>
                      <a:endParaRPr lang="ar-AE" sz="1500" dirty="0">
                        <a:latin typeface="IBM Plex Sans Arabic" charset="0"/>
                        <a:ea typeface="IBM Plex Sans Arabic" charset="0"/>
                        <a:cs typeface="IBM Plex Sans Arabic" charset="0"/>
                      </a:endParaRPr>
                    </a:p>
                  </a:txBody>
                  <a:tcPr marL="228600" marR="228600" marT="91440" marB="9144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pic>
        <p:nvPicPr>
          <p:cNvPr id="7" name="Warranty icon" descr="icon">    </p:cNvPr>
          <p:cNvPicPr>
            <a:picLocks noChangeAspect="1"/>
          </p:cNvPicPr>
          <p:nvPr/>
        </p:nvPicPr>
        <p:blipFill>
          <a:blip r:embed="rId1"/>
          <a:stretch>
            <a:fillRect/>
          </a:stretch>
        </p:blipFill>
        <p:spPr>
          <a:xfrm>
            <a:off x="640080" y="5120640"/>
            <a:ext cx="411480" cy="411480"/>
          </a:xfrm>
          <a:prstGeom prst="rect">
            <a:avLst/>
          </a:prstGeom>
        </p:spPr>
      </p:pic>
      <p:sp>
        <p:nvSpPr>
          <p:cNvPr id="8" name="Text 4"/>
          <p:cNvSpPr txBox="1"/>
          <p:nvPr/>
        </p:nvSpPr>
        <p:spPr>
          <a:xfrm>
            <a:off x="1280160" y="5074920"/>
            <a:ext cx="4663440" cy="777240"/>
          </a:xfrm>
          <a:prstGeom prst="rect">
            <a:avLst/>
          </a:prstGeom>
          <a:noFill/>
          <a:ln/>
        </p:spPr>
        <p:txBody>
          <a:bodyPr wrap="square" lIns="0" tIns="0" rIns="0" bIns="0" rtlCol="0" anchor="t"/>
          <a:lstStyle/>
          <a:p>
            <a:pPr algn="l" indent="0" marL="0">
              <a:buNone/>
            </a:pPr>
            <a:r>
              <a:rPr lang="en-US" sz="1050" dirty="0">
                <a:solidFill>
                  <a:schemeClr val="accent3"/>
                </a:solidFill>
                <a:latin typeface="IBM Plex Sans Arabic" pitchFamily="34" charset="0"/>
                <a:ea typeface="IBM Plex Sans Arabic" pitchFamily="34" charset="-122"/>
                <a:cs typeface="IBM Plex Sans Arabic" pitchFamily="34" charset="-120"/>
              </a:rPr>
              <a:t>Warranty coverage is subject to the applicable product or service terms and conditions and may vary according to the product and its intended use.</a:t>
            </a:r>
            <a:endParaRPr lang="en-US" sz="1050" dirty="0"/>
          </a:p>
        </p:txBody>
      </p:sp>
      <p:sp>
        <p:nvSpPr>
          <p:cNvPr id="9" name="Text 5"/>
          <p:cNvSpPr txBox="1"/>
          <p:nvPr/>
        </p:nvSpPr>
        <p:spPr>
          <a:xfrm>
            <a:off x="6430975" y="5074920"/>
            <a:ext cx="5120640" cy="777240"/>
          </a:xfrm>
          <a:prstGeom prst="rect">
            <a:avLst/>
          </a:prstGeom>
          <a:noFill/>
          <a:ln/>
        </p:spPr>
        <p:txBody>
          <a:bodyPr wrap="square" lIns="0" tIns="0" rIns="0" bIns="0" rtlCol="0" anchor="t"/>
          <a:lstStyle/>
          <a:p>
            <a:pPr rtl="1" algn="r" indent="0" marL="0">
              <a:buNone/>
            </a:pPr>
            <a:r>
              <a:rPr lang="ar-AE" altLang="en-US" sz="1050" dirty="0">
                <a:solidFill>
                  <a:schemeClr val="accent3"/>
                </a:solidFill>
                <a:latin typeface="IBM Plex Sans Arabic" pitchFamily="34" charset="0"/>
                <a:ea typeface="IBM Plex Sans Arabic" pitchFamily="34" charset="-122"/>
                <a:cs typeface="IBM Plex Sans Arabic" pitchFamily="34" charset="-120"/>
              </a:rPr>
              <a:t>تطبق شروط وأحكام الضمان الخاصة بكل منتج أو خدمة، وقد تختلف التغطية وفقاً لطبيعة المنتج وطريقة الاستخدام.</a:t>
            </a:r>
            <a:endParaRPr lang="ar-AE" sz="10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Online Shopping &amp; Delivery</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التسوق الإلكتروني والتوصيل</a:t>
            </a:r>
            <a:endParaRPr lang="ar-AE" sz="3000" dirty="0"/>
          </a:p>
        </p:txBody>
      </p:sp>
      <p:pic>
        <p:nvPicPr>
          <p:cNvPr id="6" name="Devices" descr="Online store on laptop and phone">    </p:cNvPr>
          <p:cNvPicPr>
            <a:picLocks noChangeAspect="1"/>
          </p:cNvPicPr>
          <p:nvPr/>
        </p:nvPicPr>
        <p:blipFill>
          <a:blip r:embed="rId2"/>
          <a:stretch>
            <a:fillRect/>
          </a:stretch>
        </p:blipFill>
        <p:spPr>
          <a:xfrm>
            <a:off x="5989320" y="1508760"/>
            <a:ext cx="5577840" cy="3532632"/>
          </a:xfrm>
          <a:prstGeom prst="rect">
            <a:avLst/>
          </a:prstGeom>
        </p:spPr>
      </p:pic>
      <p:sp>
        <p:nvSpPr>
          <p:cNvPr id="7" name="Text 4"/>
          <p:cNvSpPr txBox="1"/>
          <p:nvPr/>
        </p:nvSpPr>
        <p:spPr>
          <a:xfrm>
            <a:off x="640080" y="1691640"/>
            <a:ext cx="5029200" cy="594360"/>
          </a:xfrm>
          <a:prstGeom prst="rect">
            <a:avLst/>
          </a:prstGeom>
          <a:noFill/>
          <a:ln/>
        </p:spPr>
        <p:txBody>
          <a:bodyPr wrap="square" lIns="0" tIns="0" rIns="0" bIns="0" rtlCol="0" anchor="t"/>
          <a:lstStyle/>
          <a:p>
            <a:pPr algn="l" indent="0" marL="0">
              <a:buNone/>
            </a:pPr>
            <a:r>
              <a:rPr lang="en-US" sz="3600" dirty="0">
                <a:solidFill>
                  <a:schemeClr val="bg1"/>
                </a:solidFill>
                <a:latin typeface="IBM Plex Sans Arabic Light" pitchFamily="34" charset="0"/>
                <a:ea typeface="IBM Plex Sans Arabic Light" pitchFamily="34" charset="-122"/>
                <a:cs typeface="IBM Plex Sans Arabic Light" pitchFamily="34" charset="-120"/>
              </a:rPr>
              <a:t>Order Today.</a:t>
            </a:r>
            <a:endParaRPr lang="en-US" sz="3600" dirty="0"/>
          </a:p>
        </p:txBody>
      </p:sp>
      <p:sp>
        <p:nvSpPr>
          <p:cNvPr id="8" name="Text 5"/>
          <p:cNvSpPr txBox="1"/>
          <p:nvPr/>
        </p:nvSpPr>
        <p:spPr>
          <a:xfrm>
            <a:off x="640080" y="2286000"/>
            <a:ext cx="5029200" cy="594360"/>
          </a:xfrm>
          <a:prstGeom prst="rect">
            <a:avLst/>
          </a:prstGeom>
          <a:noFill/>
          <a:ln/>
        </p:spPr>
        <p:txBody>
          <a:bodyPr wrap="square" lIns="0" tIns="0" rIns="0" bIns="0" rtlCol="0" anchor="t"/>
          <a:lstStyle/>
          <a:p>
            <a:pPr algn="l" indent="0" marL="0">
              <a:buNone/>
            </a:pPr>
            <a:r>
              <a:rPr lang="en-US" sz="3600" dirty="0">
                <a:solidFill>
                  <a:schemeClr val="accent2"/>
                </a:solidFill>
                <a:latin typeface="IBM Plex Sans Arabic Light" pitchFamily="34" charset="0"/>
                <a:ea typeface="IBM Plex Sans Arabic Light" pitchFamily="34" charset="-122"/>
                <a:cs typeface="IBM Plex Sans Arabic Light" pitchFamily="34" charset="-120"/>
              </a:rPr>
              <a:t>Receive Tomorrow.</a:t>
            </a:r>
            <a:endParaRPr lang="en-US" sz="3600" dirty="0"/>
          </a:p>
        </p:txBody>
      </p:sp>
      <p:sp>
        <p:nvSpPr>
          <p:cNvPr id="9" name="Text 6"/>
          <p:cNvSpPr txBox="1"/>
          <p:nvPr/>
        </p:nvSpPr>
        <p:spPr>
          <a:xfrm>
            <a:off x="640080" y="3017520"/>
            <a:ext cx="5029200" cy="457200"/>
          </a:xfrm>
          <a:prstGeom prst="rect">
            <a:avLst/>
          </a:prstGeom>
          <a:noFill/>
          <a:ln/>
        </p:spPr>
        <p:txBody>
          <a:bodyPr wrap="square" lIns="0" tIns="0" rIns="0" bIns="0" rtlCol="0" anchor="t"/>
          <a:lstStyle/>
          <a:p>
            <a:pPr rtl="1" algn="r" indent="0" marL="0">
              <a:buNone/>
            </a:pPr>
            <a:r>
              <a:rPr lang="ar-AE" altLang="en-US" sz="2400" b="1" dirty="0">
                <a:solidFill>
                  <a:schemeClr val="bg1"/>
                </a:solidFill>
                <a:latin typeface="IBM Plex Sans Arabic" pitchFamily="34" charset="0"/>
                <a:ea typeface="IBM Plex Sans Arabic" pitchFamily="34" charset="-122"/>
                <a:cs typeface="IBM Plex Sans Arabic" pitchFamily="34" charset="-120"/>
              </a:rPr>
              <a:t>اطلب اليوم، واستلم غداً.</a:t>
            </a:r>
            <a:endParaRPr lang="ar-AE" sz="2400" dirty="0"/>
          </a:p>
        </p:txBody>
      </p:sp>
      <p:sp>
        <p:nvSpPr>
          <p:cNvPr id="10" name="Text 7"/>
          <p:cNvSpPr txBox="1"/>
          <p:nvPr/>
        </p:nvSpPr>
        <p:spPr>
          <a:xfrm>
            <a:off x="640080" y="3703320"/>
            <a:ext cx="5029200" cy="137160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Browse and order with ease, with delivery options across the UAE and Oman. Next-day delivery is available for eligible orders, depending on location, order cut-off times and product availability; deliveries are handled by third-party logistics providers.</a:t>
            </a:r>
            <a:endParaRPr lang="en-US" sz="1200" dirty="0"/>
          </a:p>
        </p:txBody>
      </p:sp>
      <p:sp>
        <p:nvSpPr>
          <p:cNvPr id="11" name="Text 8"/>
          <p:cNvSpPr txBox="1"/>
          <p:nvPr/>
        </p:nvSpPr>
        <p:spPr>
          <a:xfrm>
            <a:off x="640080" y="4892040"/>
            <a:ext cx="5029200" cy="118872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تسوق إلكتروني سهل مع خيارات توصيل داخل الإمارات وسلطنة عُمان. يتوفر التوصيل في اليوم التالي للطلبات المؤهلة حسب المنطقة ووقت الطلب وتوفر المنتج، وتُنفذ عمليات التوصيل عبر شركات شحن خارجية.</a:t>
            </a:r>
            <a:endParaRPr lang="ar-AE" sz="1200" dirty="0"/>
          </a:p>
        </p:txBody>
      </p:sp>
      <p:pic>
        <p:nvPicPr>
          <p:cNvPr id="12" name="Website icon" descr="website icon">    </p:cNvPr>
          <p:cNvPicPr>
            <a:picLocks noChangeAspect="1"/>
          </p:cNvPicPr>
          <p:nvPr/>
        </p:nvPicPr>
        <p:blipFill>
          <a:blip r:embed="rId3"/>
          <a:stretch>
            <a:fillRect/>
          </a:stretch>
        </p:blipFill>
        <p:spPr>
          <a:xfrm>
            <a:off x="6400800" y="5577840"/>
            <a:ext cx="365760" cy="365760"/>
          </a:xfrm>
          <a:prstGeom prst="rect">
            <a:avLst/>
          </a:prstGeom>
        </p:spPr>
      </p:pic>
      <p:sp>
        <p:nvSpPr>
          <p:cNvPr id="13" name="Text 9"/>
          <p:cNvSpPr txBox="1"/>
          <p:nvPr/>
        </p:nvSpPr>
        <p:spPr>
          <a:xfrm>
            <a:off x="6903720" y="5614416"/>
            <a:ext cx="2926080" cy="320040"/>
          </a:xfrm>
          <a:prstGeom prst="rect">
            <a:avLst/>
          </a:prstGeom>
          <a:noFill/>
          <a:ln/>
        </p:spPr>
        <p:txBody>
          <a:bodyPr wrap="square" lIns="0" tIns="0" rIns="0" bIns="0" rtlCol="0" anchor="t"/>
          <a:lstStyle/>
          <a:p>
            <a:pPr algn="l" indent="0" marL="0">
              <a:buNone/>
            </a:pPr>
            <a:r>
              <a:rPr lang="en-US" sz="1600" b="1" dirty="0">
                <a:solidFill>
                  <a:schemeClr val="bg1"/>
                </a:solidFill>
                <a:latin typeface="IBM Plex Sans Arabic" pitchFamily="34" charset="0"/>
                <a:ea typeface="IBM Plex Sans Arabic" pitchFamily="34" charset="-122"/>
                <a:cs typeface="IBM Plex Sans Arabic" pitchFamily="34" charset="-120"/>
              </a:rPr>
              <a:t>evcarsuae.com</a:t>
            </a:r>
            <a:endParaRPr lang="en-US" sz="1600" dirty="0"/>
          </a:p>
        </p:txBody>
      </p:sp>
      <p:pic>
        <p:nvPicPr>
          <p:cNvPr id="14" name="Delivery icon" descr="delivery icon">    </p:cNvPr>
          <p:cNvPicPr>
            <a:picLocks noChangeAspect="1"/>
          </p:cNvPicPr>
          <p:nvPr/>
        </p:nvPicPr>
        <p:blipFill>
          <a:blip r:embed="rId4"/>
          <a:stretch>
            <a:fillRect/>
          </a:stretch>
        </p:blipFill>
        <p:spPr>
          <a:xfrm>
            <a:off x="9326880" y="5577840"/>
            <a:ext cx="365760" cy="365760"/>
          </a:xfrm>
          <a:prstGeom prst="rect">
            <a:avLst/>
          </a:prstGeom>
        </p:spPr>
      </p:pic>
      <p:sp>
        <p:nvSpPr>
          <p:cNvPr id="15" name="Text 10"/>
          <p:cNvSpPr txBox="1"/>
          <p:nvPr/>
        </p:nvSpPr>
        <p:spPr>
          <a:xfrm>
            <a:off x="9829800" y="5614416"/>
            <a:ext cx="1828800" cy="320040"/>
          </a:xfrm>
          <a:prstGeom prst="rect">
            <a:avLst/>
          </a:prstGeom>
          <a:noFill/>
          <a:ln/>
        </p:spPr>
        <p:txBody>
          <a:bodyPr wrap="square" lIns="0" tIns="0" rIns="0" bIns="0" rtlCol="0" anchor="t"/>
          <a:lstStyle/>
          <a:p>
            <a:pPr algn="l" indent="0" marL="0">
              <a:buNone/>
            </a:pPr>
            <a:r>
              <a:rPr lang="en-US" sz="1400" dirty="0">
                <a:solidFill>
                  <a:schemeClr val="bg1"/>
                </a:solidFill>
                <a:latin typeface="IBM Plex Sans Arabic" pitchFamily="34" charset="0"/>
                <a:ea typeface="IBM Plex Sans Arabic" pitchFamily="34" charset="-122"/>
                <a:cs typeface="IBM Plex Sans Arabic" pitchFamily="34" charset="-120"/>
              </a:rPr>
              <a:t>UAE  ·  Oman</a:t>
            </a:r>
            <a:endParaRPr lang="en-US" sz="14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Exhibitions &amp; Events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المعارض والفعاليات</a:t>
            </a:r>
            <a:endParaRPr lang="ar-AE" sz="3000" dirty="0"/>
          </a:p>
        </p:txBody>
      </p:sp>
      <p:sp>
        <p:nvSpPr>
          <p:cNvPr id="6" name="Exhibition panel"/>
          <p:cNvSpPr/>
          <p:nvPr/>
        </p:nvSpPr>
        <p:spPr>
          <a:xfrm>
            <a:off x="640080" y="1691640"/>
            <a:ext cx="4206240" cy="4389120"/>
          </a:xfrm>
          <a:prstGeom prst="roundRect">
            <a:avLst>
              <a:gd name="adj" fmla="val 2174"/>
            </a:avLst>
          </a:prstGeom>
          <a:solidFill>
            <a:schemeClr val="tx1"/>
          </a:solidFill>
          <a:ln/>
        </p:spPr>
      </p:sp>
      <p:pic>
        <p:nvPicPr>
          <p:cNvPr id="7" name="Exhibition icon" descr="icon">    </p:cNvPr>
          <p:cNvPicPr>
            <a:picLocks noChangeAspect="1"/>
          </p:cNvPicPr>
          <p:nvPr/>
        </p:nvPicPr>
        <p:blipFill>
          <a:blip r:embed="rId1"/>
          <a:stretch>
            <a:fillRect/>
          </a:stretch>
        </p:blipFill>
        <p:spPr>
          <a:xfrm>
            <a:off x="3657600" y="2011680"/>
            <a:ext cx="640080" cy="640080"/>
          </a:xfrm>
          <a:prstGeom prst="rect">
            <a:avLst/>
          </a:prstGeom>
        </p:spPr>
      </p:pic>
      <p:sp>
        <p:nvSpPr>
          <p:cNvPr id="8" name="Text 5"/>
          <p:cNvSpPr txBox="1"/>
          <p:nvPr/>
        </p:nvSpPr>
        <p:spPr>
          <a:xfrm>
            <a:off x="1005840" y="1920240"/>
            <a:ext cx="1828800" cy="868680"/>
          </a:xfrm>
          <a:prstGeom prst="rect">
            <a:avLst/>
          </a:prstGeom>
          <a:noFill/>
          <a:ln/>
        </p:spPr>
        <p:txBody>
          <a:bodyPr wrap="square" lIns="0" tIns="0" rIns="0" bIns="0" rtlCol="0" anchor="t"/>
          <a:lstStyle/>
          <a:p>
            <a:pPr algn="l" indent="0" marL="0">
              <a:buNone/>
            </a:pPr>
            <a:r>
              <a:rPr lang="en-US" sz="5600" dirty="0">
                <a:solidFill>
                  <a:schemeClr val="accent2"/>
                </a:solidFill>
                <a:latin typeface="IBM Plex Sans Arabic Light" pitchFamily="34" charset="0"/>
                <a:ea typeface="IBM Plex Sans Arabic Light" pitchFamily="34" charset="-122"/>
                <a:cs typeface="IBM Plex Sans Arabic Light" pitchFamily="34" charset="-120"/>
              </a:rPr>
              <a:t>6</a:t>
            </a:r>
            <a:endParaRPr lang="en-US" sz="5600" dirty="0"/>
          </a:p>
        </p:txBody>
      </p:sp>
      <p:sp>
        <p:nvSpPr>
          <p:cNvPr id="9" name="Text 6"/>
          <p:cNvSpPr txBox="1"/>
          <p:nvPr/>
        </p:nvSpPr>
        <p:spPr>
          <a:xfrm>
            <a:off x="1005840" y="2834640"/>
            <a:ext cx="3291840" cy="274320"/>
          </a:xfrm>
          <a:prstGeom prst="rect">
            <a:avLst/>
          </a:prstGeom>
          <a:noFill/>
          <a:ln/>
        </p:spPr>
        <p:txBody>
          <a:bodyPr wrap="square" lIns="0" tIns="0" rIns="0" bIns="0" rtlCol="0" anchor="t"/>
          <a:lstStyle/>
          <a:p>
            <a:pPr algn="l" indent="0" marL="0">
              <a:buNone/>
            </a:pPr>
            <a:r>
              <a:rPr lang="en-US" sz="1300" b="1" dirty="0">
                <a:solidFill>
                  <a:schemeClr val="bg1"/>
                </a:solidFill>
                <a:latin typeface="IBM Plex Sans Arabic" pitchFamily="34" charset="0"/>
                <a:ea typeface="IBM Plex Sans Arabic" pitchFamily="34" charset="-122"/>
                <a:cs typeface="IBM Plex Sans Arabic" pitchFamily="34" charset="-120"/>
              </a:rPr>
              <a:t>Exhibitions, 2025 – 2026</a:t>
            </a:r>
            <a:endParaRPr lang="en-US" sz="1300" dirty="0"/>
          </a:p>
        </p:txBody>
      </p:sp>
      <p:sp>
        <p:nvSpPr>
          <p:cNvPr id="10" name="Text 7"/>
          <p:cNvSpPr txBox="1"/>
          <p:nvPr/>
        </p:nvSpPr>
        <p:spPr>
          <a:xfrm>
            <a:off x="1005840" y="3127248"/>
            <a:ext cx="3291840" cy="274320"/>
          </a:xfrm>
          <a:prstGeom prst="rect">
            <a:avLst/>
          </a:prstGeom>
          <a:noFill/>
          <a:ln/>
        </p:spPr>
        <p:txBody>
          <a:bodyPr wrap="square" lIns="0" tIns="0" rIns="0" bIns="0" rtlCol="0" anchor="t"/>
          <a:lstStyle/>
          <a:p>
            <a:pPr rtl="1" algn="r" indent="0" marL="0">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مشاركات في المعارض</a:t>
            </a:r>
            <a:endParaRPr lang="ar-AE" sz="1300" dirty="0"/>
          </a:p>
        </p:txBody>
      </p:sp>
      <p:sp>
        <p:nvSpPr>
          <p:cNvPr id="11" name="Text 8"/>
          <p:cNvSpPr txBox="1"/>
          <p:nvPr/>
        </p:nvSpPr>
        <p:spPr>
          <a:xfrm>
            <a:off x="1005840" y="3657600"/>
            <a:ext cx="3474720" cy="1097280"/>
          </a:xfrm>
          <a:prstGeom prst="rect">
            <a:avLst/>
          </a:prstGeom>
          <a:noFill/>
          <a:ln/>
        </p:spPr>
        <p:txBody>
          <a:bodyPr wrap="square" lIns="0" tIns="0" rIns="0" bIns="0" rtlCol="0" anchor="t"/>
          <a:lstStyle/>
          <a:p>
            <a:pPr algn="l" indent="0" marL="0">
              <a:buNone/>
            </a:pPr>
            <a:r>
              <a:rPr lang="en-US" sz="1200" dirty="0">
                <a:solidFill>
                  <a:schemeClr val="accent5"/>
                </a:solidFill>
                <a:latin typeface="IBM Plex Sans Arabic" pitchFamily="34" charset="0"/>
                <a:ea typeface="IBM Plex Sans Arabic" pitchFamily="34" charset="-122"/>
                <a:cs typeface="IBM Plex Sans Arabic" pitchFamily="34" charset="-120"/>
              </a:rPr>
              <a:t>Showcasing our accessories, charging solutions and specialized services, and engaging directly with customers and industry audiences.</a:t>
            </a:r>
            <a:endParaRPr lang="en-US" sz="1200" dirty="0"/>
          </a:p>
        </p:txBody>
      </p:sp>
      <p:sp>
        <p:nvSpPr>
          <p:cNvPr id="12" name="Text 9"/>
          <p:cNvSpPr txBox="1"/>
          <p:nvPr/>
        </p:nvSpPr>
        <p:spPr>
          <a:xfrm>
            <a:off x="1005840" y="4846320"/>
            <a:ext cx="3474720" cy="1097280"/>
          </a:xfrm>
          <a:prstGeom prst="rect">
            <a:avLst/>
          </a:prstGeom>
          <a:noFill/>
          <a:ln/>
        </p:spPr>
        <p:txBody>
          <a:bodyPr wrap="square" lIns="0" tIns="0" rIns="0" bIns="0" rtlCol="0" anchor="t"/>
          <a:lstStyle/>
          <a:p>
            <a:pPr rtl="1" algn="r" indent="0" marL="0">
              <a:buNone/>
            </a:pPr>
            <a:r>
              <a:rPr lang="ar-AE" altLang="en-US" sz="1200" dirty="0">
                <a:solidFill>
                  <a:schemeClr val="accent5"/>
                </a:solidFill>
                <a:latin typeface="IBM Plex Sans Arabic" pitchFamily="34" charset="0"/>
                <a:ea typeface="IBM Plex Sans Arabic" pitchFamily="34" charset="-122"/>
                <a:cs typeface="IBM Plex Sans Arabic" pitchFamily="34" charset="-120"/>
              </a:rPr>
              <a:t>استعراض المنتجات وحلول الشحن والخدمات المتخصصة، والتواصل المباشر مع العملاء والمهتمين بالقطاع.</a:t>
            </a:r>
            <a:endParaRPr lang="ar-AE" sz="1200" dirty="0"/>
          </a:p>
        </p:txBody>
      </p:sp>
      <p:sp>
        <p:nvSpPr>
          <p:cNvPr id="13" name="Exhibition row 1"/>
          <p:cNvSpPr/>
          <p:nvPr/>
        </p:nvSpPr>
        <p:spPr>
          <a:xfrm>
            <a:off x="5212080" y="1691640"/>
            <a:ext cx="6339535" cy="640080"/>
          </a:xfrm>
          <a:prstGeom prst="roundRect">
            <a:avLst>
              <a:gd name="adj" fmla="val 11429"/>
            </a:avLst>
          </a:prstGeom>
          <a:solidFill>
            <a:schemeClr val="bg2"/>
          </a:solidFill>
          <a:ln/>
        </p:spPr>
      </p:sp>
      <p:sp>
        <p:nvSpPr>
          <p:cNvPr id="14" name="Text 11"/>
          <p:cNvSpPr txBox="1"/>
          <p:nvPr/>
        </p:nvSpPr>
        <p:spPr>
          <a:xfrm>
            <a:off x="5486400" y="180136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15" name="Text 12"/>
          <p:cNvSpPr txBox="1"/>
          <p:nvPr/>
        </p:nvSpPr>
        <p:spPr>
          <a:xfrm>
            <a:off x="6492240" y="178308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Custom Show Emirates</a:t>
            </a:r>
            <a:endParaRPr lang="en-US" sz="1250" dirty="0"/>
          </a:p>
        </p:txBody>
      </p:sp>
      <p:sp>
        <p:nvSpPr>
          <p:cNvPr id="16" name="Exhibition row 2"/>
          <p:cNvSpPr/>
          <p:nvPr/>
        </p:nvSpPr>
        <p:spPr>
          <a:xfrm>
            <a:off x="5212080" y="2423160"/>
            <a:ext cx="6339535" cy="640080"/>
          </a:xfrm>
          <a:prstGeom prst="roundRect">
            <a:avLst>
              <a:gd name="adj" fmla="val 11429"/>
            </a:avLst>
          </a:prstGeom>
          <a:solidFill>
            <a:schemeClr val="bg2"/>
          </a:solidFill>
          <a:ln/>
        </p:spPr>
      </p:sp>
      <p:sp>
        <p:nvSpPr>
          <p:cNvPr id="17" name="Text 14"/>
          <p:cNvSpPr txBox="1"/>
          <p:nvPr/>
        </p:nvSpPr>
        <p:spPr>
          <a:xfrm>
            <a:off x="5486400" y="253288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18" name="Text 15"/>
          <p:cNvSpPr txBox="1"/>
          <p:nvPr/>
        </p:nvSpPr>
        <p:spPr>
          <a:xfrm>
            <a:off x="6492240" y="251460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Evolve, Sharjah</a:t>
            </a:r>
            <a:endParaRPr lang="en-US" sz="1250" dirty="0"/>
          </a:p>
        </p:txBody>
      </p:sp>
      <p:sp>
        <p:nvSpPr>
          <p:cNvPr id="19" name="Exhibition row 3"/>
          <p:cNvSpPr/>
          <p:nvPr/>
        </p:nvSpPr>
        <p:spPr>
          <a:xfrm>
            <a:off x="5212080" y="3154680"/>
            <a:ext cx="6339535" cy="640080"/>
          </a:xfrm>
          <a:prstGeom prst="roundRect">
            <a:avLst>
              <a:gd name="adj" fmla="val 11429"/>
            </a:avLst>
          </a:prstGeom>
          <a:solidFill>
            <a:schemeClr val="bg2"/>
          </a:solidFill>
          <a:ln/>
        </p:spPr>
      </p:sp>
      <p:sp>
        <p:nvSpPr>
          <p:cNvPr id="20" name="Text 17"/>
          <p:cNvSpPr txBox="1"/>
          <p:nvPr/>
        </p:nvSpPr>
        <p:spPr>
          <a:xfrm>
            <a:off x="5486400" y="326440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21" name="Text 18"/>
          <p:cNvSpPr txBox="1"/>
          <p:nvPr/>
        </p:nvSpPr>
        <p:spPr>
          <a:xfrm>
            <a:off x="6492240" y="324612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Abu Dhabi International Hunting &amp; Equestrian Exhibition</a:t>
            </a:r>
            <a:endParaRPr lang="en-US" sz="1250" dirty="0"/>
          </a:p>
        </p:txBody>
      </p:sp>
      <p:sp>
        <p:nvSpPr>
          <p:cNvPr id="22" name="Exhibition row 4"/>
          <p:cNvSpPr/>
          <p:nvPr/>
        </p:nvSpPr>
        <p:spPr>
          <a:xfrm>
            <a:off x="5212080" y="3886200"/>
            <a:ext cx="6339535" cy="640080"/>
          </a:xfrm>
          <a:prstGeom prst="roundRect">
            <a:avLst>
              <a:gd name="adj" fmla="val 11429"/>
            </a:avLst>
          </a:prstGeom>
          <a:solidFill>
            <a:schemeClr val="bg2"/>
          </a:solidFill>
          <a:ln/>
        </p:spPr>
      </p:sp>
      <p:sp>
        <p:nvSpPr>
          <p:cNvPr id="23" name="Text 20"/>
          <p:cNvSpPr txBox="1"/>
          <p:nvPr/>
        </p:nvSpPr>
        <p:spPr>
          <a:xfrm>
            <a:off x="5486400" y="3995928"/>
            <a:ext cx="914400" cy="411480"/>
          </a:xfrm>
          <a:prstGeom prst="rect">
            <a:avLst/>
          </a:prstGeom>
          <a:noFill/>
          <a:ln/>
        </p:spPr>
        <p:txBody>
          <a:bodyPr wrap="square" lIns="0" tIns="0" rIns="0" bIns="0" rtlCol="0" anchor="ctr"/>
          <a:lstStyle/>
          <a:p>
            <a:pPr algn="l" indent="0" marL="0">
              <a:buNone/>
            </a:pPr>
            <a:r>
              <a:rPr lang="en-US" sz="2000" dirty="0">
                <a:solidFill>
                  <a:schemeClr val="tx1"/>
                </a:solidFill>
                <a:latin typeface="IBM Plex Sans Arabic Light" pitchFamily="34" charset="0"/>
                <a:ea typeface="IBM Plex Sans Arabic Light" pitchFamily="34" charset="-122"/>
                <a:cs typeface="IBM Plex Sans Arabic Light" pitchFamily="34" charset="-120"/>
              </a:rPr>
              <a:t>2025</a:t>
            </a:r>
            <a:endParaRPr lang="en-US" sz="2000" dirty="0"/>
          </a:p>
        </p:txBody>
      </p:sp>
      <p:sp>
        <p:nvSpPr>
          <p:cNvPr id="24" name="Text 21"/>
          <p:cNvSpPr txBox="1"/>
          <p:nvPr/>
        </p:nvSpPr>
        <p:spPr>
          <a:xfrm>
            <a:off x="6492240" y="397764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Al Ain International Hunting &amp; Equestrian Exhibition</a:t>
            </a:r>
            <a:endParaRPr lang="en-US" sz="1250" dirty="0"/>
          </a:p>
        </p:txBody>
      </p:sp>
      <p:sp>
        <p:nvSpPr>
          <p:cNvPr id="25" name="Exhibition row 5"/>
          <p:cNvSpPr/>
          <p:nvPr/>
        </p:nvSpPr>
        <p:spPr>
          <a:xfrm>
            <a:off x="5212080" y="4617720"/>
            <a:ext cx="6339535" cy="640080"/>
          </a:xfrm>
          <a:prstGeom prst="roundRect">
            <a:avLst>
              <a:gd name="adj" fmla="val 11429"/>
            </a:avLst>
          </a:prstGeom>
          <a:solidFill>
            <a:schemeClr val="bg2"/>
          </a:solidFill>
          <a:ln/>
        </p:spPr>
      </p:sp>
      <p:sp>
        <p:nvSpPr>
          <p:cNvPr id="26" name="Text 23"/>
          <p:cNvSpPr txBox="1"/>
          <p:nvPr/>
        </p:nvSpPr>
        <p:spPr>
          <a:xfrm>
            <a:off x="5486400" y="4727448"/>
            <a:ext cx="914400" cy="411480"/>
          </a:xfrm>
          <a:prstGeom prst="rect">
            <a:avLst/>
          </a:prstGeom>
          <a:noFill/>
          <a:ln/>
        </p:spPr>
        <p:txBody>
          <a:bodyPr wrap="square" lIns="0" tIns="0" rIns="0" bIns="0" rtlCol="0" anchor="ctr"/>
          <a:lstStyle/>
          <a:p>
            <a:pPr algn="l" indent="0" marL="0">
              <a:buNone/>
            </a:pPr>
            <a:r>
              <a:rPr lang="en-US" sz="2000" dirty="0">
                <a:solidFill>
                  <a:schemeClr val="accent1"/>
                </a:solidFill>
                <a:latin typeface="IBM Plex Sans Arabic Light" pitchFamily="34" charset="0"/>
                <a:ea typeface="IBM Plex Sans Arabic Light" pitchFamily="34" charset="-122"/>
                <a:cs typeface="IBM Plex Sans Arabic Light" pitchFamily="34" charset="-120"/>
              </a:rPr>
              <a:t>2026</a:t>
            </a:r>
            <a:endParaRPr lang="en-US" sz="2000" dirty="0"/>
          </a:p>
        </p:txBody>
      </p:sp>
      <p:sp>
        <p:nvSpPr>
          <p:cNvPr id="27" name="Text 24"/>
          <p:cNvSpPr txBox="1"/>
          <p:nvPr/>
        </p:nvSpPr>
        <p:spPr>
          <a:xfrm>
            <a:off x="6492240" y="470916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Abu Dhabi International Hunting &amp; Equestrian Exhibition</a:t>
            </a:r>
            <a:endParaRPr lang="en-US" sz="1250" dirty="0"/>
          </a:p>
        </p:txBody>
      </p:sp>
      <p:sp>
        <p:nvSpPr>
          <p:cNvPr id="28" name="Exhibition row 6"/>
          <p:cNvSpPr/>
          <p:nvPr/>
        </p:nvSpPr>
        <p:spPr>
          <a:xfrm>
            <a:off x="5212080" y="5349240"/>
            <a:ext cx="6339535" cy="640080"/>
          </a:xfrm>
          <a:prstGeom prst="roundRect">
            <a:avLst>
              <a:gd name="adj" fmla="val 11429"/>
            </a:avLst>
          </a:prstGeom>
          <a:solidFill>
            <a:schemeClr val="bg2"/>
          </a:solidFill>
          <a:ln/>
        </p:spPr>
      </p:sp>
      <p:sp>
        <p:nvSpPr>
          <p:cNvPr id="29" name="Text 26"/>
          <p:cNvSpPr txBox="1"/>
          <p:nvPr/>
        </p:nvSpPr>
        <p:spPr>
          <a:xfrm>
            <a:off x="5486400" y="5458968"/>
            <a:ext cx="914400" cy="411480"/>
          </a:xfrm>
          <a:prstGeom prst="rect">
            <a:avLst/>
          </a:prstGeom>
          <a:noFill/>
          <a:ln/>
        </p:spPr>
        <p:txBody>
          <a:bodyPr wrap="square" lIns="0" tIns="0" rIns="0" bIns="0" rtlCol="0" anchor="ctr"/>
          <a:lstStyle/>
          <a:p>
            <a:pPr algn="l" indent="0" marL="0">
              <a:buNone/>
            </a:pPr>
            <a:r>
              <a:rPr lang="en-US" sz="2000" dirty="0">
                <a:solidFill>
                  <a:schemeClr val="accent1"/>
                </a:solidFill>
                <a:latin typeface="IBM Plex Sans Arabic Light" pitchFamily="34" charset="0"/>
                <a:ea typeface="IBM Plex Sans Arabic Light" pitchFamily="34" charset="-122"/>
                <a:cs typeface="IBM Plex Sans Arabic Light" pitchFamily="34" charset="-120"/>
              </a:rPr>
              <a:t>2026</a:t>
            </a:r>
            <a:endParaRPr lang="en-US" sz="2000" dirty="0"/>
          </a:p>
        </p:txBody>
      </p:sp>
      <p:sp>
        <p:nvSpPr>
          <p:cNvPr id="30" name="Text 27"/>
          <p:cNvSpPr txBox="1"/>
          <p:nvPr/>
        </p:nvSpPr>
        <p:spPr>
          <a:xfrm>
            <a:off x="6492240" y="5440680"/>
            <a:ext cx="4785055" cy="457200"/>
          </a:xfrm>
          <a:prstGeom prst="rect">
            <a:avLst/>
          </a:prstGeom>
          <a:noFill/>
          <a:ln/>
        </p:spPr>
        <p:txBody>
          <a:bodyPr wrap="square" lIns="0" tIns="0" rIns="0" bIns="0" rtlCol="0" anchor="ctr"/>
          <a:lstStyle/>
          <a:p>
            <a:pPr algn="l" indent="0" marL="0">
              <a:buNone/>
            </a:pPr>
            <a:r>
              <a:rPr lang="en-US" sz="1250" dirty="0">
                <a:solidFill>
                  <a:schemeClr val="accent4"/>
                </a:solidFill>
                <a:latin typeface="IBM Plex Sans Arabic" pitchFamily="34" charset="0"/>
                <a:ea typeface="IBM Plex Sans Arabic" pitchFamily="34" charset="-122"/>
                <a:cs typeface="IBM Plex Sans Arabic" pitchFamily="34" charset="-120"/>
              </a:rPr>
              <a:t>Al Ain International Hunting &amp; Equestrian Exhibition</a:t>
            </a:r>
            <a:endParaRPr lang="en-US" sz="125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1"/>
                </a:solidFill>
                <a:latin typeface="IBM Plex Sans Arabic" pitchFamily="34" charset="0"/>
                <a:ea typeface="IBM Plex Sans Arabic" pitchFamily="34" charset="-122"/>
                <a:cs typeface="IBM Plex Sans Arabic" pitchFamily="34" charset="-120"/>
              </a:rPr>
              <a:t>05   ·   WHY EVCARS</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1"/>
                </a:solidFill>
                <a:latin typeface="IBM Plex Sans Arabic" pitchFamily="34" charset="0"/>
                <a:ea typeface="IBM Plex Sans Arabic" pitchFamily="34" charset="-122"/>
                <a:cs typeface="IBM Plex Sans Arabic" pitchFamily="34" charset="-120"/>
              </a:rPr>
              <a:t>لماذا نحن   ·   05</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tx1"/>
                </a:solidFill>
                <a:latin typeface="IBM Plex Sans Arabic Light" pitchFamily="34" charset="0"/>
                <a:ea typeface="IBM Plex Sans Arabic Light" pitchFamily="34" charset="-122"/>
                <a:cs typeface="IBM Plex Sans Arabic Light" pitchFamily="34" charset="-120"/>
              </a:rPr>
              <a:t>Why Choose EVCARS?</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tx1"/>
                </a:solidFill>
                <a:latin typeface="IBM Plex Sans Arabic Light" pitchFamily="34" charset="0"/>
                <a:ea typeface="IBM Plex Sans Arabic Light" pitchFamily="34" charset="-122"/>
                <a:cs typeface="IBM Plex Sans Arabic Light" pitchFamily="34" charset="-120"/>
              </a:rPr>
              <a:t>لماذا EVCARS؟</a:t>
            </a:r>
            <a:endParaRPr lang="ar-AE" sz="3000" dirty="0"/>
          </a:p>
        </p:txBody>
      </p:sp>
      <p:sp>
        <p:nvSpPr>
          <p:cNvPr id="6" name="Why tile 1"/>
          <p:cNvSpPr/>
          <p:nvPr/>
        </p:nvSpPr>
        <p:spPr>
          <a:xfrm>
            <a:off x="640080"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7" name="Why icon 1 circle"/>
          <p:cNvSpPr/>
          <p:nvPr/>
        </p:nvSpPr>
        <p:spPr>
          <a:xfrm>
            <a:off x="868680" y="1874520"/>
            <a:ext cx="502920" cy="502920"/>
          </a:xfrm>
          <a:prstGeom prst="ellipse">
            <a:avLst/>
          </a:prstGeom>
          <a:solidFill>
            <a:schemeClr val="accent6"/>
          </a:solidFill>
          <a:ln/>
        </p:spPr>
      </p:sp>
      <p:pic>
        <p:nvPicPr>
          <p:cNvPr id="8" name="Why icon 1" descr="icon">    </p:cNvPr>
          <p:cNvPicPr>
            <a:picLocks noChangeAspect="1"/>
          </p:cNvPicPr>
          <p:nvPr/>
        </p:nvPicPr>
        <p:blipFill>
          <a:blip r:embed="rId1"/>
          <a:stretch>
            <a:fillRect/>
          </a:stretch>
        </p:blipFill>
        <p:spPr>
          <a:xfrm>
            <a:off x="989381" y="1995221"/>
            <a:ext cx="261518" cy="261518"/>
          </a:xfrm>
          <a:prstGeom prst="rect">
            <a:avLst/>
          </a:prstGeom>
        </p:spPr>
      </p:pic>
      <p:sp>
        <p:nvSpPr>
          <p:cNvPr id="9" name="Text 6"/>
          <p:cNvSpPr txBox="1"/>
          <p:nvPr/>
        </p:nvSpPr>
        <p:spPr>
          <a:xfrm>
            <a:off x="2304288"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01</a:t>
            </a:r>
            <a:endParaRPr lang="en-US" sz="1600" dirty="0"/>
          </a:p>
        </p:txBody>
      </p:sp>
      <p:sp>
        <p:nvSpPr>
          <p:cNvPr id="10" name="Text 7"/>
          <p:cNvSpPr txBox="1"/>
          <p:nvPr/>
        </p:nvSpPr>
        <p:spPr>
          <a:xfrm>
            <a:off x="868680"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Specialization</a:t>
            </a:r>
            <a:endParaRPr lang="en-US" sz="1500" dirty="0"/>
          </a:p>
        </p:txBody>
      </p:sp>
      <p:sp>
        <p:nvSpPr>
          <p:cNvPr id="11" name="Text 8"/>
          <p:cNvSpPr txBox="1"/>
          <p:nvPr/>
        </p:nvSpPr>
        <p:spPr>
          <a:xfrm>
            <a:off x="868680"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التخصص</a:t>
            </a:r>
            <a:endParaRPr lang="ar-AE" sz="1400" dirty="0"/>
          </a:p>
        </p:txBody>
      </p:sp>
      <p:sp>
        <p:nvSpPr>
          <p:cNvPr id="12" name="Why tile 2"/>
          <p:cNvSpPr/>
          <p:nvPr/>
        </p:nvSpPr>
        <p:spPr>
          <a:xfrm>
            <a:off x="3417722"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13" name="Why icon 2 circle"/>
          <p:cNvSpPr/>
          <p:nvPr/>
        </p:nvSpPr>
        <p:spPr>
          <a:xfrm>
            <a:off x="3646322" y="1874520"/>
            <a:ext cx="502920" cy="502920"/>
          </a:xfrm>
          <a:prstGeom prst="ellipse">
            <a:avLst/>
          </a:prstGeom>
          <a:solidFill>
            <a:schemeClr val="accent6"/>
          </a:solidFill>
          <a:ln/>
        </p:spPr>
      </p:sp>
      <p:pic>
        <p:nvPicPr>
          <p:cNvPr id="14" name="Why icon 2" descr="icon">    </p:cNvPr>
          <p:cNvPicPr>
            <a:picLocks noChangeAspect="1"/>
          </p:cNvPicPr>
          <p:nvPr/>
        </p:nvPicPr>
        <p:blipFill>
          <a:blip r:embed="rId2"/>
          <a:stretch>
            <a:fillRect/>
          </a:stretch>
        </p:blipFill>
        <p:spPr>
          <a:xfrm>
            <a:off x="3767023" y="1995221"/>
            <a:ext cx="261518" cy="261518"/>
          </a:xfrm>
          <a:prstGeom prst="rect">
            <a:avLst/>
          </a:prstGeom>
        </p:spPr>
      </p:pic>
      <p:sp>
        <p:nvSpPr>
          <p:cNvPr id="15" name="Text 11"/>
          <p:cNvSpPr txBox="1"/>
          <p:nvPr/>
        </p:nvSpPr>
        <p:spPr>
          <a:xfrm>
            <a:off x="5081930"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02</a:t>
            </a:r>
            <a:endParaRPr lang="en-US" sz="1600" dirty="0"/>
          </a:p>
        </p:txBody>
      </p:sp>
      <p:sp>
        <p:nvSpPr>
          <p:cNvPr id="16" name="Text 12"/>
          <p:cNvSpPr txBox="1"/>
          <p:nvPr/>
        </p:nvSpPr>
        <p:spPr>
          <a:xfrm>
            <a:off x="3646322"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Branch Network</a:t>
            </a:r>
            <a:endParaRPr lang="en-US" sz="1500" dirty="0"/>
          </a:p>
        </p:txBody>
      </p:sp>
      <p:sp>
        <p:nvSpPr>
          <p:cNvPr id="17" name="Text 13"/>
          <p:cNvSpPr txBox="1"/>
          <p:nvPr/>
        </p:nvSpPr>
        <p:spPr>
          <a:xfrm>
            <a:off x="3646322"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شبكة الفروع</a:t>
            </a:r>
            <a:endParaRPr lang="ar-AE" sz="1400" dirty="0"/>
          </a:p>
        </p:txBody>
      </p:sp>
      <p:sp>
        <p:nvSpPr>
          <p:cNvPr id="18" name="Why tile 3"/>
          <p:cNvSpPr/>
          <p:nvPr/>
        </p:nvSpPr>
        <p:spPr>
          <a:xfrm>
            <a:off x="6195365"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19" name="Why icon 3 circle"/>
          <p:cNvSpPr/>
          <p:nvPr/>
        </p:nvSpPr>
        <p:spPr>
          <a:xfrm>
            <a:off x="6423965" y="1874520"/>
            <a:ext cx="502920" cy="502920"/>
          </a:xfrm>
          <a:prstGeom prst="ellipse">
            <a:avLst/>
          </a:prstGeom>
          <a:solidFill>
            <a:schemeClr val="accent6"/>
          </a:solidFill>
          <a:ln/>
        </p:spPr>
      </p:sp>
      <p:pic>
        <p:nvPicPr>
          <p:cNvPr id="20" name="Why icon 3" descr="icon">    </p:cNvPr>
          <p:cNvPicPr>
            <a:picLocks noChangeAspect="1"/>
          </p:cNvPicPr>
          <p:nvPr/>
        </p:nvPicPr>
        <p:blipFill>
          <a:blip r:embed="rId3"/>
          <a:stretch>
            <a:fillRect/>
          </a:stretch>
        </p:blipFill>
        <p:spPr>
          <a:xfrm>
            <a:off x="6544666" y="1995221"/>
            <a:ext cx="261518" cy="261518"/>
          </a:xfrm>
          <a:prstGeom prst="rect">
            <a:avLst/>
          </a:prstGeom>
        </p:spPr>
      </p:pic>
      <p:sp>
        <p:nvSpPr>
          <p:cNvPr id="21" name="Text 16"/>
          <p:cNvSpPr txBox="1"/>
          <p:nvPr/>
        </p:nvSpPr>
        <p:spPr>
          <a:xfrm>
            <a:off x="7859573"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03</a:t>
            </a:r>
            <a:endParaRPr lang="en-US" sz="1600" dirty="0"/>
          </a:p>
        </p:txBody>
      </p:sp>
      <p:sp>
        <p:nvSpPr>
          <p:cNvPr id="22" name="Text 17"/>
          <p:cNvSpPr txBox="1"/>
          <p:nvPr/>
        </p:nvSpPr>
        <p:spPr>
          <a:xfrm>
            <a:off x="6423965"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Product Variety</a:t>
            </a:r>
            <a:endParaRPr lang="en-US" sz="1500" dirty="0"/>
          </a:p>
        </p:txBody>
      </p:sp>
      <p:sp>
        <p:nvSpPr>
          <p:cNvPr id="23" name="Text 18"/>
          <p:cNvSpPr txBox="1"/>
          <p:nvPr/>
        </p:nvSpPr>
        <p:spPr>
          <a:xfrm>
            <a:off x="6423965"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المنتجات المتنوعة</a:t>
            </a:r>
            <a:endParaRPr lang="ar-AE" sz="1400" dirty="0"/>
          </a:p>
        </p:txBody>
      </p:sp>
      <p:sp>
        <p:nvSpPr>
          <p:cNvPr id="24" name="Why tile 4"/>
          <p:cNvSpPr/>
          <p:nvPr/>
        </p:nvSpPr>
        <p:spPr>
          <a:xfrm>
            <a:off x="8973007" y="1691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25" name="Why icon 4 circle"/>
          <p:cNvSpPr/>
          <p:nvPr/>
        </p:nvSpPr>
        <p:spPr>
          <a:xfrm>
            <a:off x="9201607" y="1874520"/>
            <a:ext cx="502920" cy="502920"/>
          </a:xfrm>
          <a:prstGeom prst="ellipse">
            <a:avLst/>
          </a:prstGeom>
          <a:solidFill>
            <a:schemeClr val="accent6"/>
          </a:solidFill>
          <a:ln/>
        </p:spPr>
      </p:sp>
      <p:pic>
        <p:nvPicPr>
          <p:cNvPr id="26" name="Why icon 4" descr="icon">    </p:cNvPr>
          <p:cNvPicPr>
            <a:picLocks noChangeAspect="1"/>
          </p:cNvPicPr>
          <p:nvPr/>
        </p:nvPicPr>
        <p:blipFill>
          <a:blip r:embed="rId4"/>
          <a:stretch>
            <a:fillRect/>
          </a:stretch>
        </p:blipFill>
        <p:spPr>
          <a:xfrm>
            <a:off x="9322308" y="1995221"/>
            <a:ext cx="261518" cy="261518"/>
          </a:xfrm>
          <a:prstGeom prst="rect">
            <a:avLst/>
          </a:prstGeom>
        </p:spPr>
      </p:pic>
      <p:sp>
        <p:nvSpPr>
          <p:cNvPr id="27" name="Text 21"/>
          <p:cNvSpPr txBox="1"/>
          <p:nvPr/>
        </p:nvSpPr>
        <p:spPr>
          <a:xfrm>
            <a:off x="10637215" y="1920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04</a:t>
            </a:r>
            <a:endParaRPr lang="en-US" sz="1600" dirty="0"/>
          </a:p>
        </p:txBody>
      </p:sp>
      <p:sp>
        <p:nvSpPr>
          <p:cNvPr id="28" name="Text 22"/>
          <p:cNvSpPr txBox="1"/>
          <p:nvPr/>
        </p:nvSpPr>
        <p:spPr>
          <a:xfrm>
            <a:off x="9201607" y="2788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Technical Teams</a:t>
            </a:r>
            <a:endParaRPr lang="en-US" sz="1500" dirty="0"/>
          </a:p>
        </p:txBody>
      </p:sp>
      <p:sp>
        <p:nvSpPr>
          <p:cNvPr id="29" name="Text 23"/>
          <p:cNvSpPr txBox="1"/>
          <p:nvPr/>
        </p:nvSpPr>
        <p:spPr>
          <a:xfrm>
            <a:off x="9201607" y="3172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الفرق الفنية</a:t>
            </a:r>
            <a:endParaRPr lang="ar-AE" sz="1400" dirty="0"/>
          </a:p>
        </p:txBody>
      </p:sp>
      <p:sp>
        <p:nvSpPr>
          <p:cNvPr id="30" name="Why tile 5"/>
          <p:cNvSpPr/>
          <p:nvPr/>
        </p:nvSpPr>
        <p:spPr>
          <a:xfrm>
            <a:off x="640080"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31" name="Why icon 5 circle"/>
          <p:cNvSpPr/>
          <p:nvPr/>
        </p:nvSpPr>
        <p:spPr>
          <a:xfrm>
            <a:off x="868680" y="4160520"/>
            <a:ext cx="502920" cy="502920"/>
          </a:xfrm>
          <a:prstGeom prst="ellipse">
            <a:avLst/>
          </a:prstGeom>
          <a:solidFill>
            <a:schemeClr val="accent6"/>
          </a:solidFill>
          <a:ln/>
        </p:spPr>
      </p:sp>
      <p:pic>
        <p:nvPicPr>
          <p:cNvPr id="32" name="Why icon 5" descr="icon">    </p:cNvPr>
          <p:cNvPicPr>
            <a:picLocks noChangeAspect="1"/>
          </p:cNvPicPr>
          <p:nvPr/>
        </p:nvPicPr>
        <p:blipFill>
          <a:blip r:embed="rId5"/>
          <a:stretch>
            <a:fillRect/>
          </a:stretch>
        </p:blipFill>
        <p:spPr>
          <a:xfrm>
            <a:off x="989381" y="4281221"/>
            <a:ext cx="261518" cy="261518"/>
          </a:xfrm>
          <a:prstGeom prst="rect">
            <a:avLst/>
          </a:prstGeom>
        </p:spPr>
      </p:pic>
      <p:sp>
        <p:nvSpPr>
          <p:cNvPr id="33" name="Text 26"/>
          <p:cNvSpPr txBox="1"/>
          <p:nvPr/>
        </p:nvSpPr>
        <p:spPr>
          <a:xfrm>
            <a:off x="2304288"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05</a:t>
            </a:r>
            <a:endParaRPr lang="en-US" sz="1600" dirty="0"/>
          </a:p>
        </p:txBody>
      </p:sp>
      <p:sp>
        <p:nvSpPr>
          <p:cNvPr id="34" name="Text 27"/>
          <p:cNvSpPr txBox="1"/>
          <p:nvPr/>
        </p:nvSpPr>
        <p:spPr>
          <a:xfrm>
            <a:off x="868680"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Free Installation</a:t>
            </a:r>
            <a:endParaRPr lang="en-US" sz="1500" dirty="0"/>
          </a:p>
        </p:txBody>
      </p:sp>
      <p:sp>
        <p:nvSpPr>
          <p:cNvPr id="35" name="Text 28"/>
          <p:cNvSpPr txBox="1"/>
          <p:nvPr/>
        </p:nvSpPr>
        <p:spPr>
          <a:xfrm>
            <a:off x="868680"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التركيب المجاني</a:t>
            </a:r>
            <a:endParaRPr lang="ar-AE" sz="1400" dirty="0"/>
          </a:p>
        </p:txBody>
      </p:sp>
      <p:sp>
        <p:nvSpPr>
          <p:cNvPr id="36" name="Why tile 6"/>
          <p:cNvSpPr/>
          <p:nvPr/>
        </p:nvSpPr>
        <p:spPr>
          <a:xfrm>
            <a:off x="3417722"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37" name="Why icon 6 circle"/>
          <p:cNvSpPr/>
          <p:nvPr/>
        </p:nvSpPr>
        <p:spPr>
          <a:xfrm>
            <a:off x="3646322" y="4160520"/>
            <a:ext cx="502920" cy="502920"/>
          </a:xfrm>
          <a:prstGeom prst="ellipse">
            <a:avLst/>
          </a:prstGeom>
          <a:solidFill>
            <a:schemeClr val="accent6"/>
          </a:solidFill>
          <a:ln/>
        </p:spPr>
      </p:sp>
      <p:pic>
        <p:nvPicPr>
          <p:cNvPr id="38" name="Why icon 6" descr="icon">    </p:cNvPr>
          <p:cNvPicPr>
            <a:picLocks noChangeAspect="1"/>
          </p:cNvPicPr>
          <p:nvPr/>
        </p:nvPicPr>
        <p:blipFill>
          <a:blip r:embed="rId6"/>
          <a:stretch>
            <a:fillRect/>
          </a:stretch>
        </p:blipFill>
        <p:spPr>
          <a:xfrm>
            <a:off x="3767023" y="4281221"/>
            <a:ext cx="261518" cy="261518"/>
          </a:xfrm>
          <a:prstGeom prst="rect">
            <a:avLst/>
          </a:prstGeom>
        </p:spPr>
      </p:pic>
      <p:sp>
        <p:nvSpPr>
          <p:cNvPr id="39" name="Text 31"/>
          <p:cNvSpPr txBox="1"/>
          <p:nvPr/>
        </p:nvSpPr>
        <p:spPr>
          <a:xfrm>
            <a:off x="5081930"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06</a:t>
            </a:r>
            <a:endParaRPr lang="en-US" sz="1600" dirty="0"/>
          </a:p>
        </p:txBody>
      </p:sp>
      <p:sp>
        <p:nvSpPr>
          <p:cNvPr id="40" name="Text 32"/>
          <p:cNvSpPr txBox="1"/>
          <p:nvPr/>
        </p:nvSpPr>
        <p:spPr>
          <a:xfrm>
            <a:off x="3646322"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Warranty Support</a:t>
            </a:r>
            <a:endParaRPr lang="en-US" sz="1500" dirty="0"/>
          </a:p>
        </p:txBody>
      </p:sp>
      <p:sp>
        <p:nvSpPr>
          <p:cNvPr id="41" name="Text 33"/>
          <p:cNvSpPr txBox="1"/>
          <p:nvPr/>
        </p:nvSpPr>
        <p:spPr>
          <a:xfrm>
            <a:off x="3646322"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الضمان</a:t>
            </a:r>
            <a:endParaRPr lang="ar-AE" sz="1400" dirty="0"/>
          </a:p>
        </p:txBody>
      </p:sp>
      <p:sp>
        <p:nvSpPr>
          <p:cNvPr id="42" name="Why tile 7"/>
          <p:cNvSpPr/>
          <p:nvPr/>
        </p:nvSpPr>
        <p:spPr>
          <a:xfrm>
            <a:off x="6195365" y="3977640"/>
            <a:ext cx="2578608" cy="2103120"/>
          </a:xfrm>
          <a:prstGeom prst="roundRect">
            <a:avLst>
              <a:gd name="adj" fmla="val 4348"/>
            </a:avLst>
          </a:prstGeom>
          <a:solidFill>
            <a:schemeClr val="bg1"/>
          </a:solidFill>
          <a:ln/>
          <a:effectLst>
            <a:outerShdw sx="100000" sy="100000" kx="0" ky="0" algn="bl" rotWithShape="0" blurRad="177800" dist="38100" dir="5400000">
              <a:srgbClr val="0B0D10">
                <a:alpha val="10000"/>
              </a:srgbClr>
            </a:outerShdw>
          </a:effectLst>
        </p:spPr>
      </p:sp>
      <p:sp>
        <p:nvSpPr>
          <p:cNvPr id="43" name="Why icon 7 circle"/>
          <p:cNvSpPr/>
          <p:nvPr/>
        </p:nvSpPr>
        <p:spPr>
          <a:xfrm>
            <a:off x="6423965" y="4160520"/>
            <a:ext cx="502920" cy="502920"/>
          </a:xfrm>
          <a:prstGeom prst="ellipse">
            <a:avLst/>
          </a:prstGeom>
          <a:solidFill>
            <a:schemeClr val="accent6"/>
          </a:solidFill>
          <a:ln/>
        </p:spPr>
      </p:sp>
      <p:pic>
        <p:nvPicPr>
          <p:cNvPr id="44" name="Why icon 7" descr="icon">    </p:cNvPr>
          <p:cNvPicPr>
            <a:picLocks noChangeAspect="1"/>
          </p:cNvPicPr>
          <p:nvPr/>
        </p:nvPicPr>
        <p:blipFill>
          <a:blip r:embed="rId7"/>
          <a:stretch>
            <a:fillRect/>
          </a:stretch>
        </p:blipFill>
        <p:spPr>
          <a:xfrm>
            <a:off x="6544666" y="4281221"/>
            <a:ext cx="261518" cy="261518"/>
          </a:xfrm>
          <a:prstGeom prst="rect">
            <a:avLst/>
          </a:prstGeom>
        </p:spPr>
      </p:pic>
      <p:sp>
        <p:nvSpPr>
          <p:cNvPr id="45" name="Text 36"/>
          <p:cNvSpPr txBox="1"/>
          <p:nvPr/>
        </p:nvSpPr>
        <p:spPr>
          <a:xfrm>
            <a:off x="7859573" y="4206240"/>
            <a:ext cx="685800" cy="320040"/>
          </a:xfrm>
          <a:prstGeom prst="rect">
            <a:avLst/>
          </a:prstGeom>
          <a:noFill/>
          <a:ln/>
        </p:spPr>
        <p:txBody>
          <a:bodyPr wrap="square" lIns="0" tIns="0" rIns="0" bIns="0" rtlCol="0" anchor="t"/>
          <a:lstStyle/>
          <a:p>
            <a:pPr algn="r" indent="0" marL="0">
              <a:buNone/>
            </a:pPr>
            <a:r>
              <a:rPr lang="en-US" sz="1600" dirty="0">
                <a:solidFill>
                  <a:schemeClr val="accent3"/>
                </a:solidFill>
                <a:latin typeface="IBM Plex Sans Arabic Light" pitchFamily="34" charset="0"/>
                <a:ea typeface="IBM Plex Sans Arabic Light" pitchFamily="34" charset="-122"/>
                <a:cs typeface="IBM Plex Sans Arabic Light" pitchFamily="34" charset="-120"/>
              </a:rPr>
              <a:t>07</a:t>
            </a:r>
            <a:endParaRPr lang="en-US" sz="1600" dirty="0"/>
          </a:p>
        </p:txBody>
      </p:sp>
      <p:sp>
        <p:nvSpPr>
          <p:cNvPr id="46" name="Text 37"/>
          <p:cNvSpPr txBox="1"/>
          <p:nvPr/>
        </p:nvSpPr>
        <p:spPr>
          <a:xfrm>
            <a:off x="6423965" y="5074920"/>
            <a:ext cx="2121408" cy="292608"/>
          </a:xfrm>
          <a:prstGeom prst="rect">
            <a:avLst/>
          </a:prstGeom>
          <a:noFill/>
          <a:ln/>
        </p:spPr>
        <p:txBody>
          <a:bodyPr wrap="square" lIns="0" tIns="0" rIns="0" bIns="0" rtlCol="0" anchor="t"/>
          <a:lstStyle/>
          <a:p>
            <a:pPr algn="l" indent="0" marL="0">
              <a:buNone/>
            </a:pPr>
            <a:r>
              <a:rPr lang="en-US" sz="1500" b="1" dirty="0">
                <a:solidFill>
                  <a:schemeClr val="tx1"/>
                </a:solidFill>
                <a:latin typeface="IBM Plex Sans Arabic" pitchFamily="34" charset="0"/>
                <a:ea typeface="IBM Plex Sans Arabic" pitchFamily="34" charset="-122"/>
                <a:cs typeface="IBM Plex Sans Arabic" pitchFamily="34" charset="-120"/>
              </a:rPr>
              <a:t>Convenient Shopping</a:t>
            </a:r>
            <a:endParaRPr lang="en-US" sz="1500" dirty="0"/>
          </a:p>
        </p:txBody>
      </p:sp>
      <p:sp>
        <p:nvSpPr>
          <p:cNvPr id="47" name="Text 38"/>
          <p:cNvSpPr txBox="1"/>
          <p:nvPr/>
        </p:nvSpPr>
        <p:spPr>
          <a:xfrm>
            <a:off x="6423965" y="5458968"/>
            <a:ext cx="2121408" cy="292608"/>
          </a:xfrm>
          <a:prstGeom prst="rect">
            <a:avLst/>
          </a:prstGeom>
          <a:noFill/>
          <a:ln/>
        </p:spPr>
        <p:txBody>
          <a:bodyPr wrap="square" lIns="0" tIns="0" rIns="0" bIns="0" rtlCol="0" anchor="t"/>
          <a:lstStyle/>
          <a:p>
            <a:pPr rtl="1" algn="r" indent="0" marL="0">
              <a:buNone/>
            </a:pPr>
            <a:r>
              <a:rPr lang="ar-AE" altLang="en-US" sz="1400" b="1" dirty="0">
                <a:solidFill>
                  <a:schemeClr val="accent1"/>
                </a:solidFill>
                <a:latin typeface="IBM Plex Sans Arabic" pitchFamily="34" charset="0"/>
                <a:ea typeface="IBM Plex Sans Arabic" pitchFamily="34" charset="-122"/>
                <a:cs typeface="IBM Plex Sans Arabic" pitchFamily="34" charset="-120"/>
              </a:rPr>
              <a:t>سهولة الطلب</a:t>
            </a:r>
            <a:endParaRPr lang="ar-AE" sz="1400" dirty="0"/>
          </a:p>
        </p:txBody>
      </p:sp>
      <p:sp>
        <p:nvSpPr>
          <p:cNvPr id="48" name="Brand tile"/>
          <p:cNvSpPr/>
          <p:nvPr/>
        </p:nvSpPr>
        <p:spPr>
          <a:xfrm>
            <a:off x="8973007" y="3977640"/>
            <a:ext cx="2578608" cy="2103120"/>
          </a:xfrm>
          <a:prstGeom prst="roundRect">
            <a:avLst>
              <a:gd name="adj" fmla="val 4348"/>
            </a:avLst>
          </a:prstGeom>
          <a:solidFill>
            <a:schemeClr val="tx1"/>
          </a:solidFill>
          <a:ln/>
        </p:spPr>
      </p:sp>
      <p:pic>
        <p:nvPicPr>
          <p:cNvPr id="49" name="Tile logo" descr="EVCARS logo">    </p:cNvPr>
          <p:cNvPicPr>
            <a:picLocks noChangeAspect="1"/>
          </p:cNvPicPr>
          <p:nvPr/>
        </p:nvPicPr>
        <p:blipFill>
          <a:blip r:embed="rId8"/>
          <a:stretch>
            <a:fillRect/>
          </a:stretch>
        </p:blipFill>
        <p:spPr>
          <a:xfrm>
            <a:off x="9293047" y="4617720"/>
            <a:ext cx="1938528" cy="389783"/>
          </a:xfrm>
          <a:prstGeom prst="rect">
            <a:avLst/>
          </a:prstGeom>
        </p:spPr>
      </p:pic>
      <p:sp>
        <p:nvSpPr>
          <p:cNvPr id="50" name="Text 40"/>
          <p:cNvSpPr txBox="1"/>
          <p:nvPr/>
        </p:nvSpPr>
        <p:spPr>
          <a:xfrm>
            <a:off x="9247327" y="5303520"/>
            <a:ext cx="2029968" cy="548640"/>
          </a:xfrm>
          <a:prstGeom prst="rect">
            <a:avLst/>
          </a:prstGeom>
          <a:noFill/>
          <a:ln/>
        </p:spPr>
        <p:txBody>
          <a:bodyPr wrap="square" lIns="0" tIns="0" rIns="0" bIns="0" rtlCol="0" anchor="t"/>
          <a:lstStyle/>
          <a:p>
            <a:pPr algn="ctr" indent="0" marL="0">
              <a:buNone/>
            </a:pPr>
            <a:r>
              <a:rPr lang="en-US" sz="1100" dirty="0">
                <a:solidFill>
                  <a:schemeClr val="accent5"/>
                </a:solidFill>
                <a:latin typeface="IBM Plex Sans Arabic" pitchFamily="34" charset="0"/>
                <a:ea typeface="IBM Plex Sans Arabic" pitchFamily="34" charset="-122"/>
                <a:cs typeface="IBM Plex Sans Arabic" pitchFamily="34" charset="-120"/>
              </a:rPr>
              <a:t>Driving the EV experience forward</a:t>
            </a:r>
            <a:endParaRPr lang="en-US" sz="11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F6A75"/>
                </a:solidFill>
                <a:latin typeface="IBM Plex Sans Arabic"/>
                <a:ea typeface="IBM Plex Sans Arabic"/>
                <a:cs typeface="IBM Plex Sans Arab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11480"/>
            <a:ext cx="5486400" cy="228600"/>
          </a:xfrm>
          <a:prstGeom prst="rect">
            <a:avLst/>
          </a:prstGeom>
          <a:noFill/>
          <a:ln/>
        </p:spPr>
        <p:txBody>
          <a:bodyPr wrap="square" lIns="0" tIns="0" rIns="0" bIns="0" rtlCol="0" anchor="t"/>
          <a:lstStyle/>
          <a:p>
            <a:pPr algn="l" indent="0" marL="0">
              <a:buNone/>
            </a:pPr>
            <a:r>
              <a:rPr lang="en-US" sz="1000" b="1" spc="300" kern="0" dirty="0">
                <a:solidFill>
                  <a:schemeClr val="accent2"/>
                </a:solidFill>
                <a:latin typeface="IBM Plex Sans Arabic" pitchFamily="34" charset="0"/>
                <a:ea typeface="IBM Plex Sans Arabic" pitchFamily="34" charset="-122"/>
                <a:cs typeface="IBM Plex Sans Arabic" pitchFamily="34" charset="-120"/>
              </a:rPr>
              <a:t>06   ·   AHEAD</a:t>
            </a:r>
            <a:endParaRPr lang="en-US" sz="1000" dirty="0"/>
          </a:p>
        </p:txBody>
      </p:sp>
      <p:sp>
        <p:nvSpPr>
          <p:cNvPr id="3" name="Text 1"/>
          <p:cNvSpPr txBox="1"/>
          <p:nvPr/>
        </p:nvSpPr>
        <p:spPr>
          <a:xfrm>
            <a:off x="6065215" y="411480"/>
            <a:ext cx="5486400" cy="228600"/>
          </a:xfrm>
          <a:prstGeom prst="rect">
            <a:avLst/>
          </a:prstGeom>
          <a:noFill/>
          <a:ln/>
        </p:spPr>
        <p:txBody>
          <a:bodyPr wrap="square" lIns="0" tIns="0" rIns="0" bIns="0" rtlCol="0" anchor="t"/>
          <a:lstStyle/>
          <a:p>
            <a:pPr rtl="1" algn="r" indent="0" marL="0">
              <a:buNone/>
            </a:pPr>
            <a:r>
              <a:rPr lang="ar-AE" altLang="en-US" sz="1100" b="1" dirty="0">
                <a:solidFill>
                  <a:schemeClr val="accent2"/>
                </a:solidFill>
                <a:latin typeface="IBM Plex Sans Arabic" pitchFamily="34" charset="0"/>
                <a:ea typeface="IBM Plex Sans Arabic" pitchFamily="34" charset="-122"/>
                <a:cs typeface="IBM Plex Sans Arabic" pitchFamily="34" charset="-120"/>
              </a:rPr>
              <a:t>المستقبل   ·   06</a:t>
            </a:r>
            <a:endParaRPr lang="ar-AE" sz="1100" dirty="0"/>
          </a:p>
        </p:txBody>
      </p:sp>
      <p:sp>
        <p:nvSpPr>
          <p:cNvPr id="4" name="Text 0"/>
          <p:cNvSpPr/>
          <p:nvPr>
            <p:ph idx="100" type="title" hasCustomPrompt="1"/>
          </p:nvPr>
        </p:nvSpPr>
        <p:spPr>
          <a:xfrm>
            <a:off x="640080" y="713232"/>
            <a:ext cx="5486400" cy="685800"/>
          </a:xfrm>
          <a:prstGeom prst="rect">
            <a:avLst/>
          </a:prstGeom>
          <a:noFill/>
          <a:ln/>
        </p:spPr>
        <p:txBody>
          <a:bodyPr wrap="square" lIns="0" tIns="0" rIns="0" bIns="0" rtlCol="0" anchor="t"/>
          <a:lstStyle/>
          <a:p>
            <a:pPr algn="l" indent="0" marL="0">
              <a:buNone/>
            </a:pPr>
            <a:r>
              <a:rPr lang="en-US" sz="3000" dirty="0">
                <a:solidFill>
                  <a:schemeClr val="bg1"/>
                </a:solidFill>
                <a:latin typeface="IBM Plex Sans Arabic Light" pitchFamily="34" charset="0"/>
                <a:ea typeface="IBM Plex Sans Arabic Light" pitchFamily="34" charset="-122"/>
                <a:cs typeface="IBM Plex Sans Arabic Light" pitchFamily="34" charset="-120"/>
              </a:rPr>
              <a:t>Our Future Direction</a:t>
            </a:r>
            <a:endParaRPr lang="en-US" sz="3000" dirty="0"/>
          </a:p>
        </p:txBody>
      </p:sp>
      <p:sp>
        <p:nvSpPr>
          <p:cNvPr id="5" name="Text 0"/>
          <p:cNvSpPr/>
          <p:nvPr>
            <p:ph idx="101" type="body" hasCustomPrompt="1"/>
          </p:nvPr>
        </p:nvSpPr>
        <p:spPr>
          <a:xfrm>
            <a:off x="6065215" y="713232"/>
            <a:ext cx="5486400" cy="685800"/>
          </a:xfrm>
          <a:prstGeom prst="rect">
            <a:avLst/>
          </a:prstGeom>
          <a:noFill/>
          <a:ln/>
        </p:spPr>
        <p:txBody>
          <a:bodyPr wrap="square" lIns="0" tIns="0" rIns="0" bIns="0" rtlCol="0" anchor="t"/>
          <a:lstStyle/>
          <a:p>
            <a:pPr rtl="1" algn="r" indent="0" marL="0">
              <a:buNone/>
            </a:pPr>
            <a:r>
              <a:rPr lang="ar-AE" altLang="en-US" sz="3000" dirty="0">
                <a:solidFill>
                  <a:schemeClr val="bg1"/>
                </a:solidFill>
                <a:latin typeface="IBM Plex Sans Arabic Light" pitchFamily="34" charset="0"/>
                <a:ea typeface="IBM Plex Sans Arabic Light" pitchFamily="34" charset="-122"/>
                <a:cs typeface="IBM Plex Sans Arabic Light" pitchFamily="34" charset="-120"/>
              </a:rPr>
              <a:t>خططنا المستقبلية</a:t>
            </a:r>
            <a:endParaRPr lang="ar-AE" sz="3000" dirty="0"/>
          </a:p>
        </p:txBody>
      </p:sp>
      <p:sp>
        <p:nvSpPr>
          <p:cNvPr id="6" name="Text 4"/>
          <p:cNvSpPr txBox="1"/>
          <p:nvPr/>
        </p:nvSpPr>
        <p:spPr>
          <a:xfrm>
            <a:off x="640080" y="1600200"/>
            <a:ext cx="5074920" cy="1371600"/>
          </a:xfrm>
          <a:prstGeom prst="rect">
            <a:avLst/>
          </a:prstGeom>
          <a:noFill/>
          <a:ln/>
        </p:spPr>
        <p:txBody>
          <a:bodyPr wrap="square" lIns="0" tIns="0" rIns="0" bIns="0" rtlCol="0" anchor="t"/>
          <a:lstStyle/>
          <a:p>
            <a:pPr algn="l" indent="0" marL="0">
              <a:lnSpc>
                <a:spcPct val="110000"/>
              </a:lnSpc>
              <a:buNone/>
            </a:pPr>
            <a:r>
              <a:rPr lang="en-US" sz="1300" dirty="0">
                <a:solidFill>
                  <a:schemeClr val="accent5"/>
                </a:solidFill>
                <a:latin typeface="IBM Plex Sans Arabic" pitchFamily="34" charset="0"/>
                <a:ea typeface="IBM Plex Sans Arabic" pitchFamily="34" charset="-122"/>
                <a:cs typeface="IBM Plex Sans Arabic" pitchFamily="34" charset="-120"/>
              </a:rPr>
              <a:t>Strengthening the branch network, expanding the specialized product range, enhancing charging and installation services and improving the online shopping experience — with expansion into new regional markets, beginning with Saudi Arabia.</a:t>
            </a:r>
            <a:endParaRPr lang="en-US" sz="1300" dirty="0"/>
          </a:p>
        </p:txBody>
      </p:sp>
      <p:sp>
        <p:nvSpPr>
          <p:cNvPr id="7" name="Text 5"/>
          <p:cNvSpPr txBox="1"/>
          <p:nvPr/>
        </p:nvSpPr>
        <p:spPr>
          <a:xfrm>
            <a:off x="6476695" y="1600200"/>
            <a:ext cx="5074920" cy="1371600"/>
          </a:xfrm>
          <a:prstGeom prst="rect">
            <a:avLst/>
          </a:prstGeom>
          <a:noFill/>
          <a:ln/>
        </p:spPr>
        <p:txBody>
          <a:bodyPr wrap="square" lIns="0" tIns="0" rIns="0" bIns="0" rtlCol="0" anchor="t"/>
          <a:lstStyle/>
          <a:p>
            <a:pPr rtl="1" algn="r" indent="0" marL="0">
              <a:lnSpc>
                <a:spcPct val="110000"/>
              </a:lnSpc>
              <a:buNone/>
            </a:pPr>
            <a:r>
              <a:rPr lang="ar-AE" altLang="en-US" sz="1300" dirty="0">
                <a:solidFill>
                  <a:schemeClr val="accent5"/>
                </a:solidFill>
                <a:latin typeface="IBM Plex Sans Arabic" pitchFamily="34" charset="0"/>
                <a:ea typeface="IBM Plex Sans Arabic" pitchFamily="34" charset="-122"/>
                <a:cs typeface="IBM Plex Sans Arabic" pitchFamily="34" charset="-120"/>
              </a:rPr>
              <a:t>تعزيز شبكة الفروع، وتوسيع نطاق المنتجات المتخصصة، وتطوير خدمات الشحن والتركيب، وتحسين تجربة التسوق الإلكتروني، مع التوسع في أسواق إقليمية جديدة وفي مقدمتها المملكة العربية السعودية.</a:t>
            </a:r>
            <a:endParaRPr lang="ar-AE" sz="1300" dirty="0"/>
          </a:p>
        </p:txBody>
      </p:sp>
      <p:sp>
        <p:nvSpPr>
          <p:cNvPr id="8" name="Network line"/>
          <p:cNvSpPr/>
          <p:nvPr/>
        </p:nvSpPr>
        <p:spPr>
          <a:xfrm>
            <a:off x="1828800" y="3794760"/>
            <a:ext cx="8531352" cy="0"/>
          </a:xfrm>
          <a:prstGeom prst="line">
            <a:avLst/>
          </a:prstGeom>
          <a:noFill/>
          <a:ln w="15875">
            <a:solidFill>
              <a:schemeClr val="accent3"/>
            </a:solidFill>
            <a:prstDash val="dash"/>
          </a:ln>
        </p:spPr>
      </p:sp>
      <p:sp>
        <p:nvSpPr>
          <p:cNvPr id="9" name="Node Riyadh"/>
          <p:cNvSpPr/>
          <p:nvPr/>
        </p:nvSpPr>
        <p:spPr>
          <a:xfrm>
            <a:off x="1554480" y="3520440"/>
            <a:ext cx="548640" cy="548640"/>
          </a:xfrm>
          <a:prstGeom prst="ellipse">
            <a:avLst/>
          </a:prstGeom>
          <a:solidFill>
            <a:schemeClr val="tx1"/>
          </a:solidFill>
          <a:ln w="22225">
            <a:solidFill>
              <a:schemeClr val="accent2"/>
            </a:solidFill>
            <a:prstDash val="dash"/>
          </a:ln>
        </p:spPr>
      </p:sp>
      <p:sp>
        <p:nvSpPr>
          <p:cNvPr id="10" name="Text 8"/>
          <p:cNvSpPr txBox="1"/>
          <p:nvPr/>
        </p:nvSpPr>
        <p:spPr>
          <a:xfrm>
            <a:off x="365760" y="4251960"/>
            <a:ext cx="2926080" cy="365760"/>
          </a:xfrm>
          <a:prstGeom prst="rect">
            <a:avLst/>
          </a:prstGeom>
          <a:noFill/>
          <a:ln/>
        </p:spPr>
        <p:txBody>
          <a:bodyPr wrap="square" lIns="0" tIns="0" rIns="0" bIns="0" rtlCol="0" anchor="t"/>
          <a:lstStyle/>
          <a:p>
            <a:pPr algn="ctr" indent="0" marL="0">
              <a:buNone/>
            </a:pPr>
            <a:r>
              <a:rPr lang="en-US" sz="1800" dirty="0">
                <a:solidFill>
                  <a:schemeClr val="bg1"/>
                </a:solidFill>
                <a:latin typeface="IBM Plex Sans Arabic Light" pitchFamily="34" charset="0"/>
                <a:ea typeface="IBM Plex Sans Arabic Light" pitchFamily="34" charset="-122"/>
                <a:cs typeface="IBM Plex Sans Arabic Light" pitchFamily="34" charset="-120"/>
              </a:rPr>
              <a:t>Riyadh</a:t>
            </a:r>
            <a:endParaRPr lang="en-US" sz="1800" dirty="0"/>
          </a:p>
        </p:txBody>
      </p:sp>
      <p:sp>
        <p:nvSpPr>
          <p:cNvPr id="11" name="Text 9"/>
          <p:cNvSpPr txBox="1"/>
          <p:nvPr/>
        </p:nvSpPr>
        <p:spPr>
          <a:xfrm>
            <a:off x="365760" y="4617720"/>
            <a:ext cx="2926080" cy="274320"/>
          </a:xfrm>
          <a:prstGeom prst="rect">
            <a:avLst/>
          </a:prstGeom>
          <a:noFill/>
          <a:ln/>
        </p:spPr>
        <p:txBody>
          <a:bodyPr wrap="square" lIns="0" tIns="0" rIns="0" bIns="0" rtlCol="0" anchor="t"/>
          <a:lstStyle/>
          <a:p>
            <a:pPr rtl="1" algn="ct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الرياض</a:t>
            </a:r>
            <a:endParaRPr lang="ar-AE" sz="1400" dirty="0"/>
          </a:p>
        </p:txBody>
      </p:sp>
      <p:sp>
        <p:nvSpPr>
          <p:cNvPr id="12" name="Text 10"/>
          <p:cNvSpPr txBox="1"/>
          <p:nvPr/>
        </p:nvSpPr>
        <p:spPr>
          <a:xfrm>
            <a:off x="365760" y="4965192"/>
            <a:ext cx="292608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IBM Plex Sans Arabic" pitchFamily="34" charset="0"/>
                <a:ea typeface="IBM Plex Sans Arabic" pitchFamily="34" charset="-122"/>
                <a:cs typeface="IBM Plex Sans Arabic" pitchFamily="34" charset="-120"/>
              </a:rPr>
              <a:t>Saudi Arabia · Next</a:t>
            </a:r>
            <a:endParaRPr lang="en-US" sz="1000" dirty="0"/>
          </a:p>
        </p:txBody>
      </p:sp>
      <p:sp>
        <p:nvSpPr>
          <p:cNvPr id="13" name="Text 11"/>
          <p:cNvSpPr txBox="1"/>
          <p:nvPr/>
        </p:nvSpPr>
        <p:spPr>
          <a:xfrm>
            <a:off x="365760" y="5184648"/>
            <a:ext cx="2926080" cy="228600"/>
          </a:xfrm>
          <a:prstGeom prst="rect">
            <a:avLst/>
          </a:prstGeom>
          <a:noFill/>
          <a:ln/>
        </p:spPr>
        <p:txBody>
          <a:bodyPr wrap="square" lIns="0" tIns="0" rIns="0" bIns="0" rtlCol="0" anchor="t"/>
          <a:lstStyle/>
          <a:p>
            <a:pPr rtl="1" algn="ct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السعودية · قريباً</a:t>
            </a:r>
            <a:endParaRPr lang="ar-AE" sz="1000" dirty="0"/>
          </a:p>
        </p:txBody>
      </p:sp>
      <p:sp>
        <p:nvSpPr>
          <p:cNvPr id="14" name="Node UAE"/>
          <p:cNvSpPr/>
          <p:nvPr/>
        </p:nvSpPr>
        <p:spPr>
          <a:xfrm>
            <a:off x="5824728" y="3520440"/>
            <a:ext cx="548640" cy="548640"/>
          </a:xfrm>
          <a:prstGeom prst="ellipse">
            <a:avLst/>
          </a:prstGeom>
          <a:solidFill>
            <a:schemeClr val="accent2"/>
          </a:solidFill>
          <a:ln/>
        </p:spPr>
      </p:sp>
      <p:sp>
        <p:nvSpPr>
          <p:cNvPr id="15" name="Text 13"/>
          <p:cNvSpPr txBox="1"/>
          <p:nvPr/>
        </p:nvSpPr>
        <p:spPr>
          <a:xfrm>
            <a:off x="4636008" y="4251960"/>
            <a:ext cx="2926080" cy="365760"/>
          </a:xfrm>
          <a:prstGeom prst="rect">
            <a:avLst/>
          </a:prstGeom>
          <a:noFill/>
          <a:ln/>
        </p:spPr>
        <p:txBody>
          <a:bodyPr wrap="square" lIns="0" tIns="0" rIns="0" bIns="0" rtlCol="0" anchor="t"/>
          <a:lstStyle/>
          <a:p>
            <a:pPr algn="ctr" indent="0" marL="0">
              <a:buNone/>
            </a:pPr>
            <a:r>
              <a:rPr lang="en-US" sz="1800" dirty="0">
                <a:solidFill>
                  <a:schemeClr val="bg1"/>
                </a:solidFill>
                <a:latin typeface="IBM Plex Sans Arabic Light" pitchFamily="34" charset="0"/>
                <a:ea typeface="IBM Plex Sans Arabic Light" pitchFamily="34" charset="-122"/>
                <a:cs typeface="IBM Plex Sans Arabic Light" pitchFamily="34" charset="-120"/>
              </a:rPr>
              <a:t>UAE</a:t>
            </a:r>
            <a:endParaRPr lang="en-US" sz="1800" dirty="0"/>
          </a:p>
        </p:txBody>
      </p:sp>
      <p:sp>
        <p:nvSpPr>
          <p:cNvPr id="16" name="Text 14"/>
          <p:cNvSpPr txBox="1"/>
          <p:nvPr/>
        </p:nvSpPr>
        <p:spPr>
          <a:xfrm>
            <a:off x="4636008" y="4617720"/>
            <a:ext cx="2926080" cy="274320"/>
          </a:xfrm>
          <a:prstGeom prst="rect">
            <a:avLst/>
          </a:prstGeom>
          <a:noFill/>
          <a:ln/>
        </p:spPr>
        <p:txBody>
          <a:bodyPr wrap="square" lIns="0" tIns="0" rIns="0" bIns="0" rtlCol="0" anchor="t"/>
          <a:lstStyle/>
          <a:p>
            <a:pPr rtl="1" algn="ct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الإمارات</a:t>
            </a:r>
            <a:endParaRPr lang="ar-AE" sz="1400" dirty="0"/>
          </a:p>
        </p:txBody>
      </p:sp>
      <p:sp>
        <p:nvSpPr>
          <p:cNvPr id="17" name="Text 15"/>
          <p:cNvSpPr txBox="1"/>
          <p:nvPr/>
        </p:nvSpPr>
        <p:spPr>
          <a:xfrm>
            <a:off x="4636008" y="4965192"/>
            <a:ext cx="292608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IBM Plex Sans Arabic" pitchFamily="34" charset="0"/>
                <a:ea typeface="IBM Plex Sans Arabic" pitchFamily="34" charset="-122"/>
                <a:cs typeface="IBM Plex Sans Arabic" pitchFamily="34" charset="-120"/>
              </a:rPr>
              <a:t>Dubai · Sharjah · Al Ain</a:t>
            </a:r>
            <a:endParaRPr lang="en-US" sz="1000" dirty="0"/>
          </a:p>
        </p:txBody>
      </p:sp>
      <p:sp>
        <p:nvSpPr>
          <p:cNvPr id="18" name="Text 16"/>
          <p:cNvSpPr txBox="1"/>
          <p:nvPr/>
        </p:nvSpPr>
        <p:spPr>
          <a:xfrm>
            <a:off x="4636008" y="5184648"/>
            <a:ext cx="2926080" cy="228600"/>
          </a:xfrm>
          <a:prstGeom prst="rect">
            <a:avLst/>
          </a:prstGeom>
          <a:noFill/>
          <a:ln/>
        </p:spPr>
        <p:txBody>
          <a:bodyPr wrap="square" lIns="0" tIns="0" rIns="0" bIns="0" rtlCol="0" anchor="t"/>
          <a:lstStyle/>
          <a:p>
            <a:pPr rtl="1" algn="ct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دبي · الشارقة · العين</a:t>
            </a:r>
            <a:endParaRPr lang="ar-AE" sz="1000" dirty="0"/>
          </a:p>
        </p:txBody>
      </p:sp>
      <p:sp>
        <p:nvSpPr>
          <p:cNvPr id="19" name="Node Oman"/>
          <p:cNvSpPr/>
          <p:nvPr/>
        </p:nvSpPr>
        <p:spPr>
          <a:xfrm>
            <a:off x="10085832" y="3520440"/>
            <a:ext cx="548640" cy="548640"/>
          </a:xfrm>
          <a:prstGeom prst="ellipse">
            <a:avLst/>
          </a:prstGeom>
          <a:solidFill>
            <a:schemeClr val="accent2"/>
          </a:solidFill>
          <a:ln/>
        </p:spPr>
      </p:sp>
      <p:sp>
        <p:nvSpPr>
          <p:cNvPr id="20" name="Text 18"/>
          <p:cNvSpPr txBox="1"/>
          <p:nvPr/>
        </p:nvSpPr>
        <p:spPr>
          <a:xfrm>
            <a:off x="8897112" y="4251960"/>
            <a:ext cx="2926080" cy="365760"/>
          </a:xfrm>
          <a:prstGeom prst="rect">
            <a:avLst/>
          </a:prstGeom>
          <a:noFill/>
          <a:ln/>
        </p:spPr>
        <p:txBody>
          <a:bodyPr wrap="square" lIns="0" tIns="0" rIns="0" bIns="0" rtlCol="0" anchor="t"/>
          <a:lstStyle/>
          <a:p>
            <a:pPr algn="ctr" indent="0" marL="0">
              <a:buNone/>
            </a:pPr>
            <a:r>
              <a:rPr lang="en-US" sz="1800" dirty="0">
                <a:solidFill>
                  <a:schemeClr val="bg1"/>
                </a:solidFill>
                <a:latin typeface="IBM Plex Sans Arabic Light" pitchFamily="34" charset="0"/>
                <a:ea typeface="IBM Plex Sans Arabic Light" pitchFamily="34" charset="-122"/>
                <a:cs typeface="IBM Plex Sans Arabic Light" pitchFamily="34" charset="-120"/>
              </a:rPr>
              <a:t>Oman</a:t>
            </a:r>
            <a:endParaRPr lang="en-US" sz="1800" dirty="0"/>
          </a:p>
        </p:txBody>
      </p:sp>
      <p:sp>
        <p:nvSpPr>
          <p:cNvPr id="21" name="Text 19"/>
          <p:cNvSpPr txBox="1"/>
          <p:nvPr/>
        </p:nvSpPr>
        <p:spPr>
          <a:xfrm>
            <a:off x="8897112" y="4617720"/>
            <a:ext cx="2926080" cy="274320"/>
          </a:xfrm>
          <a:prstGeom prst="rect">
            <a:avLst/>
          </a:prstGeom>
          <a:noFill/>
          <a:ln/>
        </p:spPr>
        <p:txBody>
          <a:bodyPr wrap="square" lIns="0" tIns="0" rIns="0" bIns="0" rtlCol="0" anchor="t"/>
          <a:lstStyle/>
          <a:p>
            <a:pPr rtl="1" algn="ctr" indent="0" marL="0">
              <a:buNone/>
            </a:pPr>
            <a:r>
              <a:rPr lang="ar-AE" altLang="en-US" sz="1400" b="1" dirty="0">
                <a:solidFill>
                  <a:schemeClr val="accent2"/>
                </a:solidFill>
                <a:latin typeface="IBM Plex Sans Arabic" pitchFamily="34" charset="0"/>
                <a:ea typeface="IBM Plex Sans Arabic" pitchFamily="34" charset="-122"/>
                <a:cs typeface="IBM Plex Sans Arabic" pitchFamily="34" charset="-120"/>
              </a:rPr>
              <a:t>عُمان</a:t>
            </a:r>
            <a:endParaRPr lang="ar-AE" sz="1400" dirty="0"/>
          </a:p>
        </p:txBody>
      </p:sp>
      <p:sp>
        <p:nvSpPr>
          <p:cNvPr id="22" name="Text 20"/>
          <p:cNvSpPr txBox="1"/>
          <p:nvPr/>
        </p:nvSpPr>
        <p:spPr>
          <a:xfrm>
            <a:off x="8897112" y="4965192"/>
            <a:ext cx="2926080" cy="228600"/>
          </a:xfrm>
          <a:prstGeom prst="rect">
            <a:avLst/>
          </a:prstGeom>
          <a:noFill/>
          <a:ln/>
        </p:spPr>
        <p:txBody>
          <a:bodyPr wrap="square" lIns="0" tIns="0" rIns="0" bIns="0" rtlCol="0" anchor="t"/>
          <a:lstStyle/>
          <a:p>
            <a:pPr algn="ctr" indent="0" marL="0">
              <a:buNone/>
            </a:pPr>
            <a:r>
              <a:rPr lang="en-US" sz="1000" dirty="0">
                <a:solidFill>
                  <a:schemeClr val="accent5"/>
                </a:solidFill>
                <a:latin typeface="IBM Plex Sans Arabic" pitchFamily="34" charset="0"/>
                <a:ea typeface="IBM Plex Sans Arabic" pitchFamily="34" charset="-122"/>
                <a:cs typeface="IBM Plex Sans Arabic" pitchFamily="34" charset="-120"/>
              </a:rPr>
              <a:t>Muscat · Saham</a:t>
            </a:r>
            <a:endParaRPr lang="en-US" sz="1000" dirty="0"/>
          </a:p>
        </p:txBody>
      </p:sp>
      <p:sp>
        <p:nvSpPr>
          <p:cNvPr id="23" name="Text 21"/>
          <p:cNvSpPr txBox="1"/>
          <p:nvPr/>
        </p:nvSpPr>
        <p:spPr>
          <a:xfrm>
            <a:off x="8897112" y="5184648"/>
            <a:ext cx="2926080" cy="228600"/>
          </a:xfrm>
          <a:prstGeom prst="rect">
            <a:avLst/>
          </a:prstGeom>
          <a:noFill/>
          <a:ln/>
        </p:spPr>
        <p:txBody>
          <a:bodyPr wrap="square" lIns="0" tIns="0" rIns="0" bIns="0" rtlCol="0" anchor="t"/>
          <a:lstStyle/>
          <a:p>
            <a:pPr rtl="1" algn="ctr" indent="0" marL="0">
              <a:buNone/>
            </a:pPr>
            <a:r>
              <a:rPr lang="ar-AE" altLang="en-US" sz="1000" dirty="0">
                <a:solidFill>
                  <a:schemeClr val="accent5"/>
                </a:solidFill>
                <a:latin typeface="IBM Plex Sans Arabic" pitchFamily="34" charset="0"/>
                <a:ea typeface="IBM Plex Sans Arabic" pitchFamily="34" charset="-122"/>
                <a:cs typeface="IBM Plex Sans Arabic" pitchFamily="34" charset="-120"/>
              </a:rPr>
              <a:t>مسقط · صحم</a:t>
            </a:r>
            <a:endParaRPr lang="ar-AE" sz="1000" dirty="0"/>
          </a:p>
        </p:txBody>
      </p:sp>
      <p:sp>
        <p:nvSpPr>
          <p:cNvPr id="25" name="Slide Number Placeholder 0"/>
          <p:cNvSpPr>
            <a:spLocks noGrp="1"/>
          </p:cNvSpPr>
          <p:nvPr>
            <p:ph type="sldNum" sz="quarter" idx="4294967295"/>
          </p:nvPr>
        </p:nvSpPr>
        <p:spPr>
          <a:xfrm>
            <a:off x="10820095" y="6336792"/>
            <a:ext cx="73152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DDE2E7"/>
                </a:solidFill>
                <a:latin typeface="IBM Plex Sans Arabic"/>
                <a:ea typeface="IBM Plex Sans Arabic"/>
                <a:cs typeface="IBM Plex Sans Arab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EVCARS logo" descr="EVCARS logo">    </p:cNvPr>
          <p:cNvPicPr>
            <a:picLocks noChangeAspect="1"/>
          </p:cNvPicPr>
          <p:nvPr/>
        </p:nvPicPr>
        <p:blipFill>
          <a:blip r:embed="rId1"/>
          <a:stretch>
            <a:fillRect/>
          </a:stretch>
        </p:blipFill>
        <p:spPr>
          <a:xfrm>
            <a:off x="640080" y="685800"/>
            <a:ext cx="3291840" cy="661895"/>
          </a:xfrm>
          <a:prstGeom prst="rect">
            <a:avLst/>
          </a:prstGeom>
        </p:spPr>
      </p:pic>
      <p:sp>
        <p:nvSpPr>
          <p:cNvPr id="3" name="Text 0"/>
          <p:cNvSpPr txBox="1"/>
          <p:nvPr/>
        </p:nvSpPr>
        <p:spPr>
          <a:xfrm>
            <a:off x="640080" y="1828800"/>
            <a:ext cx="3657600" cy="256032"/>
          </a:xfrm>
          <a:prstGeom prst="rect">
            <a:avLst/>
          </a:prstGeom>
          <a:noFill/>
          <a:ln/>
        </p:spPr>
        <p:txBody>
          <a:bodyPr wrap="square" lIns="0" tIns="0" rIns="0" bIns="0" rtlCol="0" anchor="t"/>
          <a:lstStyle/>
          <a:p>
            <a:pPr algn="l" indent="0" marL="0">
              <a:buNone/>
            </a:pPr>
            <a:r>
              <a:rPr lang="en-US" sz="1100" b="1" spc="400" kern="0" dirty="0">
                <a:solidFill>
                  <a:schemeClr val="accent2"/>
                </a:solidFill>
                <a:latin typeface="IBM Plex Sans Arabic" pitchFamily="34" charset="0"/>
                <a:ea typeface="IBM Plex Sans Arabic" pitchFamily="34" charset="-122"/>
                <a:cs typeface="IBM Plex Sans Arabic" pitchFamily="34" charset="-120"/>
              </a:rPr>
              <a:t>CONTACT US</a:t>
            </a:r>
            <a:endParaRPr lang="en-US" sz="1100" dirty="0"/>
          </a:p>
        </p:txBody>
      </p:sp>
      <p:sp>
        <p:nvSpPr>
          <p:cNvPr id="4" name="Text 1"/>
          <p:cNvSpPr txBox="1"/>
          <p:nvPr/>
        </p:nvSpPr>
        <p:spPr>
          <a:xfrm>
            <a:off x="640080" y="2148840"/>
            <a:ext cx="4572000" cy="548640"/>
          </a:xfrm>
          <a:prstGeom prst="rect">
            <a:avLst/>
          </a:prstGeom>
          <a:noFill/>
          <a:ln/>
        </p:spPr>
        <p:txBody>
          <a:bodyPr wrap="square" lIns="0" tIns="0" rIns="0" bIns="0" rtlCol="0" anchor="t"/>
          <a:lstStyle/>
          <a:p>
            <a:pPr algn="l" indent="0" marL="0">
              <a:buNone/>
            </a:pPr>
            <a:r>
              <a:rPr lang="ar-AE" altLang="en-US" sz="3200" dirty="0">
                <a:solidFill>
                  <a:schemeClr val="bg1"/>
                </a:solidFill>
                <a:latin typeface="IBM Plex Sans Arabic Light" pitchFamily="34" charset="0"/>
                <a:ea typeface="IBM Plex Sans Arabic Light" pitchFamily="34" charset="-122"/>
                <a:cs typeface="IBM Plex Sans Arabic Light" pitchFamily="34" charset="-120"/>
              </a:rPr>
              <a:t>تواصل معنا</a:t>
            </a:r>
            <a:endParaRPr lang="ar-AE" sz="3200" dirty="0"/>
          </a:p>
        </p:txBody>
      </p:sp>
      <p:sp>
        <p:nvSpPr>
          <p:cNvPr id="5" name="Text 2"/>
          <p:cNvSpPr txBox="1"/>
          <p:nvPr/>
        </p:nvSpPr>
        <p:spPr>
          <a:xfrm>
            <a:off x="640080" y="2926080"/>
            <a:ext cx="4389120" cy="548640"/>
          </a:xfrm>
          <a:prstGeom prst="rect">
            <a:avLst/>
          </a:prstGeom>
          <a:noFill/>
          <a:ln/>
        </p:spPr>
        <p:txBody>
          <a:bodyPr wrap="square" lIns="0" tIns="0" rIns="0" bIns="0" rtlCol="0" anchor="t"/>
          <a:lstStyle/>
          <a:p>
            <a:pPr algn="l" indent="0" marL="0">
              <a:buNone/>
            </a:pPr>
            <a:r>
              <a:rPr lang="en-US" sz="1400" dirty="0">
                <a:solidFill>
                  <a:schemeClr val="accent5"/>
                </a:solidFill>
                <a:latin typeface="IBM Plex Sans Arabic" pitchFamily="34" charset="0"/>
                <a:ea typeface="IBM Plex Sans Arabic" pitchFamily="34" charset="-122"/>
                <a:cs typeface="IBM Plex Sans Arabic" pitchFamily="34" charset="-120"/>
              </a:rPr>
              <a:t>EVCARS — Driving the Electric Vehicle Experience Forward.</a:t>
            </a:r>
            <a:endParaRPr lang="en-US" sz="1400" dirty="0"/>
          </a:p>
        </p:txBody>
      </p:sp>
      <p:sp>
        <p:nvSpPr>
          <p:cNvPr id="6" name="Text 3"/>
          <p:cNvSpPr txBox="1"/>
          <p:nvPr/>
        </p:nvSpPr>
        <p:spPr>
          <a:xfrm>
            <a:off x="640080" y="3520440"/>
            <a:ext cx="4389120" cy="320040"/>
          </a:xfrm>
          <a:prstGeom prst="rect">
            <a:avLst/>
          </a:prstGeom>
          <a:noFill/>
          <a:ln/>
        </p:spPr>
        <p:txBody>
          <a:bodyPr wrap="square" lIns="0" tIns="0" rIns="0" bIns="0" rtlCol="0" anchor="t"/>
          <a:lstStyle/>
          <a:p>
            <a:pPr rtl="1" algn="r" indent="0" marL="0">
              <a:buNone/>
            </a:pPr>
            <a:r>
              <a:rPr lang="ar-AE" altLang="en-US" sz="1400" dirty="0">
                <a:solidFill>
                  <a:schemeClr val="accent5"/>
                </a:solidFill>
                <a:latin typeface="IBM Plex Sans Arabic" pitchFamily="34" charset="0"/>
                <a:ea typeface="IBM Plex Sans Arabic" pitchFamily="34" charset="-122"/>
                <a:cs typeface="IBM Plex Sans Arabic" pitchFamily="34" charset="-120"/>
              </a:rPr>
              <a:t>ندفع تجربة السيارات الكهربائية إلى الأمام.</a:t>
            </a:r>
            <a:endParaRPr lang="ar-AE" sz="1400" dirty="0"/>
          </a:p>
        </p:txBody>
      </p:sp>
      <p:pic>
        <p:nvPicPr>
          <p:cNvPr id="7" name="Closing car" descr="Electric vehicle illustration">    </p:cNvPr>
          <p:cNvPicPr>
            <a:picLocks noChangeAspect="1"/>
          </p:cNvPicPr>
          <p:nvPr/>
        </p:nvPicPr>
        <p:blipFill>
          <a:blip r:embed="rId2"/>
          <a:stretch>
            <a:fillRect/>
          </a:stretch>
        </p:blipFill>
        <p:spPr>
          <a:xfrm>
            <a:off x="91440" y="4160520"/>
            <a:ext cx="5394960" cy="2517648"/>
          </a:xfrm>
          <a:prstGeom prst="rect">
            <a:avLst/>
          </a:prstGeom>
        </p:spPr>
      </p:pic>
      <p:sp>
        <p:nvSpPr>
          <p:cNvPr id="8" name="Contact circle 1"/>
          <p:cNvSpPr/>
          <p:nvPr/>
        </p:nvSpPr>
        <p:spPr>
          <a:xfrm>
            <a:off x="5669280" y="1371600"/>
            <a:ext cx="566928" cy="566928"/>
          </a:xfrm>
          <a:prstGeom prst="ellipse">
            <a:avLst/>
          </a:prstGeom>
          <a:solidFill>
            <a:schemeClr val="bg1">
              <a:alpha val="10000"/>
            </a:schemeClr>
          </a:solidFill>
          <a:ln/>
        </p:spPr>
      </p:sp>
      <p:pic>
        <p:nvPicPr>
          <p:cNvPr id="9" name="Contact icon 1" descr="icon">    </p:cNvPr>
          <p:cNvPicPr>
            <a:picLocks noChangeAspect="1"/>
          </p:cNvPicPr>
          <p:nvPr/>
        </p:nvPicPr>
        <p:blipFill>
          <a:blip r:embed="rId3"/>
          <a:stretch>
            <a:fillRect/>
          </a:stretch>
        </p:blipFill>
        <p:spPr>
          <a:xfrm>
            <a:off x="5806440" y="1508760"/>
            <a:ext cx="292608" cy="292608"/>
          </a:xfrm>
          <a:prstGeom prst="rect">
            <a:avLst/>
          </a:prstGeom>
        </p:spPr>
      </p:pic>
      <p:sp>
        <p:nvSpPr>
          <p:cNvPr id="10" name="Text 5"/>
          <p:cNvSpPr txBox="1"/>
          <p:nvPr/>
        </p:nvSpPr>
        <p:spPr>
          <a:xfrm>
            <a:off x="6446520" y="135331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WEBSITE</a:t>
            </a:r>
            <a:endParaRPr lang="en-US" sz="900" dirty="0"/>
          </a:p>
        </p:txBody>
      </p:sp>
      <p:sp>
        <p:nvSpPr>
          <p:cNvPr id="11" name="Text 6"/>
          <p:cNvSpPr txBox="1"/>
          <p:nvPr/>
        </p:nvSpPr>
        <p:spPr>
          <a:xfrm>
            <a:off x="6446520" y="159105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evcarsuae.com</a:t>
            </a:r>
            <a:endParaRPr lang="en-US" sz="1500" dirty="0"/>
          </a:p>
        </p:txBody>
      </p:sp>
      <p:sp>
        <p:nvSpPr>
          <p:cNvPr id="12" name="Contact circle 2"/>
          <p:cNvSpPr/>
          <p:nvPr/>
        </p:nvSpPr>
        <p:spPr>
          <a:xfrm>
            <a:off x="5669280" y="2240280"/>
            <a:ext cx="566928" cy="566928"/>
          </a:xfrm>
          <a:prstGeom prst="ellipse">
            <a:avLst/>
          </a:prstGeom>
          <a:solidFill>
            <a:schemeClr val="bg1">
              <a:alpha val="10000"/>
            </a:schemeClr>
          </a:solidFill>
          <a:ln/>
        </p:spPr>
      </p:sp>
      <p:pic>
        <p:nvPicPr>
          <p:cNvPr id="13" name="Contact icon 2" descr="icon">    </p:cNvPr>
          <p:cNvPicPr>
            <a:picLocks noChangeAspect="1"/>
          </p:cNvPicPr>
          <p:nvPr/>
        </p:nvPicPr>
        <p:blipFill>
          <a:blip r:embed="rId4"/>
          <a:stretch>
            <a:fillRect/>
          </a:stretch>
        </p:blipFill>
        <p:spPr>
          <a:xfrm>
            <a:off x="5806440" y="2377440"/>
            <a:ext cx="292608" cy="292608"/>
          </a:xfrm>
          <a:prstGeom prst="rect">
            <a:avLst/>
          </a:prstGeom>
        </p:spPr>
      </p:pic>
      <p:sp>
        <p:nvSpPr>
          <p:cNvPr id="14" name="Text 8"/>
          <p:cNvSpPr txBox="1"/>
          <p:nvPr/>
        </p:nvSpPr>
        <p:spPr>
          <a:xfrm>
            <a:off x="6446520" y="222199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EMAIL</a:t>
            </a:r>
            <a:endParaRPr lang="en-US" sz="900" dirty="0"/>
          </a:p>
        </p:txBody>
      </p:sp>
      <p:sp>
        <p:nvSpPr>
          <p:cNvPr id="15" name="Text 9"/>
          <p:cNvSpPr txBox="1"/>
          <p:nvPr/>
        </p:nvSpPr>
        <p:spPr>
          <a:xfrm>
            <a:off x="6446520" y="245973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info@evcarsuae.com</a:t>
            </a:r>
            <a:endParaRPr lang="en-US" sz="1500" dirty="0"/>
          </a:p>
        </p:txBody>
      </p:sp>
      <p:sp>
        <p:nvSpPr>
          <p:cNvPr id="16" name="Contact circle 3"/>
          <p:cNvSpPr/>
          <p:nvPr/>
        </p:nvSpPr>
        <p:spPr>
          <a:xfrm>
            <a:off x="5669280" y="3108960"/>
            <a:ext cx="566928" cy="566928"/>
          </a:xfrm>
          <a:prstGeom prst="ellipse">
            <a:avLst/>
          </a:prstGeom>
          <a:solidFill>
            <a:schemeClr val="bg1">
              <a:alpha val="10000"/>
            </a:schemeClr>
          </a:solidFill>
          <a:ln/>
        </p:spPr>
      </p:sp>
      <p:pic>
        <p:nvPicPr>
          <p:cNvPr id="17" name="Contact icon 3" descr="icon">    </p:cNvPr>
          <p:cNvPicPr>
            <a:picLocks noChangeAspect="1"/>
          </p:cNvPicPr>
          <p:nvPr/>
        </p:nvPicPr>
        <p:blipFill>
          <a:blip r:embed="rId5"/>
          <a:stretch>
            <a:fillRect/>
          </a:stretch>
        </p:blipFill>
        <p:spPr>
          <a:xfrm>
            <a:off x="5806440" y="3246120"/>
            <a:ext cx="292608" cy="292608"/>
          </a:xfrm>
          <a:prstGeom prst="rect">
            <a:avLst/>
          </a:prstGeom>
        </p:spPr>
      </p:pic>
      <p:sp>
        <p:nvSpPr>
          <p:cNvPr id="18" name="Text 11"/>
          <p:cNvSpPr txBox="1"/>
          <p:nvPr/>
        </p:nvSpPr>
        <p:spPr>
          <a:xfrm>
            <a:off x="6446520" y="309067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CUSTOMER SERVICE &amp; WHATSAPP</a:t>
            </a:r>
            <a:endParaRPr lang="en-US" sz="900" dirty="0"/>
          </a:p>
        </p:txBody>
      </p:sp>
      <p:sp>
        <p:nvSpPr>
          <p:cNvPr id="19" name="Text 12"/>
          <p:cNvSpPr txBox="1"/>
          <p:nvPr/>
        </p:nvSpPr>
        <p:spPr>
          <a:xfrm>
            <a:off x="6446520" y="332841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+971 50 777 7134</a:t>
            </a:r>
            <a:endParaRPr lang="en-US" sz="1500" dirty="0"/>
          </a:p>
        </p:txBody>
      </p:sp>
      <p:sp>
        <p:nvSpPr>
          <p:cNvPr id="20" name="Contact circle 4"/>
          <p:cNvSpPr/>
          <p:nvPr/>
        </p:nvSpPr>
        <p:spPr>
          <a:xfrm>
            <a:off x="5669280" y="3977640"/>
            <a:ext cx="566928" cy="566928"/>
          </a:xfrm>
          <a:prstGeom prst="ellipse">
            <a:avLst/>
          </a:prstGeom>
          <a:solidFill>
            <a:schemeClr val="bg1">
              <a:alpha val="10000"/>
            </a:schemeClr>
          </a:solidFill>
          <a:ln/>
        </p:spPr>
      </p:sp>
      <p:pic>
        <p:nvPicPr>
          <p:cNvPr id="21" name="Contact icon 4" descr="icon">    </p:cNvPr>
          <p:cNvPicPr>
            <a:picLocks noChangeAspect="1"/>
          </p:cNvPicPr>
          <p:nvPr/>
        </p:nvPicPr>
        <p:blipFill>
          <a:blip r:embed="rId6"/>
          <a:stretch>
            <a:fillRect/>
          </a:stretch>
        </p:blipFill>
        <p:spPr>
          <a:xfrm>
            <a:off x="5806440" y="4114800"/>
            <a:ext cx="292608" cy="292608"/>
          </a:xfrm>
          <a:prstGeom prst="rect">
            <a:avLst/>
          </a:prstGeom>
        </p:spPr>
      </p:pic>
      <p:sp>
        <p:nvSpPr>
          <p:cNvPr id="22" name="Text 14"/>
          <p:cNvSpPr txBox="1"/>
          <p:nvPr/>
        </p:nvSpPr>
        <p:spPr>
          <a:xfrm>
            <a:off x="6446520" y="395935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INSTAGRAM · TIKTOK · SNAPCHAT</a:t>
            </a:r>
            <a:endParaRPr lang="en-US" sz="900" dirty="0"/>
          </a:p>
        </p:txBody>
      </p:sp>
      <p:sp>
        <p:nvSpPr>
          <p:cNvPr id="23" name="Text 15"/>
          <p:cNvSpPr txBox="1"/>
          <p:nvPr/>
        </p:nvSpPr>
        <p:spPr>
          <a:xfrm>
            <a:off x="6446520" y="4197096"/>
            <a:ext cx="3383280" cy="329184"/>
          </a:xfrm>
          <a:prstGeom prst="rect">
            <a:avLst/>
          </a:prstGeom>
          <a:noFill/>
          <a:ln/>
        </p:spPr>
        <p:txBody>
          <a:bodyPr wrap="square" lIns="0" tIns="0" rIns="0" bIns="0" rtlCol="0" anchor="t"/>
          <a:lstStyle/>
          <a:p>
            <a:pPr algn="l" indent="0" marL="0">
              <a:buNone/>
            </a:pPr>
            <a:r>
              <a:rPr lang="en-US" sz="1500" dirty="0">
                <a:solidFill>
                  <a:schemeClr val="bg1"/>
                </a:solidFill>
                <a:latin typeface="IBM Plex Sans Arabic" pitchFamily="34" charset="0"/>
                <a:ea typeface="IBM Plex Sans Arabic" pitchFamily="34" charset="-122"/>
                <a:cs typeface="IBM Plex Sans Arabic" pitchFamily="34" charset="-120"/>
              </a:rPr>
              <a:t>@evcarsuae</a:t>
            </a:r>
            <a:endParaRPr lang="en-US" sz="1500" dirty="0"/>
          </a:p>
        </p:txBody>
      </p:sp>
      <p:sp>
        <p:nvSpPr>
          <p:cNvPr id="24" name="Contact circle 5"/>
          <p:cNvSpPr/>
          <p:nvPr/>
        </p:nvSpPr>
        <p:spPr>
          <a:xfrm>
            <a:off x="5669280" y="4846320"/>
            <a:ext cx="566928" cy="566928"/>
          </a:xfrm>
          <a:prstGeom prst="ellipse">
            <a:avLst/>
          </a:prstGeom>
          <a:solidFill>
            <a:schemeClr val="bg1">
              <a:alpha val="10000"/>
            </a:schemeClr>
          </a:solidFill>
          <a:ln/>
        </p:spPr>
      </p:sp>
      <p:pic>
        <p:nvPicPr>
          <p:cNvPr id="25" name="Contact icon 5" descr="icon">    </p:cNvPr>
          <p:cNvPicPr>
            <a:picLocks noChangeAspect="1"/>
          </p:cNvPicPr>
          <p:nvPr/>
        </p:nvPicPr>
        <p:blipFill>
          <a:blip r:embed="rId7"/>
          <a:stretch>
            <a:fillRect/>
          </a:stretch>
        </p:blipFill>
        <p:spPr>
          <a:xfrm>
            <a:off x="5806440" y="4983480"/>
            <a:ext cx="292608" cy="292608"/>
          </a:xfrm>
          <a:prstGeom prst="rect">
            <a:avLst/>
          </a:prstGeom>
        </p:spPr>
      </p:pic>
      <p:sp>
        <p:nvSpPr>
          <p:cNvPr id="26" name="Text 17"/>
          <p:cNvSpPr txBox="1"/>
          <p:nvPr/>
        </p:nvSpPr>
        <p:spPr>
          <a:xfrm>
            <a:off x="6446520" y="4828032"/>
            <a:ext cx="3108960" cy="228600"/>
          </a:xfrm>
          <a:prstGeom prst="rect">
            <a:avLst/>
          </a:prstGeom>
          <a:noFill/>
          <a:ln/>
        </p:spPr>
        <p:txBody>
          <a:bodyPr wrap="square" lIns="0" tIns="0" rIns="0" bIns="0" rtlCol="0" anchor="t"/>
          <a:lstStyle/>
          <a:p>
            <a:pPr algn="l" indent="0" marL="0">
              <a:buNone/>
            </a:pPr>
            <a:r>
              <a:rPr lang="en-US" sz="900" b="1" spc="200" kern="0" dirty="0">
                <a:solidFill>
                  <a:schemeClr val="accent2"/>
                </a:solidFill>
                <a:latin typeface="IBM Plex Sans Arabic" pitchFamily="34" charset="0"/>
                <a:ea typeface="IBM Plex Sans Arabic" pitchFamily="34" charset="-122"/>
                <a:cs typeface="IBM Plex Sans Arabic" pitchFamily="34" charset="-120"/>
              </a:rPr>
              <a:t>LOCATIONS  |  المواقع</a:t>
            </a:r>
            <a:endParaRPr lang="en-US" sz="900" dirty="0"/>
          </a:p>
        </p:txBody>
      </p:sp>
      <p:sp>
        <p:nvSpPr>
          <p:cNvPr id="27" name="Text 18"/>
          <p:cNvSpPr txBox="1"/>
          <p:nvPr/>
        </p:nvSpPr>
        <p:spPr>
          <a:xfrm>
            <a:off x="6446520" y="5065776"/>
            <a:ext cx="3383280" cy="329184"/>
          </a:xfrm>
          <a:prstGeom prst="rect">
            <a:avLst/>
          </a:prstGeom>
          <a:noFill/>
          <a:ln/>
        </p:spPr>
        <p:txBody>
          <a:bodyPr wrap="square" lIns="0" tIns="0" rIns="0" bIns="0" rtlCol="0" anchor="t"/>
          <a:lstStyle/>
          <a:p>
            <a:pPr algn="l" indent="0" marL="0">
              <a:buNone/>
            </a:pPr>
            <a:r>
              <a:rPr lang="en-US" sz="1250" dirty="0">
                <a:solidFill>
                  <a:schemeClr val="bg1"/>
                </a:solidFill>
                <a:latin typeface="IBM Plex Sans Arabic" pitchFamily="34" charset="0"/>
                <a:ea typeface="IBM Plex Sans Arabic" pitchFamily="34" charset="-122"/>
                <a:cs typeface="IBM Plex Sans Arabic" pitchFamily="34" charset="-120"/>
              </a:rPr>
              <a:t>Dubai • Sharjah • Al Ain • Muscat • Saham</a:t>
            </a:r>
            <a:endParaRPr lang="en-US" sz="1250" dirty="0"/>
          </a:p>
        </p:txBody>
      </p:sp>
      <p:sp>
        <p:nvSpPr>
          <p:cNvPr id="28" name="QR card web"/>
          <p:cNvSpPr/>
          <p:nvPr/>
        </p:nvSpPr>
        <p:spPr>
          <a:xfrm>
            <a:off x="10012680" y="1371600"/>
            <a:ext cx="1554480" cy="1783080"/>
          </a:xfrm>
          <a:prstGeom prst="roundRect">
            <a:avLst>
              <a:gd name="adj" fmla="val 4706"/>
            </a:avLst>
          </a:prstGeom>
          <a:solidFill>
            <a:schemeClr val="bg1"/>
          </a:solidFill>
          <a:ln/>
        </p:spPr>
      </p:sp>
      <p:pic>
        <p:nvPicPr>
          <p:cNvPr id="29" name="QR web" descr="QR code: evcarsuae.com">    </p:cNvPr>
          <p:cNvPicPr>
            <a:picLocks noChangeAspect="1"/>
          </p:cNvPicPr>
          <p:nvPr/>
        </p:nvPicPr>
        <p:blipFill>
          <a:blip r:embed="rId8"/>
          <a:stretch>
            <a:fillRect/>
          </a:stretch>
        </p:blipFill>
        <p:spPr>
          <a:xfrm>
            <a:off x="10104120" y="1463040"/>
            <a:ext cx="1371600" cy="1371600"/>
          </a:xfrm>
          <a:prstGeom prst="rect">
            <a:avLst/>
          </a:prstGeom>
        </p:spPr>
      </p:pic>
      <p:sp>
        <p:nvSpPr>
          <p:cNvPr id="30" name="Text 20"/>
          <p:cNvSpPr txBox="1"/>
          <p:nvPr/>
        </p:nvSpPr>
        <p:spPr>
          <a:xfrm>
            <a:off x="10012680" y="2862072"/>
            <a:ext cx="1554480" cy="228600"/>
          </a:xfrm>
          <a:prstGeom prst="rect">
            <a:avLst/>
          </a:prstGeom>
          <a:noFill/>
          <a:ln/>
        </p:spPr>
        <p:txBody>
          <a:bodyPr wrap="square" lIns="0" tIns="0" rIns="0" bIns="0" rtlCol="0" anchor="t"/>
          <a:lstStyle/>
          <a:p>
            <a:pPr algn="ctr" indent="0" marL="0">
              <a:buNone/>
            </a:pPr>
            <a:r>
              <a:rPr lang="en-US" sz="950" b="1" dirty="0">
                <a:solidFill>
                  <a:schemeClr val="tx1"/>
                </a:solidFill>
                <a:latin typeface="IBM Plex Sans Arabic" pitchFamily="34" charset="0"/>
                <a:ea typeface="IBM Plex Sans Arabic" pitchFamily="34" charset="-122"/>
                <a:cs typeface="IBM Plex Sans Arabic" pitchFamily="34" charset="-120"/>
              </a:rPr>
              <a:t>Online Store</a:t>
            </a:r>
            <a:endParaRPr lang="en-US" sz="950" dirty="0"/>
          </a:p>
        </p:txBody>
      </p:sp>
      <p:sp>
        <p:nvSpPr>
          <p:cNvPr id="31" name="QR card whatsapp"/>
          <p:cNvSpPr/>
          <p:nvPr/>
        </p:nvSpPr>
        <p:spPr>
          <a:xfrm>
            <a:off x="10012680" y="3337560"/>
            <a:ext cx="1554480" cy="1783080"/>
          </a:xfrm>
          <a:prstGeom prst="roundRect">
            <a:avLst>
              <a:gd name="adj" fmla="val 4706"/>
            </a:avLst>
          </a:prstGeom>
          <a:solidFill>
            <a:schemeClr val="bg1"/>
          </a:solidFill>
          <a:ln/>
        </p:spPr>
      </p:sp>
      <p:pic>
        <p:nvPicPr>
          <p:cNvPr id="32" name="QR whatsapp" descr="QR code: WhatsApp">    </p:cNvPr>
          <p:cNvPicPr>
            <a:picLocks noChangeAspect="1"/>
          </p:cNvPicPr>
          <p:nvPr/>
        </p:nvPicPr>
        <p:blipFill>
          <a:blip r:embed="rId9"/>
          <a:stretch>
            <a:fillRect/>
          </a:stretch>
        </p:blipFill>
        <p:spPr>
          <a:xfrm>
            <a:off x="10104120" y="3429000"/>
            <a:ext cx="1371600" cy="1371600"/>
          </a:xfrm>
          <a:prstGeom prst="rect">
            <a:avLst/>
          </a:prstGeom>
        </p:spPr>
      </p:pic>
      <p:sp>
        <p:nvSpPr>
          <p:cNvPr id="33" name="Text 22"/>
          <p:cNvSpPr txBox="1"/>
          <p:nvPr/>
        </p:nvSpPr>
        <p:spPr>
          <a:xfrm>
            <a:off x="10012680" y="4828032"/>
            <a:ext cx="1554480" cy="228600"/>
          </a:xfrm>
          <a:prstGeom prst="rect">
            <a:avLst/>
          </a:prstGeom>
          <a:noFill/>
          <a:ln/>
        </p:spPr>
        <p:txBody>
          <a:bodyPr wrap="square" lIns="0" tIns="0" rIns="0" bIns="0" rtlCol="0" anchor="t"/>
          <a:lstStyle/>
          <a:p>
            <a:pPr algn="ctr" indent="0" marL="0">
              <a:buNone/>
            </a:pPr>
            <a:r>
              <a:rPr lang="en-US" sz="950" b="1" dirty="0">
                <a:solidFill>
                  <a:schemeClr val="tx1"/>
                </a:solidFill>
                <a:latin typeface="IBM Plex Sans Arabic" pitchFamily="34" charset="0"/>
                <a:ea typeface="IBM Plex Sans Arabic" pitchFamily="34" charset="-122"/>
                <a:cs typeface="IBM Plex Sans Arabic" pitchFamily="34" charset="-120"/>
              </a:rPr>
              <a:t>WhatsApp</a:t>
            </a:r>
            <a:endParaRPr lang="en-US" sz="950" dirty="0"/>
          </a:p>
        </p:txBody>
      </p:sp>
      <p:sp>
        <p:nvSpPr>
          <p:cNvPr id="34" name="Text 23"/>
          <p:cNvSpPr txBox="1"/>
          <p:nvPr/>
        </p:nvSpPr>
        <p:spPr>
          <a:xfrm>
            <a:off x="0" y="6327648"/>
            <a:ext cx="12191695" cy="228600"/>
          </a:xfrm>
          <a:prstGeom prst="rect">
            <a:avLst/>
          </a:prstGeom>
          <a:noFill/>
          <a:ln/>
        </p:spPr>
        <p:txBody>
          <a:bodyPr wrap="square" lIns="0" tIns="0" rIns="0" bIns="0" rtlCol="0" anchor="t"/>
          <a:lstStyle/>
          <a:p>
            <a:pPr algn="ctr" indent="0" marL="0">
              <a:buNone/>
            </a:pPr>
            <a:r>
              <a:rPr lang="en-US" sz="1000" spc="400" kern="0" dirty="0">
                <a:solidFill>
                  <a:schemeClr val="accent5"/>
                </a:solidFill>
                <a:latin typeface="IBM Plex Sans Arabic" pitchFamily="34" charset="0"/>
                <a:ea typeface="IBM Plex Sans Arabic" pitchFamily="34" charset="-122"/>
                <a:cs typeface="IBM Plex Sans Arabic" pitchFamily="34" charset="-120"/>
              </a:rPr>
              <a:t>UNITED ARAB EMIRATES   |   SULTANATE OF OMAN</a:t>
            </a:r>
            <a:endParaRPr lang="en-US" sz="1000" dirty="0"/>
          </a:p>
        </p:txBody>
      </p:sp>
    </p:spTree>
  </p:cSld>
  <p:clrMapOvr>
    <a:masterClrMapping/>
  </p:clrMapOvr>
</p:sld>
</file>

<file path=ppt/theme/theme1.xml><?xml version="1.0" encoding="utf-8"?>
<a:theme xmlns:a="http://schemas.openxmlformats.org/drawingml/2006/main" name="EVCARS Luxury">
  <a:themeElements>
    <a:clrScheme name="EVCARS Luxury">
      <a:dk1>
        <a:srgbClr val="0B0D10"/>
      </a:dk1>
      <a:lt1>
        <a:srgbClr val="FFFFFF"/>
      </a:lt1>
      <a:dk2>
        <a:srgbClr val="151A20"/>
      </a:dk2>
      <a:lt2>
        <a:srgbClr val="F3F5F7"/>
      </a:lt2>
      <a:accent1>
        <a:srgbClr val="3D99C9"/>
      </a:accent1>
      <a:accent2>
        <a:srgbClr val="AFD379"/>
      </a:accent2>
      <a:accent3>
        <a:srgbClr val="5F6A75"/>
      </a:accent3>
      <a:accent4>
        <a:srgbClr val="232C35"/>
      </a:accent4>
      <a:accent5>
        <a:srgbClr val="DDE2E7"/>
      </a:accent5>
      <a:accent6>
        <a:srgbClr val="E4F1F8"/>
      </a:accent6>
      <a:hlink>
        <a:srgbClr val="3D99C9"/>
      </a:hlink>
      <a:folHlink>
        <a:srgbClr val="5F6A75"/>
      </a:folHlink>
    </a:clrScheme>
    <a:fontScheme name="EVCARS Luxury">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EVCARS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EVCARS — Corporate Profile | الملف التعريفي للشركة</dc:title>
  <dc:subject>Bilingual corporate profile (Arabic / English)</dc:subject>
  <dc:creator>EVCARS</dc:creator>
  <cp:lastModifiedBy>EVCARS</cp:lastModifiedBy>
  <cp:revision>1</cp:revision>
  <dcterms:created xsi:type="dcterms:W3CDTF">2026-10-14T19:36:11Z</dcterms:created>
  <dcterms:modified xsi:type="dcterms:W3CDTF">2026-10-14T19:36:11Z</dcterms:modified>
</cp:coreProperties>
</file>
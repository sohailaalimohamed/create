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12cefbcd-3948-8cdd-a5b8-b05748d2903e}">
          <p14:sldIdLst>
            <p14:sldId id="256"/>
          </p14:sldIdLst>
        </p14:section>
        <p14:section name="Introduction" id="{53e2da80-8dd0-9bbf-aff1-8612590bb359}">
          <p14:sldIdLst>
            <p14:sldId id="257"/>
          </p14:sldIdLst>
        </p14:section>
        <p14:section name="Who We Are" id="{69857f94-5168-35ed-efff-270afa045dbf}">
          <p14:sldIdLst>
            <p14:sldId id="258"/>
            <p14:sldId id="259"/>
            <p14:sldId id="260"/>
            <p14:sldId id="261"/>
            <p14:sldId id="262"/>
          </p14:sldIdLst>
        </p14:section>
        <p14:section name="What We Do" id="{8e47774d-40cd-d4ce-d877-247b8bb27b8a}">
          <p14:sldIdLst>
            <p14:sldId id="263"/>
            <p14:sldId id="264"/>
            <p14:sldId id="265"/>
            <p14:sldId id="266"/>
          </p14:sldIdLst>
        </p14:section>
        <p14:section name="Who We Serve" id="{4a727d1e-51ce-67f8-3559-21602420dec8}">
          <p14:sldIdLst>
            <p14:sldId id="267"/>
            <p14:sldId id="268"/>
          </p14:sldIdLst>
        </p14:section>
        <p14:section name="Where We Are" id="{d0c42686-840d-8626-6aa2-a8bd23f8cb75}">
          <p14:sldIdLst>
            <p14:sldId id="269"/>
            <p14:sldId id="270"/>
          </p14:sldIdLst>
        </p14:section>
        <p14:section name="Why EVCARS" id="{7f034b87-2024-1c23-1a82-50d7fa0e45bb}">
          <p14:sldIdLst>
            <p14:sldId id="271"/>
            <p14:sldId id="272"/>
            <p14:sldId id="273"/>
            <p14:sldId id="274"/>
          </p14:sldIdLst>
        </p14:section>
        <p14:section name="Ahead &amp; Contact" id="{6b22f51a-53ae-d936-03bf-bbfebfd8bbb4}">
          <p14:sldIdLst>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Replace the illustration with a hero photo of an EV with charger and accessories if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Partner logos are placed as uniform rounded cards (checkerboard of dark and light cards). Replace a card image to update a logo.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DARK-image-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713232"/>
            <a:ext cx="5486400" cy="685800"/>
          </a:xfrm>
          <a:prstGeom prst="rect">
            <a:avLst/>
          </a:prstGeom>
          <a:noFill/>
          <a:ln/>
        </p:spPr>
        <p:txBody>
          <a:bodyPr wrap="square" rtlCol="0"/>
          <a:lstStyle>
            <a:lvl1pPr algn="l" indent="0" marL="0">
              <a:buNone/>
              <a:defRPr lang="en-US" sz="3000" dirty="0">
                <a:solidFill>
                  <a:schemeClr val="tx1"/>
                </a:solidFill>
                <a:latin typeface="IBM Plex Sans Arabic Light" pitchFamily="34" charset="0"/>
                <a:ea typeface="IBM Plex Sans Arabic Light" pitchFamily="34" charset="-122"/>
                <a:cs typeface="IBM Plex Sans Arabic Light" pitchFamily="34" charset="-120"/>
              </a:defRPr>
            </a:lvl1pPr>
          </a:lstStyle>
          <a:p>
            <a:pPr algn="l" indent="0" marL="0">
              <a:buNone/>
            </a:pPr>
            <a:endParaRPr lang="en-US" sz="3000" dirty="0"/>
          </a:p>
        </p:txBody>
      </p:sp>
      <p:sp>
        <p:nvSpPr>
          <p:cNvPr id="3" name="Text 0"/>
          <p:cNvSpPr/>
          <p:nvPr>
            <p:ph idx="101" type="body" hasCustomPrompt="1"/>
          </p:nvPr>
        </p:nvSpPr>
        <p:spPr>
          <a:xfrm>
            <a:off x="6065215" y="713232"/>
            <a:ext cx="5486400" cy="685800"/>
          </a:xfrm>
          <a:prstGeom prst="rect">
            <a:avLst/>
          </a:prstGeom>
          <a:noFill/>
          <a:ln/>
        </p:spPr>
        <p:txBody>
          <a:bodyPr wrap="square" rtlCol="0"/>
          <a:lstStyle>
            <a:lvl1pPr algn="r" indent="0" marL="0">
              <a:buNone/>
              <a:defRPr lang="en-US" sz="3000" dirty="0">
                <a:solidFill>
                  <a:schemeClr val="tx1"/>
                </a:solidFill>
                <a:latin typeface="IBM Plex Sans Arabic Light" pitchFamily="34" charset="0"/>
                <a:ea typeface="IBM Plex Sans Arabic Light" pitchFamily="34" charset="-122"/>
                <a:cs typeface="IBM Plex Sans Arabic Light" pitchFamily="34" charset="-120"/>
              </a:defRPr>
            </a:lvl1pPr>
          </a:lstStyle>
          <a:p>
            <a:pPr algn="r" indent="0" marL="0">
              <a:buNone/>
            </a:pPr>
            <a:endParaRPr lang="en-US" sz="3000" dirty="0"/>
          </a:p>
        </p:txBody>
      </p:sp>
      <p:pic>
        <p:nvPicPr>
          <p:cNvPr id="4" name="Image 0" descr="/home/claude/work/assets/logo_wordmark.png">    </p:cNvPr>
          <p:cNvPicPr>
            <a:picLocks noChangeAspect="1"/>
          </p:cNvPicPr>
          <p:nvPr/>
        </p:nvPicPr>
        <p:blipFill>
          <a:blip r:embed="rId1"/>
          <a:stretch>
            <a:fillRect/>
          </a:stretch>
        </p:blipFill>
        <p:spPr>
          <a:xfrm>
            <a:off x="640080" y="6355080"/>
            <a:ext cx="822960" cy="165506"/>
          </a:xfrm>
          <a:prstGeom prst="rect">
            <a:avLst/>
          </a:prstGeom>
        </p:spPr>
      </p:pic>
      <p:sp>
        <p:nvSpPr>
          <p:cNvPr id="5" name="Text 0"/>
          <p:cNvSpPr/>
          <p:nvPr/>
        </p:nvSpPr>
        <p:spPr>
          <a:xfrm>
            <a:off x="3352648" y="6336792"/>
            <a:ext cx="5486400" cy="228600"/>
          </a:xfrm>
          <a:prstGeom prst="rect">
            <a:avLst/>
          </a:prstGeom>
          <a:noFill/>
          <a:ln/>
        </p:spPr>
        <p:txBody>
          <a:bodyPr wrap="square" lIns="0" tIns="0" rIns="0" bIns="0" rtlCol="0" anchor="ctr"/>
          <a:lstStyle/>
          <a:p>
            <a:pPr algn="ctr" indent="0" marL="0">
              <a:buNone/>
            </a:pPr>
            <a:r>
              <a:rPr lang="en-US" sz="900" spc="200" kern="0" dirty="0">
                <a:solidFill>
                  <a:schemeClr val="accent3"/>
                </a:solidFill>
                <a:latin typeface="IBM Plex Sans Arabic" pitchFamily="34" charset="0"/>
                <a:ea typeface="IBM Plex Sans Arabic" pitchFamily="34" charset="-122"/>
                <a:cs typeface="IBM Plex Sans Arabic" pitchFamily="34" charset="-120"/>
              </a:rPr>
              <a:t>CORPORATE PROFILE   |   الملف التعريفي للشركة</a:t>
            </a:r>
            <a:endParaRPr lang="en-US" sz="9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A75"/>
                </a:solidFill>
                <a:latin typeface="IBM Plex Sans Arabic"/>
                <a:ea typeface="IBM Plex Sans Arabic"/>
                <a:cs typeface="IBM Plex Sans Arabic"/>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OF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713232"/>
            <a:ext cx="5486400" cy="685800"/>
          </a:xfrm>
          <a:prstGeom prst="rect">
            <a:avLst/>
          </a:prstGeom>
          <a:noFill/>
          <a:ln/>
        </p:spPr>
        <p:txBody>
          <a:bodyPr wrap="square" rtlCol="0"/>
          <a:lstStyle>
            <a:lvl1pPr algn="l" indent="0" marL="0">
              <a:buNone/>
              <a:defRPr lang="en-US" sz="3000" dirty="0">
                <a:solidFill>
                  <a:schemeClr val="tx1"/>
                </a:solidFill>
                <a:latin typeface="IBM Plex Sans Arabic Light" pitchFamily="34" charset="0"/>
                <a:ea typeface="IBM Plex Sans Arabic Light" pitchFamily="34" charset="-122"/>
                <a:cs typeface="IBM Plex Sans Arabic Light" pitchFamily="34" charset="-120"/>
              </a:defRPr>
            </a:lvl1pPr>
          </a:lstStyle>
          <a:p>
            <a:pPr algn="l" indent="0" marL="0">
              <a:buNone/>
            </a:pPr>
            <a:endParaRPr lang="en-US" sz="3000" dirty="0"/>
          </a:p>
        </p:txBody>
      </p:sp>
      <p:sp>
        <p:nvSpPr>
          <p:cNvPr id="3" name="Text 0"/>
          <p:cNvSpPr/>
          <p:nvPr>
            <p:ph idx="101" type="body" hasCustomPrompt="1"/>
          </p:nvPr>
        </p:nvSpPr>
        <p:spPr>
          <a:xfrm>
            <a:off x="6065215" y="713232"/>
            <a:ext cx="5486400" cy="685800"/>
          </a:xfrm>
          <a:prstGeom prst="rect">
            <a:avLst/>
          </a:prstGeom>
          <a:noFill/>
          <a:ln/>
        </p:spPr>
        <p:txBody>
          <a:bodyPr wrap="square" rtlCol="0"/>
          <a:lstStyle>
            <a:lvl1pPr algn="r" indent="0" marL="0">
              <a:buNone/>
              <a:defRPr lang="en-US" sz="3000" dirty="0">
                <a:solidFill>
                  <a:schemeClr val="tx1"/>
                </a:solidFill>
                <a:latin typeface="IBM Plex Sans Arabic Light" pitchFamily="34" charset="0"/>
                <a:ea typeface="IBM Plex Sans Arabic Light" pitchFamily="34" charset="-122"/>
                <a:cs typeface="IBM Plex Sans Arabic Light" pitchFamily="34" charset="-120"/>
              </a:defRPr>
            </a:lvl1pPr>
          </a:lstStyle>
          <a:p>
            <a:pPr algn="r" indent="0" marL="0">
              <a:buNone/>
            </a:pPr>
            <a:endParaRPr lang="en-US" sz="3000" dirty="0"/>
          </a:p>
        </p:txBody>
      </p:sp>
      <p:pic>
        <p:nvPicPr>
          <p:cNvPr id="4" name="Image 0" descr="/home/claude/work/assets/logo_wordmark.png">    </p:cNvPr>
          <p:cNvPicPr>
            <a:picLocks noChangeAspect="1"/>
          </p:cNvPicPr>
          <p:nvPr/>
        </p:nvPicPr>
        <p:blipFill>
          <a:blip r:embed="rId1"/>
          <a:stretch>
            <a:fillRect/>
          </a:stretch>
        </p:blipFill>
        <p:spPr>
          <a:xfrm>
            <a:off x="640080" y="6355080"/>
            <a:ext cx="822960" cy="165506"/>
          </a:xfrm>
          <a:prstGeom prst="rect">
            <a:avLst/>
          </a:prstGeom>
        </p:spPr>
      </p:pic>
      <p:sp>
        <p:nvSpPr>
          <p:cNvPr id="5" name="Text 0"/>
          <p:cNvSpPr/>
          <p:nvPr/>
        </p:nvSpPr>
        <p:spPr>
          <a:xfrm>
            <a:off x="3352648" y="6336792"/>
            <a:ext cx="5486400" cy="228600"/>
          </a:xfrm>
          <a:prstGeom prst="rect">
            <a:avLst/>
          </a:prstGeom>
          <a:noFill/>
          <a:ln/>
        </p:spPr>
        <p:txBody>
          <a:bodyPr wrap="square" lIns="0" tIns="0" rIns="0" bIns="0" rtlCol="0" anchor="ctr"/>
          <a:lstStyle/>
          <a:p>
            <a:pPr algn="ctr" indent="0" marL="0">
              <a:buNone/>
            </a:pPr>
            <a:r>
              <a:rPr lang="en-US" sz="900" spc="200" kern="0" dirty="0">
                <a:solidFill>
                  <a:schemeClr val="accent3"/>
                </a:solidFill>
                <a:latin typeface="IBM Plex Sans Arabic" pitchFamily="34" charset="0"/>
                <a:ea typeface="IBM Plex Sans Arabic" pitchFamily="34" charset="-122"/>
                <a:cs typeface="IBM Plex Sans Arabic" pitchFamily="34" charset="-120"/>
              </a:rPr>
              <a:t>CORPORATE PROFILE   |   الملف التعريفي للشركة</a:t>
            </a:r>
            <a:endParaRPr lang="en-US" sz="9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A75"/>
                </a:solidFill>
                <a:latin typeface="IBM Plex Sans Arabic"/>
                <a:ea typeface="IBM Plex Sans Arabic"/>
                <a:cs typeface="IBM Plex Sans Arabic"/>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713232"/>
            <a:ext cx="5486400" cy="685800"/>
          </a:xfrm>
          <a:prstGeom prst="rect">
            <a:avLst/>
          </a:prstGeom>
          <a:noFill/>
          <a:ln/>
        </p:spPr>
        <p:txBody>
          <a:bodyPr wrap="square" rtlCol="0"/>
          <a:lstStyle>
            <a:lvl1pPr algn="l" indent="0" marL="0">
              <a:buNone/>
              <a:defRPr lang="en-US" sz="3000" dirty="0">
                <a:solidFill>
                  <a:schemeClr val="bg1"/>
                </a:solidFill>
                <a:latin typeface="IBM Plex Sans Arabic Light" pitchFamily="34" charset="0"/>
                <a:ea typeface="IBM Plex Sans Arabic Light" pitchFamily="34" charset="-122"/>
                <a:cs typeface="IBM Plex Sans Arabic Light" pitchFamily="34" charset="-120"/>
              </a:defRPr>
            </a:lvl1pPr>
          </a:lstStyle>
          <a:p>
            <a:pPr algn="l" indent="0" marL="0">
              <a:buNone/>
            </a:pPr>
            <a:endParaRPr lang="en-US" sz="3000" dirty="0"/>
          </a:p>
        </p:txBody>
      </p:sp>
      <p:sp>
        <p:nvSpPr>
          <p:cNvPr id="3" name="Text 0"/>
          <p:cNvSpPr/>
          <p:nvPr>
            <p:ph idx="101" type="body" hasCustomPrompt="1"/>
          </p:nvPr>
        </p:nvSpPr>
        <p:spPr>
          <a:xfrm>
            <a:off x="6065215" y="713232"/>
            <a:ext cx="5486400" cy="685800"/>
          </a:xfrm>
          <a:prstGeom prst="rect">
            <a:avLst/>
          </a:prstGeom>
          <a:noFill/>
          <a:ln/>
        </p:spPr>
        <p:txBody>
          <a:bodyPr wrap="square" rtlCol="0"/>
          <a:lstStyle>
            <a:lvl1pPr algn="r" indent="0" marL="0">
              <a:buNone/>
              <a:defRPr lang="en-US" sz="3000" dirty="0">
                <a:solidFill>
                  <a:schemeClr val="bg1"/>
                </a:solidFill>
                <a:latin typeface="IBM Plex Sans Arabic Light" pitchFamily="34" charset="0"/>
                <a:ea typeface="IBM Plex Sans Arabic Light" pitchFamily="34" charset="-122"/>
                <a:cs typeface="IBM Plex Sans Arabic Light" pitchFamily="34" charset="-120"/>
              </a:defRPr>
            </a:lvl1pPr>
          </a:lstStyle>
          <a:p>
            <a:pPr algn="r" indent="0" marL="0">
              <a:buNone/>
            </a:pPr>
            <a:endParaRPr lang="en-US" sz="3000" dirty="0"/>
          </a:p>
        </p:txBody>
      </p:sp>
      <p:pic>
        <p:nvPicPr>
          <p:cNvPr id="4" name="Image 0" descr="/home/claude/work/assets/logo_wordmark.png">    </p:cNvPr>
          <p:cNvPicPr>
            <a:picLocks noChangeAspect="1"/>
          </p:cNvPicPr>
          <p:nvPr/>
        </p:nvPicPr>
        <p:blipFill>
          <a:blip r:embed="rId1"/>
          <a:stretch>
            <a:fillRect/>
          </a:stretch>
        </p:blipFill>
        <p:spPr>
          <a:xfrm>
            <a:off x="640080" y="6355080"/>
            <a:ext cx="822960" cy="165506"/>
          </a:xfrm>
          <a:prstGeom prst="rect">
            <a:avLst/>
          </a:prstGeom>
        </p:spPr>
      </p:pic>
      <p:sp>
        <p:nvSpPr>
          <p:cNvPr id="5" name="Text 0"/>
          <p:cNvSpPr/>
          <p:nvPr/>
        </p:nvSpPr>
        <p:spPr>
          <a:xfrm>
            <a:off x="3352648" y="6336792"/>
            <a:ext cx="5486400" cy="228600"/>
          </a:xfrm>
          <a:prstGeom prst="rect">
            <a:avLst/>
          </a:prstGeom>
          <a:noFill/>
          <a:ln/>
        </p:spPr>
        <p:txBody>
          <a:bodyPr wrap="square" lIns="0" tIns="0" rIns="0" bIns="0" rtlCol="0" anchor="ctr"/>
          <a:lstStyle/>
          <a:p>
            <a:pPr algn="ctr" indent="0" marL="0">
              <a:buNone/>
            </a:pPr>
            <a:r>
              <a:rPr lang="en-US" sz="900" spc="200" kern="0" dirty="0">
                <a:solidFill>
                  <a:schemeClr val="accent5"/>
                </a:solidFill>
                <a:latin typeface="IBM Plex Sans Arabic" pitchFamily="34" charset="0"/>
                <a:ea typeface="IBM Plex Sans Arabic" pitchFamily="34" charset="-122"/>
                <a:cs typeface="IBM Plex Sans Arabic" pitchFamily="34" charset="-120"/>
              </a:rPr>
              <a:t>CORPORATE PROFILE   |   الملف التعريفي للشركة</a:t>
            </a:r>
            <a:endParaRPr lang="en-US" sz="9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DDE2E7"/>
                </a:solidFill>
                <a:latin typeface="IBM Plex Sans Arabic"/>
                <a:ea typeface="IBM Plex Sans Arabic"/>
                <a:cs typeface="IBM Plex Sans Arabic"/>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A75"/>
                </a:solidFill>
                <a:latin typeface="IBM Plex Sans Arabic"/>
                <a:ea typeface="IBM Plex Sans Arabic"/>
                <a:cs typeface="IBM Plex Sans Arabic"/>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 Id="rId5" Type="http://schemas.openxmlformats.org/officeDocument/2006/relationships/image" Target="../media/cover_bg_new.jpg"/></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 Id="rId9" Type="http://schemas.openxmlformats.org/officeDocument/2006/relationships/slide" Target="slide3.xml"/><Relationship Id="rId10" Type="http://schemas.openxmlformats.org/officeDocument/2006/relationships/slide" Target="slide8.xml"/><Relationship Id="rId11" Type="http://schemas.openxmlformats.org/officeDocument/2006/relationships/slide" Target="slide12.xml"/><Relationship Id="rId12" Type="http://schemas.openxmlformats.org/officeDocument/2006/relationships/slide" Target="slide14.xml"/><Relationship Id="rId13" Type="http://schemas.openxmlformats.org/officeDocument/2006/relationships/slide" Target="slide16.xml"/><Relationship Id="rId14" Type="http://schemas.openxmlformats.org/officeDocument/2006/relationships/slide" Target="slide20.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 Id="rId7" Type="http://schemas.openxmlformats.org/officeDocument/2006/relationships/slide" Target="slide2.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 Id="rId4" Type="http://schemas.openxmlformats.org/officeDocument/2006/relationships/slide" Target="slide2.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 Id="rId5" Type="http://schemas.openxmlformats.org/officeDocument/2006/relationships/slide" Target="slide2.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4.xml"/><Relationship Id="rId7" Type="http://schemas.openxmlformats.org/officeDocument/2006/relationships/notesSlide" Target="../notesSlides/notesSlide6.xml"/><Relationship Id="rId8" Type="http://schemas.openxmlformats.org/officeDocument/2006/relationships/slide" Target="slide2.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5.xml"/><Relationship Id="rId7" Type="http://schemas.openxmlformats.org/officeDocument/2006/relationships/notesSlide" Target="../notesSlides/notesSlide7.xml"/><Relationship Id="rId8" Type="http://schemas.openxmlformats.org/officeDocument/2006/relationships/slide" Target="slide2.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 Id="rId9" Type="http://schemas.openxmlformats.org/officeDocument/2006/relationships/slide" Target="slide2.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slideLayout" Target="../slideLayouts/slideLayout3.xml"/><Relationship Id="rId11" Type="http://schemas.openxmlformats.org/officeDocument/2006/relationships/notesSlide" Target="../notesSlides/notesSlide9.xml"/><Relationship Id="rId12" Type="http://schemas.openxmlformats.org/officeDocument/2006/relationships/slide" Target="slide2.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5.xml"/><Relationship Id="rId6" Type="http://schemas.openxmlformats.org/officeDocument/2006/relationships/notesSlide" Target="../notesSlides/notesSlide10.xml"/><Relationship Id="rId7" Type="http://schemas.openxmlformats.org/officeDocument/2006/relationships/slide" Target="slide2.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4.xml"/><Relationship Id="rId5" Type="http://schemas.openxmlformats.org/officeDocument/2006/relationships/notesSlide" Target="../notesSlides/notesSlide11.xml"/><Relationship Id="rId6" Type="http://schemas.openxmlformats.org/officeDocument/2006/relationships/slide" Target="slide2.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5.xml"/><Relationship Id="rId6" Type="http://schemas.openxmlformats.org/officeDocument/2006/relationships/notesSlide" Target="../notesSlides/notesSlide12.xml"/><Relationship Id="rId7" Type="http://schemas.openxmlformats.org/officeDocument/2006/relationships/slide" Target="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partner_evspace.png"/><Relationship Id="rId4" Type="http://schemas.openxmlformats.org/officeDocument/2006/relationships/image" Target="../media/partner_haloblk.png"/><Relationship Id="rId5" Type="http://schemas.openxmlformats.org/officeDocument/2006/relationships/image" Target="../media/partner_bsgt.png"/><Relationship Id="rId6" Type="http://schemas.openxmlformats.org/officeDocument/2006/relationships/image" Target="../media/partner_evs.png"/><Relationship Id="rId7" Type="http://schemas.openxmlformats.org/officeDocument/2006/relationships/image" Target="../media/partner_enhance.png"/><Relationship Id="rId8" Type="http://schemas.openxmlformats.org/officeDocument/2006/relationships/image" Target="../media/partner_iguana.png"/><Relationship Id="rId9" Type="http://schemas.openxmlformats.org/officeDocument/2006/relationships/image" Target="../media/partner_atlalah.png"/><Relationship Id="rId10" Type="http://schemas.openxmlformats.org/officeDocument/2006/relationships/image" Target="../media/partner_sos.png"/><Relationship Id="rId11" Type="http://schemas.openxmlformats.org/officeDocument/2006/relationships/image" Target="../media/partner_alnahla.png"/><Relationship Id="rId12" Type="http://schemas.openxmlformats.org/officeDocument/2006/relationships/slide" Target="slide2.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3.xml"/><Relationship Id="rId8" Type="http://schemas.openxmlformats.org/officeDocument/2006/relationships/notesSlide" Target="../notesSlides/notesSlide14.xml"/><Relationship Id="rId9" Type="http://schemas.openxmlformats.org/officeDocument/2006/relationships/hyperlink" Target="https://maps.app.goo.gl/hUr2Q75YpiqxaAB99?g_st=ic" TargetMode="External"/><Relationship Id="rId10" Type="http://schemas.openxmlformats.org/officeDocument/2006/relationships/hyperlink" Target="https://maps.app.goo.gl/kP9Zx83oYUR2HHzD9?g_st=ic" TargetMode="External"/><Relationship Id="rId11" Type="http://schemas.openxmlformats.org/officeDocument/2006/relationships/hyperlink" Target="https://maps.app.goo.gl/97XMvGWfzFHCu7Kr6?g_st=ic" TargetMode="External"/><Relationship Id="rId12" Type="http://schemas.openxmlformats.org/officeDocument/2006/relationships/hyperlink" Target="https://maps.app.goo.gl/5hDyK7UXNvDWm4ST8?g_st=ic" TargetMode="External"/><Relationship Id="rId13" Type="http://schemas.openxmlformats.org/officeDocument/2006/relationships/hyperlink" Target="https://maps.app.goo.gl/sZbmMqnvkCjq1ZK99?g_st=ic" TargetMode="External"/><Relationship Id="rId14" Type="http://schemas.openxmlformats.org/officeDocument/2006/relationships/hyperlink" Target="https://wa.me/971507777134" TargetMode="External"/><Relationship Id="rId15" Type="http://schemas.openxmlformats.org/officeDocument/2006/relationships/image" Target="../media/image-17-3.png"/><Relationship Id="rId16" Type="http://schemas.openxmlformats.org/officeDocument/2006/relationships/hyperlink" Target="https://www.evcarsuae.com" TargetMode="External"/><Relationship Id="rId17" Type="http://schemas.openxmlformats.org/officeDocument/2006/relationships/slide" Target="slide2.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5.xml"/><Relationship Id="rId5" Type="http://schemas.openxmlformats.org/officeDocument/2006/relationships/notesSlide" Target="../notesSlides/notesSlide15.xml"/><Relationship Id="rId6" Type="http://schemas.openxmlformats.org/officeDocument/2006/relationships/slide" Target="slide2.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 Id="rId4" Type="http://schemas.openxmlformats.org/officeDocument/2006/relationships/slide" Target="slide2.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5.xml"/><Relationship Id="rId6" Type="http://schemas.openxmlformats.org/officeDocument/2006/relationships/notesSlide" Target="../notesSlides/notesSlide17.xml"/><Relationship Id="rId7" Type="http://schemas.openxmlformats.org/officeDocument/2006/relationships/hyperlink" Target="https://www.evcarsuae.com" TargetMode="External"/><Relationship Id="rId8" Type="http://schemas.openxmlformats.org/officeDocument/2006/relationships/slide" Target="slide2.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 Id="rId4" Type="http://schemas.openxmlformats.org/officeDocument/2006/relationships/slide" Target="slide2.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slideLayout" Target="../slideLayouts/slideLayout4.xml"/><Relationship Id="rId10" Type="http://schemas.openxmlformats.org/officeDocument/2006/relationships/notesSlide" Target="../notesSlides/notesSlide19.xml"/><Relationship Id="rId11" Type="http://schemas.openxmlformats.org/officeDocument/2006/relationships/slide" Target="slide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slide" Target="slide2.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image" Target="../media/image-21-9.png"/><Relationship Id="rId10" Type="http://schemas.openxmlformats.org/officeDocument/2006/relationships/slideLayout" Target="../slideLayouts/slideLayout2.xml"/><Relationship Id="rId11" Type="http://schemas.openxmlformats.org/officeDocument/2006/relationships/notesSlide" Target="../notesSlides/notesSlide21.xml"/><Relationship Id="rId12" Type="http://schemas.openxmlformats.org/officeDocument/2006/relationships/hyperlink" Target="https://www.evcarsuae.com" TargetMode="External"/><Relationship Id="rId13" Type="http://schemas.openxmlformats.org/officeDocument/2006/relationships/hyperlink" Target="mailto:info@evcarsuae.com" TargetMode="External"/><Relationship Id="rId14" Type="http://schemas.openxmlformats.org/officeDocument/2006/relationships/hyperlink" Target="https://wa.me/971507777134" TargetMode="External"/><Relationship Id="rId15" Type="http://schemas.openxmlformats.org/officeDocument/2006/relationships/image" Target="../media/social_instagram.png"/><Relationship Id="rId16" Type="http://schemas.openxmlformats.org/officeDocument/2006/relationships/hyperlink" Target="https://www.instagram.com/evcarsuae/" TargetMode="External"/><Relationship Id="rId17" Type="http://schemas.openxmlformats.org/officeDocument/2006/relationships/image" Target="../media/social_tiktok.png"/><Relationship Id="rId18" Type="http://schemas.openxmlformats.org/officeDocument/2006/relationships/hyperlink" Target="https://www.tiktok.com/@evcarsuae" TargetMode="External"/><Relationship Id="rId19" Type="http://schemas.openxmlformats.org/officeDocument/2006/relationships/image" Target="../media/social_snapchat.png"/><Relationship Id="rId20" Type="http://schemas.openxmlformats.org/officeDocument/2006/relationships/hyperlink" Target="https://www.snapchat.com/add/evcarsuae" TargetMode="External"/><Relationship Id="rId21" Type="http://schemas.openxmlformats.org/officeDocument/2006/relationships/hyperlink" Target="https://maps.app.goo.gl/hUr2Q75YpiqxaAB99?g_st=ic" TargetMode="External"/><Relationship Id="rId22" Type="http://schemas.openxmlformats.org/officeDocument/2006/relationships/hyperlink" Target="https://maps.app.goo.gl/kP9Zx83oYUR2HHzD9?g_st=ic" TargetMode="External"/><Relationship Id="rId23" Type="http://schemas.openxmlformats.org/officeDocument/2006/relationships/hyperlink" Target="https://maps.app.goo.gl/97XMvGWfzFHCu7Kr6?g_st=ic" TargetMode="External"/><Relationship Id="rId24" Type="http://schemas.openxmlformats.org/officeDocument/2006/relationships/hyperlink" Target="https://maps.app.goo.gl/5hDyK7UXNvDWm4ST8?g_st=ic" TargetMode="External"/><Relationship Id="rId25" Type="http://schemas.openxmlformats.org/officeDocument/2006/relationships/hyperlink" Target="https://maps.app.goo.gl/sZbmMqnvkCjq1ZK99?g_st=ic" TargetMode="External"/><Relationship Id="rId26" Type="http://schemas.openxmlformats.org/officeDocument/2006/relationships/slide" Target="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10" name="EVCARS cover background" descr="Abstract charging-ring background"/>
          <p:cNvPicPr>
            <a:picLocks noChangeAspect="1"/>
          </p:cNvPicPr>
          <p:nvPr/>
        </p:nvPicPr>
        <p:blipFill>
          <a:blip r:embed="rId5"/>
          <a:stretch>
            <a:fillRect/>
          </a:stretch>
        </p:blipFill>
        <p:spPr>
          <a:xfrm>
            <a:off x="0" y="0"/>
            <a:ext cx="12191695" cy="6858000"/>
          </a:xfrm>
          <a:prstGeom prst="rect">
            <a:avLst/>
          </a:prstGeom>
        </p:spPr>
      </p:pic>
      <p:pic>
        <p:nvPicPr>
          <p:cNvPr id="2" name="EVCARS logo" descr="EVCARS logo">    </p:cNvPr>
          <p:cNvPicPr>
            <a:picLocks noChangeAspect="1"/>
          </p:cNvPicPr>
          <p:nvPr/>
        </p:nvPicPr>
        <p:blipFill>
          <a:blip r:embed="rId1"/>
          <a:stretch>
            <a:fillRect/>
          </a:stretch>
        </p:blipFill>
        <p:spPr>
          <a:xfrm>
            <a:off x="4084168" y="1280080"/>
            <a:ext cx="4023360" cy="808983"/>
          </a:xfrm>
          <a:prstGeom prst="rect">
            <a:avLst/>
          </a:prstGeom>
        </p:spPr>
      </p:pic>
      <p:sp>
        <p:nvSpPr>
          <p:cNvPr id="3" name="Text 0"/>
          <p:cNvSpPr txBox="1"/>
          <p:nvPr/>
        </p:nvSpPr>
        <p:spPr>
          <a:xfrm>
            <a:off x="0" y="2331640"/>
            <a:ext cx="12191695" cy="274320"/>
          </a:xfrm>
          <a:prstGeom prst="rect">
            <a:avLst/>
          </a:prstGeom>
          <a:noFill/>
          <a:ln/>
        </p:spPr>
        <p:txBody>
          <a:bodyPr wrap="square" lIns="0" tIns="0" rIns="0" bIns="0" rtlCol="0" anchor="t"/>
          <a:lstStyle/>
          <a:p>
            <a:pPr algn="ctr" indent="0" marL="0">
              <a:buNone/>
            </a:pPr>
            <a:r>
              <a:rPr lang="en-US" sz="1200" spc="800" kern="0" dirty="0">
                <a:solidFill>
                  <a:schemeClr val="accent5"/>
                </a:solidFill>
                <a:latin typeface="IBM Plex Sans Arabic" pitchFamily="34" charset="0"/>
                <a:ea typeface="IBM Plex Sans Arabic" pitchFamily="34" charset="-122"/>
                <a:cs typeface="IBM Plex Sans Arabic" pitchFamily="34" charset="-120"/>
              </a:rPr>
              <a:t>ELECTRIC VEHICLE SOLUTIONS</a:t>
            </a:r>
            <a:endParaRPr lang="en-US" sz="1200" dirty="0"/>
          </a:p>
        </p:txBody>
      </p:sp>
      <p:sp>
        <p:nvSpPr>
          <p:cNvPr id="4" name="Text 1"/>
          <p:cNvSpPr txBox="1"/>
          <p:nvPr/>
        </p:nvSpPr>
        <p:spPr>
          <a:xfrm>
            <a:off x="0" y="2788840"/>
            <a:ext cx="12191695" cy="594360"/>
          </a:xfrm>
          <a:prstGeom prst="rect">
            <a:avLst/>
          </a:prstGeom>
          <a:noFill/>
          <a:ln/>
        </p:spPr>
        <p:txBody>
          <a:bodyPr wrap="square" lIns="0" tIns="0" rIns="0" bIns="0" rtlCol="0" anchor="t"/>
          <a:lstStyle/>
          <a:p>
            <a:pPr rtl="1" algn="ctr" indent="0" marL="0">
              <a:buNone/>
            </a:pPr>
            <a:r>
              <a:rPr lang="ar-AE" altLang="en-US" sz="3600" dirty="0">
                <a:solidFill>
                  <a:schemeClr val="bg1"/>
                </a:solidFill>
                <a:latin typeface="IBM Plex Sans Arabic Light" pitchFamily="34" charset="0"/>
                <a:ea typeface="IBM Plex Sans Arabic Light" pitchFamily="34" charset="-122"/>
                <a:cs typeface="IBM Plex Sans Arabic Light" pitchFamily="34" charset="-120"/>
              </a:rPr>
              <a:t>الملف التعريفي للشركة</a:t>
            </a:r>
            <a:endParaRPr lang="ar-AE" sz="3600" dirty="0"/>
          </a:p>
        </p:txBody>
      </p:sp>
      <p:sp>
        <p:nvSpPr>
          <p:cNvPr id="5" name="Text 2"/>
          <p:cNvSpPr txBox="1"/>
          <p:nvPr/>
        </p:nvSpPr>
        <p:spPr>
          <a:xfrm>
            <a:off x="0" y="3383200"/>
            <a:ext cx="12191695" cy="457200"/>
          </a:xfrm>
          <a:prstGeom prst="rect">
            <a:avLst/>
          </a:prstGeom>
          <a:noFill/>
          <a:ln/>
        </p:spPr>
        <p:txBody>
          <a:bodyPr wrap="square" lIns="0" tIns="0" rIns="0" bIns="0" rtlCol="0" anchor="t"/>
          <a:lstStyle/>
          <a:p>
            <a:pPr algn="ctr" indent="0" marL="0">
              <a:buNone/>
            </a:pPr>
            <a:r>
              <a:rPr lang="en-US" sz="2600" spc="200" kern="0" dirty="0">
                <a:solidFill>
                  <a:schemeClr val="bg1"/>
                </a:solidFill>
                <a:latin typeface="IBM Plex Sans Arabic Light" pitchFamily="34" charset="0"/>
                <a:ea typeface="IBM Plex Sans Arabic Light" pitchFamily="34" charset="-122"/>
                <a:cs typeface="IBM Plex Sans Arabic Light" pitchFamily="34" charset="-120"/>
              </a:rPr>
              <a:t>Corporate Profile</a:t>
            </a:r>
            <a:endParaRPr lang="en-US" sz="2600" dirty="0"/>
          </a:p>
        </p:txBody>
      </p:sp>
      <p:sp>
        <p:nvSpPr>
          <p:cNvPr id="6" name="Text 3"/>
          <p:cNvSpPr txBox="1"/>
          <p:nvPr/>
        </p:nvSpPr>
        <p:spPr>
          <a:xfrm>
            <a:off x="0" y="3950128"/>
            <a:ext cx="12191695" cy="292608"/>
          </a:xfrm>
          <a:prstGeom prst="rect">
            <a:avLst/>
          </a:prstGeom>
          <a:noFill/>
          <a:ln/>
        </p:spPr>
        <p:txBody>
          <a:bodyPr wrap="square" lIns="0" tIns="0" rIns="0" bIns="0" rtlCol="0" anchor="t"/>
          <a:lstStyle/>
          <a:p>
            <a:pPr rtl="1" algn="ctr" indent="0" marL="0">
              <a:buNone/>
            </a:pPr>
            <a:r>
              <a:rPr lang="ar-AE" altLang="en-US" sz="1400" dirty="0">
                <a:solidFill>
                  <a:schemeClr val="accent5"/>
                </a:solidFill>
                <a:latin typeface="IBM Plex Sans Arabic" pitchFamily="34" charset="0"/>
                <a:ea typeface="IBM Plex Sans Arabic" pitchFamily="34" charset="-122"/>
                <a:cs typeface="IBM Plex Sans Arabic" pitchFamily="34" charset="-120"/>
              </a:rPr>
              <a:t>شركة إماراتية متخصصة في حلول السيارات الكهربائية</a:t>
            </a:r>
            <a:endParaRPr lang="ar-AE" sz="1400" dirty="0"/>
          </a:p>
        </p:txBody>
      </p:sp>
      <p:sp>
        <p:nvSpPr>
          <p:cNvPr id="7" name="Text 4"/>
          <p:cNvSpPr txBox="1"/>
          <p:nvPr/>
        </p:nvSpPr>
        <p:spPr>
          <a:xfrm>
            <a:off x="0" y="4233592"/>
            <a:ext cx="12191695" cy="274320"/>
          </a:xfrm>
          <a:prstGeom prst="rect">
            <a:avLst/>
          </a:prstGeom>
          <a:noFill/>
          <a:ln/>
        </p:spPr>
        <p:txBody>
          <a:bodyPr wrap="square" lIns="0" tIns="0" rIns="0" bIns="0" rtlCol="0" anchor="t"/>
          <a:lstStyle/>
          <a:p>
            <a:pPr algn="ctr" indent="0" marL="0">
              <a:buNone/>
            </a:pPr>
            <a:r>
              <a:rPr lang="en-US" sz="1300" dirty="0">
                <a:solidFill>
                  <a:schemeClr val="accent5"/>
                </a:solidFill>
                <a:latin typeface="IBM Plex Sans Arabic" pitchFamily="34" charset="0"/>
                <a:ea typeface="IBM Plex Sans Arabic" pitchFamily="34" charset="-122"/>
                <a:cs typeface="IBM Plex Sans Arabic" pitchFamily="34" charset="-120"/>
              </a:rPr>
              <a:t>An Emirati Brand Specialized in Electric Vehicle Solutions</a:t>
            </a:r>
            <a:endParaRPr lang="en-US" sz="1300" dirty="0"/>
          </a:p>
        </p:txBody>
      </p:sp>
      <p:sp>
        <p:nvSpPr>
          <p:cNvPr id="9" name="Text 5"/>
          <p:cNvSpPr txBox="1"/>
          <p:nvPr/>
        </p:nvSpPr>
        <p:spPr>
          <a:xfrm>
            <a:off x="0" y="6327648"/>
            <a:ext cx="12191695" cy="228600"/>
          </a:xfrm>
          <a:prstGeom prst="rect">
            <a:avLst/>
          </a:prstGeom>
          <a:noFill/>
          <a:ln/>
        </p:spPr>
        <p:txBody>
          <a:bodyPr wrap="square" lIns="0" tIns="0" rIns="0" bIns="0" rtlCol="0" anchor="t"/>
          <a:lstStyle/>
          <a:p>
            <a:pPr algn="ctr" indent="0" marL="0">
              <a:buNone/>
            </a:pPr>
            <a:r>
              <a:rPr lang="en-US" sz="1000" spc="600" kern="0" dirty="0">
                <a:solidFill>
                  <a:schemeClr val="accent5"/>
                </a:solidFill>
                <a:latin typeface="IBM Plex Sans Arabic" pitchFamily="34" charset="0"/>
                <a:ea typeface="IBM Plex Sans Arabic" pitchFamily="34" charset="-122"/>
                <a:cs typeface="IBM Plex Sans Arabic" pitchFamily="34" charset="-120"/>
              </a:rPr>
              <a:t>UAE   •   OMAN   •   REGIONAL EXPANSION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1"/>
                </a:solidFill>
                <a:latin typeface="IBM Plex Sans Arabic" pitchFamily="34" charset="0"/>
                <a:ea typeface="IBM Plex Sans Arabic" pitchFamily="34" charset="-122"/>
                <a:cs typeface="IBM Plex Sans Arabic" pitchFamily="34" charset="-120"/>
              </a:rPr>
              <a:t>00   ·   CONTENTS</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1"/>
                </a:solidFill>
                <a:latin typeface="IBM Plex Sans Arabic" pitchFamily="34" charset="0"/>
                <a:ea typeface="IBM Plex Sans Arabic" pitchFamily="34" charset="-122"/>
                <a:cs typeface="IBM Plex Sans Arabic" pitchFamily="34" charset="-120"/>
              </a:rPr>
              <a:t>المحتويات   ·   00</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tx1"/>
                </a:solidFill>
                <a:latin typeface="IBM Plex Sans Arabic Light" pitchFamily="34" charset="0"/>
                <a:ea typeface="IBM Plex Sans Arabic Light" pitchFamily="34" charset="-122"/>
                <a:cs typeface="IBM Plex Sans Arabic Light" pitchFamily="34" charset="-120"/>
              </a:rPr>
              <a:t>Contents</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tx1"/>
                </a:solidFill>
                <a:latin typeface="IBM Plex Sans Arabic Light" pitchFamily="34" charset="0"/>
                <a:ea typeface="IBM Plex Sans Arabic Light" pitchFamily="34" charset="-122"/>
                <a:cs typeface="IBM Plex Sans Arabic Light" pitchFamily="34" charset="-120"/>
              </a:rPr>
              <a:t>المحتويات</a:t>
            </a:r>
            <a:endParaRPr lang="ar-AE" sz="3000" dirty="0"/>
          </a:p>
        </p:txBody>
      </p:sp>
      <p:sp>
        <p:nvSpPr>
          <p:cNvPr id="6" name="Chapter card 01"/>
          <p:cNvSpPr/>
          <p:nvPr/>
        </p:nvSpPr>
        <p:spPr>
          <a:xfrm>
            <a:off x="640080" y="1783080"/>
            <a:ext cx="3456432" cy="1965960"/>
          </a:xfrm>
          <a:prstGeom prst="roundRect">
            <a:avLst>
              <a:gd name="adj" fmla="val 4651"/>
            </a:avLst>
          </a:prstGeom>
          <a:solidFill>
            <a:schemeClr val="bg2"/>
          </a:solidFill>
          <a:ln/>
        </p:spPr>
      </p:sp>
      <p:sp>
        <p:nvSpPr>
          <p:cNvPr id="7" name="Text 5"/>
          <p:cNvSpPr txBox="1"/>
          <p:nvPr/>
        </p:nvSpPr>
        <p:spPr>
          <a:xfrm>
            <a:off x="914400" y="1984248"/>
            <a:ext cx="1097280" cy="548640"/>
          </a:xfrm>
          <a:prstGeom prst="rect">
            <a:avLst/>
          </a:prstGeom>
          <a:noFill/>
          <a:ln/>
        </p:spPr>
        <p:txBody>
          <a:bodyPr wrap="square" lIns="0" tIns="0" rIns="0" bIns="0" rtlCol="0" anchor="t"/>
          <a:lstStyle/>
          <a:p>
            <a:pPr algn="l" indent="0" marL="0">
              <a:buNone/>
            </a:pPr>
            <a:r>
              <a:rPr lang="en-US" sz="3400" dirty="0">
                <a:solidFill>
                  <a:schemeClr val="accent1"/>
                </a:solidFill>
                <a:latin typeface="IBM Plex Sans Arabic Light" pitchFamily="34" charset="0"/>
                <a:ea typeface="IBM Plex Sans Arabic Light" pitchFamily="34" charset="-122"/>
                <a:cs typeface="IBM Plex Sans Arabic Light" pitchFamily="34" charset="-120"/>
              </a:rPr>
              <a:t>01</a:t>
            </a:r>
            <a:endParaRPr lang="en-US" sz="3400" dirty="0"/>
          </a:p>
        </p:txBody>
      </p:sp>
      <p:pic>
        <p:nvPicPr>
          <p:cNvPr id="8" name="Chapter icon 01" descr="icon">    </p:cNvPr>
          <p:cNvPicPr>
            <a:picLocks noChangeAspect="1"/>
          </p:cNvPicPr>
          <p:nvPr/>
        </p:nvPicPr>
        <p:blipFill>
          <a:blip r:embed="rId1"/>
          <a:stretch>
            <a:fillRect/>
          </a:stretch>
        </p:blipFill>
        <p:spPr>
          <a:xfrm>
            <a:off x="3410712" y="2039112"/>
            <a:ext cx="411480" cy="411480"/>
          </a:xfrm>
          <a:prstGeom prst="rect">
            <a:avLst/>
          </a:prstGeom>
        </p:spPr>
      </p:pic>
      <p:sp>
        <p:nvSpPr>
          <p:cNvPr id="9" name="Text 6"/>
          <p:cNvSpPr txBox="1"/>
          <p:nvPr/>
        </p:nvSpPr>
        <p:spPr>
          <a:xfrm>
            <a:off x="914400" y="2697480"/>
            <a:ext cx="2907792" cy="292608"/>
          </a:xfrm>
          <a:prstGeom prst="rect">
            <a:avLst/>
          </a:prstGeom>
          <a:noFill/>
          <a:ln/>
        </p:spPr>
        <p:txBody>
          <a:bodyPr wrap="square" lIns="0" tIns="0" rIns="0" bIns="0" rtlCol="0" anchor="t"/>
          <a:lstStyle/>
          <a:p>
            <a:pPr algn="l" indent="0" marL="0">
              <a:buNone/>
            </a:pPr>
            <a:r>
              <a:rPr lang="en-US" sz="1700" b="1" dirty="0">
                <a:solidFill>
                  <a:schemeClr val="tx1"/>
                </a:solidFill>
                <a:latin typeface="IBM Plex Sans Arabic" pitchFamily="34" charset="0"/>
                <a:ea typeface="IBM Plex Sans Arabic" pitchFamily="34" charset="-122"/>
                <a:cs typeface="IBM Plex Sans Arabic" pitchFamily="34" charset="-120"/>
              </a:rPr>
              <a:t>Who We Are</a:t>
            </a:r>
            <a:endParaRPr lang="en-US" sz="1700" dirty="0"/>
          </a:p>
        </p:txBody>
      </p:sp>
      <p:sp>
        <p:nvSpPr>
          <p:cNvPr id="10" name="Text 7"/>
          <p:cNvSpPr txBox="1"/>
          <p:nvPr/>
        </p:nvSpPr>
        <p:spPr>
          <a:xfrm>
            <a:off x="914400" y="2697480"/>
            <a:ext cx="2907792" cy="292608"/>
          </a:xfrm>
          <a:prstGeom prst="rect">
            <a:avLst/>
          </a:prstGeom>
          <a:noFill/>
          <a:ln/>
        </p:spPr>
        <p:txBody>
          <a:bodyPr wrap="square" lIns="0" tIns="0" rIns="0" bIns="0" rtlCol="0" anchor="t"/>
          <a:lstStyle/>
          <a:p>
            <a:pPr rtl="1" algn="r" indent="0" marL="0">
              <a:buNone/>
            </a:pPr>
            <a:r>
              <a:rPr lang="ar-AE" altLang="en-US" sz="1600" b="1" dirty="0">
                <a:solidFill>
                  <a:schemeClr val="tx1"/>
                </a:solidFill>
                <a:latin typeface="IBM Plex Sans Arabic" pitchFamily="34" charset="0"/>
                <a:ea typeface="IBM Plex Sans Arabic" pitchFamily="34" charset="-122"/>
                <a:cs typeface="IBM Plex Sans Arabic" pitchFamily="34" charset="-120"/>
              </a:rPr>
              <a:t>من نحن</a:t>
            </a:r>
            <a:endParaRPr lang="ar-AE" sz="1600" dirty="0"/>
          </a:p>
        </p:txBody>
      </p:sp>
      <p:sp>
        <p:nvSpPr>
          <p:cNvPr id="11" name="Text 8"/>
          <p:cNvSpPr txBox="1"/>
          <p:nvPr/>
        </p:nvSpPr>
        <p:spPr>
          <a:xfrm>
            <a:off x="914400" y="3154680"/>
            <a:ext cx="2084832" cy="411480"/>
          </a:xfrm>
          <a:prstGeom prst="rect">
            <a:avLst/>
          </a:prstGeom>
          <a:noFill/>
          <a:ln/>
        </p:spPr>
        <p:txBody>
          <a:bodyPr wrap="square" lIns="0" tIns="0" rIns="0" bIns="0" rtlCol="0" anchor="t"/>
          <a:lstStyle/>
          <a:p>
            <a:pPr algn="l" indent="0" marL="0">
              <a:buNone/>
            </a:pPr>
            <a:r>
              <a:rPr lang="en-US" sz="1100" dirty="0">
                <a:solidFill>
                  <a:schemeClr val="accent3"/>
                </a:solidFill>
                <a:latin typeface="IBM Plex Sans Arabic" pitchFamily="34" charset="0"/>
                <a:ea typeface="IBM Plex Sans Arabic" pitchFamily="34" charset="-122"/>
                <a:cs typeface="IBM Plex Sans Arabic" pitchFamily="34" charset="-120"/>
              </a:rPr>
              <a:t>About · Founder · Vision · Values · Journey</a:t>
            </a:r>
            <a:endParaRPr lang="en-US" sz="1100" dirty="0"/>
          </a:p>
        </p:txBody>
      </p:sp>
      <p:sp>
        <p:nvSpPr>
          <p:cNvPr id="12" name="Text 9"/>
          <p:cNvSpPr txBox="1"/>
          <p:nvPr/>
        </p:nvSpPr>
        <p:spPr>
          <a:xfrm>
            <a:off x="3090672" y="3154680"/>
            <a:ext cx="731520" cy="274320"/>
          </a:xfrm>
          <a:prstGeom prst="rect">
            <a:avLst/>
          </a:prstGeom>
          <a:noFill/>
          <a:ln/>
        </p:spPr>
        <p:txBody>
          <a:bodyPr wrap="square" lIns="0" tIns="0" rIns="0" bIns="0" rtlCol="0" anchor="t"/>
          <a:lstStyle/>
          <a:p>
            <a:pPr algn="r" indent="0" marL="0">
              <a:buNone/>
            </a:pPr>
            <a:r>
              <a:rPr lang="en-US" sz="1100" dirty="0">
                <a:solidFill>
                  <a:schemeClr val="accent3"/>
                </a:solidFill>
                <a:latin typeface="IBM Plex Sans Arabic" pitchFamily="34" charset="0"/>
                <a:ea typeface="IBM Plex Sans Arabic" pitchFamily="34" charset="-122"/>
                <a:cs typeface="IBM Plex Sans Arabic" pitchFamily="34" charset="-120"/>
              </a:rPr>
              <a:t>p. 3 – 7</a:t>
            </a:r>
            <a:endParaRPr lang="en-US" sz="1100" dirty="0"/>
          </a:p>
        </p:txBody>
      </p:sp>
      <p:sp>
        <p:nvSpPr>
          <p:cNvPr id="13" name="Chapter card 02"/>
          <p:cNvSpPr/>
          <p:nvPr/>
        </p:nvSpPr>
        <p:spPr>
          <a:xfrm>
            <a:off x="4366260" y="1783080"/>
            <a:ext cx="3456432" cy="1965960"/>
          </a:xfrm>
          <a:prstGeom prst="roundRect">
            <a:avLst>
              <a:gd name="adj" fmla="val 4651"/>
            </a:avLst>
          </a:prstGeom>
          <a:solidFill>
            <a:schemeClr val="bg2"/>
          </a:solidFill>
          <a:ln/>
        </p:spPr>
      </p:sp>
      <p:sp>
        <p:nvSpPr>
          <p:cNvPr id="14" name="Text 11"/>
          <p:cNvSpPr txBox="1"/>
          <p:nvPr/>
        </p:nvSpPr>
        <p:spPr>
          <a:xfrm>
            <a:off x="4640580" y="1984248"/>
            <a:ext cx="1097280" cy="548640"/>
          </a:xfrm>
          <a:prstGeom prst="rect">
            <a:avLst/>
          </a:prstGeom>
          <a:noFill/>
          <a:ln/>
        </p:spPr>
        <p:txBody>
          <a:bodyPr wrap="square" lIns="0" tIns="0" rIns="0" bIns="0" rtlCol="0" anchor="t"/>
          <a:lstStyle/>
          <a:p>
            <a:pPr algn="l" indent="0" marL="0">
              <a:buNone/>
            </a:pPr>
            <a:r>
              <a:rPr lang="en-US" sz="3400" dirty="0">
                <a:solidFill>
                  <a:schemeClr val="accent1"/>
                </a:solidFill>
                <a:latin typeface="IBM Plex Sans Arabic Light" pitchFamily="34" charset="0"/>
                <a:ea typeface="IBM Plex Sans Arabic Light" pitchFamily="34" charset="-122"/>
                <a:cs typeface="IBM Plex Sans Arabic Light" pitchFamily="34" charset="-120"/>
              </a:rPr>
              <a:t>02</a:t>
            </a:r>
            <a:endParaRPr lang="en-US" sz="3400" dirty="0"/>
          </a:p>
        </p:txBody>
      </p:sp>
      <p:pic>
        <p:nvPicPr>
          <p:cNvPr id="15" name="Chapter icon 02" descr="icon">    </p:cNvPr>
          <p:cNvPicPr>
            <a:picLocks noChangeAspect="1"/>
          </p:cNvPicPr>
          <p:nvPr/>
        </p:nvPicPr>
        <p:blipFill>
          <a:blip r:embed="rId2"/>
          <a:stretch>
            <a:fillRect/>
          </a:stretch>
        </p:blipFill>
        <p:spPr>
          <a:xfrm>
            <a:off x="7136892" y="2039112"/>
            <a:ext cx="411480" cy="411480"/>
          </a:xfrm>
          <a:prstGeom prst="rect">
            <a:avLst/>
          </a:prstGeom>
        </p:spPr>
      </p:pic>
      <p:sp>
        <p:nvSpPr>
          <p:cNvPr id="16" name="Text 12"/>
          <p:cNvSpPr txBox="1"/>
          <p:nvPr/>
        </p:nvSpPr>
        <p:spPr>
          <a:xfrm>
            <a:off x="4640580" y="2697480"/>
            <a:ext cx="2907792" cy="292608"/>
          </a:xfrm>
          <a:prstGeom prst="rect">
            <a:avLst/>
          </a:prstGeom>
          <a:noFill/>
          <a:ln/>
        </p:spPr>
        <p:txBody>
          <a:bodyPr wrap="square" lIns="0" tIns="0" rIns="0" bIns="0" rtlCol="0" anchor="t"/>
          <a:lstStyle/>
          <a:p>
            <a:pPr algn="l" indent="0" marL="0">
              <a:buNone/>
            </a:pPr>
            <a:r>
              <a:rPr lang="en-US" sz="1700" b="1" dirty="0">
                <a:solidFill>
                  <a:schemeClr val="tx1"/>
                </a:solidFill>
                <a:latin typeface="IBM Plex Sans Arabic" pitchFamily="34" charset="0"/>
                <a:ea typeface="IBM Plex Sans Arabic" pitchFamily="34" charset="-122"/>
                <a:cs typeface="IBM Plex Sans Arabic" pitchFamily="34" charset="-120"/>
              </a:rPr>
              <a:t>What We Do</a:t>
            </a:r>
            <a:endParaRPr lang="en-US" sz="1700" dirty="0"/>
          </a:p>
        </p:txBody>
      </p:sp>
      <p:sp>
        <p:nvSpPr>
          <p:cNvPr id="17" name="Text 13"/>
          <p:cNvSpPr txBox="1"/>
          <p:nvPr/>
        </p:nvSpPr>
        <p:spPr>
          <a:xfrm>
            <a:off x="4640580" y="2697480"/>
            <a:ext cx="2907792" cy="292608"/>
          </a:xfrm>
          <a:prstGeom prst="rect">
            <a:avLst/>
          </a:prstGeom>
          <a:noFill/>
          <a:ln/>
        </p:spPr>
        <p:txBody>
          <a:bodyPr wrap="square" lIns="0" tIns="0" rIns="0" bIns="0" rtlCol="0" anchor="t"/>
          <a:lstStyle/>
          <a:p>
            <a:pPr rtl="1" algn="r" indent="0" marL="0">
              <a:buNone/>
            </a:pPr>
            <a:r>
              <a:rPr lang="ar-AE" altLang="en-US" sz="1600" b="1" dirty="0">
                <a:solidFill>
                  <a:schemeClr val="tx1"/>
                </a:solidFill>
                <a:latin typeface="IBM Plex Sans Arabic" pitchFamily="34" charset="0"/>
                <a:ea typeface="IBM Plex Sans Arabic" pitchFamily="34" charset="-122"/>
                <a:cs typeface="IBM Plex Sans Arabic" pitchFamily="34" charset="-120"/>
              </a:rPr>
              <a:t>ماذا نقدم</a:t>
            </a:r>
            <a:endParaRPr lang="ar-AE" sz="1600" dirty="0"/>
          </a:p>
        </p:txBody>
      </p:sp>
      <p:sp>
        <p:nvSpPr>
          <p:cNvPr id="18" name="Text 14"/>
          <p:cNvSpPr txBox="1"/>
          <p:nvPr/>
        </p:nvSpPr>
        <p:spPr>
          <a:xfrm>
            <a:off x="4640580" y="3154680"/>
            <a:ext cx="2084832" cy="411480"/>
          </a:xfrm>
          <a:prstGeom prst="rect">
            <a:avLst/>
          </a:prstGeom>
          <a:noFill/>
          <a:ln/>
        </p:spPr>
        <p:txBody>
          <a:bodyPr wrap="square" lIns="0" tIns="0" rIns="0" bIns="0" rtlCol="0" anchor="t"/>
          <a:lstStyle/>
          <a:p>
            <a:pPr algn="l" indent="0" marL="0">
              <a:buNone/>
            </a:pPr>
            <a:r>
              <a:rPr lang="en-US" sz="1100" dirty="0">
                <a:solidFill>
                  <a:schemeClr val="accent3"/>
                </a:solidFill>
                <a:latin typeface="IBM Plex Sans Arabic" pitchFamily="34" charset="0"/>
                <a:ea typeface="IBM Plex Sans Arabic" pitchFamily="34" charset="-122"/>
                <a:cs typeface="IBM Plex Sans Arabic" pitchFamily="34" charset="-120"/>
              </a:rPr>
              <a:t>Business areas · Accessories · Charging · Services</a:t>
            </a:r>
            <a:endParaRPr lang="en-US" sz="1100" dirty="0"/>
          </a:p>
        </p:txBody>
      </p:sp>
      <p:sp>
        <p:nvSpPr>
          <p:cNvPr id="19" name="Text 15"/>
          <p:cNvSpPr txBox="1"/>
          <p:nvPr/>
        </p:nvSpPr>
        <p:spPr>
          <a:xfrm>
            <a:off x="6816852" y="3154680"/>
            <a:ext cx="731520" cy="274320"/>
          </a:xfrm>
          <a:prstGeom prst="rect">
            <a:avLst/>
          </a:prstGeom>
          <a:noFill/>
          <a:ln/>
        </p:spPr>
        <p:txBody>
          <a:bodyPr wrap="square" lIns="0" tIns="0" rIns="0" bIns="0" rtlCol="0" anchor="t"/>
          <a:lstStyle/>
          <a:p>
            <a:pPr algn="r" indent="0" marL="0">
              <a:buNone/>
            </a:pPr>
            <a:r>
              <a:rPr lang="en-US" sz="1100" dirty="0">
                <a:solidFill>
                  <a:schemeClr val="accent3"/>
                </a:solidFill>
                <a:latin typeface="IBM Plex Sans Arabic" pitchFamily="34" charset="0"/>
                <a:ea typeface="IBM Plex Sans Arabic" pitchFamily="34" charset="-122"/>
                <a:cs typeface="IBM Plex Sans Arabic" pitchFamily="34" charset="-120"/>
              </a:rPr>
              <a:t>p. 8 – 11</a:t>
            </a:r>
            <a:endParaRPr lang="en-US" sz="1100" dirty="0"/>
          </a:p>
        </p:txBody>
      </p:sp>
      <p:sp>
        <p:nvSpPr>
          <p:cNvPr id="20" name="Chapter card 03"/>
          <p:cNvSpPr/>
          <p:nvPr/>
        </p:nvSpPr>
        <p:spPr>
          <a:xfrm>
            <a:off x="8092440" y="1783080"/>
            <a:ext cx="3456432" cy="1965960"/>
          </a:xfrm>
          <a:prstGeom prst="roundRect">
            <a:avLst>
              <a:gd name="adj" fmla="val 4651"/>
            </a:avLst>
          </a:prstGeom>
          <a:solidFill>
            <a:schemeClr val="bg2"/>
          </a:solidFill>
          <a:ln/>
        </p:spPr>
      </p:sp>
      <p:sp>
        <p:nvSpPr>
          <p:cNvPr id="21" name="Text 17"/>
          <p:cNvSpPr txBox="1"/>
          <p:nvPr/>
        </p:nvSpPr>
        <p:spPr>
          <a:xfrm>
            <a:off x="8366760" y="1984248"/>
            <a:ext cx="1097280" cy="548640"/>
          </a:xfrm>
          <a:prstGeom prst="rect">
            <a:avLst/>
          </a:prstGeom>
          <a:noFill/>
          <a:ln/>
        </p:spPr>
        <p:txBody>
          <a:bodyPr wrap="square" lIns="0" tIns="0" rIns="0" bIns="0" rtlCol="0" anchor="t"/>
          <a:lstStyle/>
          <a:p>
            <a:pPr algn="l" indent="0" marL="0">
              <a:buNone/>
            </a:pPr>
            <a:r>
              <a:rPr lang="en-US" sz="3400" dirty="0">
                <a:solidFill>
                  <a:schemeClr val="accent1"/>
                </a:solidFill>
                <a:latin typeface="IBM Plex Sans Arabic Light" pitchFamily="34" charset="0"/>
                <a:ea typeface="IBM Plex Sans Arabic Light" pitchFamily="34" charset="-122"/>
                <a:cs typeface="IBM Plex Sans Arabic Light" pitchFamily="34" charset="-120"/>
              </a:rPr>
              <a:t>03</a:t>
            </a:r>
            <a:endParaRPr lang="en-US" sz="3400" dirty="0"/>
          </a:p>
        </p:txBody>
      </p:sp>
      <p:pic>
        <p:nvPicPr>
          <p:cNvPr id="22" name="Chapter icon 03" descr="icon">    </p:cNvPr>
          <p:cNvPicPr>
            <a:picLocks noChangeAspect="1"/>
          </p:cNvPicPr>
          <p:nvPr/>
        </p:nvPicPr>
        <p:blipFill>
          <a:blip r:embed="rId3"/>
          <a:stretch>
            <a:fillRect/>
          </a:stretch>
        </p:blipFill>
        <p:spPr>
          <a:xfrm>
            <a:off x="10863072" y="2039112"/>
            <a:ext cx="411480" cy="411480"/>
          </a:xfrm>
          <a:prstGeom prst="rect">
            <a:avLst/>
          </a:prstGeom>
        </p:spPr>
      </p:pic>
      <p:sp>
        <p:nvSpPr>
          <p:cNvPr id="23" name="Text 18"/>
          <p:cNvSpPr txBox="1"/>
          <p:nvPr/>
        </p:nvSpPr>
        <p:spPr>
          <a:xfrm>
            <a:off x="8366760" y="2697480"/>
            <a:ext cx="2907792" cy="292608"/>
          </a:xfrm>
          <a:prstGeom prst="rect">
            <a:avLst/>
          </a:prstGeom>
          <a:noFill/>
          <a:ln/>
        </p:spPr>
        <p:txBody>
          <a:bodyPr wrap="square" lIns="0" tIns="0" rIns="0" bIns="0" rtlCol="0" anchor="t"/>
          <a:lstStyle/>
          <a:p>
            <a:pPr algn="l" indent="0" marL="0">
              <a:buNone/>
            </a:pPr>
            <a:r>
              <a:rPr lang="en-US" sz="1700" b="1" dirty="0">
                <a:solidFill>
                  <a:schemeClr val="tx1"/>
                </a:solidFill>
                <a:latin typeface="IBM Plex Sans Arabic" pitchFamily="34" charset="0"/>
                <a:ea typeface="IBM Plex Sans Arabic" pitchFamily="34" charset="-122"/>
                <a:cs typeface="IBM Plex Sans Arabic" pitchFamily="34" charset="-120"/>
              </a:rPr>
              <a:t>Who We Serve</a:t>
            </a:r>
            <a:endParaRPr lang="en-US" sz="1700" dirty="0"/>
          </a:p>
        </p:txBody>
      </p:sp>
      <p:sp>
        <p:nvSpPr>
          <p:cNvPr id="24" name="Text 19"/>
          <p:cNvSpPr txBox="1"/>
          <p:nvPr/>
        </p:nvSpPr>
        <p:spPr>
          <a:xfrm>
            <a:off x="8366760" y="2697480"/>
            <a:ext cx="2907792" cy="292608"/>
          </a:xfrm>
          <a:prstGeom prst="rect">
            <a:avLst/>
          </a:prstGeom>
          <a:noFill/>
          <a:ln/>
        </p:spPr>
        <p:txBody>
          <a:bodyPr wrap="square" lIns="0" tIns="0" rIns="0" bIns="0" rtlCol="0" anchor="t"/>
          <a:lstStyle/>
          <a:p>
            <a:pPr rtl="1" algn="r" indent="0" marL="0">
              <a:buNone/>
            </a:pPr>
            <a:r>
              <a:rPr lang="ar-AE" altLang="en-US" sz="1600" b="1" dirty="0">
                <a:solidFill>
                  <a:schemeClr val="tx1"/>
                </a:solidFill>
                <a:latin typeface="IBM Plex Sans Arabic" pitchFamily="34" charset="0"/>
                <a:ea typeface="IBM Plex Sans Arabic" pitchFamily="34" charset="-122"/>
                <a:cs typeface="IBM Plex Sans Arabic" pitchFamily="34" charset="-120"/>
              </a:rPr>
              <a:t>من نخدم</a:t>
            </a:r>
            <a:endParaRPr lang="ar-AE" sz="1600" dirty="0"/>
          </a:p>
        </p:txBody>
      </p:sp>
      <p:sp>
        <p:nvSpPr>
          <p:cNvPr id="25" name="Text 20"/>
          <p:cNvSpPr txBox="1"/>
          <p:nvPr/>
        </p:nvSpPr>
        <p:spPr>
          <a:xfrm>
            <a:off x="8366760" y="3154680"/>
            <a:ext cx="2084832" cy="411480"/>
          </a:xfrm>
          <a:prstGeom prst="rect">
            <a:avLst/>
          </a:prstGeom>
          <a:noFill/>
          <a:ln/>
        </p:spPr>
        <p:txBody>
          <a:bodyPr wrap="square" lIns="0" tIns="0" rIns="0" bIns="0" rtlCol="0" anchor="t"/>
          <a:lstStyle/>
          <a:p>
            <a:pPr algn="l" indent="0" marL="0">
              <a:buNone/>
            </a:pPr>
            <a:r>
              <a:rPr lang="en-US" sz="1100" dirty="0">
                <a:solidFill>
                  <a:schemeClr val="accent3"/>
                </a:solidFill>
                <a:latin typeface="IBM Plex Sans Arabic" pitchFamily="34" charset="0"/>
                <a:ea typeface="IBM Plex Sans Arabic" pitchFamily="34" charset="-122"/>
                <a:cs typeface="IBM Plex Sans Arabic" pitchFamily="34" charset="-120"/>
              </a:rPr>
              <a:t>Vehicle brands · Partner brands</a:t>
            </a:r>
            <a:endParaRPr lang="en-US" sz="1100" dirty="0"/>
          </a:p>
        </p:txBody>
      </p:sp>
      <p:sp>
        <p:nvSpPr>
          <p:cNvPr id="26" name="Text 21"/>
          <p:cNvSpPr txBox="1"/>
          <p:nvPr/>
        </p:nvSpPr>
        <p:spPr>
          <a:xfrm>
            <a:off x="10543032" y="3154680"/>
            <a:ext cx="731520" cy="274320"/>
          </a:xfrm>
          <a:prstGeom prst="rect">
            <a:avLst/>
          </a:prstGeom>
          <a:noFill/>
          <a:ln/>
        </p:spPr>
        <p:txBody>
          <a:bodyPr wrap="square" lIns="0" tIns="0" rIns="0" bIns="0" rtlCol="0" anchor="t"/>
          <a:lstStyle/>
          <a:p>
            <a:pPr algn="r" indent="0" marL="0">
              <a:buNone/>
            </a:pPr>
            <a:r>
              <a:rPr lang="en-US" sz="1100" dirty="0">
                <a:solidFill>
                  <a:schemeClr val="accent3"/>
                </a:solidFill>
                <a:latin typeface="IBM Plex Sans Arabic" pitchFamily="34" charset="0"/>
                <a:ea typeface="IBM Plex Sans Arabic" pitchFamily="34" charset="-122"/>
                <a:cs typeface="IBM Plex Sans Arabic" pitchFamily="34" charset="-120"/>
              </a:rPr>
              <a:t>p. 12 – 13</a:t>
            </a:r>
            <a:endParaRPr lang="en-US" sz="1100" dirty="0"/>
          </a:p>
        </p:txBody>
      </p:sp>
      <p:sp>
        <p:nvSpPr>
          <p:cNvPr id="27" name="Chapter card 04"/>
          <p:cNvSpPr/>
          <p:nvPr/>
        </p:nvSpPr>
        <p:spPr>
          <a:xfrm>
            <a:off x="640080" y="4023360"/>
            <a:ext cx="3456432" cy="1965960"/>
          </a:xfrm>
          <a:prstGeom prst="roundRect">
            <a:avLst>
              <a:gd name="adj" fmla="val 4651"/>
            </a:avLst>
          </a:prstGeom>
          <a:solidFill>
            <a:schemeClr val="bg2"/>
          </a:solidFill>
          <a:ln/>
        </p:spPr>
      </p:sp>
      <p:sp>
        <p:nvSpPr>
          <p:cNvPr id="28" name="Text 23"/>
          <p:cNvSpPr txBox="1"/>
          <p:nvPr/>
        </p:nvSpPr>
        <p:spPr>
          <a:xfrm>
            <a:off x="914400" y="4224528"/>
            <a:ext cx="1097280" cy="548640"/>
          </a:xfrm>
          <a:prstGeom prst="rect">
            <a:avLst/>
          </a:prstGeom>
          <a:noFill/>
          <a:ln/>
        </p:spPr>
        <p:txBody>
          <a:bodyPr wrap="square" lIns="0" tIns="0" rIns="0" bIns="0" rtlCol="0" anchor="t"/>
          <a:lstStyle/>
          <a:p>
            <a:pPr algn="l" indent="0" marL="0">
              <a:buNone/>
            </a:pPr>
            <a:r>
              <a:rPr lang="en-US" sz="3400" dirty="0">
                <a:solidFill>
                  <a:schemeClr val="accent1"/>
                </a:solidFill>
                <a:latin typeface="IBM Plex Sans Arabic Light" pitchFamily="34" charset="0"/>
                <a:ea typeface="IBM Plex Sans Arabic Light" pitchFamily="34" charset="-122"/>
                <a:cs typeface="IBM Plex Sans Arabic Light" pitchFamily="34" charset="-120"/>
              </a:rPr>
              <a:t>04</a:t>
            </a:r>
            <a:endParaRPr lang="en-US" sz="3400" dirty="0"/>
          </a:p>
        </p:txBody>
      </p:sp>
      <p:pic>
        <p:nvPicPr>
          <p:cNvPr id="29" name="Chapter icon 04" descr="icon">    </p:cNvPr>
          <p:cNvPicPr>
            <a:picLocks noChangeAspect="1"/>
          </p:cNvPicPr>
          <p:nvPr/>
        </p:nvPicPr>
        <p:blipFill>
          <a:blip r:embed="rId4"/>
          <a:stretch>
            <a:fillRect/>
          </a:stretch>
        </p:blipFill>
        <p:spPr>
          <a:xfrm>
            <a:off x="3410712" y="4279392"/>
            <a:ext cx="411480" cy="411480"/>
          </a:xfrm>
          <a:prstGeom prst="rect">
            <a:avLst/>
          </a:prstGeom>
        </p:spPr>
      </p:pic>
      <p:sp>
        <p:nvSpPr>
          <p:cNvPr id="30" name="Text 24"/>
          <p:cNvSpPr txBox="1"/>
          <p:nvPr/>
        </p:nvSpPr>
        <p:spPr>
          <a:xfrm>
            <a:off x="914400" y="4937760"/>
            <a:ext cx="2907792" cy="292608"/>
          </a:xfrm>
          <a:prstGeom prst="rect">
            <a:avLst/>
          </a:prstGeom>
          <a:noFill/>
          <a:ln/>
        </p:spPr>
        <p:txBody>
          <a:bodyPr wrap="square" lIns="0" tIns="0" rIns="0" bIns="0" rtlCol="0" anchor="t"/>
          <a:lstStyle/>
          <a:p>
            <a:pPr algn="l" indent="0" marL="0">
              <a:buNone/>
            </a:pPr>
            <a:r>
              <a:rPr lang="en-US" sz="1700" b="1" dirty="0">
                <a:solidFill>
                  <a:schemeClr val="tx1"/>
                </a:solidFill>
                <a:latin typeface="IBM Plex Sans Arabic" pitchFamily="34" charset="0"/>
                <a:ea typeface="IBM Plex Sans Arabic" pitchFamily="34" charset="-122"/>
                <a:cs typeface="IBM Plex Sans Arabic" pitchFamily="34" charset="-120"/>
              </a:rPr>
              <a:t>Where We Are</a:t>
            </a:r>
            <a:endParaRPr lang="en-US" sz="1700" dirty="0"/>
          </a:p>
        </p:txBody>
      </p:sp>
      <p:sp>
        <p:nvSpPr>
          <p:cNvPr id="31" name="Text 25"/>
          <p:cNvSpPr txBox="1"/>
          <p:nvPr/>
        </p:nvSpPr>
        <p:spPr>
          <a:xfrm>
            <a:off x="914400" y="4937760"/>
            <a:ext cx="2907792" cy="292608"/>
          </a:xfrm>
          <a:prstGeom prst="rect">
            <a:avLst/>
          </a:prstGeom>
          <a:noFill/>
          <a:ln/>
        </p:spPr>
        <p:txBody>
          <a:bodyPr wrap="square" lIns="0" tIns="0" rIns="0" bIns="0" rtlCol="0" anchor="t"/>
          <a:lstStyle/>
          <a:p>
            <a:pPr rtl="1" algn="r" indent="0" marL="0">
              <a:buNone/>
            </a:pPr>
            <a:r>
              <a:rPr lang="ar-AE" altLang="en-US" sz="1600" b="1" dirty="0">
                <a:solidFill>
                  <a:schemeClr val="tx1"/>
                </a:solidFill>
                <a:latin typeface="IBM Plex Sans Arabic" pitchFamily="34" charset="0"/>
                <a:ea typeface="IBM Plex Sans Arabic" pitchFamily="34" charset="-122"/>
                <a:cs typeface="IBM Plex Sans Arabic" pitchFamily="34" charset="-120"/>
              </a:rPr>
              <a:t>أين نحن</a:t>
            </a:r>
            <a:endParaRPr lang="ar-AE" sz="1600" dirty="0"/>
          </a:p>
        </p:txBody>
      </p:sp>
      <p:sp>
        <p:nvSpPr>
          <p:cNvPr id="32" name="Text 26"/>
          <p:cNvSpPr txBox="1"/>
          <p:nvPr/>
        </p:nvSpPr>
        <p:spPr>
          <a:xfrm>
            <a:off x="914400" y="5394960"/>
            <a:ext cx="2084832" cy="411480"/>
          </a:xfrm>
          <a:prstGeom prst="rect">
            <a:avLst/>
          </a:prstGeom>
          <a:noFill/>
          <a:ln/>
        </p:spPr>
        <p:txBody>
          <a:bodyPr wrap="square" lIns="0" tIns="0" rIns="0" bIns="0" rtlCol="0" anchor="t"/>
          <a:lstStyle/>
          <a:p>
            <a:pPr algn="l" indent="0" marL="0">
              <a:buNone/>
            </a:pPr>
            <a:r>
              <a:rPr lang="en-US" sz="1100" dirty="0">
                <a:solidFill>
                  <a:schemeClr val="accent3"/>
                </a:solidFill>
                <a:latin typeface="IBM Plex Sans Arabic" pitchFamily="34" charset="0"/>
                <a:ea typeface="IBM Plex Sans Arabic" pitchFamily="34" charset="-122"/>
                <a:cs typeface="IBM Plex Sans Arabic" pitchFamily="34" charset="-120"/>
              </a:rPr>
              <a:t>Branch network · Operations</a:t>
            </a:r>
            <a:endParaRPr lang="en-US" sz="1100" dirty="0"/>
          </a:p>
        </p:txBody>
      </p:sp>
      <p:sp>
        <p:nvSpPr>
          <p:cNvPr id="33" name="Text 27"/>
          <p:cNvSpPr txBox="1"/>
          <p:nvPr/>
        </p:nvSpPr>
        <p:spPr>
          <a:xfrm>
            <a:off x="3090672" y="5394960"/>
            <a:ext cx="731520" cy="274320"/>
          </a:xfrm>
          <a:prstGeom prst="rect">
            <a:avLst/>
          </a:prstGeom>
          <a:noFill/>
          <a:ln/>
        </p:spPr>
        <p:txBody>
          <a:bodyPr wrap="square" lIns="0" tIns="0" rIns="0" bIns="0" rtlCol="0" anchor="t"/>
          <a:lstStyle/>
          <a:p>
            <a:pPr algn="r" indent="0" marL="0">
              <a:buNone/>
            </a:pPr>
            <a:r>
              <a:rPr lang="en-US" sz="1100" dirty="0">
                <a:solidFill>
                  <a:schemeClr val="accent3"/>
                </a:solidFill>
                <a:latin typeface="IBM Plex Sans Arabic" pitchFamily="34" charset="0"/>
                <a:ea typeface="IBM Plex Sans Arabic" pitchFamily="34" charset="-122"/>
                <a:cs typeface="IBM Plex Sans Arabic" pitchFamily="34" charset="-120"/>
              </a:rPr>
              <a:t>p. 14 – 15</a:t>
            </a:r>
            <a:endParaRPr lang="en-US" sz="1100" dirty="0"/>
          </a:p>
        </p:txBody>
      </p:sp>
      <p:sp>
        <p:nvSpPr>
          <p:cNvPr id="34" name="Chapter card 05"/>
          <p:cNvSpPr/>
          <p:nvPr/>
        </p:nvSpPr>
        <p:spPr>
          <a:xfrm>
            <a:off x="4366260" y="4023360"/>
            <a:ext cx="3456432" cy="1965960"/>
          </a:xfrm>
          <a:prstGeom prst="roundRect">
            <a:avLst>
              <a:gd name="adj" fmla="val 4651"/>
            </a:avLst>
          </a:prstGeom>
          <a:solidFill>
            <a:schemeClr val="bg2"/>
          </a:solidFill>
          <a:ln/>
        </p:spPr>
      </p:sp>
      <p:sp>
        <p:nvSpPr>
          <p:cNvPr id="35" name="Text 29"/>
          <p:cNvSpPr txBox="1"/>
          <p:nvPr/>
        </p:nvSpPr>
        <p:spPr>
          <a:xfrm>
            <a:off x="4640580" y="4224528"/>
            <a:ext cx="1097280" cy="548640"/>
          </a:xfrm>
          <a:prstGeom prst="rect">
            <a:avLst/>
          </a:prstGeom>
          <a:noFill/>
          <a:ln/>
        </p:spPr>
        <p:txBody>
          <a:bodyPr wrap="square" lIns="0" tIns="0" rIns="0" bIns="0" rtlCol="0" anchor="t"/>
          <a:lstStyle/>
          <a:p>
            <a:pPr algn="l" indent="0" marL="0">
              <a:buNone/>
            </a:pPr>
            <a:r>
              <a:rPr lang="en-US" sz="3400" dirty="0">
                <a:solidFill>
                  <a:schemeClr val="accent1"/>
                </a:solidFill>
                <a:latin typeface="IBM Plex Sans Arabic Light" pitchFamily="34" charset="0"/>
                <a:ea typeface="IBM Plex Sans Arabic Light" pitchFamily="34" charset="-122"/>
                <a:cs typeface="IBM Plex Sans Arabic Light" pitchFamily="34" charset="-120"/>
              </a:rPr>
              <a:t>05</a:t>
            </a:r>
            <a:endParaRPr lang="en-US" sz="3400" dirty="0"/>
          </a:p>
        </p:txBody>
      </p:sp>
      <p:pic>
        <p:nvPicPr>
          <p:cNvPr id="36" name="Chapter icon 05" descr="icon">    </p:cNvPr>
          <p:cNvPicPr>
            <a:picLocks noChangeAspect="1"/>
          </p:cNvPicPr>
          <p:nvPr/>
        </p:nvPicPr>
        <p:blipFill>
          <a:blip r:embed="rId5"/>
          <a:stretch>
            <a:fillRect/>
          </a:stretch>
        </p:blipFill>
        <p:spPr>
          <a:xfrm>
            <a:off x="7136892" y="4279392"/>
            <a:ext cx="411480" cy="411480"/>
          </a:xfrm>
          <a:prstGeom prst="rect">
            <a:avLst/>
          </a:prstGeom>
        </p:spPr>
      </p:pic>
      <p:sp>
        <p:nvSpPr>
          <p:cNvPr id="37" name="Text 30"/>
          <p:cNvSpPr txBox="1"/>
          <p:nvPr/>
        </p:nvSpPr>
        <p:spPr>
          <a:xfrm>
            <a:off x="4640580" y="4937760"/>
            <a:ext cx="2907792" cy="292608"/>
          </a:xfrm>
          <a:prstGeom prst="rect">
            <a:avLst/>
          </a:prstGeom>
          <a:noFill/>
          <a:ln/>
        </p:spPr>
        <p:txBody>
          <a:bodyPr wrap="square" lIns="0" tIns="0" rIns="0" bIns="0" rtlCol="0" anchor="t"/>
          <a:lstStyle/>
          <a:p>
            <a:pPr algn="l" indent="0" marL="0">
              <a:buNone/>
            </a:pPr>
            <a:r>
              <a:rPr lang="en-US" sz="1700" b="1" dirty="0">
                <a:solidFill>
                  <a:schemeClr val="tx1"/>
                </a:solidFill>
                <a:latin typeface="IBM Plex Sans Arabic" pitchFamily="34" charset="0"/>
                <a:ea typeface="IBM Plex Sans Arabic" pitchFamily="34" charset="-122"/>
                <a:cs typeface="IBM Plex Sans Arabic" pitchFamily="34" charset="-120"/>
              </a:rPr>
              <a:t>Why EVCARS</a:t>
            </a:r>
            <a:endParaRPr lang="en-US" sz="1700" dirty="0"/>
          </a:p>
        </p:txBody>
      </p:sp>
      <p:sp>
        <p:nvSpPr>
          <p:cNvPr id="38" name="Text 31"/>
          <p:cNvSpPr txBox="1"/>
          <p:nvPr/>
        </p:nvSpPr>
        <p:spPr>
          <a:xfrm>
            <a:off x="4640580" y="4937760"/>
            <a:ext cx="2907792" cy="292608"/>
          </a:xfrm>
          <a:prstGeom prst="rect">
            <a:avLst/>
          </a:prstGeom>
          <a:noFill/>
          <a:ln/>
        </p:spPr>
        <p:txBody>
          <a:bodyPr wrap="square" lIns="0" tIns="0" rIns="0" bIns="0" rtlCol="0" anchor="t"/>
          <a:lstStyle/>
          <a:p>
            <a:pPr rtl="1" algn="r" indent="0" marL="0">
              <a:buNone/>
            </a:pPr>
            <a:r>
              <a:rPr lang="ar-AE" altLang="en-US" sz="1600" b="1" dirty="0">
                <a:solidFill>
                  <a:schemeClr val="tx1"/>
                </a:solidFill>
                <a:latin typeface="IBM Plex Sans Arabic" pitchFamily="34" charset="0"/>
                <a:ea typeface="IBM Plex Sans Arabic" pitchFamily="34" charset="-122"/>
                <a:cs typeface="IBM Plex Sans Arabic" pitchFamily="34" charset="-120"/>
              </a:rPr>
              <a:t>لماذا نحن</a:t>
            </a:r>
            <a:endParaRPr lang="ar-AE" sz="1600" dirty="0"/>
          </a:p>
        </p:txBody>
      </p:sp>
      <p:sp>
        <p:nvSpPr>
          <p:cNvPr id="39" name="Text 32"/>
          <p:cNvSpPr txBox="1"/>
          <p:nvPr/>
        </p:nvSpPr>
        <p:spPr>
          <a:xfrm>
            <a:off x="4640580" y="5394960"/>
            <a:ext cx="2084832" cy="411480"/>
          </a:xfrm>
          <a:prstGeom prst="rect">
            <a:avLst/>
          </a:prstGeom>
          <a:noFill/>
          <a:ln/>
        </p:spPr>
        <p:txBody>
          <a:bodyPr wrap="square" lIns="0" tIns="0" rIns="0" bIns="0" rtlCol="0" anchor="t"/>
          <a:lstStyle/>
          <a:p>
            <a:pPr algn="l" indent="0" marL="0">
              <a:buNone/>
            </a:pPr>
            <a:r>
              <a:rPr lang="en-US" sz="1100" dirty="0">
                <a:solidFill>
                  <a:schemeClr val="accent3"/>
                </a:solidFill>
                <a:latin typeface="IBM Plex Sans Arabic" pitchFamily="34" charset="0"/>
                <a:ea typeface="IBM Plex Sans Arabic" pitchFamily="34" charset="-122"/>
                <a:cs typeface="IBM Plex Sans Arabic" pitchFamily="34" charset="-120"/>
              </a:rPr>
              <a:t>Warranty · Online · Exhibitions · Strengths</a:t>
            </a:r>
            <a:endParaRPr lang="en-US" sz="1100" dirty="0"/>
          </a:p>
        </p:txBody>
      </p:sp>
      <p:sp>
        <p:nvSpPr>
          <p:cNvPr id="40" name="Text 33"/>
          <p:cNvSpPr txBox="1"/>
          <p:nvPr/>
        </p:nvSpPr>
        <p:spPr>
          <a:xfrm>
            <a:off x="6816852" y="5394960"/>
            <a:ext cx="731520" cy="274320"/>
          </a:xfrm>
          <a:prstGeom prst="rect">
            <a:avLst/>
          </a:prstGeom>
          <a:noFill/>
          <a:ln/>
        </p:spPr>
        <p:txBody>
          <a:bodyPr wrap="square" lIns="0" tIns="0" rIns="0" bIns="0" rtlCol="0" anchor="t"/>
          <a:lstStyle/>
          <a:p>
            <a:pPr algn="r" indent="0" marL="0">
              <a:buNone/>
            </a:pPr>
            <a:r>
              <a:rPr lang="en-US" sz="1100" dirty="0">
                <a:solidFill>
                  <a:schemeClr val="accent3"/>
                </a:solidFill>
                <a:latin typeface="IBM Plex Sans Arabic" pitchFamily="34" charset="0"/>
                <a:ea typeface="IBM Plex Sans Arabic" pitchFamily="34" charset="-122"/>
                <a:cs typeface="IBM Plex Sans Arabic" pitchFamily="34" charset="-120"/>
              </a:rPr>
              <a:t>p. 16 – 19</a:t>
            </a:r>
            <a:endParaRPr lang="en-US" sz="1100" dirty="0"/>
          </a:p>
        </p:txBody>
      </p:sp>
      <p:sp>
        <p:nvSpPr>
          <p:cNvPr id="41" name="Chapter card 06"/>
          <p:cNvSpPr/>
          <p:nvPr/>
        </p:nvSpPr>
        <p:spPr>
          <a:xfrm>
            <a:off x="8092440" y="4023360"/>
            <a:ext cx="3456432" cy="1965960"/>
          </a:xfrm>
          <a:prstGeom prst="roundRect">
            <a:avLst>
              <a:gd name="adj" fmla="val 4651"/>
            </a:avLst>
          </a:prstGeom>
          <a:solidFill>
            <a:schemeClr val="bg2"/>
          </a:solidFill>
          <a:ln/>
        </p:spPr>
      </p:sp>
      <p:sp>
        <p:nvSpPr>
          <p:cNvPr id="42" name="Text 35"/>
          <p:cNvSpPr txBox="1"/>
          <p:nvPr/>
        </p:nvSpPr>
        <p:spPr>
          <a:xfrm>
            <a:off x="8366760" y="4224528"/>
            <a:ext cx="1097280" cy="548640"/>
          </a:xfrm>
          <a:prstGeom prst="rect">
            <a:avLst/>
          </a:prstGeom>
          <a:noFill/>
          <a:ln/>
        </p:spPr>
        <p:txBody>
          <a:bodyPr wrap="square" lIns="0" tIns="0" rIns="0" bIns="0" rtlCol="0" anchor="t"/>
          <a:lstStyle/>
          <a:p>
            <a:pPr algn="l" indent="0" marL="0">
              <a:buNone/>
            </a:pPr>
            <a:r>
              <a:rPr lang="en-US" sz="3400" dirty="0">
                <a:solidFill>
                  <a:schemeClr val="accent1"/>
                </a:solidFill>
                <a:latin typeface="IBM Plex Sans Arabic Light" pitchFamily="34" charset="0"/>
                <a:ea typeface="IBM Plex Sans Arabic Light" pitchFamily="34" charset="-122"/>
                <a:cs typeface="IBM Plex Sans Arabic Light" pitchFamily="34" charset="-120"/>
              </a:rPr>
              <a:t>06</a:t>
            </a:r>
            <a:endParaRPr lang="en-US" sz="3400" dirty="0"/>
          </a:p>
        </p:txBody>
      </p:sp>
      <p:pic>
        <p:nvPicPr>
          <p:cNvPr id="43" name="Chapter icon 06" descr="icon">    </p:cNvPr>
          <p:cNvPicPr>
            <a:picLocks noChangeAspect="1"/>
          </p:cNvPicPr>
          <p:nvPr/>
        </p:nvPicPr>
        <p:blipFill>
          <a:blip r:embed="rId6"/>
          <a:stretch>
            <a:fillRect/>
          </a:stretch>
        </p:blipFill>
        <p:spPr>
          <a:xfrm>
            <a:off x="10863072" y="4279392"/>
            <a:ext cx="411480" cy="411480"/>
          </a:xfrm>
          <a:prstGeom prst="rect">
            <a:avLst/>
          </a:prstGeom>
        </p:spPr>
      </p:pic>
      <p:sp>
        <p:nvSpPr>
          <p:cNvPr id="44" name="Text 36"/>
          <p:cNvSpPr txBox="1"/>
          <p:nvPr/>
        </p:nvSpPr>
        <p:spPr>
          <a:xfrm>
            <a:off x="8366760" y="4937760"/>
            <a:ext cx="2907792" cy="292608"/>
          </a:xfrm>
          <a:prstGeom prst="rect">
            <a:avLst/>
          </a:prstGeom>
          <a:noFill/>
          <a:ln/>
        </p:spPr>
        <p:txBody>
          <a:bodyPr wrap="square" lIns="0" tIns="0" rIns="0" bIns="0" rtlCol="0" anchor="t"/>
          <a:lstStyle/>
          <a:p>
            <a:pPr algn="l" indent="0" marL="0">
              <a:buNone/>
            </a:pPr>
            <a:r>
              <a:rPr lang="en-US" sz="1700" b="1" dirty="0">
                <a:solidFill>
                  <a:schemeClr val="tx1"/>
                </a:solidFill>
                <a:latin typeface="IBM Plex Sans Arabic" pitchFamily="34" charset="0"/>
                <a:ea typeface="IBM Plex Sans Arabic" pitchFamily="34" charset="-122"/>
                <a:cs typeface="IBM Plex Sans Arabic" pitchFamily="34" charset="-120"/>
              </a:rPr>
              <a:t>Ahead</a:t>
            </a:r>
            <a:endParaRPr lang="en-US" sz="1700" dirty="0"/>
          </a:p>
        </p:txBody>
      </p:sp>
      <p:sp>
        <p:nvSpPr>
          <p:cNvPr id="45" name="Text 37"/>
          <p:cNvSpPr txBox="1"/>
          <p:nvPr/>
        </p:nvSpPr>
        <p:spPr>
          <a:xfrm>
            <a:off x="8366760" y="4937760"/>
            <a:ext cx="2907792" cy="292608"/>
          </a:xfrm>
          <a:prstGeom prst="rect">
            <a:avLst/>
          </a:prstGeom>
          <a:noFill/>
          <a:ln/>
        </p:spPr>
        <p:txBody>
          <a:bodyPr wrap="square" lIns="0" tIns="0" rIns="0" bIns="0" rtlCol="0" anchor="t"/>
          <a:lstStyle/>
          <a:p>
            <a:pPr rtl="1" algn="r" indent="0" marL="0">
              <a:buNone/>
            </a:pPr>
            <a:r>
              <a:rPr lang="ar-AE" altLang="en-US" sz="1600" b="1" dirty="0">
                <a:solidFill>
                  <a:schemeClr val="tx1"/>
                </a:solidFill>
                <a:latin typeface="IBM Plex Sans Arabic" pitchFamily="34" charset="0"/>
                <a:ea typeface="IBM Plex Sans Arabic" pitchFamily="34" charset="-122"/>
                <a:cs typeface="IBM Plex Sans Arabic" pitchFamily="34" charset="-120"/>
              </a:rPr>
              <a:t>المستقبل</a:t>
            </a:r>
            <a:endParaRPr lang="ar-AE" sz="1600" dirty="0"/>
          </a:p>
        </p:txBody>
      </p:sp>
      <p:sp>
        <p:nvSpPr>
          <p:cNvPr id="46" name="Text 38"/>
          <p:cNvSpPr txBox="1"/>
          <p:nvPr/>
        </p:nvSpPr>
        <p:spPr>
          <a:xfrm>
            <a:off x="8366760" y="5394960"/>
            <a:ext cx="2084832" cy="411480"/>
          </a:xfrm>
          <a:prstGeom prst="rect">
            <a:avLst/>
          </a:prstGeom>
          <a:noFill/>
          <a:ln/>
        </p:spPr>
        <p:txBody>
          <a:bodyPr wrap="square" lIns="0" tIns="0" rIns="0" bIns="0" rtlCol="0" anchor="t"/>
          <a:lstStyle/>
          <a:p>
            <a:pPr algn="l" indent="0" marL="0">
              <a:buNone/>
            </a:pPr>
            <a:r>
              <a:rPr lang="en-US" sz="1100" dirty="0">
                <a:solidFill>
                  <a:schemeClr val="accent3"/>
                </a:solidFill>
                <a:latin typeface="IBM Plex Sans Arabic" pitchFamily="34" charset="0"/>
                <a:ea typeface="IBM Plex Sans Arabic" pitchFamily="34" charset="-122"/>
                <a:cs typeface="IBM Plex Sans Arabic" pitchFamily="34" charset="-120"/>
              </a:rPr>
              <a:t>Future direction · Contact</a:t>
            </a:r>
            <a:endParaRPr lang="en-US" sz="1100" dirty="0"/>
          </a:p>
        </p:txBody>
      </p:sp>
      <p:sp>
        <p:nvSpPr>
          <p:cNvPr id="47" name="Text 39"/>
          <p:cNvSpPr txBox="1"/>
          <p:nvPr/>
        </p:nvSpPr>
        <p:spPr>
          <a:xfrm>
            <a:off x="10543032" y="5394960"/>
            <a:ext cx="731520" cy="274320"/>
          </a:xfrm>
          <a:prstGeom prst="rect">
            <a:avLst/>
          </a:prstGeom>
          <a:noFill/>
          <a:ln/>
        </p:spPr>
        <p:txBody>
          <a:bodyPr wrap="square" lIns="0" tIns="0" rIns="0" bIns="0" rtlCol="0" anchor="t"/>
          <a:lstStyle/>
          <a:p>
            <a:pPr algn="r" indent="0" marL="0">
              <a:buNone/>
            </a:pPr>
            <a:r>
              <a:rPr lang="en-US" sz="1100" dirty="0">
                <a:solidFill>
                  <a:schemeClr val="accent3"/>
                </a:solidFill>
                <a:latin typeface="IBM Plex Sans Arabic" pitchFamily="34" charset="0"/>
                <a:ea typeface="IBM Plex Sans Arabic" pitchFamily="34" charset="-122"/>
                <a:cs typeface="IBM Plex Sans Arabic" pitchFamily="34" charset="-120"/>
              </a:rPr>
              <a:t>p. 20 – 21</a:t>
            </a:r>
            <a:endParaRPr lang="en-US" sz="11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A75"/>
                </a:solidFill>
                <a:latin typeface="IBM Plex Sans Arabic"/>
                <a:ea typeface="IBM Plex Sans Arabic"/>
                <a:cs typeface="IBM Plex Sans Arabic"/>
              </a:defRPr>
            </a:lvl1pPr>
          </a:lstStyle>
          <a:p>
            <a:pPr algn="r"/>
            <a:fld id="{F7021451-1387-4CA6-816F-3879F97B5CBC}" type="slidenum">
              <a:rPr b="0" lang="en-US"/>
              <a:t>2</a:t>
            </a:fld>
            <a:endParaRPr lang="en-US"/>
          </a:p>
        </p:txBody>
      </p:sp>
      <p:sp>
        <p:nvSpPr>
          <p:cNvPr id="48" name="Link Who We Are" descr="Go to Who We Are">
            <a:hlinkClick r:id="rId9" action="ppaction://hlinksldjump" tooltip="Go to Who We Are"/>
          </p:cNvPr>
          <p:cNvSpPr/>
          <p:nvPr/>
        </p:nvSpPr>
        <p:spPr>
          <a:xfrm>
            <a:off x="640080" y="1783080"/>
            <a:ext cx="3456432" cy="1965960"/>
          </a:xfrm>
          <a:prstGeom prst="roundRect">
            <a:avLst/>
          </a:prstGeom>
          <a:noFill/>
          <a:ln>
            <a:noFill/>
          </a:ln>
        </p:spPr>
        <p:txBody>
          <a:bodyPr/>
          <a:lstStyle/>
          <a:p>
            <a:endParaRPr lang="en-US"/>
          </a:p>
        </p:txBody>
      </p:sp>
      <p:sp>
        <p:nvSpPr>
          <p:cNvPr id="49" name="Link What We Do" descr="Go to What We Do">
            <a:hlinkClick r:id="rId10" action="ppaction://hlinksldjump" tooltip="Go to What We Do"/>
          </p:cNvPr>
          <p:cNvSpPr/>
          <p:nvPr/>
        </p:nvSpPr>
        <p:spPr>
          <a:xfrm>
            <a:off x="4366260" y="1783080"/>
            <a:ext cx="3456432" cy="1965960"/>
          </a:xfrm>
          <a:prstGeom prst="roundRect">
            <a:avLst/>
          </a:prstGeom>
          <a:noFill/>
          <a:ln>
            <a:noFill/>
          </a:ln>
        </p:spPr>
        <p:txBody>
          <a:bodyPr/>
          <a:lstStyle/>
          <a:p>
            <a:endParaRPr lang="en-US"/>
          </a:p>
        </p:txBody>
      </p:sp>
      <p:sp>
        <p:nvSpPr>
          <p:cNvPr id="50" name="Link Who We Serve" descr="Go to Who We Serve">
            <a:hlinkClick r:id="rId11" action="ppaction://hlinksldjump" tooltip="Go to Who We Serve"/>
          </p:cNvPr>
          <p:cNvSpPr/>
          <p:nvPr/>
        </p:nvSpPr>
        <p:spPr>
          <a:xfrm>
            <a:off x="8092440" y="1783080"/>
            <a:ext cx="3456432" cy="1965960"/>
          </a:xfrm>
          <a:prstGeom prst="roundRect">
            <a:avLst/>
          </a:prstGeom>
          <a:noFill/>
          <a:ln>
            <a:noFill/>
          </a:ln>
        </p:spPr>
        <p:txBody>
          <a:bodyPr/>
          <a:lstStyle/>
          <a:p>
            <a:endParaRPr lang="en-US"/>
          </a:p>
        </p:txBody>
      </p:sp>
      <p:sp>
        <p:nvSpPr>
          <p:cNvPr id="51" name="Link Where We Are" descr="Go to Where We Are">
            <a:hlinkClick r:id="rId12" action="ppaction://hlinksldjump" tooltip="Go to Where We Are"/>
          </p:cNvPr>
          <p:cNvSpPr/>
          <p:nvPr/>
        </p:nvSpPr>
        <p:spPr>
          <a:xfrm>
            <a:off x="640080" y="4023360"/>
            <a:ext cx="3456432" cy="1965960"/>
          </a:xfrm>
          <a:prstGeom prst="roundRect">
            <a:avLst/>
          </a:prstGeom>
          <a:noFill/>
          <a:ln>
            <a:noFill/>
          </a:ln>
        </p:spPr>
        <p:txBody>
          <a:bodyPr/>
          <a:lstStyle/>
          <a:p>
            <a:endParaRPr lang="en-US"/>
          </a:p>
        </p:txBody>
      </p:sp>
      <p:sp>
        <p:nvSpPr>
          <p:cNvPr id="52" name="Link Why EVCARS" descr="Go to Why EVCARS">
            <a:hlinkClick r:id="rId13" action="ppaction://hlinksldjump" tooltip="Go to Why EVCARS"/>
          </p:cNvPr>
          <p:cNvSpPr/>
          <p:nvPr/>
        </p:nvSpPr>
        <p:spPr>
          <a:xfrm>
            <a:off x="4366260" y="4023360"/>
            <a:ext cx="3456432" cy="1965960"/>
          </a:xfrm>
          <a:prstGeom prst="roundRect">
            <a:avLst/>
          </a:prstGeom>
          <a:noFill/>
          <a:ln>
            <a:noFill/>
          </a:ln>
        </p:spPr>
        <p:txBody>
          <a:bodyPr/>
          <a:lstStyle/>
          <a:p>
            <a:endParaRPr lang="en-US"/>
          </a:p>
        </p:txBody>
      </p:sp>
      <p:sp>
        <p:nvSpPr>
          <p:cNvPr id="53" name="Link Ahead" descr="Go to Ahead">
            <a:hlinkClick r:id="rId14" action="ppaction://hlinksldjump" tooltip="Go to Ahead"/>
          </p:cNvPr>
          <p:cNvSpPr/>
          <p:nvPr/>
        </p:nvSpPr>
        <p:spPr>
          <a:xfrm>
            <a:off x="8092440" y="4023360"/>
            <a:ext cx="3456432" cy="1965960"/>
          </a:xfrm>
          <a:prstGeom prst="roundRect">
            <a:avLst/>
          </a:prstGeom>
          <a:noFill/>
          <a:ln>
            <a:noFill/>
          </a:ln>
        </p:spPr>
        <p:txBody>
          <a:bodyPr/>
          <a:lstStyle/>
          <a:p>
            <a:endParaRPr lang="en-US"/>
          </a:p>
        </p:txBody>
      </p:sp>
      <p:sp>
        <p:nvSpPr>
          <p:cNvPr id="54" name="Hint"/>
          <p:cNvSpPr txBox="1"/>
          <p:nvPr/>
        </p:nvSpPr>
        <p:spPr>
          <a:xfrm>
            <a:off x="640080" y="1480000"/>
            <a:ext cx="8000000" cy="200000"/>
          </a:xfrm>
          <a:prstGeom prst="rect">
            <a:avLst/>
          </a:prstGeom>
          <a:noFill/>
        </p:spPr>
        <p:txBody>
          <a:bodyPr wrap="square" lIns="0" tIns="0" rIns="0" bIns="0" rtlCol="0" anchor="t"/>
          <a:lstStyle/>
          <a:p>
            <a:pPr algn="l"/>
            <a:r>
              <a:rPr lang="en-US" sz="900" b="0" spc="0" dirty="0">
                <a:solidFill>
                  <a:schemeClr val="accent3"/>
                </a:solidFill>
                <a:latin typeface="IBM Plex Sans Arabic"/>
                <a:cs typeface="IBM Plex Sans Arabic"/>
              </a:rPr>
              <a:t>Click any section to jump to it   ·   اضغط على أي قسم للانتقال إليه</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1"/>
                </a:solidFill>
                <a:latin typeface="IBM Plex Sans Arabic" pitchFamily="34" charset="0"/>
                <a:ea typeface="IBM Plex Sans Arabic" pitchFamily="34" charset="-122"/>
                <a:cs typeface="IBM Plex Sans Arabic" pitchFamily="34" charset="-120"/>
              </a:rPr>
              <a:t>01   ·   WHO WE ARE</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1"/>
                </a:solidFill>
                <a:latin typeface="IBM Plex Sans Arabic" pitchFamily="34" charset="0"/>
                <a:ea typeface="IBM Plex Sans Arabic" pitchFamily="34" charset="-122"/>
                <a:cs typeface="IBM Plex Sans Arabic" pitchFamily="34" charset="-120"/>
              </a:rPr>
              <a:t>من نحن   ·   01</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tx1"/>
                </a:solidFill>
                <a:latin typeface="IBM Plex Sans Arabic Light" pitchFamily="34" charset="0"/>
                <a:ea typeface="IBM Plex Sans Arabic Light" pitchFamily="34" charset="-122"/>
                <a:cs typeface="IBM Plex Sans Arabic Light" pitchFamily="34" charset="-120"/>
              </a:rPr>
              <a:t>About EVCARS</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tx1"/>
                </a:solidFill>
                <a:latin typeface="IBM Plex Sans Arabic Light" pitchFamily="34" charset="0"/>
                <a:ea typeface="IBM Plex Sans Arabic Light" pitchFamily="34" charset="-122"/>
                <a:cs typeface="IBM Plex Sans Arabic Light" pitchFamily="34" charset="-120"/>
              </a:rPr>
              <a:t>من نحن</a:t>
            </a:r>
            <a:endParaRPr lang="ar-AE" sz="3000" dirty="0"/>
          </a:p>
        </p:txBody>
      </p:sp>
      <p:sp>
        <p:nvSpPr>
          <p:cNvPr id="6" name="Text 4"/>
          <p:cNvSpPr txBox="1"/>
          <p:nvPr/>
        </p:nvSpPr>
        <p:spPr>
          <a:xfrm>
            <a:off x="640080" y="1645920"/>
            <a:ext cx="5074920" cy="2468880"/>
          </a:xfrm>
          <a:prstGeom prst="rect">
            <a:avLst/>
          </a:prstGeom>
          <a:noFill/>
          <a:ln/>
        </p:spPr>
        <p:txBody>
          <a:bodyPr wrap="square" lIns="0" tIns="0" rIns="0" bIns="0" rtlCol="0" anchor="t"/>
          <a:lstStyle/>
          <a:p>
            <a:pPr algn="l" indent="0" marL="0">
              <a:lnSpc>
                <a:spcPct val="115000"/>
              </a:lnSpc>
              <a:spcAft>
                <a:spcPts val="1000"/>
              </a:spcAft>
              <a:buNone/>
            </a:pPr>
            <a:r>
              <a:rPr lang="en-US" sz="1400" dirty="0">
                <a:solidFill>
                  <a:schemeClr val="accent4"/>
                </a:solidFill>
                <a:latin typeface="IBM Plex Sans Arabic" pitchFamily="34" charset="0"/>
                <a:ea typeface="IBM Plex Sans Arabic" pitchFamily="34" charset="-122"/>
                <a:cs typeface="IBM Plex Sans Arabic" pitchFamily="34" charset="-120"/>
              </a:rPr>
              <a:t>EVCARS is an Emirati brand specializing in comprehensive electric vehicle solutions, including interior and exterior accessories, EV charging equipment, charging adapters, professional installation, and specialized technical services.</a:t>
            </a:r>
            <a:endParaRPr lang="en-US" sz="1400" dirty="0"/>
          </a:p>
          <a:p>
            <a:pPr algn="l" indent="0" marL="0">
              <a:lnSpc>
                <a:spcPct val="115000"/>
              </a:lnSpc>
              <a:buNone/>
            </a:pPr>
            <a:r>
              <a:rPr lang="en-US" sz="1400" dirty="0">
                <a:solidFill>
                  <a:schemeClr val="accent4"/>
                </a:solidFill>
                <a:latin typeface="IBM Plex Sans Arabic" pitchFamily="34" charset="0"/>
                <a:ea typeface="IBM Plex Sans Arabic" pitchFamily="34" charset="-122"/>
                <a:cs typeface="IBM Plex Sans Arabic" pitchFamily="34" charset="-120"/>
              </a:rPr>
              <a:t>Established in 2023 as an e-commerce business in the United Arab Emirates, EVCARS has grown into a physical retail network serving customers directly, with operations extending into the Sultanate of Oman.</a:t>
            </a:r>
            <a:endParaRPr lang="en-US" sz="1400" dirty="0"/>
          </a:p>
        </p:txBody>
      </p:sp>
      <p:sp>
        <p:nvSpPr>
          <p:cNvPr id="7" name="Text 5"/>
          <p:cNvSpPr txBox="1"/>
          <p:nvPr/>
        </p:nvSpPr>
        <p:spPr>
          <a:xfrm>
            <a:off x="6476695" y="1645920"/>
            <a:ext cx="5074920" cy="2468880"/>
          </a:xfrm>
          <a:prstGeom prst="rect">
            <a:avLst/>
          </a:prstGeom>
          <a:noFill/>
          <a:ln/>
        </p:spPr>
        <p:txBody>
          <a:bodyPr wrap="square" lIns="0" tIns="0" rIns="0" bIns="0" rtlCol="0" anchor="t"/>
          <a:lstStyle/>
          <a:p>
            <a:pPr algn="r" indent="0" marL="0">
              <a:lnSpc>
                <a:spcPct val="115000"/>
              </a:lnSpc>
              <a:spcAft>
                <a:spcPts val="1000"/>
              </a:spcAft>
              <a:buNone/>
            </a:pPr>
            <a:r>
              <a:rPr lang="ar-AE" altLang="en-US" sz="1400" dirty="0">
                <a:solidFill>
                  <a:schemeClr val="accent4"/>
                </a:solidFill>
                <a:latin typeface="IBM Plex Sans Arabic" pitchFamily="34" charset="0"/>
                <a:ea typeface="IBM Plex Sans Arabic" pitchFamily="34" charset="-122"/>
                <a:cs typeface="IBM Plex Sans Arabic" pitchFamily="34" charset="-120"/>
              </a:rPr>
              <a:t>EVCARS علامة تجارية إماراتية متخصصة في تقديم حلول متكاملة للسيارات الكهربائية، تشمل الإكسسوارات الداخلية والخارجية، وشواحن السيارات الكهربائية، ومحولات الشحن، وخدمات التركيب والدعم الفني المتخصص.</a:t>
            </a:r>
            <a:endParaRPr lang="ar-AE" sz="1400" dirty="0"/>
          </a:p>
          <a:p>
            <a:pPr algn="r" indent="0" marL="0">
              <a:lnSpc>
                <a:spcPct val="115000"/>
              </a:lnSpc>
              <a:buNone/>
            </a:pPr>
            <a:r>
              <a:rPr lang="ar-AE" altLang="en-US" sz="1400" dirty="0">
                <a:solidFill>
                  <a:schemeClr val="accent4"/>
                </a:solidFill>
                <a:latin typeface="IBM Plex Sans Arabic" pitchFamily="34" charset="0"/>
                <a:ea typeface="IBM Plex Sans Arabic" pitchFamily="34" charset="-122"/>
                <a:cs typeface="IBM Plex Sans Arabic" pitchFamily="34" charset="-120"/>
              </a:rPr>
              <a:t>انطلقت EVCARS في عام 2023 من خلال التجارة الإلكترونية في دولة الإمارات العربية المتحدة، ثم توسعت إلى شبكة من الفروع الفعلية لخدمة العملاء بصورة مباشرة، وصولاً إلى التوسع في سلطنة عُمان.</a:t>
            </a:r>
            <a:endParaRPr lang="ar-AE" sz="1400" dirty="0"/>
          </a:p>
        </p:txBody>
      </p:sp>
      <p:sp>
        <p:nvSpPr>
          <p:cNvPr id="8" name="hairline"/>
          <p:cNvSpPr/>
          <p:nvPr/>
        </p:nvSpPr>
        <p:spPr>
          <a:xfrm>
            <a:off x="6095848" y="1691640"/>
            <a:ext cx="0" cy="2331720"/>
          </a:xfrm>
          <a:prstGeom prst="line">
            <a:avLst/>
          </a:prstGeom>
          <a:noFill/>
          <a:ln w="9525">
            <a:solidFill>
              <a:schemeClr val="accent5"/>
            </a:solidFill>
            <a:prstDash val="solid"/>
          </a:ln>
        </p:spPr>
      </p:sp>
      <p:sp>
        <p:nvSpPr>
          <p:cNvPr id="9" name="Fact tile 1"/>
          <p:cNvSpPr/>
          <p:nvPr/>
        </p:nvSpPr>
        <p:spPr>
          <a:xfrm>
            <a:off x="640080" y="4389120"/>
            <a:ext cx="2560320" cy="1691640"/>
          </a:xfrm>
          <a:prstGeom prst="roundRect">
            <a:avLst>
              <a:gd name="adj" fmla="val 5405"/>
            </a:avLst>
          </a:prstGeom>
          <a:solidFill>
            <a:schemeClr val="bg2"/>
          </a:solidFill>
          <a:ln/>
        </p:spPr>
      </p:sp>
      <p:sp>
        <p:nvSpPr>
          <p:cNvPr id="10" name="Text 8"/>
          <p:cNvSpPr txBox="1"/>
          <p:nvPr/>
        </p:nvSpPr>
        <p:spPr>
          <a:xfrm>
            <a:off x="914400" y="4572000"/>
            <a:ext cx="1463040" cy="685800"/>
          </a:xfrm>
          <a:prstGeom prst="rect">
            <a:avLst/>
          </a:prstGeom>
          <a:noFill/>
          <a:ln/>
        </p:spPr>
        <p:txBody>
          <a:bodyPr wrap="square" lIns="0" tIns="0" rIns="0" bIns="0" rtlCol="0" anchor="t"/>
          <a:lstStyle/>
          <a:p>
            <a:pPr algn="l" indent="0" marL="0">
              <a:buNone/>
            </a:pPr>
            <a:r>
              <a:rPr lang="en-US" sz="4000" dirty="0">
                <a:solidFill>
                  <a:schemeClr val="tx1"/>
                </a:solidFill>
                <a:latin typeface="IBM Plex Sans Arabic Light" pitchFamily="34" charset="0"/>
                <a:ea typeface="IBM Plex Sans Arabic Light" pitchFamily="34" charset="-122"/>
                <a:cs typeface="IBM Plex Sans Arabic Light" pitchFamily="34" charset="-120"/>
              </a:rPr>
              <a:t>2023</a:t>
            </a:r>
            <a:endParaRPr lang="en-US" sz="4000" dirty="0"/>
          </a:p>
        </p:txBody>
      </p:sp>
      <p:pic>
        <p:nvPicPr>
          <p:cNvPr id="11" name="Fact icon 1" descr="icon">    </p:cNvPr>
          <p:cNvPicPr>
            <a:picLocks noChangeAspect="1"/>
          </p:cNvPicPr>
          <p:nvPr/>
        </p:nvPicPr>
        <p:blipFill>
          <a:blip r:embed="rId1"/>
          <a:stretch>
            <a:fillRect/>
          </a:stretch>
        </p:blipFill>
        <p:spPr>
          <a:xfrm>
            <a:off x="2542032" y="4645152"/>
            <a:ext cx="384048" cy="384048"/>
          </a:xfrm>
          <a:prstGeom prst="rect">
            <a:avLst/>
          </a:prstGeom>
        </p:spPr>
      </p:pic>
      <p:sp>
        <p:nvSpPr>
          <p:cNvPr id="12" name="Text 9"/>
          <p:cNvSpPr txBox="1"/>
          <p:nvPr/>
        </p:nvSpPr>
        <p:spPr>
          <a:xfrm>
            <a:off x="914400" y="5394960"/>
            <a:ext cx="2011680" cy="256032"/>
          </a:xfrm>
          <a:prstGeom prst="rect">
            <a:avLst/>
          </a:prstGeom>
          <a:noFill/>
          <a:ln/>
        </p:spPr>
        <p:txBody>
          <a:bodyPr wrap="square" lIns="0" tIns="0" rIns="0" bIns="0" rtlCol="0" anchor="t"/>
          <a:lstStyle/>
          <a:p>
            <a:pPr algn="l" indent="0" marL="0">
              <a:buNone/>
            </a:pPr>
            <a:r>
              <a:rPr lang="en-US" sz="1200" b="1" dirty="0">
                <a:solidFill>
                  <a:schemeClr val="accent4"/>
                </a:solidFill>
                <a:latin typeface="IBM Plex Sans Arabic" pitchFamily="34" charset="0"/>
                <a:ea typeface="IBM Plex Sans Arabic" pitchFamily="34" charset="-122"/>
                <a:cs typeface="IBM Plex Sans Arabic" pitchFamily="34" charset="-120"/>
              </a:rPr>
              <a:t>Established</a:t>
            </a:r>
            <a:endParaRPr lang="en-US" sz="1200" dirty="0"/>
          </a:p>
        </p:txBody>
      </p:sp>
      <p:sp>
        <p:nvSpPr>
          <p:cNvPr id="13" name="Text 10"/>
          <p:cNvSpPr txBox="1"/>
          <p:nvPr/>
        </p:nvSpPr>
        <p:spPr>
          <a:xfrm>
            <a:off x="914400" y="5669280"/>
            <a:ext cx="2011680" cy="256032"/>
          </a:xfrm>
          <a:prstGeom prst="rect">
            <a:avLst/>
          </a:prstGeom>
          <a:noFill/>
          <a:ln/>
        </p:spPr>
        <p:txBody>
          <a:bodyPr wrap="square" lIns="0" tIns="0" rIns="0" bIns="0" rtlCol="0" anchor="t"/>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التأسيس</a:t>
            </a:r>
            <a:endParaRPr lang="ar-AE" sz="1200" dirty="0"/>
          </a:p>
        </p:txBody>
      </p:sp>
      <p:sp>
        <p:nvSpPr>
          <p:cNvPr id="14" name="Fact tile 2"/>
          <p:cNvSpPr/>
          <p:nvPr/>
        </p:nvSpPr>
        <p:spPr>
          <a:xfrm>
            <a:off x="3423818" y="4389120"/>
            <a:ext cx="2560320" cy="1691640"/>
          </a:xfrm>
          <a:prstGeom prst="roundRect">
            <a:avLst>
              <a:gd name="adj" fmla="val 5405"/>
            </a:avLst>
          </a:prstGeom>
          <a:solidFill>
            <a:schemeClr val="bg2"/>
          </a:solidFill>
          <a:ln/>
        </p:spPr>
      </p:sp>
      <p:sp>
        <p:nvSpPr>
          <p:cNvPr id="15" name="Text 12"/>
          <p:cNvSpPr txBox="1"/>
          <p:nvPr/>
        </p:nvSpPr>
        <p:spPr>
          <a:xfrm>
            <a:off x="3698138" y="4572000"/>
            <a:ext cx="1463040" cy="685800"/>
          </a:xfrm>
          <a:prstGeom prst="rect">
            <a:avLst/>
          </a:prstGeom>
          <a:noFill/>
          <a:ln/>
        </p:spPr>
        <p:txBody>
          <a:bodyPr wrap="square" lIns="0" tIns="0" rIns="0" bIns="0" rtlCol="0" anchor="t"/>
          <a:lstStyle/>
          <a:p>
            <a:pPr algn="l" indent="0" marL="0">
              <a:buNone/>
            </a:pPr>
            <a:r>
              <a:rPr lang="en-US" sz="4000" dirty="0">
                <a:solidFill>
                  <a:schemeClr val="tx1"/>
                </a:solidFill>
                <a:latin typeface="IBM Plex Sans Arabic Light" pitchFamily="34" charset="0"/>
                <a:ea typeface="IBM Plex Sans Arabic Light" pitchFamily="34" charset="-122"/>
                <a:cs typeface="IBM Plex Sans Arabic Light" pitchFamily="34" charset="-120"/>
              </a:rPr>
              <a:t>5</a:t>
            </a:r>
            <a:endParaRPr lang="en-US" sz="4000" dirty="0"/>
          </a:p>
        </p:txBody>
      </p:sp>
      <p:pic>
        <p:nvPicPr>
          <p:cNvPr id="16" name="Fact icon 2" descr="icon">    </p:cNvPr>
          <p:cNvPicPr>
            <a:picLocks noChangeAspect="1"/>
          </p:cNvPicPr>
          <p:nvPr/>
        </p:nvPicPr>
        <p:blipFill>
          <a:blip r:embed="rId2"/>
          <a:stretch>
            <a:fillRect/>
          </a:stretch>
        </p:blipFill>
        <p:spPr>
          <a:xfrm>
            <a:off x="5325770" y="4645152"/>
            <a:ext cx="384048" cy="384048"/>
          </a:xfrm>
          <a:prstGeom prst="rect">
            <a:avLst/>
          </a:prstGeom>
        </p:spPr>
      </p:pic>
      <p:sp>
        <p:nvSpPr>
          <p:cNvPr id="17" name="Text 13"/>
          <p:cNvSpPr txBox="1"/>
          <p:nvPr/>
        </p:nvSpPr>
        <p:spPr>
          <a:xfrm>
            <a:off x="3698138" y="5394960"/>
            <a:ext cx="2011680" cy="256032"/>
          </a:xfrm>
          <a:prstGeom prst="rect">
            <a:avLst/>
          </a:prstGeom>
          <a:noFill/>
          <a:ln/>
        </p:spPr>
        <p:txBody>
          <a:bodyPr wrap="square" lIns="0" tIns="0" rIns="0" bIns="0" rtlCol="0" anchor="t"/>
          <a:lstStyle/>
          <a:p>
            <a:pPr algn="l" indent="0" marL="0">
              <a:buNone/>
            </a:pPr>
            <a:r>
              <a:rPr lang="en-US" sz="1200" b="1" dirty="0">
                <a:solidFill>
                  <a:schemeClr val="accent4"/>
                </a:solidFill>
                <a:latin typeface="IBM Plex Sans Arabic" pitchFamily="34" charset="0"/>
                <a:ea typeface="IBM Plex Sans Arabic" pitchFamily="34" charset="-122"/>
                <a:cs typeface="IBM Plex Sans Arabic" pitchFamily="34" charset="-120"/>
              </a:rPr>
              <a:t>Branches</a:t>
            </a:r>
            <a:endParaRPr lang="en-US" sz="1200" dirty="0"/>
          </a:p>
        </p:txBody>
      </p:sp>
      <p:sp>
        <p:nvSpPr>
          <p:cNvPr id="18" name="Text 14"/>
          <p:cNvSpPr txBox="1"/>
          <p:nvPr/>
        </p:nvSpPr>
        <p:spPr>
          <a:xfrm>
            <a:off x="3698138" y="5669280"/>
            <a:ext cx="2011680" cy="256032"/>
          </a:xfrm>
          <a:prstGeom prst="rect">
            <a:avLst/>
          </a:prstGeom>
          <a:noFill/>
          <a:ln/>
        </p:spPr>
        <p:txBody>
          <a:bodyPr wrap="square" lIns="0" tIns="0" rIns="0" bIns="0" rtlCol="0" anchor="t"/>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فروع</a:t>
            </a:r>
            <a:endParaRPr lang="ar-AE" sz="1200" dirty="0"/>
          </a:p>
        </p:txBody>
      </p:sp>
      <p:sp>
        <p:nvSpPr>
          <p:cNvPr id="19" name="Fact tile 3"/>
          <p:cNvSpPr/>
          <p:nvPr/>
        </p:nvSpPr>
        <p:spPr>
          <a:xfrm>
            <a:off x="6207557" y="4389120"/>
            <a:ext cx="2560320" cy="1691640"/>
          </a:xfrm>
          <a:prstGeom prst="roundRect">
            <a:avLst>
              <a:gd name="adj" fmla="val 5405"/>
            </a:avLst>
          </a:prstGeom>
          <a:solidFill>
            <a:schemeClr val="bg2"/>
          </a:solidFill>
          <a:ln/>
        </p:spPr>
      </p:sp>
      <p:sp>
        <p:nvSpPr>
          <p:cNvPr id="20" name="Text 16"/>
          <p:cNvSpPr txBox="1"/>
          <p:nvPr/>
        </p:nvSpPr>
        <p:spPr>
          <a:xfrm>
            <a:off x="6481877" y="4572000"/>
            <a:ext cx="1463040" cy="685800"/>
          </a:xfrm>
          <a:prstGeom prst="rect">
            <a:avLst/>
          </a:prstGeom>
          <a:noFill/>
          <a:ln/>
        </p:spPr>
        <p:txBody>
          <a:bodyPr wrap="square" lIns="0" tIns="0" rIns="0" bIns="0" rtlCol="0" anchor="t"/>
          <a:lstStyle/>
          <a:p>
            <a:pPr algn="l" indent="0" marL="0">
              <a:buNone/>
            </a:pPr>
            <a:r>
              <a:rPr lang="en-US" sz="4000" dirty="0">
                <a:solidFill>
                  <a:schemeClr val="tx1"/>
                </a:solidFill>
                <a:latin typeface="IBM Plex Sans Arabic Light" pitchFamily="34" charset="0"/>
                <a:ea typeface="IBM Plex Sans Arabic Light" pitchFamily="34" charset="-122"/>
                <a:cs typeface="IBM Plex Sans Arabic Light" pitchFamily="34" charset="-120"/>
              </a:rPr>
              <a:t>2</a:t>
            </a:r>
            <a:endParaRPr lang="en-US" sz="4000" dirty="0"/>
          </a:p>
        </p:txBody>
      </p:sp>
      <p:pic>
        <p:nvPicPr>
          <p:cNvPr id="21" name="Fact icon 3" descr="icon">    </p:cNvPr>
          <p:cNvPicPr>
            <a:picLocks noChangeAspect="1"/>
          </p:cNvPicPr>
          <p:nvPr/>
        </p:nvPicPr>
        <p:blipFill>
          <a:blip r:embed="rId3"/>
          <a:stretch>
            <a:fillRect/>
          </a:stretch>
        </p:blipFill>
        <p:spPr>
          <a:xfrm>
            <a:off x="8109509" y="4645152"/>
            <a:ext cx="384048" cy="384048"/>
          </a:xfrm>
          <a:prstGeom prst="rect">
            <a:avLst/>
          </a:prstGeom>
        </p:spPr>
      </p:pic>
      <p:sp>
        <p:nvSpPr>
          <p:cNvPr id="22" name="Text 17"/>
          <p:cNvSpPr txBox="1"/>
          <p:nvPr/>
        </p:nvSpPr>
        <p:spPr>
          <a:xfrm>
            <a:off x="6481877" y="5394960"/>
            <a:ext cx="2011680" cy="256032"/>
          </a:xfrm>
          <a:prstGeom prst="rect">
            <a:avLst/>
          </a:prstGeom>
          <a:noFill/>
          <a:ln/>
        </p:spPr>
        <p:txBody>
          <a:bodyPr wrap="square" lIns="0" tIns="0" rIns="0" bIns="0" rtlCol="0" anchor="t"/>
          <a:lstStyle/>
          <a:p>
            <a:pPr algn="l" indent="0" marL="0">
              <a:buNone/>
            </a:pPr>
            <a:r>
              <a:rPr lang="en-US" sz="1200" b="1" dirty="0">
                <a:solidFill>
                  <a:schemeClr val="accent4"/>
                </a:solidFill>
                <a:latin typeface="IBM Plex Sans Arabic" pitchFamily="34" charset="0"/>
                <a:ea typeface="IBM Plex Sans Arabic" pitchFamily="34" charset="-122"/>
                <a:cs typeface="IBM Plex Sans Arabic" pitchFamily="34" charset="-120"/>
              </a:rPr>
              <a:t>Countries</a:t>
            </a:r>
            <a:endParaRPr lang="en-US" sz="1200" dirty="0"/>
          </a:p>
        </p:txBody>
      </p:sp>
      <p:sp>
        <p:nvSpPr>
          <p:cNvPr id="23" name="Text 18"/>
          <p:cNvSpPr txBox="1"/>
          <p:nvPr/>
        </p:nvSpPr>
        <p:spPr>
          <a:xfrm>
            <a:off x="6481877" y="5669280"/>
            <a:ext cx="2011680" cy="256032"/>
          </a:xfrm>
          <a:prstGeom prst="rect">
            <a:avLst/>
          </a:prstGeom>
          <a:noFill/>
          <a:ln/>
        </p:spPr>
        <p:txBody>
          <a:bodyPr wrap="square" lIns="0" tIns="0" rIns="0" bIns="0" rtlCol="0" anchor="t"/>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دولتان</a:t>
            </a:r>
            <a:endParaRPr lang="ar-AE" sz="1200" dirty="0"/>
          </a:p>
        </p:txBody>
      </p:sp>
      <p:sp>
        <p:nvSpPr>
          <p:cNvPr id="24" name="Fact tile 4"/>
          <p:cNvSpPr/>
          <p:nvPr/>
        </p:nvSpPr>
        <p:spPr>
          <a:xfrm>
            <a:off x="8991295" y="4389120"/>
            <a:ext cx="2560320" cy="1691640"/>
          </a:xfrm>
          <a:prstGeom prst="roundRect">
            <a:avLst>
              <a:gd name="adj" fmla="val 5405"/>
            </a:avLst>
          </a:prstGeom>
          <a:solidFill>
            <a:schemeClr val="bg2"/>
          </a:solidFill>
          <a:ln/>
        </p:spPr>
      </p:sp>
      <p:sp>
        <p:nvSpPr>
          <p:cNvPr id="25" name="Text 20"/>
          <p:cNvSpPr txBox="1"/>
          <p:nvPr/>
        </p:nvSpPr>
        <p:spPr>
          <a:xfrm>
            <a:off x="9265615" y="4572000"/>
            <a:ext cx="1463040" cy="685800"/>
          </a:xfrm>
          <a:prstGeom prst="rect">
            <a:avLst/>
          </a:prstGeom>
          <a:noFill/>
          <a:ln/>
        </p:spPr>
        <p:txBody>
          <a:bodyPr wrap="square" lIns="0" tIns="0" rIns="0" bIns="0" rtlCol="0" anchor="t"/>
          <a:lstStyle/>
          <a:p>
            <a:pPr algn="l" indent="0" marL="0">
              <a:buNone/>
            </a:pPr>
            <a:r>
              <a:rPr lang="en-US" sz="4000" dirty="0">
                <a:solidFill>
                  <a:schemeClr val="tx1"/>
                </a:solidFill>
                <a:latin typeface="IBM Plex Sans Arabic Light" pitchFamily="34" charset="0"/>
                <a:ea typeface="IBM Plex Sans Arabic Light" pitchFamily="34" charset="-122"/>
                <a:cs typeface="IBM Plex Sans Arabic Light" pitchFamily="34" charset="-120"/>
              </a:rPr>
              <a:t>1</a:t>
            </a:r>
            <a:endParaRPr lang="en-US" sz="4000" dirty="0"/>
          </a:p>
        </p:txBody>
      </p:sp>
      <p:pic>
        <p:nvPicPr>
          <p:cNvPr id="26" name="Fact icon 4" descr="icon">    </p:cNvPr>
          <p:cNvPicPr>
            <a:picLocks noChangeAspect="1"/>
          </p:cNvPicPr>
          <p:nvPr/>
        </p:nvPicPr>
        <p:blipFill>
          <a:blip r:embed="rId4"/>
          <a:stretch>
            <a:fillRect/>
          </a:stretch>
        </p:blipFill>
        <p:spPr>
          <a:xfrm>
            <a:off x="10893247" y="4645152"/>
            <a:ext cx="384048" cy="384048"/>
          </a:xfrm>
          <a:prstGeom prst="rect">
            <a:avLst/>
          </a:prstGeom>
        </p:spPr>
      </p:pic>
      <p:sp>
        <p:nvSpPr>
          <p:cNvPr id="27" name="Text 21"/>
          <p:cNvSpPr txBox="1"/>
          <p:nvPr/>
        </p:nvSpPr>
        <p:spPr>
          <a:xfrm>
            <a:off x="9265615" y="5394960"/>
            <a:ext cx="2011680" cy="256032"/>
          </a:xfrm>
          <a:prstGeom prst="rect">
            <a:avLst/>
          </a:prstGeom>
          <a:noFill/>
          <a:ln/>
        </p:spPr>
        <p:txBody>
          <a:bodyPr wrap="square" lIns="0" tIns="0" rIns="0" bIns="0" rtlCol="0" anchor="t"/>
          <a:lstStyle/>
          <a:p>
            <a:pPr algn="l" indent="0" marL="0">
              <a:buNone/>
            </a:pPr>
            <a:r>
              <a:rPr lang="en-US" sz="1200" b="1" dirty="0">
                <a:solidFill>
                  <a:schemeClr val="accent4"/>
                </a:solidFill>
                <a:latin typeface="IBM Plex Sans Arabic" pitchFamily="34" charset="0"/>
                <a:ea typeface="IBM Plex Sans Arabic" pitchFamily="34" charset="-122"/>
                <a:cs typeface="IBM Plex Sans Arabic" pitchFamily="34" charset="-120"/>
              </a:rPr>
              <a:t>Central warehouse, Dubai</a:t>
            </a:r>
            <a:endParaRPr lang="en-US" sz="1200" dirty="0"/>
          </a:p>
        </p:txBody>
      </p:sp>
      <p:sp>
        <p:nvSpPr>
          <p:cNvPr id="28" name="Text 22"/>
          <p:cNvSpPr txBox="1"/>
          <p:nvPr/>
        </p:nvSpPr>
        <p:spPr>
          <a:xfrm>
            <a:off x="9265615" y="5669280"/>
            <a:ext cx="2011680" cy="256032"/>
          </a:xfrm>
          <a:prstGeom prst="rect">
            <a:avLst/>
          </a:prstGeom>
          <a:noFill/>
          <a:ln/>
        </p:spPr>
        <p:txBody>
          <a:bodyPr wrap="square" lIns="0" tIns="0" rIns="0" bIns="0" rtlCol="0" anchor="t"/>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مستودع مركزي في دبي</a:t>
            </a:r>
            <a:endParaRPr lang="ar-AE" sz="12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A75"/>
                </a:solidFill>
                <a:latin typeface="IBM Plex Sans Arabic"/>
                <a:ea typeface="IBM Plex Sans Arabic"/>
                <a:cs typeface="IBM Plex Sans Arabic"/>
              </a:defRPr>
            </a:lvl1pPr>
          </a:lstStyle>
          <a:p>
            <a:pPr algn="r"/>
            <a:fld id="{F7021451-1387-4CA6-816F-3879F97B5CBC}" type="slidenum">
              <a:rPr b="0" lang="en-US"/>
              <a:t>3</a:t>
            </a:fld>
            <a:endParaRPr lang="en-US"/>
          </a:p>
        </p:txBody>
      </p:sp>
      <p:sp>
        <p:nvSpPr>
          <p:cNvPr id="29" name="Back to contents" descr="Back to contents">
            <a:hlinkClick r:id="rId7" action="ppaction://hlinksldjump" tooltip="Back to Contents / العودة إلى المحتويات"/>
          </p:cNvPr>
          <p:cNvSpPr/>
          <p:nvPr/>
        </p:nvSpPr>
        <p:spPr>
          <a:xfrm>
            <a:off x="8838000" y="6283000"/>
            <a:ext cx="1850000" cy="300000"/>
          </a:xfrm>
          <a:prstGeom prst="roundRect">
            <a:avLst>
              <a:gd name="adj" fmla="val 50000"/>
            </a:avLst>
          </a:prstGeom>
          <a:noFill/>
          <a:ln w="9525">
            <a:solidFill>
              <a:schemeClr val="accent1"/>
            </a:solidFill>
          </a:ln>
        </p:spPr>
        <p:txBody>
          <a:bodyPr wrap="none" lIns="0" tIns="0" rIns="0" bIns="0" rtlCol="0" anchor="ctr"/>
          <a:lstStyle/>
          <a:p>
            <a:pPr algn="ctr"/>
            <a:r>
              <a:rPr lang="en-US" sz="900" b="1" spc="120" dirty="0">
                <a:solidFill>
                  <a:schemeClr val="accent1"/>
                </a:solidFill>
                <a:latin typeface="IBM Plex Sans Arabic"/>
                <a:cs typeface="IBM Plex Sans Arabic"/>
              </a:rPr>
              <a:t>CONTENTS  ·  </a:t>
            </a:r>
            <a:r>
              <a:rPr lang="ar-AE" sz="900" b="1" dirty="0">
                <a:solidFill>
                  <a:schemeClr val="accent1"/>
                </a:solidFill>
                <a:latin typeface="IBM Plex Sans Arabic"/>
                <a:cs typeface="IBM Plex Sans Arabic"/>
              </a:rPr>
              <a:t>المحتويات</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2"/>
                </a:solidFill>
                <a:latin typeface="IBM Plex Sans Arabic" pitchFamily="34" charset="0"/>
                <a:ea typeface="IBM Plex Sans Arabic" pitchFamily="34" charset="-122"/>
                <a:cs typeface="IBM Plex Sans Arabic" pitchFamily="34" charset="-120"/>
              </a:rPr>
              <a:t>01   ·   WHO WE ARE</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2"/>
                </a:solidFill>
                <a:latin typeface="IBM Plex Sans Arabic" pitchFamily="34" charset="0"/>
                <a:ea typeface="IBM Plex Sans Arabic" pitchFamily="34" charset="-122"/>
                <a:cs typeface="IBM Plex Sans Arabic" pitchFamily="34" charset="-120"/>
              </a:rPr>
              <a:t>من نحن   ·   01</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bg1"/>
                </a:solidFill>
                <a:latin typeface="IBM Plex Sans Arabic Light" pitchFamily="34" charset="0"/>
                <a:ea typeface="IBM Plex Sans Arabic Light" pitchFamily="34" charset="-122"/>
                <a:cs typeface="IBM Plex Sans Arabic Light" pitchFamily="34" charset="-120"/>
              </a:rPr>
              <a:t>Founder’s Message</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bg1"/>
                </a:solidFill>
                <a:latin typeface="IBM Plex Sans Arabic Light" pitchFamily="34" charset="0"/>
                <a:ea typeface="IBM Plex Sans Arabic Light" pitchFamily="34" charset="-122"/>
                <a:cs typeface="IBM Plex Sans Arabic Light" pitchFamily="34" charset="-120"/>
              </a:rPr>
              <a:t>كلمة المؤسس</a:t>
            </a:r>
            <a:endParaRPr lang="ar-AE" sz="3000" dirty="0"/>
          </a:p>
        </p:txBody>
      </p:sp>
      <p:pic>
        <p:nvPicPr>
          <p:cNvPr id="6" name="Quote icon" descr="quote mark">    </p:cNvPr>
          <p:cNvPicPr>
            <a:picLocks noChangeAspect="1"/>
          </p:cNvPicPr>
          <p:nvPr/>
        </p:nvPicPr>
        <p:blipFill>
          <a:blip r:embed="rId1"/>
          <a:stretch>
            <a:fillRect/>
          </a:stretch>
        </p:blipFill>
        <p:spPr>
          <a:xfrm>
            <a:off x="5821528" y="1572768"/>
            <a:ext cx="548640" cy="548640"/>
          </a:xfrm>
          <a:prstGeom prst="rect">
            <a:avLst/>
          </a:prstGeom>
        </p:spPr>
      </p:pic>
      <p:sp>
        <p:nvSpPr>
          <p:cNvPr id="7" name="Text 4"/>
          <p:cNvSpPr txBox="1"/>
          <p:nvPr/>
        </p:nvSpPr>
        <p:spPr>
          <a:xfrm>
            <a:off x="640080" y="2331720"/>
            <a:ext cx="5074920" cy="2743200"/>
          </a:xfrm>
          <a:prstGeom prst="rect">
            <a:avLst/>
          </a:prstGeom>
          <a:noFill/>
          <a:ln/>
        </p:spPr>
        <p:txBody>
          <a:bodyPr wrap="square" lIns="0" tIns="0" rIns="0" bIns="0" rtlCol="0" anchor="t"/>
          <a:lstStyle/>
          <a:p>
            <a:pPr algn="l" indent="0" marL="0">
              <a:lnSpc>
                <a:spcPct val="115000"/>
              </a:lnSpc>
              <a:spcAft>
                <a:spcPts val="1000"/>
              </a:spcAft>
              <a:buNone/>
            </a:pPr>
            <a:r>
              <a:rPr lang="en-US" sz="1400" dirty="0">
                <a:solidFill>
                  <a:schemeClr val="bg1"/>
                </a:solidFill>
                <a:latin typeface="IBM Plex Sans Arabic" pitchFamily="34" charset="0"/>
                <a:ea typeface="IBM Plex Sans Arabic" pitchFamily="34" charset="-122"/>
                <a:cs typeface="IBM Plex Sans Arabic" pitchFamily="34" charset="-120"/>
              </a:rPr>
              <a:t>Our journey began as an online store. Through the trust of our customers and the dedication of our team, we have grown into a branch network across the UAE and the Sultanate of Oman.</a:t>
            </a:r>
            <a:endParaRPr lang="en-US" sz="1400" dirty="0"/>
          </a:p>
          <a:p>
            <a:pPr algn="l" indent="0" marL="0">
              <a:lnSpc>
                <a:spcPct val="115000"/>
              </a:lnSpc>
              <a:spcAft>
                <a:spcPts val="1000"/>
              </a:spcAft>
              <a:buNone/>
            </a:pPr>
            <a:r>
              <a:rPr lang="en-US" sz="1400" dirty="0">
                <a:solidFill>
                  <a:schemeClr val="bg1"/>
                </a:solidFill>
                <a:latin typeface="IBM Plex Sans Arabic" pitchFamily="34" charset="0"/>
                <a:ea typeface="IBM Plex Sans Arabic" pitchFamily="34" charset="-122"/>
                <a:cs typeface="IBM Plex Sans Arabic" pitchFamily="34" charset="-120"/>
              </a:rPr>
              <a:t>We believe that the future of electric mobility requires more than vehicles. It also depends on a complete ecosystem of accessories, charging solutions, and specialized services.</a:t>
            </a:r>
            <a:endParaRPr lang="en-US" sz="1400" dirty="0"/>
          </a:p>
          <a:p>
            <a:pPr algn="l" indent="0" marL="0">
              <a:lnSpc>
                <a:spcPct val="115000"/>
              </a:lnSpc>
              <a:buNone/>
            </a:pPr>
            <a:r>
              <a:rPr lang="en-US" sz="1400" dirty="0">
                <a:solidFill>
                  <a:schemeClr val="bg1"/>
                </a:solidFill>
                <a:latin typeface="IBM Plex Sans Arabic" pitchFamily="34" charset="0"/>
                <a:ea typeface="IBM Plex Sans Arabic" pitchFamily="34" charset="-122"/>
                <a:cs typeface="IBM Plex Sans Arabic" pitchFamily="34" charset="-120"/>
              </a:rPr>
              <a:t>Our ambition is to establish EVCARS as a recognized and trusted brand among electric vehicle owners across the region and beyond.</a:t>
            </a:r>
            <a:endParaRPr lang="en-US" sz="1400" dirty="0"/>
          </a:p>
        </p:txBody>
      </p:sp>
      <p:sp>
        <p:nvSpPr>
          <p:cNvPr id="8" name="Text 5"/>
          <p:cNvSpPr txBox="1"/>
          <p:nvPr/>
        </p:nvSpPr>
        <p:spPr>
          <a:xfrm>
            <a:off x="6476695" y="2331720"/>
            <a:ext cx="5074920" cy="2743200"/>
          </a:xfrm>
          <a:prstGeom prst="rect">
            <a:avLst/>
          </a:prstGeom>
          <a:noFill/>
          <a:ln/>
        </p:spPr>
        <p:txBody>
          <a:bodyPr wrap="square" lIns="0" tIns="0" rIns="0" bIns="0" rtlCol="0" anchor="t"/>
          <a:lstStyle/>
          <a:p>
            <a:pPr algn="r" indent="0" marL="0">
              <a:lnSpc>
                <a:spcPct val="115000"/>
              </a:lnSpc>
              <a:spcAft>
                <a:spcPts val="1000"/>
              </a:spcAft>
              <a:buNone/>
            </a:pPr>
            <a:r>
              <a:rPr lang="ar-AE" altLang="en-US" sz="1400" dirty="0">
                <a:solidFill>
                  <a:schemeClr val="bg1"/>
                </a:solidFill>
                <a:latin typeface="IBM Plex Sans Arabic" pitchFamily="34" charset="0"/>
                <a:ea typeface="IBM Plex Sans Arabic" pitchFamily="34" charset="-122"/>
                <a:cs typeface="IBM Plex Sans Arabic" pitchFamily="34" charset="-120"/>
              </a:rPr>
              <a:t>بدأت رحلتنا من متجر إلكتروني، وبفضل ثقة عملائنا والتزام فريق العمل، تطورنا إلى شبكة فروع في دولة الإمارات العربية المتحدة وسلطنة عُمان.</a:t>
            </a:r>
            <a:endParaRPr lang="ar-AE" sz="1400" dirty="0"/>
          </a:p>
          <a:p>
            <a:pPr algn="r" indent="0" marL="0">
              <a:lnSpc>
                <a:spcPct val="115000"/>
              </a:lnSpc>
              <a:spcAft>
                <a:spcPts val="1000"/>
              </a:spcAft>
              <a:buNone/>
            </a:pPr>
            <a:r>
              <a:rPr lang="ar-AE" altLang="en-US" sz="1400" dirty="0">
                <a:solidFill>
                  <a:schemeClr val="bg1"/>
                </a:solidFill>
                <a:latin typeface="IBM Plex Sans Arabic" pitchFamily="34" charset="0"/>
                <a:ea typeface="IBM Plex Sans Arabic" pitchFamily="34" charset="-122"/>
                <a:cs typeface="IBM Plex Sans Arabic" pitchFamily="34" charset="-120"/>
              </a:rPr>
              <a:t>نؤمن بأن مستقبل قطاع السيارات الكهربائية لا يعتمد على المركبات وحدها، بل يحتاج أيضاً إلى منظومة متكاملة من الإكسسوارات وحلول الشحن والخدمات المتخصصة.</a:t>
            </a:r>
            <a:endParaRPr lang="ar-AE" sz="1400" dirty="0"/>
          </a:p>
          <a:p>
            <a:pPr algn="r" indent="0" marL="0">
              <a:lnSpc>
                <a:spcPct val="115000"/>
              </a:lnSpc>
              <a:buNone/>
            </a:pPr>
            <a:r>
              <a:rPr lang="ar-AE" altLang="en-US" sz="1400" dirty="0">
                <a:solidFill>
                  <a:schemeClr val="bg1"/>
                </a:solidFill>
                <a:latin typeface="IBM Plex Sans Arabic" pitchFamily="34" charset="0"/>
                <a:ea typeface="IBM Plex Sans Arabic" pitchFamily="34" charset="-122"/>
                <a:cs typeface="IBM Plex Sans Arabic" pitchFamily="34" charset="-120"/>
              </a:rPr>
              <a:t>طموحنا أن تصبح EVCARS علامة تجارية معروفة وموثوقة لدى ملاك السيارات الكهربائية في المنطقة وخارجها.</a:t>
            </a:r>
            <a:endParaRPr lang="ar-AE" sz="1400" dirty="0"/>
          </a:p>
        </p:txBody>
      </p:sp>
      <p:sp>
        <p:nvSpPr>
          <p:cNvPr id="9" name="hairline"/>
          <p:cNvSpPr/>
          <p:nvPr/>
        </p:nvSpPr>
        <p:spPr>
          <a:xfrm>
            <a:off x="6095848" y="2377440"/>
            <a:ext cx="0" cy="2651760"/>
          </a:xfrm>
          <a:prstGeom prst="line">
            <a:avLst/>
          </a:prstGeom>
          <a:noFill/>
          <a:ln w="9525">
            <a:solidFill>
              <a:schemeClr val="accent3"/>
            </a:solidFill>
            <a:prstDash val="solid"/>
          </a:ln>
        </p:spPr>
      </p:sp>
      <p:sp>
        <p:nvSpPr>
          <p:cNvPr id="10" name="hairline"/>
          <p:cNvSpPr/>
          <p:nvPr/>
        </p:nvSpPr>
        <p:spPr>
          <a:xfrm>
            <a:off x="640080" y="5349240"/>
            <a:ext cx="2743200" cy="0"/>
          </a:xfrm>
          <a:prstGeom prst="line">
            <a:avLst/>
          </a:prstGeom>
          <a:noFill/>
          <a:ln w="9525">
            <a:solidFill>
              <a:schemeClr val="accent3"/>
            </a:solidFill>
            <a:prstDash val="solid"/>
          </a:ln>
        </p:spPr>
      </p:sp>
      <p:sp>
        <p:nvSpPr>
          <p:cNvPr id="11" name="hairline"/>
          <p:cNvSpPr/>
          <p:nvPr/>
        </p:nvSpPr>
        <p:spPr>
          <a:xfrm>
            <a:off x="8808415" y="5349240"/>
            <a:ext cx="2743200" cy="0"/>
          </a:xfrm>
          <a:prstGeom prst="line">
            <a:avLst/>
          </a:prstGeom>
          <a:noFill/>
          <a:ln w="9525">
            <a:solidFill>
              <a:schemeClr val="accent3"/>
            </a:solidFill>
            <a:prstDash val="solid"/>
          </a:ln>
        </p:spPr>
      </p:sp>
      <p:sp>
        <p:nvSpPr>
          <p:cNvPr id="12" name="Text 9"/>
          <p:cNvSpPr txBox="1"/>
          <p:nvPr/>
        </p:nvSpPr>
        <p:spPr>
          <a:xfrm>
            <a:off x="640080" y="5420000"/>
            <a:ext cx="4572000" cy="460000"/>
          </a:xfrm>
          <a:prstGeom prst="rect">
            <a:avLst/>
          </a:prstGeom>
          <a:noFill/>
          <a:ln/>
        </p:spPr>
        <p:txBody>
          <a:bodyPr wrap="square" lIns="0" tIns="0" rIns="0" bIns="0" rtlCol="0" anchor="t"/>
          <a:lstStyle/>
          <a:p>
            <a:pPr algn="l" indent="0" marL="0">
              <a:buNone/>
            </a:pPr>
            <a:r>
              <a:rPr lang="en-US" sz="2600" b="1" dirty="0">
                <a:solidFill>
                  <a:schemeClr val="bg1"/>
                </a:solidFill>
                <a:latin typeface="IBM Plex Sans Arabic" pitchFamily="34" charset="0"/>
                <a:ea typeface="IBM Plex Sans Arabic" pitchFamily="34" charset="-122"/>
                <a:cs typeface="IBM Plex Sans Arabic" pitchFamily="34" charset="-120"/>
              </a:rPr>
              <a:t>Ahmed Al Ketbi</a:t>
            </a:r>
            <a:endParaRPr lang="en-US" sz="2600" dirty="0"/>
          </a:p>
        </p:txBody>
      </p:sp>
      <p:sp>
        <p:nvSpPr>
          <p:cNvPr id="13" name="Text 10"/>
          <p:cNvSpPr txBox="1"/>
          <p:nvPr/>
        </p:nvSpPr>
        <p:spPr>
          <a:xfrm>
            <a:off x="640080" y="5880000"/>
            <a:ext cx="4572000" cy="300000"/>
          </a:xfrm>
          <a:prstGeom prst="rect">
            <a:avLst/>
          </a:prstGeom>
          <a:noFill/>
          <a:ln/>
        </p:spPr>
        <p:txBody>
          <a:bodyPr wrap="square" lIns="0" tIns="0" rIns="0" bIns="0" rtlCol="0" anchor="t"/>
          <a:lstStyle/>
          <a:p>
            <a:pPr algn="l" indent="0" marL="0">
              <a:buNone/>
            </a:pPr>
            <a:r>
              <a:rPr lang="en-US" sz="1500" dirty="0">
                <a:solidFill>
                  <a:schemeClr val="accent2"/>
                </a:solidFill>
                <a:latin typeface="IBM Plex Sans Arabic" pitchFamily="34" charset="0"/>
                <a:ea typeface="IBM Plex Sans Arabic" pitchFamily="34" charset="-122"/>
                <a:cs typeface="IBM Plex Sans Arabic" pitchFamily="34" charset="-120"/>
              </a:rPr>
              <a:t>Founder &amp; General Manager, EVCARS</a:t>
            </a:r>
            <a:endParaRPr lang="en-US" sz="1500" dirty="0"/>
          </a:p>
        </p:txBody>
      </p:sp>
      <p:sp>
        <p:nvSpPr>
          <p:cNvPr id="14" name="Text 11"/>
          <p:cNvSpPr txBox="1"/>
          <p:nvPr/>
        </p:nvSpPr>
        <p:spPr>
          <a:xfrm>
            <a:off x="6979615" y="5420000"/>
            <a:ext cx="4572000" cy="460000"/>
          </a:xfrm>
          <a:prstGeom prst="rect">
            <a:avLst/>
          </a:prstGeom>
          <a:noFill/>
          <a:ln/>
        </p:spPr>
        <p:txBody>
          <a:bodyPr wrap="square" lIns="0" tIns="0" rIns="0" bIns="0" rtlCol="0" anchor="t"/>
          <a:lstStyle/>
          <a:p>
            <a:pPr rtl="1" algn="r" indent="0" marL="0">
              <a:buNone/>
            </a:pPr>
            <a:r>
              <a:rPr lang="ar-AE" altLang="en-US" sz="2600" b="1" dirty="0">
                <a:solidFill>
                  <a:schemeClr val="bg1"/>
                </a:solidFill>
                <a:latin typeface="IBM Plex Sans Arabic" pitchFamily="34" charset="0"/>
                <a:ea typeface="IBM Plex Sans Arabic" pitchFamily="34" charset="-122"/>
                <a:cs typeface="IBM Plex Sans Arabic" pitchFamily="34" charset="-120"/>
              </a:rPr>
              <a:t>أحمد الكتبي</a:t>
            </a:r>
            <a:endParaRPr lang="ar-AE" sz="2600" dirty="0"/>
          </a:p>
        </p:txBody>
      </p:sp>
      <p:sp>
        <p:nvSpPr>
          <p:cNvPr id="15" name="Text 12"/>
          <p:cNvSpPr txBox="1"/>
          <p:nvPr/>
        </p:nvSpPr>
        <p:spPr>
          <a:xfrm>
            <a:off x="6979615" y="5880000"/>
            <a:ext cx="4572000" cy="300000"/>
          </a:xfrm>
          <a:prstGeom prst="rect">
            <a:avLst/>
          </a:prstGeom>
          <a:noFill/>
          <a:ln/>
        </p:spPr>
        <p:txBody>
          <a:bodyPr wrap="square" lIns="0" tIns="0" rIns="0" bIns="0" rtlCol="0" anchor="t"/>
          <a:lstStyle/>
          <a:p>
            <a:pPr rtl="1" algn="r" indent="0" marL="0">
              <a:buNone/>
            </a:pPr>
            <a:r>
              <a:rPr lang="ar-AE" altLang="en-US" sz="1500" dirty="0">
                <a:solidFill>
                  <a:schemeClr val="accent2"/>
                </a:solidFill>
                <a:latin typeface="IBM Plex Sans Arabic" pitchFamily="34" charset="0"/>
                <a:ea typeface="IBM Plex Sans Arabic" pitchFamily="34" charset="-122"/>
                <a:cs typeface="IBM Plex Sans Arabic" pitchFamily="34" charset="-120"/>
              </a:rPr>
              <a:t>المؤسس والمدير العام، EVCARS</a:t>
            </a:r>
            <a:endParaRPr lang="ar-AE" sz="15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DDE2E7"/>
                </a:solidFill>
                <a:latin typeface="IBM Plex Sans Arabic"/>
                <a:ea typeface="IBM Plex Sans Arabic"/>
                <a:cs typeface="IBM Plex Sans Arabic"/>
              </a:defRPr>
            </a:lvl1pPr>
          </a:lstStyle>
          <a:p>
            <a:pPr algn="r"/>
            <a:fld id="{F7021451-1387-4CA6-816F-3879F97B5CBC}" type="slidenum">
              <a:rPr b="0" lang="en-US"/>
              <a:t>4</a:t>
            </a:fld>
            <a:endParaRPr lang="en-US"/>
          </a:p>
        </p:txBody>
      </p:sp>
      <p:sp>
        <p:nvSpPr>
          <p:cNvPr id="26" name="Back to contents" descr="Back to contents">
            <a:hlinkClick r:id="rId4" action="ppaction://hlinksldjump" tooltip="Back to Contents / العودة إلى المحتويات"/>
          </p:cNvPr>
          <p:cNvSpPr/>
          <p:nvPr/>
        </p:nvSpPr>
        <p:spPr>
          <a:xfrm>
            <a:off x="8838000" y="6283000"/>
            <a:ext cx="1850000" cy="300000"/>
          </a:xfrm>
          <a:prstGeom prst="roundRect">
            <a:avLst>
              <a:gd name="adj" fmla="val 50000"/>
            </a:avLst>
          </a:prstGeom>
          <a:noFill/>
          <a:ln w="9525">
            <a:solidFill>
              <a:schemeClr val="accent1"/>
            </a:solidFill>
          </a:ln>
        </p:spPr>
        <p:txBody>
          <a:bodyPr wrap="none" lIns="0" tIns="0" rIns="0" bIns="0" rtlCol="0" anchor="ctr"/>
          <a:lstStyle/>
          <a:p>
            <a:pPr algn="ctr"/>
            <a:r>
              <a:rPr lang="en-US" sz="900" b="1" spc="120" dirty="0">
                <a:solidFill>
                  <a:schemeClr val="accent1"/>
                </a:solidFill>
                <a:latin typeface="IBM Plex Sans Arabic"/>
                <a:cs typeface="IBM Plex Sans Arabic"/>
              </a:rPr>
              <a:t>CONTENTS  ·  </a:t>
            </a:r>
            <a:r>
              <a:rPr lang="ar-AE" sz="900" b="1" dirty="0">
                <a:solidFill>
                  <a:schemeClr val="accent1"/>
                </a:solidFill>
                <a:latin typeface="IBM Plex Sans Arabic"/>
                <a:cs typeface="IBM Plex Sans Arabic"/>
              </a:rPr>
              <a:t>المحتويات</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1"/>
                </a:solidFill>
                <a:latin typeface="IBM Plex Sans Arabic" pitchFamily="34" charset="0"/>
                <a:ea typeface="IBM Plex Sans Arabic" pitchFamily="34" charset="-122"/>
                <a:cs typeface="IBM Plex Sans Arabic" pitchFamily="34" charset="-120"/>
              </a:rPr>
              <a:t>01   ·   WHO WE ARE</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1"/>
                </a:solidFill>
                <a:latin typeface="IBM Plex Sans Arabic" pitchFamily="34" charset="0"/>
                <a:ea typeface="IBM Plex Sans Arabic" pitchFamily="34" charset="-122"/>
                <a:cs typeface="IBM Plex Sans Arabic" pitchFamily="34" charset="-120"/>
              </a:rPr>
              <a:t>من نحن   ·   01</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tx1"/>
                </a:solidFill>
                <a:latin typeface="IBM Plex Sans Arabic Light" pitchFamily="34" charset="0"/>
                <a:ea typeface="IBM Plex Sans Arabic Light" pitchFamily="34" charset="-122"/>
                <a:cs typeface="IBM Plex Sans Arabic Light" pitchFamily="34" charset="-120"/>
              </a:rPr>
              <a:t>Vision &amp; Mission</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tx1"/>
                </a:solidFill>
                <a:latin typeface="IBM Plex Sans Arabic Light" pitchFamily="34" charset="0"/>
                <a:ea typeface="IBM Plex Sans Arabic Light" pitchFamily="34" charset="-122"/>
                <a:cs typeface="IBM Plex Sans Arabic Light" pitchFamily="34" charset="-120"/>
              </a:rPr>
              <a:t>الرؤية والرسالة</a:t>
            </a:r>
            <a:endParaRPr lang="ar-AE" sz="3000" dirty="0"/>
          </a:p>
        </p:txBody>
      </p:sp>
      <p:sp>
        <p:nvSpPr>
          <p:cNvPr id="6" name="Our Vision card"/>
          <p:cNvSpPr/>
          <p:nvPr/>
        </p:nvSpPr>
        <p:spPr>
          <a:xfrm>
            <a:off x="640080" y="1645920"/>
            <a:ext cx="5349240" cy="4434840"/>
          </a:xfrm>
          <a:prstGeom prst="roundRect">
            <a:avLst>
              <a:gd name="adj" fmla="val 2062"/>
            </a:avLst>
          </a:prstGeom>
          <a:solidFill>
            <a:schemeClr val="tx1"/>
          </a:solidFill>
          <a:ln/>
          <a:effectLst>
            <a:outerShdw sx="100000" sy="100000" kx="0" ky="0" algn="bl" rotWithShape="0" blurRad="177800" dist="38100" dir="5400000">
              <a:srgbClr val="0B0D10">
                <a:alpha val="10000"/>
              </a:srgbClr>
            </a:outerShdw>
          </a:effectLst>
        </p:spPr>
      </p:sp>
      <p:pic>
        <p:nvPicPr>
          <p:cNvPr id="7" name="Our Vision icon" descr="icon">    </p:cNvPr>
          <p:cNvPicPr>
            <a:picLocks noChangeAspect="1"/>
          </p:cNvPicPr>
          <p:nvPr/>
        </p:nvPicPr>
        <p:blipFill>
          <a:blip r:embed="rId1"/>
          <a:stretch>
            <a:fillRect/>
          </a:stretch>
        </p:blipFill>
        <p:spPr>
          <a:xfrm>
            <a:off x="1005840" y="2011680"/>
            <a:ext cx="502920" cy="502920"/>
          </a:xfrm>
          <a:prstGeom prst="rect">
            <a:avLst/>
          </a:prstGeom>
        </p:spPr>
      </p:pic>
      <p:sp>
        <p:nvSpPr>
          <p:cNvPr id="8" name="Text 5"/>
          <p:cNvSpPr txBox="1"/>
          <p:nvPr/>
        </p:nvSpPr>
        <p:spPr>
          <a:xfrm>
            <a:off x="1691640" y="2057400"/>
            <a:ext cx="2011680" cy="274320"/>
          </a:xfrm>
          <a:prstGeom prst="rect">
            <a:avLst/>
          </a:prstGeom>
          <a:noFill/>
          <a:ln/>
        </p:spPr>
        <p:txBody>
          <a:bodyPr wrap="square" lIns="0" tIns="0" rIns="0" bIns="0" rtlCol="0" anchor="t"/>
          <a:lstStyle/>
          <a:p>
            <a:pPr algn="l" indent="0" marL="0">
              <a:buNone/>
            </a:pPr>
            <a:r>
              <a:rPr lang="en-US" sz="1100" b="1" spc="300" kern="0" dirty="0">
                <a:solidFill>
                  <a:schemeClr val="accent2"/>
                </a:solidFill>
                <a:latin typeface="IBM Plex Sans Arabic" pitchFamily="34" charset="0"/>
                <a:ea typeface="IBM Plex Sans Arabic" pitchFamily="34" charset="-122"/>
                <a:cs typeface="IBM Plex Sans Arabic" pitchFamily="34" charset="-120"/>
              </a:rPr>
              <a:t>OUR VISION</a:t>
            </a:r>
            <a:endParaRPr lang="en-US" sz="1100" dirty="0"/>
          </a:p>
        </p:txBody>
      </p:sp>
      <p:sp>
        <p:nvSpPr>
          <p:cNvPr id="9" name="Text 6"/>
          <p:cNvSpPr txBox="1"/>
          <p:nvPr/>
        </p:nvSpPr>
        <p:spPr>
          <a:xfrm>
            <a:off x="3611880" y="2011680"/>
            <a:ext cx="2011680" cy="365760"/>
          </a:xfrm>
          <a:prstGeom prst="rect">
            <a:avLst/>
          </a:prstGeom>
          <a:noFill/>
          <a:ln/>
        </p:spPr>
        <p:txBody>
          <a:bodyPr wrap="square" lIns="0" tIns="0" rIns="0" bIns="0" rtlCol="0" anchor="t"/>
          <a:lstStyle/>
          <a:p>
            <a:pPr rtl="1" algn="r" indent="0" marL="0">
              <a:buNone/>
            </a:pPr>
            <a:r>
              <a:rPr lang="ar-AE" altLang="en-US" sz="2000" b="1" dirty="0">
                <a:solidFill>
                  <a:schemeClr val="bg1"/>
                </a:solidFill>
                <a:latin typeface="IBM Plex Sans Arabic" pitchFamily="34" charset="0"/>
                <a:ea typeface="IBM Plex Sans Arabic" pitchFamily="34" charset="-122"/>
                <a:cs typeface="IBM Plex Sans Arabic" pitchFamily="34" charset="-120"/>
              </a:rPr>
              <a:t>رؤيتنا</a:t>
            </a:r>
            <a:endParaRPr lang="ar-AE" sz="2000" dirty="0"/>
          </a:p>
        </p:txBody>
      </p:sp>
      <p:sp>
        <p:nvSpPr>
          <p:cNvPr id="10" name="Text 7"/>
          <p:cNvSpPr txBox="1"/>
          <p:nvPr/>
        </p:nvSpPr>
        <p:spPr>
          <a:xfrm>
            <a:off x="1005840" y="2788920"/>
            <a:ext cx="4617720" cy="1417320"/>
          </a:xfrm>
          <a:prstGeom prst="rect">
            <a:avLst/>
          </a:prstGeom>
          <a:noFill/>
          <a:ln/>
        </p:spPr>
        <p:txBody>
          <a:bodyPr wrap="square" lIns="0" tIns="0" rIns="0" bIns="0" rtlCol="0" anchor="t"/>
          <a:lstStyle/>
          <a:p>
            <a:pPr algn="l" indent="0" marL="0">
              <a:lnSpc>
                <a:spcPct val="112000"/>
              </a:lnSpc>
              <a:buNone/>
            </a:pPr>
            <a:r>
              <a:rPr lang="en-US" sz="1400" dirty="0">
                <a:solidFill>
                  <a:schemeClr val="accent5"/>
                </a:solidFill>
                <a:latin typeface="IBM Plex Sans Arabic" pitchFamily="34" charset="0"/>
                <a:ea typeface="IBM Plex Sans Arabic" pitchFamily="34" charset="-122"/>
                <a:cs typeface="IBM Plex Sans Arabic" pitchFamily="34" charset="-120"/>
              </a:rPr>
              <a:t>To become a leading brand in electric vehicle solutions across regional and global markets by delivering innovative products and reliable services that enhance the electric vehicle ownership experience.</a:t>
            </a:r>
            <a:endParaRPr lang="en-US" sz="1400" dirty="0"/>
          </a:p>
        </p:txBody>
      </p:sp>
      <p:sp>
        <p:nvSpPr>
          <p:cNvPr id="11" name="hairline"/>
          <p:cNvSpPr/>
          <p:nvPr/>
        </p:nvSpPr>
        <p:spPr>
          <a:xfrm>
            <a:off x="1005840" y="4343400"/>
            <a:ext cx="4617720" cy="0"/>
          </a:xfrm>
          <a:prstGeom prst="line">
            <a:avLst/>
          </a:prstGeom>
          <a:noFill/>
          <a:ln w="9525">
            <a:solidFill>
              <a:schemeClr val="accent3"/>
            </a:solidFill>
            <a:prstDash val="solid"/>
          </a:ln>
        </p:spPr>
      </p:sp>
      <p:sp>
        <p:nvSpPr>
          <p:cNvPr id="12" name="Text 9"/>
          <p:cNvSpPr txBox="1"/>
          <p:nvPr/>
        </p:nvSpPr>
        <p:spPr>
          <a:xfrm>
            <a:off x="1005840" y="4526280"/>
            <a:ext cx="4617720" cy="1417320"/>
          </a:xfrm>
          <a:prstGeom prst="rect">
            <a:avLst/>
          </a:prstGeom>
          <a:noFill/>
          <a:ln/>
        </p:spPr>
        <p:txBody>
          <a:bodyPr wrap="square" lIns="0" tIns="0" rIns="0" bIns="0" rtlCol="0" anchor="t"/>
          <a:lstStyle/>
          <a:p>
            <a:pPr rtl="1" algn="r" indent="0" marL="0">
              <a:lnSpc>
                <a:spcPct val="112000"/>
              </a:lnSpc>
              <a:buNone/>
            </a:pPr>
            <a:r>
              <a:rPr lang="ar-AE" altLang="en-US" sz="1400" dirty="0">
                <a:solidFill>
                  <a:schemeClr val="accent5"/>
                </a:solidFill>
                <a:latin typeface="IBM Plex Sans Arabic" pitchFamily="34" charset="0"/>
                <a:ea typeface="IBM Plex Sans Arabic" pitchFamily="34" charset="-122"/>
                <a:cs typeface="IBM Plex Sans Arabic" pitchFamily="34" charset="-120"/>
              </a:rPr>
              <a:t>أن نكون من أبرز العلامات التجارية المتخصصة في حلول السيارات الكهربائية على المستوى الإقليمي والعالمي، من خلال تقديم منتجات مبتكرة وخدمات موثوقة تسهم في تطوير تجربة امتلاك واستخدام السيارات الكهربائية.</a:t>
            </a:r>
            <a:endParaRPr lang="ar-AE" sz="1400" dirty="0"/>
          </a:p>
        </p:txBody>
      </p:sp>
      <p:sp>
        <p:nvSpPr>
          <p:cNvPr id="13" name="Our Mission card"/>
          <p:cNvSpPr/>
          <p:nvPr/>
        </p:nvSpPr>
        <p:spPr>
          <a:xfrm>
            <a:off x="6202375" y="1645920"/>
            <a:ext cx="5349240" cy="4434840"/>
          </a:xfrm>
          <a:prstGeom prst="roundRect">
            <a:avLst>
              <a:gd name="adj" fmla="val 2062"/>
            </a:avLst>
          </a:prstGeom>
          <a:solidFill>
            <a:schemeClr val="tx1"/>
          </a:solidFill>
          <a:ln/>
          <a:effectLst>
            <a:outerShdw sx="100000" sy="100000" kx="0" ky="0" algn="bl" rotWithShape="0" blurRad="177800" dist="38100" dir="5400000">
              <a:srgbClr val="0B0D10">
                <a:alpha val="10000"/>
              </a:srgbClr>
            </a:outerShdw>
          </a:effectLst>
        </p:spPr>
      </p:sp>
      <p:pic>
        <p:nvPicPr>
          <p:cNvPr id="14" name="Our Mission icon" descr="icon">    </p:cNvPr>
          <p:cNvPicPr>
            <a:picLocks noChangeAspect="1"/>
          </p:cNvPicPr>
          <p:nvPr/>
        </p:nvPicPr>
        <p:blipFill>
          <a:blip r:embed="rId2"/>
          <a:stretch>
            <a:fillRect/>
          </a:stretch>
        </p:blipFill>
        <p:spPr>
          <a:xfrm>
            <a:off x="6568135" y="2011680"/>
            <a:ext cx="502920" cy="502920"/>
          </a:xfrm>
          <a:prstGeom prst="rect">
            <a:avLst/>
          </a:prstGeom>
        </p:spPr>
      </p:pic>
      <p:sp>
        <p:nvSpPr>
          <p:cNvPr id="15" name="Text 11"/>
          <p:cNvSpPr txBox="1"/>
          <p:nvPr/>
        </p:nvSpPr>
        <p:spPr>
          <a:xfrm>
            <a:off x="7253935" y="2057400"/>
            <a:ext cx="2011680" cy="274320"/>
          </a:xfrm>
          <a:prstGeom prst="rect">
            <a:avLst/>
          </a:prstGeom>
          <a:noFill/>
          <a:ln/>
        </p:spPr>
        <p:txBody>
          <a:bodyPr wrap="square" lIns="0" tIns="0" rIns="0" bIns="0" rtlCol="0" anchor="t"/>
          <a:lstStyle/>
          <a:p>
            <a:pPr algn="l" indent="0" marL="0">
              <a:buNone/>
            </a:pPr>
            <a:r>
              <a:rPr lang="en-US" sz="1100" b="1" spc="300" kern="0" dirty="0">
                <a:solidFill>
                  <a:schemeClr val="accent2"/>
                </a:solidFill>
                <a:latin typeface="IBM Plex Sans Arabic" pitchFamily="34" charset="0"/>
                <a:ea typeface="IBM Plex Sans Arabic" pitchFamily="34" charset="-122"/>
                <a:cs typeface="IBM Plex Sans Arabic" pitchFamily="34" charset="-120"/>
              </a:rPr>
              <a:t>OUR MISSION</a:t>
            </a:r>
            <a:endParaRPr lang="en-US" sz="1100" dirty="0"/>
          </a:p>
        </p:txBody>
      </p:sp>
      <p:sp>
        <p:nvSpPr>
          <p:cNvPr id="16" name="Text 12"/>
          <p:cNvSpPr txBox="1"/>
          <p:nvPr/>
        </p:nvSpPr>
        <p:spPr>
          <a:xfrm>
            <a:off x="9174175" y="2011680"/>
            <a:ext cx="2011680" cy="365760"/>
          </a:xfrm>
          <a:prstGeom prst="rect">
            <a:avLst/>
          </a:prstGeom>
          <a:noFill/>
          <a:ln/>
        </p:spPr>
        <p:txBody>
          <a:bodyPr wrap="square" lIns="0" tIns="0" rIns="0" bIns="0" rtlCol="0" anchor="t"/>
          <a:lstStyle/>
          <a:p>
            <a:pPr rtl="1" algn="r" indent="0" marL="0">
              <a:buNone/>
            </a:pPr>
            <a:r>
              <a:rPr lang="ar-AE" altLang="en-US" sz="2000" b="1" dirty="0">
                <a:solidFill>
                  <a:schemeClr val="bg1"/>
                </a:solidFill>
                <a:latin typeface="IBM Plex Sans Arabic" pitchFamily="34" charset="0"/>
                <a:ea typeface="IBM Plex Sans Arabic" pitchFamily="34" charset="-122"/>
                <a:cs typeface="IBM Plex Sans Arabic" pitchFamily="34" charset="-120"/>
              </a:rPr>
              <a:t>رسالتنا</a:t>
            </a:r>
            <a:endParaRPr lang="ar-AE" sz="2000" dirty="0"/>
          </a:p>
        </p:txBody>
      </p:sp>
      <p:sp>
        <p:nvSpPr>
          <p:cNvPr id="17" name="Text 13"/>
          <p:cNvSpPr txBox="1"/>
          <p:nvPr/>
        </p:nvSpPr>
        <p:spPr>
          <a:xfrm>
            <a:off x="6568135" y="2788920"/>
            <a:ext cx="4617720" cy="1417320"/>
          </a:xfrm>
          <a:prstGeom prst="rect">
            <a:avLst/>
          </a:prstGeom>
          <a:noFill/>
          <a:ln/>
        </p:spPr>
        <p:txBody>
          <a:bodyPr wrap="square" lIns="0" tIns="0" rIns="0" bIns="0" rtlCol="0" anchor="t"/>
          <a:lstStyle/>
          <a:p>
            <a:pPr algn="l" indent="0" marL="0">
              <a:lnSpc>
                <a:spcPct val="112000"/>
              </a:lnSpc>
              <a:buNone/>
            </a:pPr>
            <a:r>
              <a:rPr lang="en-US" sz="1400" dirty="0">
                <a:solidFill>
                  <a:schemeClr val="accent5"/>
                </a:solidFill>
                <a:latin typeface="IBM Plex Sans Arabic" pitchFamily="34" charset="0"/>
                <a:ea typeface="IBM Plex Sans Arabic" pitchFamily="34" charset="-122"/>
                <a:cs typeface="IBM Plex Sans Arabic" pitchFamily="34" charset="-120"/>
              </a:rPr>
              <a:t>To provide comprehensive electric vehicle solutions, including specialized accessories, charging systems, and technical services, while maintaining a strong commitment to quality, innovation, and customer satisfaction.</a:t>
            </a:r>
            <a:endParaRPr lang="en-US" sz="1400" dirty="0"/>
          </a:p>
        </p:txBody>
      </p:sp>
      <p:sp>
        <p:nvSpPr>
          <p:cNvPr id="18" name="hairline"/>
          <p:cNvSpPr/>
          <p:nvPr/>
        </p:nvSpPr>
        <p:spPr>
          <a:xfrm>
            <a:off x="6568135" y="4343400"/>
            <a:ext cx="4617720" cy="0"/>
          </a:xfrm>
          <a:prstGeom prst="line">
            <a:avLst/>
          </a:prstGeom>
          <a:noFill/>
          <a:ln w="9525">
            <a:solidFill>
              <a:schemeClr val="accent3"/>
            </a:solidFill>
            <a:prstDash val="solid"/>
          </a:ln>
        </p:spPr>
      </p:sp>
      <p:sp>
        <p:nvSpPr>
          <p:cNvPr id="19" name="Text 15"/>
          <p:cNvSpPr txBox="1"/>
          <p:nvPr/>
        </p:nvSpPr>
        <p:spPr>
          <a:xfrm>
            <a:off x="6568135" y="4526280"/>
            <a:ext cx="4617720" cy="1417320"/>
          </a:xfrm>
          <a:prstGeom prst="rect">
            <a:avLst/>
          </a:prstGeom>
          <a:noFill/>
          <a:ln/>
        </p:spPr>
        <p:txBody>
          <a:bodyPr wrap="square" lIns="0" tIns="0" rIns="0" bIns="0" rtlCol="0" anchor="t"/>
          <a:lstStyle/>
          <a:p>
            <a:pPr rtl="1" algn="r" indent="0" marL="0">
              <a:lnSpc>
                <a:spcPct val="112000"/>
              </a:lnSpc>
              <a:buNone/>
            </a:pPr>
            <a:r>
              <a:rPr lang="ar-AE" altLang="en-US" sz="1400" dirty="0">
                <a:solidFill>
                  <a:schemeClr val="accent5"/>
                </a:solidFill>
                <a:latin typeface="IBM Plex Sans Arabic" pitchFamily="34" charset="0"/>
                <a:ea typeface="IBM Plex Sans Arabic" pitchFamily="34" charset="-122"/>
                <a:cs typeface="IBM Plex Sans Arabic" pitchFamily="34" charset="-120"/>
              </a:rPr>
              <a:t>توفير حلول متكاملة للسيارات الكهربائية تشمل الإكسسوارات المتخصصة، وأنظمة الشحن، والخدمات الفنية، مع الالتزام بالجودة والابتكار ورضا العملاء، وبناء تجربة متكاملة تجمع بين المنتجات الموثوقة والخدمة الاحترافية.</a:t>
            </a:r>
            <a:endParaRPr lang="ar-AE" sz="14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A75"/>
                </a:solidFill>
                <a:latin typeface="IBM Plex Sans Arabic"/>
                <a:ea typeface="IBM Plex Sans Arabic"/>
                <a:cs typeface="IBM Plex Sans Arabic"/>
              </a:defRPr>
            </a:lvl1pPr>
          </a:lstStyle>
          <a:p>
            <a:pPr algn="r"/>
            <a:fld id="{F7021451-1387-4CA6-816F-3879F97B5CBC}" type="slidenum">
              <a:rPr b="0" lang="en-US"/>
              <a:t>5</a:t>
            </a:fld>
            <a:endParaRPr lang="en-US"/>
          </a:p>
        </p:txBody>
      </p:sp>
      <p:sp>
        <p:nvSpPr>
          <p:cNvPr id="26" name="Back to contents" descr="Back to contents">
            <a:hlinkClick r:id="rId5" action="ppaction://hlinksldjump" tooltip="Back to Contents / العودة إلى المحتويات"/>
          </p:cNvPr>
          <p:cNvSpPr/>
          <p:nvPr/>
        </p:nvSpPr>
        <p:spPr>
          <a:xfrm>
            <a:off x="8838000" y="6283000"/>
            <a:ext cx="1850000" cy="300000"/>
          </a:xfrm>
          <a:prstGeom prst="roundRect">
            <a:avLst>
              <a:gd name="adj" fmla="val 50000"/>
            </a:avLst>
          </a:prstGeom>
          <a:noFill/>
          <a:ln w="9525">
            <a:solidFill>
              <a:schemeClr val="accent1"/>
            </a:solidFill>
          </a:ln>
        </p:spPr>
        <p:txBody>
          <a:bodyPr wrap="none" lIns="0" tIns="0" rIns="0" bIns="0" rtlCol="0" anchor="ctr"/>
          <a:lstStyle/>
          <a:p>
            <a:pPr algn="ctr"/>
            <a:r>
              <a:rPr lang="en-US" sz="900" b="1" spc="120" dirty="0">
                <a:solidFill>
                  <a:schemeClr val="accent1"/>
                </a:solidFill>
                <a:latin typeface="IBM Plex Sans Arabic"/>
                <a:cs typeface="IBM Plex Sans Arabic"/>
              </a:rPr>
              <a:t>CONTENTS  ·  </a:t>
            </a:r>
            <a:r>
              <a:rPr lang="ar-AE" sz="900" b="1" dirty="0">
                <a:solidFill>
                  <a:schemeClr val="accent1"/>
                </a:solidFill>
                <a:latin typeface="IBM Plex Sans Arabic"/>
                <a:cs typeface="IBM Plex Sans Arabic"/>
              </a:rPr>
              <a:t>المحتويات</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1"/>
                </a:solidFill>
                <a:latin typeface="IBM Plex Sans Arabic" pitchFamily="34" charset="0"/>
                <a:ea typeface="IBM Plex Sans Arabic" pitchFamily="34" charset="-122"/>
                <a:cs typeface="IBM Plex Sans Arabic" pitchFamily="34" charset="-120"/>
              </a:rPr>
              <a:t>01   ·   WHO WE ARE</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1"/>
                </a:solidFill>
                <a:latin typeface="IBM Plex Sans Arabic" pitchFamily="34" charset="0"/>
                <a:ea typeface="IBM Plex Sans Arabic" pitchFamily="34" charset="-122"/>
                <a:cs typeface="IBM Plex Sans Arabic" pitchFamily="34" charset="-120"/>
              </a:rPr>
              <a:t>من نحن   ·   01</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tx1"/>
                </a:solidFill>
                <a:latin typeface="IBM Plex Sans Arabic Light" pitchFamily="34" charset="0"/>
                <a:ea typeface="IBM Plex Sans Arabic Light" pitchFamily="34" charset="-122"/>
                <a:cs typeface="IBM Plex Sans Arabic Light" pitchFamily="34" charset="-120"/>
              </a:rPr>
              <a:t>Our Core Values</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tx1"/>
                </a:solidFill>
                <a:latin typeface="IBM Plex Sans Arabic Light" pitchFamily="34" charset="0"/>
                <a:ea typeface="IBM Plex Sans Arabic Light" pitchFamily="34" charset="-122"/>
                <a:cs typeface="IBM Plex Sans Arabic Light" pitchFamily="34" charset="-120"/>
              </a:rPr>
              <a:t>قيمنا</a:t>
            </a:r>
            <a:endParaRPr lang="ar-AE" sz="3000" dirty="0"/>
          </a:p>
        </p:txBody>
      </p:sp>
      <p:sp>
        <p:nvSpPr>
          <p:cNvPr id="6" name="Value card 1"/>
          <p:cNvSpPr/>
          <p:nvPr/>
        </p:nvSpPr>
        <p:spPr>
          <a:xfrm>
            <a:off x="640080" y="1691640"/>
            <a:ext cx="2048256" cy="4389120"/>
          </a:xfrm>
          <a:prstGeom prst="roundRect">
            <a:avLst>
              <a:gd name="adj" fmla="val 4464"/>
            </a:avLst>
          </a:prstGeom>
          <a:solidFill>
            <a:schemeClr val="bg1"/>
          </a:solidFill>
          <a:ln/>
          <a:effectLst>
            <a:outerShdw sx="100000" sy="100000" kx="0" ky="0" algn="bl" rotWithShape="0" blurRad="177800" dist="38100" dir="5400000">
              <a:srgbClr val="0B0D10">
                <a:alpha val="10000"/>
              </a:srgbClr>
            </a:outerShdw>
          </a:effectLst>
        </p:spPr>
      </p:sp>
      <p:sp>
        <p:nvSpPr>
          <p:cNvPr id="7" name="Value icon 1 circle"/>
          <p:cNvSpPr/>
          <p:nvPr/>
        </p:nvSpPr>
        <p:spPr>
          <a:xfrm>
            <a:off x="896112" y="1965960"/>
            <a:ext cx="685800" cy="685800"/>
          </a:xfrm>
          <a:prstGeom prst="ellipse">
            <a:avLst/>
          </a:prstGeom>
          <a:solidFill>
            <a:schemeClr val="accent6"/>
          </a:solidFill>
          <a:ln/>
        </p:spPr>
      </p:sp>
      <p:pic>
        <p:nvPicPr>
          <p:cNvPr id="8" name="Value icon 1" descr="icon">    </p:cNvPr>
          <p:cNvPicPr>
            <a:picLocks noChangeAspect="1"/>
          </p:cNvPicPr>
          <p:nvPr/>
        </p:nvPicPr>
        <p:blipFill>
          <a:blip r:embed="rId1"/>
          <a:stretch>
            <a:fillRect/>
          </a:stretch>
        </p:blipFill>
        <p:spPr>
          <a:xfrm>
            <a:off x="1060704" y="2130552"/>
            <a:ext cx="356616" cy="356616"/>
          </a:xfrm>
          <a:prstGeom prst="rect">
            <a:avLst/>
          </a:prstGeom>
        </p:spPr>
      </p:pic>
      <p:sp>
        <p:nvSpPr>
          <p:cNvPr id="9" name="Text 6"/>
          <p:cNvSpPr txBox="1"/>
          <p:nvPr/>
        </p:nvSpPr>
        <p:spPr>
          <a:xfrm>
            <a:off x="896112" y="2880360"/>
            <a:ext cx="1591056" cy="457200"/>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Quality</a:t>
            </a:r>
            <a:endParaRPr lang="en-US" sz="1500" dirty="0"/>
          </a:p>
        </p:txBody>
      </p:sp>
      <p:sp>
        <p:nvSpPr>
          <p:cNvPr id="10" name="Text 7"/>
          <p:cNvSpPr txBox="1"/>
          <p:nvPr/>
        </p:nvSpPr>
        <p:spPr>
          <a:xfrm>
            <a:off x="896112" y="3520440"/>
            <a:ext cx="1591056" cy="274320"/>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الجودة</a:t>
            </a:r>
            <a:endParaRPr lang="ar-AE" sz="1400" dirty="0"/>
          </a:p>
        </p:txBody>
      </p:sp>
      <p:sp>
        <p:nvSpPr>
          <p:cNvPr id="11" name="Text 8"/>
          <p:cNvSpPr txBox="1"/>
          <p:nvPr/>
        </p:nvSpPr>
        <p:spPr>
          <a:xfrm>
            <a:off x="896112" y="3931920"/>
            <a:ext cx="1591056" cy="1005840"/>
          </a:xfrm>
          <a:prstGeom prst="rect">
            <a:avLst/>
          </a:prstGeom>
          <a:noFill/>
          <a:ln/>
        </p:spPr>
        <p:txBody>
          <a:bodyPr wrap="square" lIns="0" tIns="0" rIns="0" bIns="0" rtlCol="0" anchor="t"/>
          <a:lstStyle/>
          <a:p>
            <a:pPr algn="l" indent="0" marL="0">
              <a:buNone/>
            </a:pPr>
            <a:r>
              <a:rPr lang="en-US" sz="1200" dirty="0">
                <a:solidFill>
                  <a:schemeClr val="accent3"/>
                </a:solidFill>
                <a:latin typeface="IBM Plex Sans Arabic" pitchFamily="34" charset="0"/>
                <a:ea typeface="IBM Plex Sans Arabic" pitchFamily="34" charset="-122"/>
                <a:cs typeface="IBM Plex Sans Arabic" pitchFamily="34" charset="-120"/>
              </a:rPr>
              <a:t>Products and services that meet quality and reliability standards.</a:t>
            </a:r>
            <a:endParaRPr lang="en-US" sz="1200" dirty="0"/>
          </a:p>
        </p:txBody>
      </p:sp>
      <p:sp>
        <p:nvSpPr>
          <p:cNvPr id="12" name="Text 9"/>
          <p:cNvSpPr txBox="1"/>
          <p:nvPr/>
        </p:nvSpPr>
        <p:spPr>
          <a:xfrm>
            <a:off x="896112" y="4983480"/>
            <a:ext cx="1591056" cy="1005840"/>
          </a:xfrm>
          <a:prstGeom prst="rect">
            <a:avLst/>
          </a:prstGeom>
          <a:noFill/>
          <a:ln/>
        </p:spPr>
        <p:txBody>
          <a:bodyPr wrap="square" lIns="0" tIns="0" rIns="0" bIns="0" rtlCol="0" anchor="t"/>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منتجات وخدمات تحقق معايير الجودة والاعتمادية.</a:t>
            </a:r>
            <a:endParaRPr lang="ar-AE" sz="1200" dirty="0"/>
          </a:p>
        </p:txBody>
      </p:sp>
      <p:sp>
        <p:nvSpPr>
          <p:cNvPr id="13" name="Value card 2"/>
          <p:cNvSpPr/>
          <p:nvPr/>
        </p:nvSpPr>
        <p:spPr>
          <a:xfrm>
            <a:off x="2855900" y="1691640"/>
            <a:ext cx="2048256" cy="4389120"/>
          </a:xfrm>
          <a:prstGeom prst="roundRect">
            <a:avLst>
              <a:gd name="adj" fmla="val 4464"/>
            </a:avLst>
          </a:prstGeom>
          <a:solidFill>
            <a:schemeClr val="bg1"/>
          </a:solidFill>
          <a:ln/>
          <a:effectLst>
            <a:outerShdw sx="100000" sy="100000" kx="0" ky="0" algn="bl" rotWithShape="0" blurRad="177800" dist="38100" dir="5400000">
              <a:srgbClr val="0B0D10">
                <a:alpha val="10000"/>
              </a:srgbClr>
            </a:outerShdw>
          </a:effectLst>
        </p:spPr>
      </p:sp>
      <p:sp>
        <p:nvSpPr>
          <p:cNvPr id="14" name="Value icon 2 circle"/>
          <p:cNvSpPr/>
          <p:nvPr/>
        </p:nvSpPr>
        <p:spPr>
          <a:xfrm>
            <a:off x="3111932" y="1965960"/>
            <a:ext cx="685800" cy="685800"/>
          </a:xfrm>
          <a:prstGeom prst="ellipse">
            <a:avLst/>
          </a:prstGeom>
          <a:solidFill>
            <a:schemeClr val="accent6"/>
          </a:solidFill>
          <a:ln/>
        </p:spPr>
      </p:sp>
      <p:pic>
        <p:nvPicPr>
          <p:cNvPr id="15" name="Value icon 2" descr="icon">    </p:cNvPr>
          <p:cNvPicPr>
            <a:picLocks noChangeAspect="1"/>
          </p:cNvPicPr>
          <p:nvPr/>
        </p:nvPicPr>
        <p:blipFill>
          <a:blip r:embed="rId2"/>
          <a:stretch>
            <a:fillRect/>
          </a:stretch>
        </p:blipFill>
        <p:spPr>
          <a:xfrm>
            <a:off x="3276524" y="2130552"/>
            <a:ext cx="356616" cy="356616"/>
          </a:xfrm>
          <a:prstGeom prst="rect">
            <a:avLst/>
          </a:prstGeom>
        </p:spPr>
      </p:pic>
      <p:sp>
        <p:nvSpPr>
          <p:cNvPr id="16" name="Text 12"/>
          <p:cNvSpPr txBox="1"/>
          <p:nvPr/>
        </p:nvSpPr>
        <p:spPr>
          <a:xfrm>
            <a:off x="3111932" y="2880360"/>
            <a:ext cx="1591056" cy="457200"/>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Innovation</a:t>
            </a:r>
            <a:endParaRPr lang="en-US" sz="1500" dirty="0"/>
          </a:p>
        </p:txBody>
      </p:sp>
      <p:sp>
        <p:nvSpPr>
          <p:cNvPr id="17" name="Text 13"/>
          <p:cNvSpPr txBox="1"/>
          <p:nvPr/>
        </p:nvSpPr>
        <p:spPr>
          <a:xfrm>
            <a:off x="3111932" y="3520440"/>
            <a:ext cx="1591056" cy="274320"/>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الابتكار</a:t>
            </a:r>
            <a:endParaRPr lang="ar-AE" sz="1400" dirty="0"/>
          </a:p>
        </p:txBody>
      </p:sp>
      <p:sp>
        <p:nvSpPr>
          <p:cNvPr id="18" name="Text 14"/>
          <p:cNvSpPr txBox="1"/>
          <p:nvPr/>
        </p:nvSpPr>
        <p:spPr>
          <a:xfrm>
            <a:off x="3111932" y="3931920"/>
            <a:ext cx="1591056" cy="1005840"/>
          </a:xfrm>
          <a:prstGeom prst="rect">
            <a:avLst/>
          </a:prstGeom>
          <a:noFill/>
          <a:ln/>
        </p:spPr>
        <p:txBody>
          <a:bodyPr wrap="square" lIns="0" tIns="0" rIns="0" bIns="0" rtlCol="0" anchor="t"/>
          <a:lstStyle/>
          <a:p>
            <a:pPr algn="l" indent="0" marL="0">
              <a:buNone/>
            </a:pPr>
            <a:r>
              <a:rPr lang="en-US" sz="1200" dirty="0">
                <a:solidFill>
                  <a:schemeClr val="accent3"/>
                </a:solidFill>
                <a:latin typeface="IBM Plex Sans Arabic" pitchFamily="34" charset="0"/>
                <a:ea typeface="IBM Plex Sans Arabic" pitchFamily="34" charset="-122"/>
                <a:cs typeface="IBM Plex Sans Arabic" pitchFamily="34" charset="-120"/>
              </a:rPr>
              <a:t>Keeping pace with the EV sector and delivering fresh solutions.</a:t>
            </a:r>
            <a:endParaRPr lang="en-US" sz="1200" dirty="0"/>
          </a:p>
        </p:txBody>
      </p:sp>
      <p:sp>
        <p:nvSpPr>
          <p:cNvPr id="19" name="Text 15"/>
          <p:cNvSpPr txBox="1"/>
          <p:nvPr/>
        </p:nvSpPr>
        <p:spPr>
          <a:xfrm>
            <a:off x="3111932" y="4983480"/>
            <a:ext cx="1591056" cy="1005840"/>
          </a:xfrm>
          <a:prstGeom prst="rect">
            <a:avLst/>
          </a:prstGeom>
          <a:noFill/>
          <a:ln/>
        </p:spPr>
        <p:txBody>
          <a:bodyPr wrap="square" lIns="0" tIns="0" rIns="0" bIns="0" rtlCol="0" anchor="t"/>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مواكبة التطورات في قطاع السيارات الكهربائية وتقديم حلول متجددة.</a:t>
            </a:r>
            <a:endParaRPr lang="ar-AE" sz="1200" dirty="0"/>
          </a:p>
        </p:txBody>
      </p:sp>
      <p:sp>
        <p:nvSpPr>
          <p:cNvPr id="20" name="Value card 3"/>
          <p:cNvSpPr/>
          <p:nvPr/>
        </p:nvSpPr>
        <p:spPr>
          <a:xfrm>
            <a:off x="5071720" y="1691640"/>
            <a:ext cx="2048256" cy="4389120"/>
          </a:xfrm>
          <a:prstGeom prst="roundRect">
            <a:avLst>
              <a:gd name="adj" fmla="val 4464"/>
            </a:avLst>
          </a:prstGeom>
          <a:solidFill>
            <a:schemeClr val="bg1"/>
          </a:solidFill>
          <a:ln/>
          <a:effectLst>
            <a:outerShdw sx="100000" sy="100000" kx="0" ky="0" algn="bl" rotWithShape="0" blurRad="177800" dist="38100" dir="5400000">
              <a:srgbClr val="0B0D10">
                <a:alpha val="10000"/>
              </a:srgbClr>
            </a:outerShdw>
          </a:effectLst>
        </p:spPr>
      </p:sp>
      <p:sp>
        <p:nvSpPr>
          <p:cNvPr id="21" name="Value icon 3 circle"/>
          <p:cNvSpPr/>
          <p:nvPr/>
        </p:nvSpPr>
        <p:spPr>
          <a:xfrm>
            <a:off x="5327752" y="1965960"/>
            <a:ext cx="685800" cy="685800"/>
          </a:xfrm>
          <a:prstGeom prst="ellipse">
            <a:avLst/>
          </a:prstGeom>
          <a:solidFill>
            <a:schemeClr val="accent6"/>
          </a:solidFill>
          <a:ln/>
        </p:spPr>
      </p:sp>
      <p:pic>
        <p:nvPicPr>
          <p:cNvPr id="22" name="Value icon 3" descr="icon">    </p:cNvPr>
          <p:cNvPicPr>
            <a:picLocks noChangeAspect="1"/>
          </p:cNvPicPr>
          <p:nvPr/>
        </p:nvPicPr>
        <p:blipFill>
          <a:blip r:embed="rId3"/>
          <a:stretch>
            <a:fillRect/>
          </a:stretch>
        </p:blipFill>
        <p:spPr>
          <a:xfrm>
            <a:off x="5492344" y="2130552"/>
            <a:ext cx="356616" cy="356616"/>
          </a:xfrm>
          <a:prstGeom prst="rect">
            <a:avLst/>
          </a:prstGeom>
        </p:spPr>
      </p:pic>
      <p:sp>
        <p:nvSpPr>
          <p:cNvPr id="23" name="Text 18"/>
          <p:cNvSpPr txBox="1"/>
          <p:nvPr/>
        </p:nvSpPr>
        <p:spPr>
          <a:xfrm>
            <a:off x="5327752" y="2880360"/>
            <a:ext cx="1591056" cy="457200"/>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Trust &amp; Integrity</a:t>
            </a:r>
            <a:endParaRPr lang="en-US" sz="1500" dirty="0"/>
          </a:p>
        </p:txBody>
      </p:sp>
      <p:sp>
        <p:nvSpPr>
          <p:cNvPr id="24" name="Text 19"/>
          <p:cNvSpPr txBox="1"/>
          <p:nvPr/>
        </p:nvSpPr>
        <p:spPr>
          <a:xfrm>
            <a:off x="5327752" y="3520440"/>
            <a:ext cx="1591056" cy="274320"/>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الثقة والمصداقية</a:t>
            </a:r>
            <a:endParaRPr lang="ar-AE" sz="1400" dirty="0"/>
          </a:p>
        </p:txBody>
      </p:sp>
      <p:sp>
        <p:nvSpPr>
          <p:cNvPr id="25" name="Text 20"/>
          <p:cNvSpPr txBox="1"/>
          <p:nvPr/>
        </p:nvSpPr>
        <p:spPr>
          <a:xfrm>
            <a:off x="5327752" y="3931920"/>
            <a:ext cx="1591056" cy="1005840"/>
          </a:xfrm>
          <a:prstGeom prst="rect">
            <a:avLst/>
          </a:prstGeom>
          <a:noFill/>
          <a:ln/>
        </p:spPr>
        <p:txBody>
          <a:bodyPr wrap="square" lIns="0" tIns="0" rIns="0" bIns="0" rtlCol="0" anchor="t"/>
          <a:lstStyle/>
          <a:p>
            <a:pPr algn="l" indent="0" marL="0">
              <a:buNone/>
            </a:pPr>
            <a:r>
              <a:rPr lang="en-US" sz="1200" dirty="0">
                <a:solidFill>
                  <a:schemeClr val="accent3"/>
                </a:solidFill>
                <a:latin typeface="IBM Plex Sans Arabic" pitchFamily="34" charset="0"/>
                <a:ea typeface="IBM Plex Sans Arabic" pitchFamily="34" charset="-122"/>
                <a:cs typeface="IBM Plex Sans Arabic" pitchFamily="34" charset="-120"/>
              </a:rPr>
              <a:t>Long-term customer relationships built on clarity and credibility.</a:t>
            </a:r>
            <a:endParaRPr lang="en-US" sz="1200" dirty="0"/>
          </a:p>
        </p:txBody>
      </p:sp>
      <p:sp>
        <p:nvSpPr>
          <p:cNvPr id="26" name="Text 21"/>
          <p:cNvSpPr txBox="1"/>
          <p:nvPr/>
        </p:nvSpPr>
        <p:spPr>
          <a:xfrm>
            <a:off x="5327752" y="4983480"/>
            <a:ext cx="1591056" cy="1005840"/>
          </a:xfrm>
          <a:prstGeom prst="rect">
            <a:avLst/>
          </a:prstGeom>
          <a:noFill/>
          <a:ln/>
        </p:spPr>
        <p:txBody>
          <a:bodyPr wrap="square" lIns="0" tIns="0" rIns="0" bIns="0" rtlCol="0" anchor="t"/>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علاقات طويلة الأمد مع العملاء قائمة على الوضوح والمصداقية.</a:t>
            </a:r>
            <a:endParaRPr lang="ar-AE" sz="1200" dirty="0"/>
          </a:p>
        </p:txBody>
      </p:sp>
      <p:sp>
        <p:nvSpPr>
          <p:cNvPr id="27" name="Value card 4"/>
          <p:cNvSpPr/>
          <p:nvPr/>
        </p:nvSpPr>
        <p:spPr>
          <a:xfrm>
            <a:off x="7287539" y="1691640"/>
            <a:ext cx="2048256" cy="4389120"/>
          </a:xfrm>
          <a:prstGeom prst="roundRect">
            <a:avLst>
              <a:gd name="adj" fmla="val 4464"/>
            </a:avLst>
          </a:prstGeom>
          <a:solidFill>
            <a:schemeClr val="bg1"/>
          </a:solidFill>
          <a:ln/>
          <a:effectLst>
            <a:outerShdw sx="100000" sy="100000" kx="0" ky="0" algn="bl" rotWithShape="0" blurRad="177800" dist="38100" dir="5400000">
              <a:srgbClr val="0B0D10">
                <a:alpha val="10000"/>
              </a:srgbClr>
            </a:outerShdw>
          </a:effectLst>
        </p:spPr>
      </p:sp>
      <p:sp>
        <p:nvSpPr>
          <p:cNvPr id="28" name="Value icon 4 circle"/>
          <p:cNvSpPr/>
          <p:nvPr/>
        </p:nvSpPr>
        <p:spPr>
          <a:xfrm>
            <a:off x="7543571" y="1965960"/>
            <a:ext cx="685800" cy="685800"/>
          </a:xfrm>
          <a:prstGeom prst="ellipse">
            <a:avLst/>
          </a:prstGeom>
          <a:solidFill>
            <a:schemeClr val="accent6"/>
          </a:solidFill>
          <a:ln/>
        </p:spPr>
      </p:sp>
      <p:pic>
        <p:nvPicPr>
          <p:cNvPr id="29" name="Value icon 4" descr="icon">    </p:cNvPr>
          <p:cNvPicPr>
            <a:picLocks noChangeAspect="1"/>
          </p:cNvPicPr>
          <p:nvPr/>
        </p:nvPicPr>
        <p:blipFill>
          <a:blip r:embed="rId4"/>
          <a:stretch>
            <a:fillRect/>
          </a:stretch>
        </p:blipFill>
        <p:spPr>
          <a:xfrm>
            <a:off x="7708163" y="2130552"/>
            <a:ext cx="356616" cy="356616"/>
          </a:xfrm>
          <a:prstGeom prst="rect">
            <a:avLst/>
          </a:prstGeom>
        </p:spPr>
      </p:pic>
      <p:sp>
        <p:nvSpPr>
          <p:cNvPr id="30" name="Text 24"/>
          <p:cNvSpPr txBox="1"/>
          <p:nvPr/>
        </p:nvSpPr>
        <p:spPr>
          <a:xfrm>
            <a:off x="7543571" y="2880360"/>
            <a:ext cx="1591056" cy="457200"/>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Customer Focus</a:t>
            </a:r>
            <a:endParaRPr lang="en-US" sz="1500" dirty="0"/>
          </a:p>
        </p:txBody>
      </p:sp>
      <p:sp>
        <p:nvSpPr>
          <p:cNvPr id="31" name="Text 25"/>
          <p:cNvSpPr txBox="1"/>
          <p:nvPr/>
        </p:nvSpPr>
        <p:spPr>
          <a:xfrm>
            <a:off x="7543571" y="3520440"/>
            <a:ext cx="1591056" cy="274320"/>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التركيز على العملاء</a:t>
            </a:r>
            <a:endParaRPr lang="ar-AE" sz="1400" dirty="0"/>
          </a:p>
        </p:txBody>
      </p:sp>
      <p:sp>
        <p:nvSpPr>
          <p:cNvPr id="32" name="Text 26"/>
          <p:cNvSpPr txBox="1"/>
          <p:nvPr/>
        </p:nvSpPr>
        <p:spPr>
          <a:xfrm>
            <a:off x="7543571" y="3931920"/>
            <a:ext cx="1591056" cy="1005840"/>
          </a:xfrm>
          <a:prstGeom prst="rect">
            <a:avLst/>
          </a:prstGeom>
          <a:noFill/>
          <a:ln/>
        </p:spPr>
        <p:txBody>
          <a:bodyPr wrap="square" lIns="0" tIns="0" rIns="0" bIns="0" rtlCol="0" anchor="t"/>
          <a:lstStyle/>
          <a:p>
            <a:pPr algn="l" indent="0" marL="0">
              <a:buNone/>
            </a:pPr>
            <a:r>
              <a:rPr lang="en-US" sz="1200" dirty="0">
                <a:solidFill>
                  <a:schemeClr val="accent3"/>
                </a:solidFill>
                <a:latin typeface="IBM Plex Sans Arabic" pitchFamily="34" charset="0"/>
                <a:ea typeface="IBM Plex Sans Arabic" pitchFamily="34" charset="-122"/>
                <a:cs typeface="IBM Plex Sans Arabic" pitchFamily="34" charset="-120"/>
              </a:rPr>
              <a:t>Understanding customer needs and continually improving their experience.</a:t>
            </a:r>
            <a:endParaRPr lang="en-US" sz="1200" dirty="0"/>
          </a:p>
        </p:txBody>
      </p:sp>
      <p:sp>
        <p:nvSpPr>
          <p:cNvPr id="33" name="Text 27"/>
          <p:cNvSpPr txBox="1"/>
          <p:nvPr/>
        </p:nvSpPr>
        <p:spPr>
          <a:xfrm>
            <a:off x="7543571" y="4983480"/>
            <a:ext cx="1591056" cy="1005840"/>
          </a:xfrm>
          <a:prstGeom prst="rect">
            <a:avLst/>
          </a:prstGeom>
          <a:noFill/>
          <a:ln/>
        </p:spPr>
        <p:txBody>
          <a:bodyPr wrap="square" lIns="0" tIns="0" rIns="0" bIns="0" rtlCol="0" anchor="t"/>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فهم احتياجات العملاء وتحسين تجربتهم باستمرار.</a:t>
            </a:r>
            <a:endParaRPr lang="ar-AE" sz="1200" dirty="0"/>
          </a:p>
        </p:txBody>
      </p:sp>
      <p:sp>
        <p:nvSpPr>
          <p:cNvPr id="34" name="Value card 5"/>
          <p:cNvSpPr/>
          <p:nvPr/>
        </p:nvSpPr>
        <p:spPr>
          <a:xfrm>
            <a:off x="9503359" y="1691640"/>
            <a:ext cx="2048256" cy="4389120"/>
          </a:xfrm>
          <a:prstGeom prst="roundRect">
            <a:avLst>
              <a:gd name="adj" fmla="val 4464"/>
            </a:avLst>
          </a:prstGeom>
          <a:solidFill>
            <a:schemeClr val="bg1"/>
          </a:solidFill>
          <a:ln/>
          <a:effectLst>
            <a:outerShdw sx="100000" sy="100000" kx="0" ky="0" algn="bl" rotWithShape="0" blurRad="177800" dist="38100" dir="5400000">
              <a:srgbClr val="0B0D10">
                <a:alpha val="10000"/>
              </a:srgbClr>
            </a:outerShdw>
          </a:effectLst>
        </p:spPr>
      </p:sp>
      <p:sp>
        <p:nvSpPr>
          <p:cNvPr id="35" name="Value icon 5 circle"/>
          <p:cNvSpPr/>
          <p:nvPr/>
        </p:nvSpPr>
        <p:spPr>
          <a:xfrm>
            <a:off x="9759391" y="1965960"/>
            <a:ext cx="685800" cy="685800"/>
          </a:xfrm>
          <a:prstGeom prst="ellipse">
            <a:avLst/>
          </a:prstGeom>
          <a:solidFill>
            <a:schemeClr val="accent6"/>
          </a:solidFill>
          <a:ln/>
        </p:spPr>
      </p:sp>
      <p:pic>
        <p:nvPicPr>
          <p:cNvPr id="36" name="Value icon 5" descr="icon">    </p:cNvPr>
          <p:cNvPicPr>
            <a:picLocks noChangeAspect="1"/>
          </p:cNvPicPr>
          <p:nvPr/>
        </p:nvPicPr>
        <p:blipFill>
          <a:blip r:embed="rId5"/>
          <a:stretch>
            <a:fillRect/>
          </a:stretch>
        </p:blipFill>
        <p:spPr>
          <a:xfrm>
            <a:off x="9923983" y="2130552"/>
            <a:ext cx="356616" cy="356616"/>
          </a:xfrm>
          <a:prstGeom prst="rect">
            <a:avLst/>
          </a:prstGeom>
        </p:spPr>
      </p:pic>
      <p:sp>
        <p:nvSpPr>
          <p:cNvPr id="37" name="Text 30"/>
          <p:cNvSpPr txBox="1"/>
          <p:nvPr/>
        </p:nvSpPr>
        <p:spPr>
          <a:xfrm>
            <a:off x="9759391" y="2880360"/>
            <a:ext cx="1591056" cy="457200"/>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Continuous Improvement</a:t>
            </a:r>
            <a:endParaRPr lang="en-US" sz="1500" dirty="0"/>
          </a:p>
        </p:txBody>
      </p:sp>
      <p:sp>
        <p:nvSpPr>
          <p:cNvPr id="38" name="Text 31"/>
          <p:cNvSpPr txBox="1"/>
          <p:nvPr/>
        </p:nvSpPr>
        <p:spPr>
          <a:xfrm>
            <a:off x="9759391" y="3520440"/>
            <a:ext cx="1591056" cy="274320"/>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التطوير المستمر</a:t>
            </a:r>
            <a:endParaRPr lang="ar-AE" sz="1400" dirty="0"/>
          </a:p>
        </p:txBody>
      </p:sp>
      <p:sp>
        <p:nvSpPr>
          <p:cNvPr id="39" name="Text 32"/>
          <p:cNvSpPr txBox="1"/>
          <p:nvPr/>
        </p:nvSpPr>
        <p:spPr>
          <a:xfrm>
            <a:off x="9759391" y="3931920"/>
            <a:ext cx="1591056" cy="1005840"/>
          </a:xfrm>
          <a:prstGeom prst="rect">
            <a:avLst/>
          </a:prstGeom>
          <a:noFill/>
          <a:ln/>
        </p:spPr>
        <p:txBody>
          <a:bodyPr wrap="square" lIns="0" tIns="0" rIns="0" bIns="0" rtlCol="0" anchor="t"/>
          <a:lstStyle/>
          <a:p>
            <a:pPr algn="l" indent="0" marL="0">
              <a:buNone/>
            </a:pPr>
            <a:r>
              <a:rPr lang="en-US" sz="1200" dirty="0">
                <a:solidFill>
                  <a:schemeClr val="accent3"/>
                </a:solidFill>
                <a:latin typeface="IBM Plex Sans Arabic" pitchFamily="34" charset="0"/>
                <a:ea typeface="IBM Plex Sans Arabic" pitchFamily="34" charset="-122"/>
                <a:cs typeface="IBM Plex Sans Arabic" pitchFamily="34" charset="-120"/>
              </a:rPr>
              <a:t>Ongoing development of products, services and technical capabilities.</a:t>
            </a:r>
            <a:endParaRPr lang="en-US" sz="1200" dirty="0"/>
          </a:p>
        </p:txBody>
      </p:sp>
      <p:sp>
        <p:nvSpPr>
          <p:cNvPr id="40" name="Text 33"/>
          <p:cNvSpPr txBox="1"/>
          <p:nvPr/>
        </p:nvSpPr>
        <p:spPr>
          <a:xfrm>
            <a:off x="9759391" y="4983480"/>
            <a:ext cx="1591056" cy="1005840"/>
          </a:xfrm>
          <a:prstGeom prst="rect">
            <a:avLst/>
          </a:prstGeom>
          <a:noFill/>
          <a:ln/>
        </p:spPr>
        <p:txBody>
          <a:bodyPr wrap="square" lIns="0" tIns="0" rIns="0" bIns="0" rtlCol="0" anchor="t"/>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تطوير المنتجات والخدمات والقدرات الفنية بصورة مستمرة.</a:t>
            </a:r>
            <a:endParaRPr lang="ar-AE" sz="12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A75"/>
                </a:solidFill>
                <a:latin typeface="IBM Plex Sans Arabic"/>
                <a:ea typeface="IBM Plex Sans Arabic"/>
                <a:cs typeface="IBM Plex Sans Arabic"/>
              </a:defRPr>
            </a:lvl1pPr>
          </a:lstStyle>
          <a:p>
            <a:pPr algn="r"/>
            <a:fld id="{F7021451-1387-4CA6-816F-3879F97B5CBC}" type="slidenum">
              <a:rPr b="0" lang="en-US"/>
              <a:t>6</a:t>
            </a:fld>
            <a:endParaRPr lang="en-US"/>
          </a:p>
        </p:txBody>
      </p:sp>
      <p:sp>
        <p:nvSpPr>
          <p:cNvPr id="41" name="Back to contents" descr="Back to contents">
            <a:hlinkClick r:id="rId8" action="ppaction://hlinksldjump" tooltip="Back to Contents / العودة إلى المحتويات"/>
          </p:cNvPr>
          <p:cNvSpPr/>
          <p:nvPr/>
        </p:nvSpPr>
        <p:spPr>
          <a:xfrm>
            <a:off x="8838000" y="6283000"/>
            <a:ext cx="1850000" cy="300000"/>
          </a:xfrm>
          <a:prstGeom prst="roundRect">
            <a:avLst>
              <a:gd name="adj" fmla="val 50000"/>
            </a:avLst>
          </a:prstGeom>
          <a:noFill/>
          <a:ln w="9525">
            <a:solidFill>
              <a:schemeClr val="accent1"/>
            </a:solidFill>
          </a:ln>
        </p:spPr>
        <p:txBody>
          <a:bodyPr wrap="none" lIns="0" tIns="0" rIns="0" bIns="0" rtlCol="0" anchor="ctr"/>
          <a:lstStyle/>
          <a:p>
            <a:pPr algn="ctr"/>
            <a:r>
              <a:rPr lang="en-US" sz="900" b="1" spc="120" dirty="0">
                <a:solidFill>
                  <a:schemeClr val="accent1"/>
                </a:solidFill>
                <a:latin typeface="IBM Plex Sans Arabic"/>
                <a:cs typeface="IBM Plex Sans Arabic"/>
              </a:rPr>
              <a:t>CONTENTS  ·  </a:t>
            </a:r>
            <a:r>
              <a:rPr lang="ar-AE" sz="900" b="1" dirty="0">
                <a:solidFill>
                  <a:schemeClr val="accent1"/>
                </a:solidFill>
                <a:latin typeface="IBM Plex Sans Arabic"/>
                <a:cs typeface="IBM Plex Sans Arabic"/>
              </a:rPr>
              <a:t>المحتويات</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2"/>
                </a:solidFill>
                <a:latin typeface="IBM Plex Sans Arabic" pitchFamily="34" charset="0"/>
                <a:ea typeface="IBM Plex Sans Arabic" pitchFamily="34" charset="-122"/>
                <a:cs typeface="IBM Plex Sans Arabic" pitchFamily="34" charset="-120"/>
              </a:rPr>
              <a:t>01   ·   WHO WE ARE</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2"/>
                </a:solidFill>
                <a:latin typeface="IBM Plex Sans Arabic" pitchFamily="34" charset="0"/>
                <a:ea typeface="IBM Plex Sans Arabic" pitchFamily="34" charset="-122"/>
                <a:cs typeface="IBM Plex Sans Arabic" pitchFamily="34" charset="-120"/>
              </a:rPr>
              <a:t>من نحن   ·   01</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bg1"/>
                </a:solidFill>
                <a:latin typeface="IBM Plex Sans Arabic Light" pitchFamily="34" charset="0"/>
                <a:ea typeface="IBM Plex Sans Arabic Light" pitchFamily="34" charset="-122"/>
                <a:cs typeface="IBM Plex Sans Arabic Light" pitchFamily="34" charset="-120"/>
              </a:rPr>
              <a:t>Our Journey</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bg1"/>
                </a:solidFill>
                <a:latin typeface="IBM Plex Sans Arabic Light" pitchFamily="34" charset="0"/>
                <a:ea typeface="IBM Plex Sans Arabic Light" pitchFamily="34" charset="-122"/>
                <a:cs typeface="IBM Plex Sans Arabic Light" pitchFamily="34" charset="-120"/>
              </a:rPr>
              <a:t>رحلتنا</a:t>
            </a:r>
            <a:endParaRPr lang="ar-AE" sz="3000" dirty="0"/>
          </a:p>
        </p:txBody>
      </p:sp>
      <p:sp>
        <p:nvSpPr>
          <p:cNvPr id="6" name="hairline"/>
          <p:cNvSpPr/>
          <p:nvPr/>
        </p:nvSpPr>
        <p:spPr>
          <a:xfrm>
            <a:off x="640080" y="2542032"/>
            <a:ext cx="10911535" cy="0"/>
          </a:xfrm>
          <a:prstGeom prst="line">
            <a:avLst/>
          </a:prstGeom>
          <a:noFill/>
          <a:ln w="9525">
            <a:solidFill>
              <a:schemeClr val="accent3"/>
            </a:solidFill>
            <a:prstDash val="solid"/>
          </a:ln>
        </p:spPr>
      </p:sp>
      <p:sp>
        <p:nvSpPr>
          <p:cNvPr id="7" name="Text 5"/>
          <p:cNvSpPr txBox="1"/>
          <p:nvPr/>
        </p:nvSpPr>
        <p:spPr>
          <a:xfrm>
            <a:off x="640080" y="1600200"/>
            <a:ext cx="2468880" cy="731520"/>
          </a:xfrm>
          <a:prstGeom prst="rect">
            <a:avLst/>
          </a:prstGeom>
          <a:noFill/>
          <a:ln/>
        </p:spPr>
        <p:txBody>
          <a:bodyPr wrap="square" lIns="0" tIns="0" rIns="0" bIns="0" rtlCol="0" anchor="t"/>
          <a:lstStyle/>
          <a:p>
            <a:pPr algn="l" indent="0" marL="0">
              <a:buNone/>
            </a:pPr>
            <a:r>
              <a:rPr lang="en-US" sz="4400" dirty="0">
                <a:solidFill>
                  <a:schemeClr val="bg1"/>
                </a:solidFill>
                <a:latin typeface="IBM Plex Sans Arabic Light" pitchFamily="34" charset="0"/>
                <a:ea typeface="IBM Plex Sans Arabic Light" pitchFamily="34" charset="-122"/>
                <a:cs typeface="IBM Plex Sans Arabic Light" pitchFamily="34" charset="-120"/>
              </a:rPr>
              <a:t>2023</a:t>
            </a:r>
            <a:endParaRPr lang="en-US" sz="4400" dirty="0"/>
          </a:p>
        </p:txBody>
      </p:sp>
      <p:sp>
        <p:nvSpPr>
          <p:cNvPr id="8" name="Timeline dot 2023"/>
          <p:cNvSpPr/>
          <p:nvPr/>
        </p:nvSpPr>
        <p:spPr>
          <a:xfrm>
            <a:off x="640080" y="2450592"/>
            <a:ext cx="182880" cy="182880"/>
          </a:xfrm>
          <a:prstGeom prst="ellipse">
            <a:avLst/>
          </a:prstGeom>
          <a:solidFill>
            <a:schemeClr val="accent1"/>
          </a:solidFill>
          <a:ln/>
        </p:spPr>
      </p:sp>
      <p:pic>
        <p:nvPicPr>
          <p:cNvPr id="9" name="Journey icon 2023" descr="icon">    </p:cNvPr>
          <p:cNvPicPr>
            <a:picLocks noChangeAspect="1"/>
          </p:cNvPicPr>
          <p:nvPr/>
        </p:nvPicPr>
        <p:blipFill>
          <a:blip r:embed="rId2"/>
          <a:stretch>
            <a:fillRect/>
          </a:stretch>
        </p:blipFill>
        <p:spPr>
          <a:xfrm>
            <a:off x="640080" y="2926080"/>
            <a:ext cx="411480" cy="411480"/>
          </a:xfrm>
          <a:prstGeom prst="rect">
            <a:avLst/>
          </a:prstGeom>
        </p:spPr>
      </p:pic>
      <p:sp>
        <p:nvSpPr>
          <p:cNvPr id="10" name="Text 7"/>
          <p:cNvSpPr txBox="1"/>
          <p:nvPr/>
        </p:nvSpPr>
        <p:spPr>
          <a:xfrm>
            <a:off x="640080" y="3520440"/>
            <a:ext cx="2468880" cy="274320"/>
          </a:xfrm>
          <a:prstGeom prst="rect">
            <a:avLst/>
          </a:prstGeom>
          <a:noFill/>
          <a:ln/>
        </p:spPr>
        <p:txBody>
          <a:bodyPr wrap="square" lIns="0" tIns="0" rIns="0" bIns="0" rtlCol="0" anchor="t"/>
          <a:lstStyle/>
          <a:p>
            <a:pPr algn="l" indent="0" marL="0">
              <a:buNone/>
            </a:pPr>
            <a:r>
              <a:rPr lang="en-US" sz="1500" b="1" dirty="0">
                <a:solidFill>
                  <a:schemeClr val="bg1"/>
                </a:solidFill>
                <a:latin typeface="IBM Plex Sans Arabic" pitchFamily="34" charset="0"/>
                <a:ea typeface="IBM Plex Sans Arabic" pitchFamily="34" charset="-122"/>
                <a:cs typeface="IBM Plex Sans Arabic" pitchFamily="34" charset="-120"/>
              </a:rPr>
              <a:t>The Beginning</a:t>
            </a:r>
            <a:endParaRPr lang="en-US" sz="1500" dirty="0"/>
          </a:p>
        </p:txBody>
      </p:sp>
      <p:sp>
        <p:nvSpPr>
          <p:cNvPr id="11" name="Text 8"/>
          <p:cNvSpPr txBox="1"/>
          <p:nvPr/>
        </p:nvSpPr>
        <p:spPr>
          <a:xfrm>
            <a:off x="640080" y="3822192"/>
            <a:ext cx="2468880" cy="274320"/>
          </a:xfrm>
          <a:prstGeom prst="rect">
            <a:avLst/>
          </a:prstGeom>
          <a:noFill/>
          <a:ln/>
        </p:spPr>
        <p:txBody>
          <a:bodyPr wrap="square" lIns="0" tIns="0" rIns="0" bIns="0" rtlCol="0" anchor="t"/>
          <a:lstStyle/>
          <a:p>
            <a:pPr rtl="1" algn="r" indent="0" marL="0">
              <a:buNone/>
            </a:pPr>
            <a:r>
              <a:rPr lang="ar-AE" altLang="en-US" sz="1400" b="1" dirty="0">
                <a:solidFill>
                  <a:schemeClr val="accent2"/>
                </a:solidFill>
                <a:latin typeface="IBM Plex Sans Arabic" pitchFamily="34" charset="0"/>
                <a:ea typeface="IBM Plex Sans Arabic" pitchFamily="34" charset="-122"/>
                <a:cs typeface="IBM Plex Sans Arabic" pitchFamily="34" charset="-120"/>
              </a:rPr>
              <a:t>الانطلاقة</a:t>
            </a:r>
            <a:endParaRPr lang="ar-AE" sz="1400" dirty="0"/>
          </a:p>
        </p:txBody>
      </p:sp>
      <p:sp>
        <p:nvSpPr>
          <p:cNvPr id="12" name="Text 9"/>
          <p:cNvSpPr txBox="1"/>
          <p:nvPr/>
        </p:nvSpPr>
        <p:spPr>
          <a:xfrm>
            <a:off x="640080" y="4251960"/>
            <a:ext cx="2468880" cy="914400"/>
          </a:xfrm>
          <a:prstGeom prst="rect">
            <a:avLst/>
          </a:prstGeom>
          <a:noFill/>
          <a:ln/>
        </p:spPr>
        <p:txBody>
          <a:bodyPr wrap="square" lIns="0" tIns="0" rIns="0" bIns="0" rtlCol="0" anchor="t"/>
          <a:lstStyle/>
          <a:p>
            <a:pPr algn="l" indent="0" marL="0">
              <a:buNone/>
            </a:pPr>
            <a:r>
              <a:rPr lang="en-US" sz="1200" dirty="0">
                <a:solidFill>
                  <a:schemeClr val="accent5"/>
                </a:solidFill>
                <a:latin typeface="IBM Plex Sans Arabic" pitchFamily="34" charset="0"/>
                <a:ea typeface="IBM Plex Sans Arabic" pitchFamily="34" charset="-122"/>
                <a:cs typeface="IBM Plex Sans Arabic" pitchFamily="34" charset="-120"/>
              </a:rPr>
              <a:t>Launched as an online EV accessories store in the UAE; first physical branch opened in Dubai later that year.</a:t>
            </a:r>
            <a:endParaRPr lang="en-US" sz="1200" dirty="0"/>
          </a:p>
        </p:txBody>
      </p:sp>
      <p:sp>
        <p:nvSpPr>
          <p:cNvPr id="13" name="Text 10"/>
          <p:cNvSpPr txBox="1"/>
          <p:nvPr/>
        </p:nvSpPr>
        <p:spPr>
          <a:xfrm>
            <a:off x="640080" y="5212080"/>
            <a:ext cx="2468880" cy="914400"/>
          </a:xfrm>
          <a:prstGeom prst="rect">
            <a:avLst/>
          </a:prstGeom>
          <a:noFill/>
          <a:ln/>
        </p:spPr>
        <p:txBody>
          <a:bodyPr wrap="square" lIns="0" tIns="0" rIns="0" bIns="0" rtlCol="0" anchor="t"/>
          <a:lstStyle/>
          <a:p>
            <a:pPr rtl="1" algn="r" indent="0" marL="0">
              <a:buNone/>
            </a:pPr>
            <a:r>
              <a:rPr lang="ar-AE" altLang="en-US" sz="1200" dirty="0">
                <a:solidFill>
                  <a:schemeClr val="accent5"/>
                </a:solidFill>
                <a:latin typeface="IBM Plex Sans Arabic" pitchFamily="34" charset="0"/>
                <a:ea typeface="IBM Plex Sans Arabic" pitchFamily="34" charset="-122"/>
                <a:cs typeface="IBM Plex Sans Arabic" pitchFamily="34" charset="-120"/>
              </a:rPr>
              <a:t>انطلقت كمتجر إلكتروني لإكسسوارات السيارات الكهربائية في الإمارات، وافتتحت أول فرع في دبي أواخر العام.</a:t>
            </a:r>
            <a:endParaRPr lang="ar-AE" sz="1200" dirty="0"/>
          </a:p>
        </p:txBody>
      </p:sp>
      <p:sp>
        <p:nvSpPr>
          <p:cNvPr id="14" name="Text 11"/>
          <p:cNvSpPr txBox="1"/>
          <p:nvPr/>
        </p:nvSpPr>
        <p:spPr>
          <a:xfrm>
            <a:off x="3454298" y="1600200"/>
            <a:ext cx="2468880" cy="731520"/>
          </a:xfrm>
          <a:prstGeom prst="rect">
            <a:avLst/>
          </a:prstGeom>
          <a:noFill/>
          <a:ln/>
        </p:spPr>
        <p:txBody>
          <a:bodyPr wrap="square" lIns="0" tIns="0" rIns="0" bIns="0" rtlCol="0" anchor="t"/>
          <a:lstStyle/>
          <a:p>
            <a:pPr algn="l" indent="0" marL="0">
              <a:buNone/>
            </a:pPr>
            <a:r>
              <a:rPr lang="en-US" sz="4400" dirty="0">
                <a:solidFill>
                  <a:schemeClr val="bg1"/>
                </a:solidFill>
                <a:latin typeface="IBM Plex Sans Arabic Light" pitchFamily="34" charset="0"/>
                <a:ea typeface="IBM Plex Sans Arabic Light" pitchFamily="34" charset="-122"/>
                <a:cs typeface="IBM Plex Sans Arabic Light" pitchFamily="34" charset="-120"/>
              </a:rPr>
              <a:t>2024</a:t>
            </a:r>
            <a:endParaRPr lang="en-US" sz="4400" dirty="0"/>
          </a:p>
        </p:txBody>
      </p:sp>
      <p:sp>
        <p:nvSpPr>
          <p:cNvPr id="15" name="Timeline dot 2024"/>
          <p:cNvSpPr/>
          <p:nvPr/>
        </p:nvSpPr>
        <p:spPr>
          <a:xfrm>
            <a:off x="3454298" y="2450592"/>
            <a:ext cx="182880" cy="182880"/>
          </a:xfrm>
          <a:prstGeom prst="ellipse">
            <a:avLst/>
          </a:prstGeom>
          <a:solidFill>
            <a:schemeClr val="accent1"/>
          </a:solidFill>
          <a:ln/>
        </p:spPr>
      </p:sp>
      <p:pic>
        <p:nvPicPr>
          <p:cNvPr id="16" name="Journey icon 2024" descr="icon">    </p:cNvPr>
          <p:cNvPicPr>
            <a:picLocks noChangeAspect="1"/>
          </p:cNvPicPr>
          <p:nvPr/>
        </p:nvPicPr>
        <p:blipFill>
          <a:blip r:embed="rId3"/>
          <a:stretch>
            <a:fillRect/>
          </a:stretch>
        </p:blipFill>
        <p:spPr>
          <a:xfrm>
            <a:off x="3454298" y="2926080"/>
            <a:ext cx="411480" cy="411480"/>
          </a:xfrm>
          <a:prstGeom prst="rect">
            <a:avLst/>
          </a:prstGeom>
        </p:spPr>
      </p:pic>
      <p:sp>
        <p:nvSpPr>
          <p:cNvPr id="17" name="Text 13"/>
          <p:cNvSpPr txBox="1"/>
          <p:nvPr/>
        </p:nvSpPr>
        <p:spPr>
          <a:xfrm>
            <a:off x="3454298" y="3520440"/>
            <a:ext cx="2468880" cy="274320"/>
          </a:xfrm>
          <a:prstGeom prst="rect">
            <a:avLst/>
          </a:prstGeom>
          <a:noFill/>
          <a:ln/>
        </p:spPr>
        <p:txBody>
          <a:bodyPr wrap="square" lIns="0" tIns="0" rIns="0" bIns="0" rtlCol="0" anchor="t"/>
          <a:lstStyle/>
          <a:p>
            <a:pPr algn="l" indent="0" marL="0">
              <a:buNone/>
            </a:pPr>
            <a:r>
              <a:rPr lang="en-US" sz="1500" b="1" dirty="0">
                <a:solidFill>
                  <a:schemeClr val="bg1"/>
                </a:solidFill>
                <a:latin typeface="IBM Plex Sans Arabic" pitchFamily="34" charset="0"/>
                <a:ea typeface="IBM Plex Sans Arabic" pitchFamily="34" charset="-122"/>
                <a:cs typeface="IBM Plex Sans Arabic" pitchFamily="34" charset="-120"/>
              </a:rPr>
              <a:t>UAE Expansion</a:t>
            </a:r>
            <a:endParaRPr lang="en-US" sz="1500" dirty="0"/>
          </a:p>
        </p:txBody>
      </p:sp>
      <p:sp>
        <p:nvSpPr>
          <p:cNvPr id="18" name="Text 14"/>
          <p:cNvSpPr txBox="1"/>
          <p:nvPr/>
        </p:nvSpPr>
        <p:spPr>
          <a:xfrm>
            <a:off x="3454298" y="3822192"/>
            <a:ext cx="2468880" cy="274320"/>
          </a:xfrm>
          <a:prstGeom prst="rect">
            <a:avLst/>
          </a:prstGeom>
          <a:noFill/>
          <a:ln/>
        </p:spPr>
        <p:txBody>
          <a:bodyPr wrap="square" lIns="0" tIns="0" rIns="0" bIns="0" rtlCol="0" anchor="t"/>
          <a:lstStyle/>
          <a:p>
            <a:pPr rtl="1" algn="r" indent="0" marL="0">
              <a:buNone/>
            </a:pPr>
            <a:r>
              <a:rPr lang="ar-AE" altLang="en-US" sz="1400" b="1" dirty="0">
                <a:solidFill>
                  <a:schemeClr val="accent2"/>
                </a:solidFill>
                <a:latin typeface="IBM Plex Sans Arabic" pitchFamily="34" charset="0"/>
                <a:ea typeface="IBM Plex Sans Arabic" pitchFamily="34" charset="-122"/>
                <a:cs typeface="IBM Plex Sans Arabic" pitchFamily="34" charset="-120"/>
              </a:rPr>
              <a:t>التوسع المحلي</a:t>
            </a:r>
            <a:endParaRPr lang="ar-AE" sz="1400" dirty="0"/>
          </a:p>
        </p:txBody>
      </p:sp>
      <p:sp>
        <p:nvSpPr>
          <p:cNvPr id="19" name="Text 15"/>
          <p:cNvSpPr txBox="1"/>
          <p:nvPr/>
        </p:nvSpPr>
        <p:spPr>
          <a:xfrm>
            <a:off x="3454298" y="4251960"/>
            <a:ext cx="2468880" cy="914400"/>
          </a:xfrm>
          <a:prstGeom prst="rect">
            <a:avLst/>
          </a:prstGeom>
          <a:noFill/>
          <a:ln/>
        </p:spPr>
        <p:txBody>
          <a:bodyPr wrap="square" lIns="0" tIns="0" rIns="0" bIns="0" rtlCol="0" anchor="t"/>
          <a:lstStyle/>
          <a:p>
            <a:pPr algn="l" indent="0" marL="0">
              <a:buNone/>
            </a:pPr>
            <a:r>
              <a:rPr lang="en-US" sz="1200" dirty="0">
                <a:solidFill>
                  <a:schemeClr val="accent5"/>
                </a:solidFill>
                <a:latin typeface="IBM Plex Sans Arabic" pitchFamily="34" charset="0"/>
                <a:ea typeface="IBM Plex Sans Arabic" pitchFamily="34" charset="-122"/>
                <a:cs typeface="IBM Plex Sans Arabic" pitchFamily="34" charset="-120"/>
              </a:rPr>
              <a:t>Expanded its UAE retail presence through branches in Al Ain and Sharjah.</a:t>
            </a:r>
            <a:endParaRPr lang="en-US" sz="1200" dirty="0"/>
          </a:p>
        </p:txBody>
      </p:sp>
      <p:sp>
        <p:nvSpPr>
          <p:cNvPr id="20" name="Text 16"/>
          <p:cNvSpPr txBox="1"/>
          <p:nvPr/>
        </p:nvSpPr>
        <p:spPr>
          <a:xfrm>
            <a:off x="3454298" y="5212080"/>
            <a:ext cx="2468880" cy="914400"/>
          </a:xfrm>
          <a:prstGeom prst="rect">
            <a:avLst/>
          </a:prstGeom>
          <a:noFill/>
          <a:ln/>
        </p:spPr>
        <p:txBody>
          <a:bodyPr wrap="square" lIns="0" tIns="0" rIns="0" bIns="0" rtlCol="0" anchor="t"/>
          <a:lstStyle/>
          <a:p>
            <a:pPr rtl="1" algn="r" indent="0" marL="0">
              <a:buNone/>
            </a:pPr>
            <a:r>
              <a:rPr lang="ar-AE" altLang="en-US" sz="1200" dirty="0">
                <a:solidFill>
                  <a:schemeClr val="accent5"/>
                </a:solidFill>
                <a:latin typeface="IBM Plex Sans Arabic" pitchFamily="34" charset="0"/>
                <a:ea typeface="IBM Plex Sans Arabic" pitchFamily="34" charset="-122"/>
                <a:cs typeface="IBM Plex Sans Arabic" pitchFamily="34" charset="-120"/>
              </a:rPr>
              <a:t>التوسع في دولة الإمارات العربية المتحدة بافتتاح فروع في العين والشارقة.</a:t>
            </a:r>
            <a:endParaRPr lang="ar-AE" sz="1200" dirty="0"/>
          </a:p>
        </p:txBody>
      </p:sp>
      <p:sp>
        <p:nvSpPr>
          <p:cNvPr id="21" name="Text 17"/>
          <p:cNvSpPr txBox="1"/>
          <p:nvPr/>
        </p:nvSpPr>
        <p:spPr>
          <a:xfrm>
            <a:off x="6268517" y="1600200"/>
            <a:ext cx="2468880" cy="731520"/>
          </a:xfrm>
          <a:prstGeom prst="rect">
            <a:avLst/>
          </a:prstGeom>
          <a:noFill/>
          <a:ln/>
        </p:spPr>
        <p:txBody>
          <a:bodyPr wrap="square" lIns="0" tIns="0" rIns="0" bIns="0" rtlCol="0" anchor="t"/>
          <a:lstStyle/>
          <a:p>
            <a:pPr algn="l" indent="0" marL="0">
              <a:buNone/>
            </a:pPr>
            <a:r>
              <a:rPr lang="en-US" sz="4400" dirty="0">
                <a:solidFill>
                  <a:schemeClr val="bg1"/>
                </a:solidFill>
                <a:latin typeface="IBM Plex Sans Arabic Light" pitchFamily="34" charset="0"/>
                <a:ea typeface="IBM Plex Sans Arabic Light" pitchFamily="34" charset="-122"/>
                <a:cs typeface="IBM Plex Sans Arabic Light" pitchFamily="34" charset="-120"/>
              </a:rPr>
              <a:t>2025</a:t>
            </a:r>
            <a:endParaRPr lang="en-US" sz="4400" dirty="0"/>
          </a:p>
        </p:txBody>
      </p:sp>
      <p:sp>
        <p:nvSpPr>
          <p:cNvPr id="22" name="Timeline dot 2025"/>
          <p:cNvSpPr/>
          <p:nvPr/>
        </p:nvSpPr>
        <p:spPr>
          <a:xfrm>
            <a:off x="6268517" y="2450592"/>
            <a:ext cx="182880" cy="182880"/>
          </a:xfrm>
          <a:prstGeom prst="ellipse">
            <a:avLst/>
          </a:prstGeom>
          <a:solidFill>
            <a:schemeClr val="accent1"/>
          </a:solidFill>
          <a:ln/>
        </p:spPr>
      </p:sp>
      <p:pic>
        <p:nvPicPr>
          <p:cNvPr id="23" name="Journey icon 2025" descr="icon">    </p:cNvPr>
          <p:cNvPicPr>
            <a:picLocks noChangeAspect="1"/>
          </p:cNvPicPr>
          <p:nvPr/>
        </p:nvPicPr>
        <p:blipFill>
          <a:blip r:embed="rId4"/>
          <a:stretch>
            <a:fillRect/>
          </a:stretch>
        </p:blipFill>
        <p:spPr>
          <a:xfrm>
            <a:off x="6268517" y="2926080"/>
            <a:ext cx="411480" cy="411480"/>
          </a:xfrm>
          <a:prstGeom prst="rect">
            <a:avLst/>
          </a:prstGeom>
        </p:spPr>
      </p:pic>
      <p:sp>
        <p:nvSpPr>
          <p:cNvPr id="24" name="Text 19"/>
          <p:cNvSpPr txBox="1"/>
          <p:nvPr/>
        </p:nvSpPr>
        <p:spPr>
          <a:xfrm>
            <a:off x="6268517" y="3520440"/>
            <a:ext cx="2468880" cy="274320"/>
          </a:xfrm>
          <a:prstGeom prst="rect">
            <a:avLst/>
          </a:prstGeom>
          <a:noFill/>
          <a:ln/>
        </p:spPr>
        <p:txBody>
          <a:bodyPr wrap="square" lIns="0" tIns="0" rIns="0" bIns="0" rtlCol="0" anchor="t"/>
          <a:lstStyle/>
          <a:p>
            <a:pPr algn="l" indent="0" marL="0">
              <a:buNone/>
            </a:pPr>
            <a:r>
              <a:rPr lang="en-US" sz="1500" b="1" dirty="0">
                <a:solidFill>
                  <a:schemeClr val="bg1"/>
                </a:solidFill>
                <a:latin typeface="IBM Plex Sans Arabic" pitchFamily="34" charset="0"/>
                <a:ea typeface="IBM Plex Sans Arabic" pitchFamily="34" charset="-122"/>
                <a:cs typeface="IBM Plex Sans Arabic" pitchFamily="34" charset="-120"/>
              </a:rPr>
              <a:t>Regional Expansion</a:t>
            </a:r>
            <a:endParaRPr lang="en-US" sz="1500" dirty="0"/>
          </a:p>
        </p:txBody>
      </p:sp>
      <p:sp>
        <p:nvSpPr>
          <p:cNvPr id="25" name="Text 20"/>
          <p:cNvSpPr txBox="1"/>
          <p:nvPr/>
        </p:nvSpPr>
        <p:spPr>
          <a:xfrm>
            <a:off x="6268517" y="3822192"/>
            <a:ext cx="2468880" cy="274320"/>
          </a:xfrm>
          <a:prstGeom prst="rect">
            <a:avLst/>
          </a:prstGeom>
          <a:noFill/>
          <a:ln/>
        </p:spPr>
        <p:txBody>
          <a:bodyPr wrap="square" lIns="0" tIns="0" rIns="0" bIns="0" rtlCol="0" anchor="t"/>
          <a:lstStyle/>
          <a:p>
            <a:pPr rtl="1" algn="r" indent="0" marL="0">
              <a:buNone/>
            </a:pPr>
            <a:r>
              <a:rPr lang="ar-AE" altLang="en-US" sz="1400" b="1" dirty="0">
                <a:solidFill>
                  <a:schemeClr val="accent2"/>
                </a:solidFill>
                <a:latin typeface="IBM Plex Sans Arabic" pitchFamily="34" charset="0"/>
                <a:ea typeface="IBM Plex Sans Arabic" pitchFamily="34" charset="-122"/>
                <a:cs typeface="IBM Plex Sans Arabic" pitchFamily="34" charset="-120"/>
              </a:rPr>
              <a:t>التوسع الإقليمي</a:t>
            </a:r>
            <a:endParaRPr lang="ar-AE" sz="1400" dirty="0"/>
          </a:p>
        </p:txBody>
      </p:sp>
      <p:sp>
        <p:nvSpPr>
          <p:cNvPr id="26" name="Text 21"/>
          <p:cNvSpPr txBox="1"/>
          <p:nvPr/>
        </p:nvSpPr>
        <p:spPr>
          <a:xfrm>
            <a:off x="6268517" y="4251960"/>
            <a:ext cx="2468880" cy="914400"/>
          </a:xfrm>
          <a:prstGeom prst="rect">
            <a:avLst/>
          </a:prstGeom>
          <a:noFill/>
          <a:ln/>
        </p:spPr>
        <p:txBody>
          <a:bodyPr wrap="square" lIns="0" tIns="0" rIns="0" bIns="0" rtlCol="0" anchor="t"/>
          <a:lstStyle/>
          <a:p>
            <a:pPr algn="l" indent="0" marL="0">
              <a:buNone/>
            </a:pPr>
            <a:r>
              <a:rPr lang="en-US" sz="1200" dirty="0">
                <a:solidFill>
                  <a:schemeClr val="accent5"/>
                </a:solidFill>
                <a:latin typeface="IBM Plex Sans Arabic" pitchFamily="34" charset="0"/>
                <a:ea typeface="IBM Plex Sans Arabic" pitchFamily="34" charset="-122"/>
                <a:cs typeface="IBM Plex Sans Arabic" pitchFamily="34" charset="-120"/>
              </a:rPr>
              <a:t>Entered Oman with branches in Muscat and North Al Batinah, and strengthened presence at industry exhibitions.</a:t>
            </a:r>
            <a:endParaRPr lang="en-US" sz="1200" dirty="0"/>
          </a:p>
        </p:txBody>
      </p:sp>
      <p:sp>
        <p:nvSpPr>
          <p:cNvPr id="27" name="Text 22"/>
          <p:cNvSpPr txBox="1"/>
          <p:nvPr/>
        </p:nvSpPr>
        <p:spPr>
          <a:xfrm>
            <a:off x="6268517" y="5212080"/>
            <a:ext cx="2468880" cy="914400"/>
          </a:xfrm>
          <a:prstGeom prst="rect">
            <a:avLst/>
          </a:prstGeom>
          <a:noFill/>
          <a:ln/>
        </p:spPr>
        <p:txBody>
          <a:bodyPr wrap="square" lIns="0" tIns="0" rIns="0" bIns="0" rtlCol="0" anchor="t"/>
          <a:lstStyle/>
          <a:p>
            <a:pPr rtl="1" algn="r" indent="0" marL="0">
              <a:buNone/>
            </a:pPr>
            <a:r>
              <a:rPr lang="ar-AE" altLang="en-US" sz="1200" dirty="0">
                <a:solidFill>
                  <a:schemeClr val="accent5"/>
                </a:solidFill>
                <a:latin typeface="IBM Plex Sans Arabic" pitchFamily="34" charset="0"/>
                <a:ea typeface="IBM Plex Sans Arabic" pitchFamily="34" charset="-122"/>
                <a:cs typeface="IBM Plex Sans Arabic" pitchFamily="34" charset="-120"/>
              </a:rPr>
              <a:t>دخول السوق العُماني بفروع في مسقط وشمال الباطنة، وتعزيز الحضور في المعارض المتخصصة.</a:t>
            </a:r>
            <a:endParaRPr lang="ar-AE" sz="1200" dirty="0"/>
          </a:p>
        </p:txBody>
      </p:sp>
      <p:sp>
        <p:nvSpPr>
          <p:cNvPr id="28" name="Text 23"/>
          <p:cNvSpPr txBox="1"/>
          <p:nvPr/>
        </p:nvSpPr>
        <p:spPr>
          <a:xfrm>
            <a:off x="9082735" y="1600200"/>
            <a:ext cx="2468880" cy="731520"/>
          </a:xfrm>
          <a:prstGeom prst="rect">
            <a:avLst/>
          </a:prstGeom>
          <a:noFill/>
          <a:ln/>
        </p:spPr>
        <p:txBody>
          <a:bodyPr wrap="square" lIns="0" tIns="0" rIns="0" bIns="0" rtlCol="0" anchor="t"/>
          <a:lstStyle/>
          <a:p>
            <a:pPr algn="l" indent="0" marL="0">
              <a:buNone/>
            </a:pPr>
            <a:r>
              <a:rPr lang="en-US" sz="4400" dirty="0">
                <a:solidFill>
                  <a:schemeClr val="accent2"/>
                </a:solidFill>
                <a:latin typeface="IBM Plex Sans Arabic Light" pitchFamily="34" charset="0"/>
                <a:ea typeface="IBM Plex Sans Arabic Light" pitchFamily="34" charset="-122"/>
                <a:cs typeface="IBM Plex Sans Arabic Light" pitchFamily="34" charset="-120"/>
              </a:rPr>
              <a:t>2026</a:t>
            </a:r>
            <a:endParaRPr lang="en-US" sz="4400" dirty="0"/>
          </a:p>
        </p:txBody>
      </p:sp>
      <p:sp>
        <p:nvSpPr>
          <p:cNvPr id="29" name="Timeline dot 2026"/>
          <p:cNvSpPr/>
          <p:nvPr/>
        </p:nvSpPr>
        <p:spPr>
          <a:xfrm>
            <a:off x="9082735" y="2450592"/>
            <a:ext cx="182880" cy="182880"/>
          </a:xfrm>
          <a:prstGeom prst="ellipse">
            <a:avLst/>
          </a:prstGeom>
          <a:solidFill>
            <a:schemeClr val="accent2"/>
          </a:solidFill>
          <a:ln/>
        </p:spPr>
      </p:sp>
      <p:pic>
        <p:nvPicPr>
          <p:cNvPr id="30" name="Journey icon 2026" descr="icon">    </p:cNvPr>
          <p:cNvPicPr>
            <a:picLocks noChangeAspect="1"/>
          </p:cNvPicPr>
          <p:nvPr/>
        </p:nvPicPr>
        <p:blipFill>
          <a:blip r:embed="rId5"/>
          <a:stretch>
            <a:fillRect/>
          </a:stretch>
        </p:blipFill>
        <p:spPr>
          <a:xfrm>
            <a:off x="9082735" y="2926080"/>
            <a:ext cx="411480" cy="411480"/>
          </a:xfrm>
          <a:prstGeom prst="rect">
            <a:avLst/>
          </a:prstGeom>
        </p:spPr>
      </p:pic>
      <p:sp>
        <p:nvSpPr>
          <p:cNvPr id="31" name="Text 25"/>
          <p:cNvSpPr txBox="1"/>
          <p:nvPr/>
        </p:nvSpPr>
        <p:spPr>
          <a:xfrm>
            <a:off x="9082735" y="3520440"/>
            <a:ext cx="2468880" cy="274320"/>
          </a:xfrm>
          <a:prstGeom prst="rect">
            <a:avLst/>
          </a:prstGeom>
          <a:noFill/>
          <a:ln/>
        </p:spPr>
        <p:txBody>
          <a:bodyPr wrap="square" lIns="0" tIns="0" rIns="0" bIns="0" rtlCol="0" anchor="t"/>
          <a:lstStyle/>
          <a:p>
            <a:pPr algn="l" indent="0" marL="0">
              <a:buNone/>
            </a:pPr>
            <a:r>
              <a:rPr lang="en-US" sz="1500" b="1" dirty="0">
                <a:solidFill>
                  <a:schemeClr val="bg1"/>
                </a:solidFill>
                <a:latin typeface="IBM Plex Sans Arabic" pitchFamily="34" charset="0"/>
                <a:ea typeface="IBM Plex Sans Arabic" pitchFamily="34" charset="-122"/>
                <a:cs typeface="IBM Plex Sans Arabic" pitchFamily="34" charset="-120"/>
              </a:rPr>
              <a:t>Development &amp; Growth</a:t>
            </a:r>
            <a:endParaRPr lang="en-US" sz="1500" dirty="0"/>
          </a:p>
        </p:txBody>
      </p:sp>
      <p:sp>
        <p:nvSpPr>
          <p:cNvPr id="32" name="Text 26"/>
          <p:cNvSpPr txBox="1"/>
          <p:nvPr/>
        </p:nvSpPr>
        <p:spPr>
          <a:xfrm>
            <a:off x="9082735" y="3822192"/>
            <a:ext cx="2468880" cy="274320"/>
          </a:xfrm>
          <a:prstGeom prst="rect">
            <a:avLst/>
          </a:prstGeom>
          <a:noFill/>
          <a:ln/>
        </p:spPr>
        <p:txBody>
          <a:bodyPr wrap="square" lIns="0" tIns="0" rIns="0" bIns="0" rtlCol="0" anchor="t"/>
          <a:lstStyle/>
          <a:p>
            <a:pPr rtl="1" algn="r" indent="0" marL="0">
              <a:buNone/>
            </a:pPr>
            <a:r>
              <a:rPr lang="ar-AE" altLang="en-US" sz="1400" b="1" dirty="0">
                <a:solidFill>
                  <a:schemeClr val="accent2"/>
                </a:solidFill>
                <a:latin typeface="IBM Plex Sans Arabic" pitchFamily="34" charset="0"/>
                <a:ea typeface="IBM Plex Sans Arabic" pitchFamily="34" charset="-122"/>
                <a:cs typeface="IBM Plex Sans Arabic" pitchFamily="34" charset="-120"/>
              </a:rPr>
              <a:t>التطوير والنمو</a:t>
            </a:r>
            <a:endParaRPr lang="ar-AE" sz="1400" dirty="0"/>
          </a:p>
        </p:txBody>
      </p:sp>
      <p:sp>
        <p:nvSpPr>
          <p:cNvPr id="33" name="Text 27"/>
          <p:cNvSpPr txBox="1"/>
          <p:nvPr/>
        </p:nvSpPr>
        <p:spPr>
          <a:xfrm>
            <a:off x="9082735" y="4251960"/>
            <a:ext cx="2468880" cy="914400"/>
          </a:xfrm>
          <a:prstGeom prst="rect">
            <a:avLst/>
          </a:prstGeom>
          <a:noFill/>
          <a:ln/>
        </p:spPr>
        <p:txBody>
          <a:bodyPr wrap="square" lIns="0" tIns="0" rIns="0" bIns="0" rtlCol="0" anchor="t"/>
          <a:lstStyle/>
          <a:p>
            <a:pPr algn="l" indent="0" marL="0">
              <a:buNone/>
            </a:pPr>
            <a:r>
              <a:rPr lang="en-US" sz="1200" dirty="0">
                <a:solidFill>
                  <a:schemeClr val="accent5"/>
                </a:solidFill>
                <a:latin typeface="IBM Plex Sans Arabic" pitchFamily="34" charset="0"/>
                <a:ea typeface="IBM Plex Sans Arabic" pitchFamily="34" charset="-122"/>
                <a:cs typeface="IBM Plex Sans Arabic" pitchFamily="34" charset="-120"/>
              </a:rPr>
              <a:t>Developing branches, technical services and charging solutions, with expansion plans for Riyadh, Saudi Arabia.</a:t>
            </a:r>
            <a:endParaRPr lang="en-US" sz="1200" dirty="0"/>
          </a:p>
        </p:txBody>
      </p:sp>
      <p:sp>
        <p:nvSpPr>
          <p:cNvPr id="34" name="Text 28"/>
          <p:cNvSpPr txBox="1"/>
          <p:nvPr/>
        </p:nvSpPr>
        <p:spPr>
          <a:xfrm>
            <a:off x="9082735" y="5212080"/>
            <a:ext cx="2468880" cy="914400"/>
          </a:xfrm>
          <a:prstGeom prst="rect">
            <a:avLst/>
          </a:prstGeom>
          <a:noFill/>
          <a:ln/>
        </p:spPr>
        <p:txBody>
          <a:bodyPr wrap="square" lIns="0" tIns="0" rIns="0" bIns="0" rtlCol="0" anchor="t"/>
          <a:lstStyle/>
          <a:p>
            <a:pPr rtl="1" algn="r" indent="0" marL="0">
              <a:buNone/>
            </a:pPr>
            <a:r>
              <a:rPr lang="ar-AE" altLang="en-US" sz="1200" dirty="0">
                <a:solidFill>
                  <a:schemeClr val="accent5"/>
                </a:solidFill>
                <a:latin typeface="IBM Plex Sans Arabic" pitchFamily="34" charset="0"/>
                <a:ea typeface="IBM Plex Sans Arabic" pitchFamily="34" charset="-122"/>
                <a:cs typeface="IBM Plex Sans Arabic" pitchFamily="34" charset="-120"/>
              </a:rPr>
              <a:t>مواصلة تطوير الفروع والخدمات الفنية وحلول الشحن، مع خطط للتوسع في الرياض بالمملكة العربية السعودية.</a:t>
            </a:r>
            <a:endParaRPr lang="ar-AE" sz="12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DDE2E7"/>
                </a:solidFill>
                <a:latin typeface="IBM Plex Sans Arabic"/>
                <a:ea typeface="IBM Plex Sans Arabic"/>
                <a:cs typeface="IBM Plex Sans Arabic"/>
              </a:defRPr>
            </a:lvl1pPr>
          </a:lstStyle>
          <a:p>
            <a:pPr algn="r"/>
            <a:fld id="{F7021451-1387-4CA6-816F-3879F97B5CBC}" type="slidenum">
              <a:rPr b="0" lang="en-US"/>
              <a:t>7</a:t>
            </a:fld>
            <a:endParaRPr lang="en-US"/>
          </a:p>
        </p:txBody>
      </p:sp>
      <p:sp>
        <p:nvSpPr>
          <p:cNvPr id="35" name="Back to contents" descr="Back to contents">
            <a:hlinkClick r:id="rId8" action="ppaction://hlinksldjump" tooltip="Back to Contents / العودة إلى المحتويات"/>
          </p:cNvPr>
          <p:cNvSpPr/>
          <p:nvPr/>
        </p:nvSpPr>
        <p:spPr>
          <a:xfrm>
            <a:off x="8838000" y="6283000"/>
            <a:ext cx="1850000" cy="300000"/>
          </a:xfrm>
          <a:prstGeom prst="roundRect">
            <a:avLst>
              <a:gd name="adj" fmla="val 50000"/>
            </a:avLst>
          </a:prstGeom>
          <a:noFill/>
          <a:ln w="9525">
            <a:solidFill>
              <a:schemeClr val="accent1"/>
            </a:solidFill>
          </a:ln>
        </p:spPr>
        <p:txBody>
          <a:bodyPr wrap="none" lIns="0" tIns="0" rIns="0" bIns="0" rtlCol="0" anchor="ctr"/>
          <a:lstStyle/>
          <a:p>
            <a:pPr algn="ctr"/>
            <a:r>
              <a:rPr lang="en-US" sz="900" b="1" spc="120" dirty="0">
                <a:solidFill>
                  <a:schemeClr val="accent1"/>
                </a:solidFill>
                <a:latin typeface="IBM Plex Sans Arabic"/>
                <a:cs typeface="IBM Plex Sans Arabic"/>
              </a:rPr>
              <a:t>CONTENTS  ·  </a:t>
            </a:r>
            <a:r>
              <a:rPr lang="ar-AE" sz="900" b="1" dirty="0">
                <a:solidFill>
                  <a:schemeClr val="accent1"/>
                </a:solidFill>
                <a:latin typeface="IBM Plex Sans Arabic"/>
                <a:cs typeface="IBM Plex Sans Arabic"/>
              </a:rPr>
              <a:t>المحتويات</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1"/>
                </a:solidFill>
                <a:latin typeface="IBM Plex Sans Arabic" pitchFamily="34" charset="0"/>
                <a:ea typeface="IBM Plex Sans Arabic" pitchFamily="34" charset="-122"/>
                <a:cs typeface="IBM Plex Sans Arabic" pitchFamily="34" charset="-120"/>
              </a:rPr>
              <a:t>02   ·   WHAT WE DO</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1"/>
                </a:solidFill>
                <a:latin typeface="IBM Plex Sans Arabic" pitchFamily="34" charset="0"/>
                <a:ea typeface="IBM Plex Sans Arabic" pitchFamily="34" charset="-122"/>
                <a:cs typeface="IBM Plex Sans Arabic" pitchFamily="34" charset="-120"/>
              </a:rPr>
              <a:t>ماذا نقدم   ·   02</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tx1"/>
                </a:solidFill>
                <a:latin typeface="IBM Plex Sans Arabic Light" pitchFamily="34" charset="0"/>
                <a:ea typeface="IBM Plex Sans Arabic Light" pitchFamily="34" charset="-122"/>
                <a:cs typeface="IBM Plex Sans Arabic Light" pitchFamily="34" charset="-120"/>
              </a:rPr>
              <a:t>Our Business Areas</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tx1"/>
                </a:solidFill>
                <a:latin typeface="IBM Plex Sans Arabic Light" pitchFamily="34" charset="0"/>
                <a:ea typeface="IBM Plex Sans Arabic Light" pitchFamily="34" charset="-122"/>
                <a:cs typeface="IBM Plex Sans Arabic Light" pitchFamily="34" charset="-120"/>
              </a:rPr>
              <a:t>مجالات أعمالنا</a:t>
            </a:r>
            <a:endParaRPr lang="ar-AE" sz="3000" dirty="0"/>
          </a:p>
        </p:txBody>
      </p:sp>
      <p:sp>
        <p:nvSpPr>
          <p:cNvPr id="6" name="Business tile 1"/>
          <p:cNvSpPr/>
          <p:nvPr/>
        </p:nvSpPr>
        <p:spPr>
          <a:xfrm>
            <a:off x="640080" y="1691640"/>
            <a:ext cx="3456432" cy="2011680"/>
          </a:xfrm>
          <a:prstGeom prst="roundRect">
            <a:avLst>
              <a:gd name="adj" fmla="val 4545"/>
            </a:avLst>
          </a:prstGeom>
          <a:solidFill>
            <a:schemeClr val="bg2"/>
          </a:solidFill>
          <a:ln/>
        </p:spPr>
      </p:sp>
      <p:sp>
        <p:nvSpPr>
          <p:cNvPr id="7" name="Business icon 1 circle"/>
          <p:cNvSpPr/>
          <p:nvPr/>
        </p:nvSpPr>
        <p:spPr>
          <a:xfrm>
            <a:off x="914400" y="1947672"/>
            <a:ext cx="731520" cy="731520"/>
          </a:xfrm>
          <a:prstGeom prst="ellipse">
            <a:avLst/>
          </a:prstGeom>
          <a:solidFill>
            <a:schemeClr val="accent6"/>
          </a:solidFill>
          <a:ln/>
        </p:spPr>
      </p:sp>
      <p:pic>
        <p:nvPicPr>
          <p:cNvPr id="8" name="Business icon 1" descr="icon">    </p:cNvPr>
          <p:cNvPicPr>
            <a:picLocks noChangeAspect="1"/>
          </p:cNvPicPr>
          <p:nvPr/>
        </p:nvPicPr>
        <p:blipFill>
          <a:blip r:embed="rId1"/>
          <a:stretch>
            <a:fillRect/>
          </a:stretch>
        </p:blipFill>
        <p:spPr>
          <a:xfrm>
            <a:off x="1089965" y="2123237"/>
            <a:ext cx="380390" cy="380390"/>
          </a:xfrm>
          <a:prstGeom prst="rect">
            <a:avLst/>
          </a:prstGeom>
        </p:spPr>
      </p:pic>
      <p:sp>
        <p:nvSpPr>
          <p:cNvPr id="9" name="Text 6"/>
          <p:cNvSpPr txBox="1"/>
          <p:nvPr/>
        </p:nvSpPr>
        <p:spPr>
          <a:xfrm>
            <a:off x="2907792" y="1947672"/>
            <a:ext cx="914400" cy="365760"/>
          </a:xfrm>
          <a:prstGeom prst="rect">
            <a:avLst/>
          </a:prstGeom>
          <a:noFill/>
          <a:ln/>
        </p:spPr>
        <p:txBody>
          <a:bodyPr wrap="square" lIns="0" tIns="0" rIns="0" bIns="0" rtlCol="0" anchor="t"/>
          <a:lstStyle/>
          <a:p>
            <a:pPr algn="r" indent="0" marL="0">
              <a:buNone/>
            </a:pPr>
            <a:r>
              <a:rPr lang="en-US" sz="2000" dirty="0">
                <a:solidFill>
                  <a:schemeClr val="accent3"/>
                </a:solidFill>
                <a:latin typeface="IBM Plex Sans Arabic Light" pitchFamily="34" charset="0"/>
                <a:ea typeface="IBM Plex Sans Arabic Light" pitchFamily="34" charset="-122"/>
                <a:cs typeface="IBM Plex Sans Arabic Light" pitchFamily="34" charset="-120"/>
              </a:rPr>
              <a:t>01</a:t>
            </a:r>
            <a:endParaRPr lang="en-US" sz="2000" dirty="0"/>
          </a:p>
        </p:txBody>
      </p:sp>
      <p:sp>
        <p:nvSpPr>
          <p:cNvPr id="10" name="Text 7"/>
          <p:cNvSpPr txBox="1"/>
          <p:nvPr/>
        </p:nvSpPr>
        <p:spPr>
          <a:xfrm>
            <a:off x="914400" y="2926080"/>
            <a:ext cx="2907792" cy="274320"/>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Electric Vehicle Accessories</a:t>
            </a:r>
            <a:endParaRPr lang="en-US" sz="1500" dirty="0"/>
          </a:p>
        </p:txBody>
      </p:sp>
      <p:sp>
        <p:nvSpPr>
          <p:cNvPr id="11" name="Text 8"/>
          <p:cNvSpPr txBox="1"/>
          <p:nvPr/>
        </p:nvSpPr>
        <p:spPr>
          <a:xfrm>
            <a:off x="914400" y="3264408"/>
            <a:ext cx="2907792" cy="274320"/>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إكسسوارات السيارات الكهربائية</a:t>
            </a:r>
            <a:endParaRPr lang="ar-AE" sz="1400" dirty="0"/>
          </a:p>
        </p:txBody>
      </p:sp>
      <p:sp>
        <p:nvSpPr>
          <p:cNvPr id="12" name="Business tile 2"/>
          <p:cNvSpPr/>
          <p:nvPr/>
        </p:nvSpPr>
        <p:spPr>
          <a:xfrm>
            <a:off x="4366260" y="1691640"/>
            <a:ext cx="3456432" cy="2011680"/>
          </a:xfrm>
          <a:prstGeom prst="roundRect">
            <a:avLst>
              <a:gd name="adj" fmla="val 4545"/>
            </a:avLst>
          </a:prstGeom>
          <a:solidFill>
            <a:schemeClr val="bg2"/>
          </a:solidFill>
          <a:ln/>
        </p:spPr>
      </p:sp>
      <p:sp>
        <p:nvSpPr>
          <p:cNvPr id="13" name="Business icon 2 circle"/>
          <p:cNvSpPr/>
          <p:nvPr/>
        </p:nvSpPr>
        <p:spPr>
          <a:xfrm>
            <a:off x="4640580" y="1947672"/>
            <a:ext cx="731520" cy="731520"/>
          </a:xfrm>
          <a:prstGeom prst="ellipse">
            <a:avLst/>
          </a:prstGeom>
          <a:solidFill>
            <a:schemeClr val="accent6"/>
          </a:solidFill>
          <a:ln/>
        </p:spPr>
      </p:sp>
      <p:pic>
        <p:nvPicPr>
          <p:cNvPr id="14" name="Business icon 2" descr="icon">    </p:cNvPr>
          <p:cNvPicPr>
            <a:picLocks noChangeAspect="1"/>
          </p:cNvPicPr>
          <p:nvPr/>
        </p:nvPicPr>
        <p:blipFill>
          <a:blip r:embed="rId2"/>
          <a:stretch>
            <a:fillRect/>
          </a:stretch>
        </p:blipFill>
        <p:spPr>
          <a:xfrm>
            <a:off x="4816145" y="2123237"/>
            <a:ext cx="380390" cy="380390"/>
          </a:xfrm>
          <a:prstGeom prst="rect">
            <a:avLst/>
          </a:prstGeom>
        </p:spPr>
      </p:pic>
      <p:sp>
        <p:nvSpPr>
          <p:cNvPr id="15" name="Text 11"/>
          <p:cNvSpPr txBox="1"/>
          <p:nvPr/>
        </p:nvSpPr>
        <p:spPr>
          <a:xfrm>
            <a:off x="6633972" y="1947672"/>
            <a:ext cx="914400" cy="365760"/>
          </a:xfrm>
          <a:prstGeom prst="rect">
            <a:avLst/>
          </a:prstGeom>
          <a:noFill/>
          <a:ln/>
        </p:spPr>
        <p:txBody>
          <a:bodyPr wrap="square" lIns="0" tIns="0" rIns="0" bIns="0" rtlCol="0" anchor="t"/>
          <a:lstStyle/>
          <a:p>
            <a:pPr algn="r" indent="0" marL="0">
              <a:buNone/>
            </a:pPr>
            <a:r>
              <a:rPr lang="en-US" sz="2000" dirty="0">
                <a:solidFill>
                  <a:schemeClr val="accent3"/>
                </a:solidFill>
                <a:latin typeface="IBM Plex Sans Arabic Light" pitchFamily="34" charset="0"/>
                <a:ea typeface="IBM Plex Sans Arabic Light" pitchFamily="34" charset="-122"/>
                <a:cs typeface="IBM Plex Sans Arabic Light" pitchFamily="34" charset="-120"/>
              </a:rPr>
              <a:t>02</a:t>
            </a:r>
            <a:endParaRPr lang="en-US" sz="2000" dirty="0"/>
          </a:p>
        </p:txBody>
      </p:sp>
      <p:sp>
        <p:nvSpPr>
          <p:cNvPr id="16" name="Text 12"/>
          <p:cNvSpPr txBox="1"/>
          <p:nvPr/>
        </p:nvSpPr>
        <p:spPr>
          <a:xfrm>
            <a:off x="4640580" y="2926080"/>
            <a:ext cx="2907792" cy="274320"/>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EV Charging Solutions</a:t>
            </a:r>
            <a:endParaRPr lang="en-US" sz="1500" dirty="0"/>
          </a:p>
        </p:txBody>
      </p:sp>
      <p:sp>
        <p:nvSpPr>
          <p:cNvPr id="17" name="Text 13"/>
          <p:cNvSpPr txBox="1"/>
          <p:nvPr/>
        </p:nvSpPr>
        <p:spPr>
          <a:xfrm>
            <a:off x="4640580" y="3264408"/>
            <a:ext cx="2907792" cy="274320"/>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شواحن السيارات الكهربائية</a:t>
            </a:r>
            <a:endParaRPr lang="ar-AE" sz="1400" dirty="0"/>
          </a:p>
        </p:txBody>
      </p:sp>
      <p:sp>
        <p:nvSpPr>
          <p:cNvPr id="18" name="Business tile 3"/>
          <p:cNvSpPr/>
          <p:nvPr/>
        </p:nvSpPr>
        <p:spPr>
          <a:xfrm>
            <a:off x="8092440" y="1691640"/>
            <a:ext cx="3456432" cy="2011680"/>
          </a:xfrm>
          <a:prstGeom prst="roundRect">
            <a:avLst>
              <a:gd name="adj" fmla="val 4545"/>
            </a:avLst>
          </a:prstGeom>
          <a:solidFill>
            <a:schemeClr val="bg2"/>
          </a:solidFill>
          <a:ln/>
        </p:spPr>
      </p:sp>
      <p:sp>
        <p:nvSpPr>
          <p:cNvPr id="19" name="Business icon 3 circle"/>
          <p:cNvSpPr/>
          <p:nvPr/>
        </p:nvSpPr>
        <p:spPr>
          <a:xfrm>
            <a:off x="8366760" y="1947672"/>
            <a:ext cx="731520" cy="731520"/>
          </a:xfrm>
          <a:prstGeom prst="ellipse">
            <a:avLst/>
          </a:prstGeom>
          <a:solidFill>
            <a:schemeClr val="accent6"/>
          </a:solidFill>
          <a:ln/>
        </p:spPr>
      </p:sp>
      <p:pic>
        <p:nvPicPr>
          <p:cNvPr id="20" name="Business icon 3" descr="icon">    </p:cNvPr>
          <p:cNvPicPr>
            <a:picLocks noChangeAspect="1"/>
          </p:cNvPicPr>
          <p:nvPr/>
        </p:nvPicPr>
        <p:blipFill>
          <a:blip r:embed="rId3"/>
          <a:stretch>
            <a:fillRect/>
          </a:stretch>
        </p:blipFill>
        <p:spPr>
          <a:xfrm>
            <a:off x="8542325" y="2123237"/>
            <a:ext cx="380390" cy="380390"/>
          </a:xfrm>
          <a:prstGeom prst="rect">
            <a:avLst/>
          </a:prstGeom>
        </p:spPr>
      </p:pic>
      <p:sp>
        <p:nvSpPr>
          <p:cNvPr id="21" name="Text 16"/>
          <p:cNvSpPr txBox="1"/>
          <p:nvPr/>
        </p:nvSpPr>
        <p:spPr>
          <a:xfrm>
            <a:off x="10360152" y="1947672"/>
            <a:ext cx="914400" cy="365760"/>
          </a:xfrm>
          <a:prstGeom prst="rect">
            <a:avLst/>
          </a:prstGeom>
          <a:noFill/>
          <a:ln/>
        </p:spPr>
        <p:txBody>
          <a:bodyPr wrap="square" lIns="0" tIns="0" rIns="0" bIns="0" rtlCol="0" anchor="t"/>
          <a:lstStyle/>
          <a:p>
            <a:pPr algn="r" indent="0" marL="0">
              <a:buNone/>
            </a:pPr>
            <a:r>
              <a:rPr lang="en-US" sz="2000" dirty="0">
                <a:solidFill>
                  <a:schemeClr val="accent3"/>
                </a:solidFill>
                <a:latin typeface="IBM Plex Sans Arabic Light" pitchFamily="34" charset="0"/>
                <a:ea typeface="IBM Plex Sans Arabic Light" pitchFamily="34" charset="-122"/>
                <a:cs typeface="IBM Plex Sans Arabic Light" pitchFamily="34" charset="-120"/>
              </a:rPr>
              <a:t>03</a:t>
            </a:r>
            <a:endParaRPr lang="en-US" sz="2000" dirty="0"/>
          </a:p>
        </p:txBody>
      </p:sp>
      <p:sp>
        <p:nvSpPr>
          <p:cNvPr id="22" name="Text 17"/>
          <p:cNvSpPr txBox="1"/>
          <p:nvPr/>
        </p:nvSpPr>
        <p:spPr>
          <a:xfrm>
            <a:off x="8366760" y="2926080"/>
            <a:ext cx="2907792" cy="274320"/>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EV Charging Adapters</a:t>
            </a:r>
            <a:endParaRPr lang="en-US" sz="1500" dirty="0"/>
          </a:p>
        </p:txBody>
      </p:sp>
      <p:sp>
        <p:nvSpPr>
          <p:cNvPr id="23" name="Text 18"/>
          <p:cNvSpPr txBox="1"/>
          <p:nvPr/>
        </p:nvSpPr>
        <p:spPr>
          <a:xfrm>
            <a:off x="8366760" y="3264408"/>
            <a:ext cx="2907792" cy="274320"/>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محولات الشحن</a:t>
            </a:r>
            <a:endParaRPr lang="ar-AE" sz="1400" dirty="0"/>
          </a:p>
        </p:txBody>
      </p:sp>
      <p:sp>
        <p:nvSpPr>
          <p:cNvPr id="24" name="Business tile 4"/>
          <p:cNvSpPr/>
          <p:nvPr/>
        </p:nvSpPr>
        <p:spPr>
          <a:xfrm>
            <a:off x="640080" y="3959352"/>
            <a:ext cx="3456432" cy="2011680"/>
          </a:xfrm>
          <a:prstGeom prst="roundRect">
            <a:avLst>
              <a:gd name="adj" fmla="val 4545"/>
            </a:avLst>
          </a:prstGeom>
          <a:solidFill>
            <a:schemeClr val="bg2"/>
          </a:solidFill>
          <a:ln/>
        </p:spPr>
      </p:sp>
      <p:sp>
        <p:nvSpPr>
          <p:cNvPr id="25" name="Business icon 4 circle"/>
          <p:cNvSpPr/>
          <p:nvPr/>
        </p:nvSpPr>
        <p:spPr>
          <a:xfrm>
            <a:off x="914400" y="4215384"/>
            <a:ext cx="731520" cy="731520"/>
          </a:xfrm>
          <a:prstGeom prst="ellipse">
            <a:avLst/>
          </a:prstGeom>
          <a:solidFill>
            <a:schemeClr val="accent6"/>
          </a:solidFill>
          <a:ln/>
        </p:spPr>
      </p:sp>
      <p:pic>
        <p:nvPicPr>
          <p:cNvPr id="26" name="Business icon 4" descr="icon">    </p:cNvPr>
          <p:cNvPicPr>
            <a:picLocks noChangeAspect="1"/>
          </p:cNvPicPr>
          <p:nvPr/>
        </p:nvPicPr>
        <p:blipFill>
          <a:blip r:embed="rId4"/>
          <a:stretch>
            <a:fillRect/>
          </a:stretch>
        </p:blipFill>
        <p:spPr>
          <a:xfrm>
            <a:off x="1089965" y="4390949"/>
            <a:ext cx="380390" cy="380390"/>
          </a:xfrm>
          <a:prstGeom prst="rect">
            <a:avLst/>
          </a:prstGeom>
        </p:spPr>
      </p:pic>
      <p:sp>
        <p:nvSpPr>
          <p:cNvPr id="27" name="Text 21"/>
          <p:cNvSpPr txBox="1"/>
          <p:nvPr/>
        </p:nvSpPr>
        <p:spPr>
          <a:xfrm>
            <a:off x="2907792" y="4215384"/>
            <a:ext cx="914400" cy="365760"/>
          </a:xfrm>
          <a:prstGeom prst="rect">
            <a:avLst/>
          </a:prstGeom>
          <a:noFill/>
          <a:ln/>
        </p:spPr>
        <p:txBody>
          <a:bodyPr wrap="square" lIns="0" tIns="0" rIns="0" bIns="0" rtlCol="0" anchor="t"/>
          <a:lstStyle/>
          <a:p>
            <a:pPr algn="r" indent="0" marL="0">
              <a:buNone/>
            </a:pPr>
            <a:r>
              <a:rPr lang="en-US" sz="2000" dirty="0">
                <a:solidFill>
                  <a:schemeClr val="accent3"/>
                </a:solidFill>
                <a:latin typeface="IBM Plex Sans Arabic Light" pitchFamily="34" charset="0"/>
                <a:ea typeface="IBM Plex Sans Arabic Light" pitchFamily="34" charset="-122"/>
                <a:cs typeface="IBM Plex Sans Arabic Light" pitchFamily="34" charset="-120"/>
              </a:rPr>
              <a:t>04</a:t>
            </a:r>
            <a:endParaRPr lang="en-US" sz="2000" dirty="0"/>
          </a:p>
        </p:txBody>
      </p:sp>
      <p:sp>
        <p:nvSpPr>
          <p:cNvPr id="28" name="Text 22"/>
          <p:cNvSpPr txBox="1"/>
          <p:nvPr/>
        </p:nvSpPr>
        <p:spPr>
          <a:xfrm>
            <a:off x="914400" y="5193792"/>
            <a:ext cx="2907792" cy="274320"/>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EV Charger Installation</a:t>
            </a:r>
            <a:endParaRPr lang="en-US" sz="1500" dirty="0"/>
          </a:p>
        </p:txBody>
      </p:sp>
      <p:sp>
        <p:nvSpPr>
          <p:cNvPr id="29" name="Text 23"/>
          <p:cNvSpPr txBox="1"/>
          <p:nvPr/>
        </p:nvSpPr>
        <p:spPr>
          <a:xfrm>
            <a:off x="914400" y="5532120"/>
            <a:ext cx="2907792" cy="274320"/>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تركيب شواحن السيارات الكهربائية</a:t>
            </a:r>
            <a:endParaRPr lang="ar-AE" sz="1400" dirty="0"/>
          </a:p>
        </p:txBody>
      </p:sp>
      <p:sp>
        <p:nvSpPr>
          <p:cNvPr id="30" name="Business tile 5"/>
          <p:cNvSpPr/>
          <p:nvPr/>
        </p:nvSpPr>
        <p:spPr>
          <a:xfrm>
            <a:off x="4366260" y="3959352"/>
            <a:ext cx="3456432" cy="2011680"/>
          </a:xfrm>
          <a:prstGeom prst="roundRect">
            <a:avLst>
              <a:gd name="adj" fmla="val 4545"/>
            </a:avLst>
          </a:prstGeom>
          <a:solidFill>
            <a:schemeClr val="bg2"/>
          </a:solidFill>
          <a:ln/>
        </p:spPr>
      </p:sp>
      <p:sp>
        <p:nvSpPr>
          <p:cNvPr id="31" name="Business icon 5 circle"/>
          <p:cNvSpPr/>
          <p:nvPr/>
        </p:nvSpPr>
        <p:spPr>
          <a:xfrm>
            <a:off x="4640580" y="4215384"/>
            <a:ext cx="731520" cy="731520"/>
          </a:xfrm>
          <a:prstGeom prst="ellipse">
            <a:avLst/>
          </a:prstGeom>
          <a:solidFill>
            <a:schemeClr val="accent6"/>
          </a:solidFill>
          <a:ln/>
        </p:spPr>
      </p:sp>
      <p:pic>
        <p:nvPicPr>
          <p:cNvPr id="32" name="Business icon 5" descr="icon">    </p:cNvPr>
          <p:cNvPicPr>
            <a:picLocks noChangeAspect="1"/>
          </p:cNvPicPr>
          <p:nvPr/>
        </p:nvPicPr>
        <p:blipFill>
          <a:blip r:embed="rId5"/>
          <a:stretch>
            <a:fillRect/>
          </a:stretch>
        </p:blipFill>
        <p:spPr>
          <a:xfrm>
            <a:off x="4816145" y="4390949"/>
            <a:ext cx="380390" cy="380390"/>
          </a:xfrm>
          <a:prstGeom prst="rect">
            <a:avLst/>
          </a:prstGeom>
        </p:spPr>
      </p:pic>
      <p:sp>
        <p:nvSpPr>
          <p:cNvPr id="33" name="Text 26"/>
          <p:cNvSpPr txBox="1"/>
          <p:nvPr/>
        </p:nvSpPr>
        <p:spPr>
          <a:xfrm>
            <a:off x="6633972" y="4215384"/>
            <a:ext cx="914400" cy="365760"/>
          </a:xfrm>
          <a:prstGeom prst="rect">
            <a:avLst/>
          </a:prstGeom>
          <a:noFill/>
          <a:ln/>
        </p:spPr>
        <p:txBody>
          <a:bodyPr wrap="square" lIns="0" tIns="0" rIns="0" bIns="0" rtlCol="0" anchor="t"/>
          <a:lstStyle/>
          <a:p>
            <a:pPr algn="r" indent="0" marL="0">
              <a:buNone/>
            </a:pPr>
            <a:r>
              <a:rPr lang="en-US" sz="2000" dirty="0">
                <a:solidFill>
                  <a:schemeClr val="accent3"/>
                </a:solidFill>
                <a:latin typeface="IBM Plex Sans Arabic Light" pitchFamily="34" charset="0"/>
                <a:ea typeface="IBM Plex Sans Arabic Light" pitchFamily="34" charset="-122"/>
                <a:cs typeface="IBM Plex Sans Arabic Light" pitchFamily="34" charset="-120"/>
              </a:rPr>
              <a:t>05</a:t>
            </a:r>
            <a:endParaRPr lang="en-US" sz="2000" dirty="0"/>
          </a:p>
        </p:txBody>
      </p:sp>
      <p:sp>
        <p:nvSpPr>
          <p:cNvPr id="34" name="Text 27"/>
          <p:cNvSpPr txBox="1"/>
          <p:nvPr/>
        </p:nvSpPr>
        <p:spPr>
          <a:xfrm>
            <a:off x="4640580" y="5193792"/>
            <a:ext cx="2907792" cy="274320"/>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Accessory Sales &amp; Installation</a:t>
            </a:r>
            <a:endParaRPr lang="en-US" sz="1500" dirty="0"/>
          </a:p>
        </p:txBody>
      </p:sp>
      <p:sp>
        <p:nvSpPr>
          <p:cNvPr id="35" name="Text 28"/>
          <p:cNvSpPr txBox="1"/>
          <p:nvPr/>
        </p:nvSpPr>
        <p:spPr>
          <a:xfrm>
            <a:off x="4640580" y="5532120"/>
            <a:ext cx="2907792" cy="274320"/>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بيع وتركيب الإكسسوارات</a:t>
            </a:r>
            <a:endParaRPr lang="ar-AE" sz="1400" dirty="0"/>
          </a:p>
        </p:txBody>
      </p:sp>
      <p:sp>
        <p:nvSpPr>
          <p:cNvPr id="36" name="Business tile 6"/>
          <p:cNvSpPr/>
          <p:nvPr/>
        </p:nvSpPr>
        <p:spPr>
          <a:xfrm>
            <a:off x="8092440" y="3959352"/>
            <a:ext cx="3456432" cy="2011680"/>
          </a:xfrm>
          <a:prstGeom prst="roundRect">
            <a:avLst>
              <a:gd name="adj" fmla="val 4545"/>
            </a:avLst>
          </a:prstGeom>
          <a:solidFill>
            <a:schemeClr val="bg2"/>
          </a:solidFill>
          <a:ln/>
        </p:spPr>
      </p:sp>
      <p:sp>
        <p:nvSpPr>
          <p:cNvPr id="37" name="Business icon 6 circle"/>
          <p:cNvSpPr/>
          <p:nvPr/>
        </p:nvSpPr>
        <p:spPr>
          <a:xfrm>
            <a:off x="8366760" y="4215384"/>
            <a:ext cx="731520" cy="731520"/>
          </a:xfrm>
          <a:prstGeom prst="ellipse">
            <a:avLst/>
          </a:prstGeom>
          <a:solidFill>
            <a:schemeClr val="accent6"/>
          </a:solidFill>
          <a:ln/>
        </p:spPr>
      </p:sp>
      <p:pic>
        <p:nvPicPr>
          <p:cNvPr id="38" name="Business icon 6" descr="icon">    </p:cNvPr>
          <p:cNvPicPr>
            <a:picLocks noChangeAspect="1"/>
          </p:cNvPicPr>
          <p:nvPr/>
        </p:nvPicPr>
        <p:blipFill>
          <a:blip r:embed="rId6"/>
          <a:stretch>
            <a:fillRect/>
          </a:stretch>
        </p:blipFill>
        <p:spPr>
          <a:xfrm>
            <a:off x="8542325" y="4390949"/>
            <a:ext cx="380390" cy="380390"/>
          </a:xfrm>
          <a:prstGeom prst="rect">
            <a:avLst/>
          </a:prstGeom>
        </p:spPr>
      </p:pic>
      <p:sp>
        <p:nvSpPr>
          <p:cNvPr id="39" name="Text 31"/>
          <p:cNvSpPr txBox="1"/>
          <p:nvPr/>
        </p:nvSpPr>
        <p:spPr>
          <a:xfrm>
            <a:off x="10360152" y="4215384"/>
            <a:ext cx="914400" cy="365760"/>
          </a:xfrm>
          <a:prstGeom prst="rect">
            <a:avLst/>
          </a:prstGeom>
          <a:noFill/>
          <a:ln/>
        </p:spPr>
        <p:txBody>
          <a:bodyPr wrap="square" lIns="0" tIns="0" rIns="0" bIns="0" rtlCol="0" anchor="t"/>
          <a:lstStyle/>
          <a:p>
            <a:pPr algn="r" indent="0" marL="0">
              <a:buNone/>
            </a:pPr>
            <a:r>
              <a:rPr lang="en-US" sz="2000" dirty="0">
                <a:solidFill>
                  <a:schemeClr val="accent3"/>
                </a:solidFill>
                <a:latin typeface="IBM Plex Sans Arabic Light" pitchFamily="34" charset="0"/>
                <a:ea typeface="IBM Plex Sans Arabic Light" pitchFamily="34" charset="-122"/>
                <a:cs typeface="IBM Plex Sans Arabic Light" pitchFamily="34" charset="-120"/>
              </a:rPr>
              <a:t>06</a:t>
            </a:r>
            <a:endParaRPr lang="en-US" sz="2000" dirty="0"/>
          </a:p>
        </p:txBody>
      </p:sp>
      <p:sp>
        <p:nvSpPr>
          <p:cNvPr id="40" name="Text 32"/>
          <p:cNvSpPr txBox="1"/>
          <p:nvPr/>
        </p:nvSpPr>
        <p:spPr>
          <a:xfrm>
            <a:off x="8366760" y="5193792"/>
            <a:ext cx="2907792" cy="274320"/>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Tesla Air-Conditioning Care</a:t>
            </a:r>
            <a:endParaRPr lang="en-US" sz="1500" dirty="0"/>
          </a:p>
        </p:txBody>
      </p:sp>
      <p:sp>
        <p:nvSpPr>
          <p:cNvPr id="41" name="Text 33"/>
          <p:cNvSpPr txBox="1"/>
          <p:nvPr/>
        </p:nvSpPr>
        <p:spPr>
          <a:xfrm>
            <a:off x="8366760" y="5532120"/>
            <a:ext cx="2907792" cy="274320"/>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خدمات تكييف سيارات تسلا</a:t>
            </a:r>
            <a:endParaRPr lang="ar-AE" sz="14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A75"/>
                </a:solidFill>
                <a:latin typeface="IBM Plex Sans Arabic"/>
                <a:ea typeface="IBM Plex Sans Arabic"/>
                <a:cs typeface="IBM Plex Sans Arabic"/>
              </a:defRPr>
            </a:lvl1pPr>
          </a:lstStyle>
          <a:p>
            <a:pPr algn="r"/>
            <a:fld id="{F7021451-1387-4CA6-816F-3879F97B5CBC}" type="slidenum">
              <a:rPr b="0" lang="en-US"/>
              <a:t>8</a:t>
            </a:fld>
            <a:endParaRPr lang="en-US"/>
          </a:p>
        </p:txBody>
      </p:sp>
      <p:sp>
        <p:nvSpPr>
          <p:cNvPr id="42" name="Back to contents" descr="Back to contents">
            <a:hlinkClick r:id="rId9" action="ppaction://hlinksldjump" tooltip="Back to Contents / العودة إلى المحتويات"/>
          </p:cNvPr>
          <p:cNvSpPr/>
          <p:nvPr/>
        </p:nvSpPr>
        <p:spPr>
          <a:xfrm>
            <a:off x="8838000" y="6283000"/>
            <a:ext cx="1850000" cy="300000"/>
          </a:xfrm>
          <a:prstGeom prst="roundRect">
            <a:avLst>
              <a:gd name="adj" fmla="val 50000"/>
            </a:avLst>
          </a:prstGeom>
          <a:noFill/>
          <a:ln w="9525">
            <a:solidFill>
              <a:schemeClr val="accent1"/>
            </a:solidFill>
          </a:ln>
        </p:spPr>
        <p:txBody>
          <a:bodyPr wrap="none" lIns="0" tIns="0" rIns="0" bIns="0" rtlCol="0" anchor="ctr"/>
          <a:lstStyle/>
          <a:p>
            <a:pPr algn="ctr"/>
            <a:r>
              <a:rPr lang="en-US" sz="900" b="1" spc="120" dirty="0">
                <a:solidFill>
                  <a:schemeClr val="accent1"/>
                </a:solidFill>
                <a:latin typeface="IBM Plex Sans Arabic"/>
                <a:cs typeface="IBM Plex Sans Arabic"/>
              </a:rPr>
              <a:t>CONTENTS  ·  </a:t>
            </a:r>
            <a:r>
              <a:rPr lang="ar-AE" sz="900" b="1" dirty="0">
                <a:solidFill>
                  <a:schemeClr val="accent1"/>
                </a:solidFill>
                <a:latin typeface="IBM Plex Sans Arabic"/>
                <a:cs typeface="IBM Plex Sans Arabic"/>
              </a:rPr>
              <a:t>المحتويات</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Accessories panel" descr="Electric vehicle illustration on dark panel">    </p:cNvPr>
          <p:cNvPicPr>
            <a:picLocks noChangeAspect="1"/>
          </p:cNvPicPr>
          <p:nvPr/>
        </p:nvPicPr>
        <p:blipFill>
          <a:blip r:embed="rId1"/>
          <a:stretch>
            <a:fillRect/>
          </a:stretch>
        </p:blipFill>
        <p:spPr>
          <a:xfrm>
            <a:off x="640080" y="1691640"/>
            <a:ext cx="4023360" cy="4389120"/>
          </a:xfrm>
          <a:prstGeom prst="rect">
            <a:avLst/>
          </a:prstGeom>
        </p:spPr>
      </p:pic>
      <p:sp>
        <p:nvSpPr>
          <p:cNvPr id="3" name="Text 0"/>
          <p:cNvSpPr txBox="1"/>
          <p:nvPr/>
        </p:nvSpPr>
        <p:spPr>
          <a:xfrm>
            <a:off x="1005840" y="1920240"/>
            <a:ext cx="2286000" cy="914400"/>
          </a:xfrm>
          <a:prstGeom prst="rect">
            <a:avLst/>
          </a:prstGeom>
          <a:noFill/>
          <a:ln/>
        </p:spPr>
        <p:txBody>
          <a:bodyPr wrap="square" lIns="0" tIns="0" rIns="0" bIns="0" rtlCol="0" anchor="t"/>
          <a:lstStyle/>
          <a:p>
            <a:pPr algn="l" indent="0" marL="0">
              <a:buNone/>
            </a:pPr>
            <a:r>
              <a:rPr lang="en-US" sz="6400" dirty="0">
                <a:solidFill>
                  <a:schemeClr val="accent2"/>
                </a:solidFill>
                <a:latin typeface="IBM Plex Sans Arabic Light" pitchFamily="34" charset="0"/>
                <a:ea typeface="IBM Plex Sans Arabic Light" pitchFamily="34" charset="-122"/>
                <a:cs typeface="IBM Plex Sans Arabic Light" pitchFamily="34" charset="-120"/>
              </a:rPr>
              <a:t>8</a:t>
            </a:r>
            <a:endParaRPr lang="en-US" sz="6400" dirty="0"/>
          </a:p>
        </p:txBody>
      </p:sp>
      <p:sp>
        <p:nvSpPr>
          <p:cNvPr id="4" name="Text 1"/>
          <p:cNvSpPr txBox="1"/>
          <p:nvPr/>
        </p:nvSpPr>
        <p:spPr>
          <a:xfrm>
            <a:off x="1005840" y="2926080"/>
            <a:ext cx="3291840" cy="274320"/>
          </a:xfrm>
          <a:prstGeom prst="rect">
            <a:avLst/>
          </a:prstGeom>
          <a:noFill/>
          <a:ln/>
        </p:spPr>
        <p:txBody>
          <a:bodyPr wrap="square" lIns="0" tIns="0" rIns="0" bIns="0" rtlCol="0" anchor="t"/>
          <a:lstStyle/>
          <a:p>
            <a:pPr algn="l" indent="0" marL="0">
              <a:buNone/>
            </a:pPr>
            <a:r>
              <a:rPr lang="en-US" sz="1300" b="1" dirty="0">
                <a:solidFill>
                  <a:schemeClr val="bg1"/>
                </a:solidFill>
                <a:latin typeface="IBM Plex Sans Arabic" pitchFamily="34" charset="0"/>
                <a:ea typeface="IBM Plex Sans Arabic" pitchFamily="34" charset="-122"/>
                <a:cs typeface="IBM Plex Sans Arabic" pitchFamily="34" charset="-120"/>
              </a:rPr>
              <a:t>Product categories</a:t>
            </a:r>
            <a:endParaRPr lang="en-US" sz="1300" dirty="0"/>
          </a:p>
        </p:txBody>
      </p:sp>
      <p:sp>
        <p:nvSpPr>
          <p:cNvPr id="5" name="Text 2"/>
          <p:cNvSpPr txBox="1"/>
          <p:nvPr/>
        </p:nvSpPr>
        <p:spPr>
          <a:xfrm>
            <a:off x="1005840" y="3246120"/>
            <a:ext cx="3291840" cy="274320"/>
          </a:xfrm>
          <a:prstGeom prst="rect">
            <a:avLst/>
          </a:prstGeom>
          <a:noFill/>
          <a:ln/>
        </p:spPr>
        <p:txBody>
          <a:bodyPr wrap="square" lIns="0" tIns="0" rIns="0" bIns="0" rtlCol="0" anchor="t"/>
          <a:lstStyle/>
          <a:p>
            <a:pPr rtl="1" algn="r" indent="0" marL="0">
              <a:buNone/>
            </a:pPr>
            <a:r>
              <a:rPr lang="ar-AE" altLang="en-US" sz="1300" dirty="0">
                <a:solidFill>
                  <a:schemeClr val="accent5"/>
                </a:solidFill>
                <a:latin typeface="IBM Plex Sans Arabic" pitchFamily="34" charset="0"/>
                <a:ea typeface="IBM Plex Sans Arabic" pitchFamily="34" charset="-122"/>
                <a:cs typeface="IBM Plex Sans Arabic" pitchFamily="34" charset="-120"/>
              </a:rPr>
              <a:t>فئات المنتجات</a:t>
            </a:r>
            <a:endParaRPr lang="ar-AE" sz="1300" dirty="0"/>
          </a:p>
        </p:txBody>
      </p:sp>
      <p:sp>
        <p:nvSpPr>
          <p:cNvPr id="6" name="Text 3"/>
          <p:cNvSpPr txBox="1"/>
          <p:nvPr/>
        </p:nvSpPr>
        <p:spPr>
          <a:xfrm>
            <a:off x="5029200" y="411480"/>
            <a:ext cx="3657600" cy="228600"/>
          </a:xfrm>
          <a:prstGeom prst="rect">
            <a:avLst/>
          </a:prstGeom>
          <a:noFill/>
          <a:ln/>
        </p:spPr>
        <p:txBody>
          <a:bodyPr wrap="square" lIns="0" tIns="0" rIns="0" bIns="0" rtlCol="0" anchor="t"/>
          <a:lstStyle/>
          <a:p>
            <a:pPr algn="l" indent="0" marL="0">
              <a:buNone/>
            </a:pPr>
            <a:r>
              <a:rPr lang="en-US" sz="1000" b="1" spc="300" kern="0" dirty="0">
                <a:solidFill>
                  <a:schemeClr val="accent1"/>
                </a:solidFill>
                <a:latin typeface="IBM Plex Sans Arabic" pitchFamily="34" charset="0"/>
                <a:ea typeface="IBM Plex Sans Arabic" pitchFamily="34" charset="-122"/>
                <a:cs typeface="IBM Plex Sans Arabic" pitchFamily="34" charset="-120"/>
              </a:rPr>
              <a:t>02   ·   WHAT WE DO</a:t>
            </a:r>
            <a:endParaRPr lang="en-US" sz="1000" dirty="0"/>
          </a:p>
        </p:txBody>
      </p:sp>
      <p:sp>
        <p:nvSpPr>
          <p:cNvPr id="7" name="Text 4"/>
          <p:cNvSpPr txBox="1"/>
          <p:nvPr/>
        </p:nvSpPr>
        <p:spPr>
          <a:xfrm>
            <a:off x="8808415" y="411480"/>
            <a:ext cx="2743200" cy="228600"/>
          </a:xfrm>
          <a:prstGeom prst="rect">
            <a:avLst/>
          </a:prstGeom>
          <a:noFill/>
          <a:ln/>
        </p:spPr>
        <p:txBody>
          <a:bodyPr wrap="square" lIns="0" tIns="0" rIns="0" bIns="0" rtlCol="0" anchor="t"/>
          <a:lstStyle/>
          <a:p>
            <a:pPr rtl="1" algn="r" indent="0" marL="0">
              <a:buNone/>
            </a:pPr>
            <a:r>
              <a:rPr lang="ar-AE" altLang="en-US" sz="1100" b="1" dirty="0">
                <a:solidFill>
                  <a:schemeClr val="accent1"/>
                </a:solidFill>
                <a:latin typeface="IBM Plex Sans Arabic" pitchFamily="34" charset="0"/>
                <a:ea typeface="IBM Plex Sans Arabic" pitchFamily="34" charset="-122"/>
                <a:cs typeface="IBM Plex Sans Arabic" pitchFamily="34" charset="-120"/>
              </a:rPr>
              <a:t>ماذا نقدم   ·   02</a:t>
            </a:r>
            <a:endParaRPr lang="ar-AE" sz="1100" dirty="0"/>
          </a:p>
        </p:txBody>
      </p:sp>
      <p:sp>
        <p:nvSpPr>
          <p:cNvPr id="8" name="Text 5"/>
          <p:cNvSpPr txBox="1"/>
          <p:nvPr/>
        </p:nvSpPr>
        <p:spPr>
          <a:xfrm>
            <a:off x="5029200" y="713232"/>
            <a:ext cx="3108960" cy="685800"/>
          </a:xfrm>
          <a:prstGeom prst="rect">
            <a:avLst/>
          </a:prstGeom>
          <a:noFill/>
          <a:ln/>
        </p:spPr>
        <p:txBody>
          <a:bodyPr wrap="square" lIns="0" tIns="0" rIns="0" bIns="0" rtlCol="0" anchor="t"/>
          <a:lstStyle/>
          <a:p>
            <a:pPr algn="l" indent="0" marL="0">
              <a:buNone/>
            </a:pPr>
            <a:r>
              <a:rPr lang="en-US" sz="3000" dirty="0">
                <a:solidFill>
                  <a:schemeClr val="tx1"/>
                </a:solidFill>
                <a:latin typeface="IBM Plex Sans Arabic Light" pitchFamily="34" charset="0"/>
                <a:ea typeface="IBM Plex Sans Arabic Light" pitchFamily="34" charset="-122"/>
                <a:cs typeface="IBM Plex Sans Arabic Light" pitchFamily="34" charset="-120"/>
              </a:rPr>
              <a:t>EV Accessories</a:t>
            </a:r>
            <a:endParaRPr lang="en-US" sz="3000" dirty="0"/>
          </a:p>
        </p:txBody>
      </p:sp>
      <p:sp>
        <p:nvSpPr>
          <p:cNvPr id="9" name="Text 6"/>
          <p:cNvSpPr txBox="1"/>
          <p:nvPr/>
        </p:nvSpPr>
        <p:spPr>
          <a:xfrm>
            <a:off x="7345375" y="713232"/>
            <a:ext cx="4206240" cy="685800"/>
          </a:xfrm>
          <a:prstGeom prst="rect">
            <a:avLst/>
          </a:prstGeom>
          <a:noFill/>
          <a:ln/>
        </p:spPr>
        <p:txBody>
          <a:bodyPr wrap="square" lIns="0" tIns="0" rIns="0" bIns="0" rtlCol="0" anchor="t"/>
          <a:lstStyle/>
          <a:p>
            <a:pPr rtl="1" algn="r" indent="0" marL="0">
              <a:buNone/>
            </a:pPr>
            <a:r>
              <a:rPr lang="ar-AE" altLang="en-US" sz="2600" dirty="0">
                <a:solidFill>
                  <a:schemeClr val="tx1"/>
                </a:solidFill>
                <a:latin typeface="IBM Plex Sans Arabic Light" pitchFamily="34" charset="0"/>
                <a:ea typeface="IBM Plex Sans Arabic Light" pitchFamily="34" charset="-122"/>
                <a:cs typeface="IBM Plex Sans Arabic Light" pitchFamily="34" charset="-120"/>
              </a:rPr>
              <a:t>إكسسوارات السيارات الكهربائية</a:t>
            </a:r>
            <a:endParaRPr lang="ar-AE" sz="2600" dirty="0"/>
          </a:p>
        </p:txBody>
      </p:sp>
      <p:sp>
        <p:nvSpPr>
          <p:cNvPr id="10" name="Text 7"/>
          <p:cNvSpPr txBox="1"/>
          <p:nvPr/>
        </p:nvSpPr>
        <p:spPr>
          <a:xfrm>
            <a:off x="5029200" y="1371600"/>
            <a:ext cx="3200400" cy="457200"/>
          </a:xfrm>
          <a:prstGeom prst="rect">
            <a:avLst/>
          </a:prstGeom>
          <a:noFill/>
          <a:ln/>
        </p:spPr>
        <p:txBody>
          <a:bodyPr wrap="square" lIns="0" tIns="0" rIns="0" bIns="0" rtlCol="0" anchor="t"/>
          <a:lstStyle/>
          <a:p>
            <a:pPr algn="l" indent="0" marL="0">
              <a:buNone/>
            </a:pPr>
            <a:r>
              <a:rPr lang="en-US" sz="1150" dirty="0">
                <a:solidFill>
                  <a:schemeClr val="accent3"/>
                </a:solidFill>
                <a:latin typeface="IBM Plex Sans Arabic" pitchFamily="34" charset="0"/>
                <a:ea typeface="IBM Plex Sans Arabic" pitchFamily="34" charset="-122"/>
                <a:cs typeface="IBM Plex Sans Arabic" pitchFamily="34" charset="-120"/>
              </a:rPr>
              <a:t>Specialized accessories across multiple categories for electric vehicle owners.</a:t>
            </a:r>
            <a:endParaRPr lang="en-US" sz="1150" dirty="0"/>
          </a:p>
        </p:txBody>
      </p:sp>
      <p:sp>
        <p:nvSpPr>
          <p:cNvPr id="11" name="Text 8"/>
          <p:cNvSpPr txBox="1"/>
          <p:nvPr/>
        </p:nvSpPr>
        <p:spPr>
          <a:xfrm>
            <a:off x="8321040" y="1371600"/>
            <a:ext cx="3227832" cy="457200"/>
          </a:xfrm>
          <a:prstGeom prst="rect">
            <a:avLst/>
          </a:prstGeom>
          <a:noFill/>
          <a:ln/>
        </p:spPr>
        <p:txBody>
          <a:bodyPr wrap="square" lIns="0" tIns="0" rIns="0" bIns="0" rtlCol="0" anchor="t"/>
          <a:lstStyle/>
          <a:p>
            <a:pPr rtl="1" algn="r" indent="0" marL="0">
              <a:buNone/>
            </a:pPr>
            <a:r>
              <a:rPr lang="ar-AE" altLang="en-US" sz="1150" dirty="0">
                <a:solidFill>
                  <a:schemeClr val="accent3"/>
                </a:solidFill>
                <a:latin typeface="IBM Plex Sans Arabic" pitchFamily="34" charset="0"/>
                <a:ea typeface="IBM Plex Sans Arabic" pitchFamily="34" charset="-122"/>
                <a:cs typeface="IBM Plex Sans Arabic" pitchFamily="34" charset="-120"/>
              </a:rPr>
              <a:t>منتجات متخصصة لملاك السيارات الكهربائية، تشمل فئات متعددة من الإكسسوارات.</a:t>
            </a:r>
            <a:endParaRPr lang="ar-AE" sz="1150" dirty="0"/>
          </a:p>
        </p:txBody>
      </p:sp>
      <p:sp>
        <p:nvSpPr>
          <p:cNvPr id="12" name="Category row 1"/>
          <p:cNvSpPr/>
          <p:nvPr/>
        </p:nvSpPr>
        <p:spPr>
          <a:xfrm>
            <a:off x="5029200" y="2011680"/>
            <a:ext cx="6522415" cy="448056"/>
          </a:xfrm>
          <a:prstGeom prst="roundRect">
            <a:avLst>
              <a:gd name="adj" fmla="val 14286"/>
            </a:avLst>
          </a:prstGeom>
          <a:solidFill>
            <a:schemeClr val="bg2"/>
          </a:solidFill>
          <a:ln/>
        </p:spPr>
      </p:sp>
      <p:pic>
        <p:nvPicPr>
          <p:cNvPr id="13" name="Category icon 1" descr="icon">    </p:cNvPr>
          <p:cNvPicPr>
            <a:picLocks noChangeAspect="1"/>
          </p:cNvPicPr>
          <p:nvPr/>
        </p:nvPicPr>
        <p:blipFill>
          <a:blip r:embed="rId2"/>
          <a:stretch>
            <a:fillRect/>
          </a:stretch>
        </p:blipFill>
        <p:spPr>
          <a:xfrm>
            <a:off x="5166360" y="2093976"/>
            <a:ext cx="283464" cy="283464"/>
          </a:xfrm>
          <a:prstGeom prst="rect">
            <a:avLst/>
          </a:prstGeom>
        </p:spPr>
      </p:pic>
      <p:sp>
        <p:nvSpPr>
          <p:cNvPr id="14" name="Text 10"/>
          <p:cNvSpPr txBox="1"/>
          <p:nvPr/>
        </p:nvSpPr>
        <p:spPr>
          <a:xfrm>
            <a:off x="5623560" y="2084832"/>
            <a:ext cx="3246120" cy="301752"/>
          </a:xfrm>
          <a:prstGeom prst="rect">
            <a:avLst/>
          </a:prstGeom>
          <a:noFill/>
          <a:ln/>
        </p:spPr>
        <p:txBody>
          <a:bodyPr wrap="square" lIns="0" tIns="0" rIns="0" bIns="0" rtlCol="0" anchor="ctr"/>
          <a:lstStyle/>
          <a:p>
            <a:pPr algn="l" indent="0" marL="0">
              <a:buNone/>
            </a:pPr>
            <a:r>
              <a:rPr lang="en-US" sz="1200" b="1" dirty="0">
                <a:solidFill>
                  <a:schemeClr val="tx1"/>
                </a:solidFill>
                <a:latin typeface="IBM Plex Sans Arabic" pitchFamily="34" charset="0"/>
                <a:ea typeface="IBM Plex Sans Arabic" pitchFamily="34" charset="-122"/>
                <a:cs typeface="IBM Plex Sans Arabic" pitchFamily="34" charset="-120"/>
              </a:rPr>
              <a:t>Interior Accessories</a:t>
            </a:r>
            <a:endParaRPr lang="en-US" sz="1200" dirty="0"/>
          </a:p>
        </p:txBody>
      </p:sp>
      <p:sp>
        <p:nvSpPr>
          <p:cNvPr id="15" name="Text 11"/>
          <p:cNvSpPr txBox="1"/>
          <p:nvPr/>
        </p:nvSpPr>
        <p:spPr>
          <a:xfrm>
            <a:off x="8854135" y="2084832"/>
            <a:ext cx="2514600" cy="301752"/>
          </a:xfrm>
          <a:prstGeom prst="rect">
            <a:avLst/>
          </a:prstGeom>
          <a:noFill/>
          <a:ln/>
        </p:spPr>
        <p:txBody>
          <a:bodyPr wrap="square" lIns="0" tIns="0" rIns="0" bIns="0" rtlCol="0" anchor="ctr"/>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الإكسسوارات الداخلية</a:t>
            </a:r>
            <a:endParaRPr lang="ar-AE" sz="1200" dirty="0"/>
          </a:p>
        </p:txBody>
      </p:sp>
      <p:sp>
        <p:nvSpPr>
          <p:cNvPr id="16" name="Category row 2"/>
          <p:cNvSpPr/>
          <p:nvPr/>
        </p:nvSpPr>
        <p:spPr>
          <a:xfrm>
            <a:off x="5029200" y="2519172"/>
            <a:ext cx="6522415" cy="448056"/>
          </a:xfrm>
          <a:prstGeom prst="roundRect">
            <a:avLst>
              <a:gd name="adj" fmla="val 14286"/>
            </a:avLst>
          </a:prstGeom>
          <a:solidFill>
            <a:schemeClr val="bg2"/>
          </a:solidFill>
          <a:ln/>
        </p:spPr>
      </p:sp>
      <p:pic>
        <p:nvPicPr>
          <p:cNvPr id="17" name="Category icon 2" descr="icon">    </p:cNvPr>
          <p:cNvPicPr>
            <a:picLocks noChangeAspect="1"/>
          </p:cNvPicPr>
          <p:nvPr/>
        </p:nvPicPr>
        <p:blipFill>
          <a:blip r:embed="rId3"/>
          <a:stretch>
            <a:fillRect/>
          </a:stretch>
        </p:blipFill>
        <p:spPr>
          <a:xfrm>
            <a:off x="5166360" y="2601468"/>
            <a:ext cx="283464" cy="283464"/>
          </a:xfrm>
          <a:prstGeom prst="rect">
            <a:avLst/>
          </a:prstGeom>
        </p:spPr>
      </p:pic>
      <p:sp>
        <p:nvSpPr>
          <p:cNvPr id="18" name="Text 13"/>
          <p:cNvSpPr txBox="1"/>
          <p:nvPr/>
        </p:nvSpPr>
        <p:spPr>
          <a:xfrm>
            <a:off x="5623560" y="2592324"/>
            <a:ext cx="3246120" cy="301752"/>
          </a:xfrm>
          <a:prstGeom prst="rect">
            <a:avLst/>
          </a:prstGeom>
          <a:noFill/>
          <a:ln/>
        </p:spPr>
        <p:txBody>
          <a:bodyPr wrap="square" lIns="0" tIns="0" rIns="0" bIns="0" rtlCol="0" anchor="ctr"/>
          <a:lstStyle/>
          <a:p>
            <a:pPr algn="l" indent="0" marL="0">
              <a:buNone/>
            </a:pPr>
            <a:r>
              <a:rPr lang="en-US" sz="1200" b="1" dirty="0">
                <a:solidFill>
                  <a:schemeClr val="tx1"/>
                </a:solidFill>
                <a:latin typeface="IBM Plex Sans Arabic" pitchFamily="34" charset="0"/>
                <a:ea typeface="IBM Plex Sans Arabic" pitchFamily="34" charset="-122"/>
                <a:cs typeface="IBM Plex Sans Arabic" pitchFamily="34" charset="-120"/>
              </a:rPr>
              <a:t>Exterior Accessories</a:t>
            </a:r>
            <a:endParaRPr lang="en-US" sz="1200" dirty="0"/>
          </a:p>
        </p:txBody>
      </p:sp>
      <p:sp>
        <p:nvSpPr>
          <p:cNvPr id="19" name="Text 14"/>
          <p:cNvSpPr txBox="1"/>
          <p:nvPr/>
        </p:nvSpPr>
        <p:spPr>
          <a:xfrm>
            <a:off x="8854135" y="2592324"/>
            <a:ext cx="2514600" cy="301752"/>
          </a:xfrm>
          <a:prstGeom prst="rect">
            <a:avLst/>
          </a:prstGeom>
          <a:noFill/>
          <a:ln/>
        </p:spPr>
        <p:txBody>
          <a:bodyPr wrap="square" lIns="0" tIns="0" rIns="0" bIns="0" rtlCol="0" anchor="ctr"/>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الإكسسوارات الخارجية</a:t>
            </a:r>
            <a:endParaRPr lang="ar-AE" sz="1200" dirty="0"/>
          </a:p>
        </p:txBody>
      </p:sp>
      <p:sp>
        <p:nvSpPr>
          <p:cNvPr id="20" name="Category row 3"/>
          <p:cNvSpPr/>
          <p:nvPr/>
        </p:nvSpPr>
        <p:spPr>
          <a:xfrm>
            <a:off x="5029200" y="3026664"/>
            <a:ext cx="6522415" cy="448056"/>
          </a:xfrm>
          <a:prstGeom prst="roundRect">
            <a:avLst>
              <a:gd name="adj" fmla="val 14286"/>
            </a:avLst>
          </a:prstGeom>
          <a:solidFill>
            <a:schemeClr val="bg2"/>
          </a:solidFill>
          <a:ln/>
        </p:spPr>
      </p:sp>
      <p:pic>
        <p:nvPicPr>
          <p:cNvPr id="21" name="Category icon 3" descr="icon">    </p:cNvPr>
          <p:cNvPicPr>
            <a:picLocks noChangeAspect="1"/>
          </p:cNvPicPr>
          <p:nvPr/>
        </p:nvPicPr>
        <p:blipFill>
          <a:blip r:embed="rId4"/>
          <a:stretch>
            <a:fillRect/>
          </a:stretch>
        </p:blipFill>
        <p:spPr>
          <a:xfrm>
            <a:off x="5166360" y="3108960"/>
            <a:ext cx="283464" cy="283464"/>
          </a:xfrm>
          <a:prstGeom prst="rect">
            <a:avLst/>
          </a:prstGeom>
        </p:spPr>
      </p:pic>
      <p:sp>
        <p:nvSpPr>
          <p:cNvPr id="22" name="Text 16"/>
          <p:cNvSpPr txBox="1"/>
          <p:nvPr/>
        </p:nvSpPr>
        <p:spPr>
          <a:xfrm>
            <a:off x="5623560" y="3099816"/>
            <a:ext cx="3246120" cy="301752"/>
          </a:xfrm>
          <a:prstGeom prst="rect">
            <a:avLst/>
          </a:prstGeom>
          <a:noFill/>
          <a:ln/>
        </p:spPr>
        <p:txBody>
          <a:bodyPr wrap="square" lIns="0" tIns="0" rIns="0" bIns="0" rtlCol="0" anchor="ctr"/>
          <a:lstStyle/>
          <a:p>
            <a:pPr algn="l" indent="0" marL="0">
              <a:buNone/>
            </a:pPr>
            <a:r>
              <a:rPr lang="en-US" sz="1200" b="1" dirty="0">
                <a:solidFill>
                  <a:schemeClr val="tx1"/>
                </a:solidFill>
                <a:latin typeface="IBM Plex Sans Arabic" pitchFamily="34" charset="0"/>
                <a:ea typeface="IBM Plex Sans Arabic" pitchFamily="34" charset="-122"/>
                <a:cs typeface="IBM Plex Sans Arabic" pitchFamily="34" charset="-120"/>
              </a:rPr>
              <a:t>Protection &amp; Organization</a:t>
            </a:r>
            <a:endParaRPr lang="en-US" sz="1200" dirty="0"/>
          </a:p>
        </p:txBody>
      </p:sp>
      <p:sp>
        <p:nvSpPr>
          <p:cNvPr id="23" name="Text 17"/>
          <p:cNvSpPr txBox="1"/>
          <p:nvPr/>
        </p:nvSpPr>
        <p:spPr>
          <a:xfrm>
            <a:off x="8854135" y="3099816"/>
            <a:ext cx="2514600" cy="301752"/>
          </a:xfrm>
          <a:prstGeom prst="rect">
            <a:avLst/>
          </a:prstGeom>
          <a:noFill/>
          <a:ln/>
        </p:spPr>
        <p:txBody>
          <a:bodyPr wrap="square" lIns="0" tIns="0" rIns="0" bIns="0" rtlCol="0" anchor="ctr"/>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الحماية والتنظيم</a:t>
            </a:r>
            <a:endParaRPr lang="ar-AE" sz="1200" dirty="0"/>
          </a:p>
        </p:txBody>
      </p:sp>
      <p:sp>
        <p:nvSpPr>
          <p:cNvPr id="24" name="Category row 4"/>
          <p:cNvSpPr/>
          <p:nvPr/>
        </p:nvSpPr>
        <p:spPr>
          <a:xfrm>
            <a:off x="5029200" y="3534156"/>
            <a:ext cx="6522415" cy="448056"/>
          </a:xfrm>
          <a:prstGeom prst="roundRect">
            <a:avLst>
              <a:gd name="adj" fmla="val 14286"/>
            </a:avLst>
          </a:prstGeom>
          <a:solidFill>
            <a:schemeClr val="bg2"/>
          </a:solidFill>
          <a:ln/>
        </p:spPr>
      </p:sp>
      <p:pic>
        <p:nvPicPr>
          <p:cNvPr id="25" name="Category icon 4" descr="icon">    </p:cNvPr>
          <p:cNvPicPr>
            <a:picLocks noChangeAspect="1"/>
          </p:cNvPicPr>
          <p:nvPr/>
        </p:nvPicPr>
        <p:blipFill>
          <a:blip r:embed="rId5"/>
          <a:stretch>
            <a:fillRect/>
          </a:stretch>
        </p:blipFill>
        <p:spPr>
          <a:xfrm>
            <a:off x="5166360" y="3616452"/>
            <a:ext cx="283464" cy="283464"/>
          </a:xfrm>
          <a:prstGeom prst="rect">
            <a:avLst/>
          </a:prstGeom>
        </p:spPr>
      </p:pic>
      <p:sp>
        <p:nvSpPr>
          <p:cNvPr id="26" name="Text 19"/>
          <p:cNvSpPr txBox="1"/>
          <p:nvPr/>
        </p:nvSpPr>
        <p:spPr>
          <a:xfrm>
            <a:off x="5623560" y="3607308"/>
            <a:ext cx="3246120" cy="301752"/>
          </a:xfrm>
          <a:prstGeom prst="rect">
            <a:avLst/>
          </a:prstGeom>
          <a:noFill/>
          <a:ln/>
        </p:spPr>
        <p:txBody>
          <a:bodyPr wrap="square" lIns="0" tIns="0" rIns="0" bIns="0" rtlCol="0" anchor="ctr"/>
          <a:lstStyle/>
          <a:p>
            <a:pPr algn="l" indent="0" marL="0">
              <a:buNone/>
            </a:pPr>
            <a:r>
              <a:rPr lang="en-US" sz="1200" b="1" dirty="0">
                <a:solidFill>
                  <a:schemeClr val="tx1"/>
                </a:solidFill>
                <a:latin typeface="IBM Plex Sans Arabic" pitchFamily="34" charset="0"/>
                <a:ea typeface="IBM Plex Sans Arabic" pitchFamily="34" charset="-122"/>
                <a:cs typeface="IBM Plex Sans Arabic" pitchFamily="34" charset="-120"/>
              </a:rPr>
              <a:t>Sunshades &amp; Heat Protection</a:t>
            </a:r>
            <a:endParaRPr lang="en-US" sz="1200" dirty="0"/>
          </a:p>
        </p:txBody>
      </p:sp>
      <p:sp>
        <p:nvSpPr>
          <p:cNvPr id="27" name="Text 20"/>
          <p:cNvSpPr txBox="1"/>
          <p:nvPr/>
        </p:nvSpPr>
        <p:spPr>
          <a:xfrm>
            <a:off x="8854135" y="3607308"/>
            <a:ext cx="2514600" cy="301752"/>
          </a:xfrm>
          <a:prstGeom prst="rect">
            <a:avLst/>
          </a:prstGeom>
          <a:noFill/>
          <a:ln/>
        </p:spPr>
        <p:txBody>
          <a:bodyPr wrap="square" lIns="0" tIns="0" rIns="0" bIns="0" rtlCol="0" anchor="ctr"/>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المظلات والعوازل</a:t>
            </a:r>
            <a:endParaRPr lang="ar-AE" sz="1200" dirty="0"/>
          </a:p>
        </p:txBody>
      </p:sp>
      <p:sp>
        <p:nvSpPr>
          <p:cNvPr id="28" name="Category row 5"/>
          <p:cNvSpPr/>
          <p:nvPr/>
        </p:nvSpPr>
        <p:spPr>
          <a:xfrm>
            <a:off x="5029200" y="4041648"/>
            <a:ext cx="6522415" cy="448056"/>
          </a:xfrm>
          <a:prstGeom prst="roundRect">
            <a:avLst>
              <a:gd name="adj" fmla="val 14286"/>
            </a:avLst>
          </a:prstGeom>
          <a:solidFill>
            <a:schemeClr val="bg2"/>
          </a:solidFill>
          <a:ln/>
        </p:spPr>
      </p:sp>
      <p:pic>
        <p:nvPicPr>
          <p:cNvPr id="29" name="Category icon 5" descr="icon">    </p:cNvPr>
          <p:cNvPicPr>
            <a:picLocks noChangeAspect="1"/>
          </p:cNvPicPr>
          <p:nvPr/>
        </p:nvPicPr>
        <p:blipFill>
          <a:blip r:embed="rId6"/>
          <a:stretch>
            <a:fillRect/>
          </a:stretch>
        </p:blipFill>
        <p:spPr>
          <a:xfrm>
            <a:off x="5166360" y="4123944"/>
            <a:ext cx="283464" cy="283464"/>
          </a:xfrm>
          <a:prstGeom prst="rect">
            <a:avLst/>
          </a:prstGeom>
        </p:spPr>
      </p:pic>
      <p:sp>
        <p:nvSpPr>
          <p:cNvPr id="30" name="Text 22"/>
          <p:cNvSpPr txBox="1"/>
          <p:nvPr/>
        </p:nvSpPr>
        <p:spPr>
          <a:xfrm>
            <a:off x="5623560" y="4114800"/>
            <a:ext cx="3246120" cy="301752"/>
          </a:xfrm>
          <a:prstGeom prst="rect">
            <a:avLst/>
          </a:prstGeom>
          <a:noFill/>
          <a:ln/>
        </p:spPr>
        <p:txBody>
          <a:bodyPr wrap="square" lIns="0" tIns="0" rIns="0" bIns="0" rtlCol="0" anchor="ctr"/>
          <a:lstStyle/>
          <a:p>
            <a:pPr algn="l" indent="0" marL="0">
              <a:buNone/>
            </a:pPr>
            <a:r>
              <a:rPr lang="en-US" sz="1200" b="1" dirty="0">
                <a:solidFill>
                  <a:schemeClr val="tx1"/>
                </a:solidFill>
                <a:latin typeface="IBM Plex Sans Arabic" pitchFamily="34" charset="0"/>
                <a:ea typeface="IBM Plex Sans Arabic" pitchFamily="34" charset="-122"/>
                <a:cs typeface="IBM Plex Sans Arabic" pitchFamily="34" charset="-120"/>
              </a:rPr>
              <a:t>Floor Mats &amp; Interior Protection</a:t>
            </a:r>
            <a:endParaRPr lang="en-US" sz="1200" dirty="0"/>
          </a:p>
        </p:txBody>
      </p:sp>
      <p:sp>
        <p:nvSpPr>
          <p:cNvPr id="31" name="Text 23"/>
          <p:cNvSpPr txBox="1"/>
          <p:nvPr/>
        </p:nvSpPr>
        <p:spPr>
          <a:xfrm>
            <a:off x="8854135" y="4114800"/>
            <a:ext cx="2514600" cy="301752"/>
          </a:xfrm>
          <a:prstGeom prst="rect">
            <a:avLst/>
          </a:prstGeom>
          <a:noFill/>
          <a:ln/>
        </p:spPr>
        <p:txBody>
          <a:bodyPr wrap="square" lIns="0" tIns="0" rIns="0" bIns="0" rtlCol="0" anchor="ctr"/>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الفرش والأرضيات</a:t>
            </a:r>
            <a:endParaRPr lang="ar-AE" sz="1200" dirty="0"/>
          </a:p>
        </p:txBody>
      </p:sp>
      <p:sp>
        <p:nvSpPr>
          <p:cNvPr id="32" name="Category row 6"/>
          <p:cNvSpPr/>
          <p:nvPr/>
        </p:nvSpPr>
        <p:spPr>
          <a:xfrm>
            <a:off x="5029200" y="4549140"/>
            <a:ext cx="6522415" cy="448056"/>
          </a:xfrm>
          <a:prstGeom prst="roundRect">
            <a:avLst>
              <a:gd name="adj" fmla="val 14286"/>
            </a:avLst>
          </a:prstGeom>
          <a:solidFill>
            <a:schemeClr val="bg2"/>
          </a:solidFill>
          <a:ln/>
        </p:spPr>
      </p:sp>
      <p:pic>
        <p:nvPicPr>
          <p:cNvPr id="33" name="Category icon 6" descr="icon">    </p:cNvPr>
          <p:cNvPicPr>
            <a:picLocks noChangeAspect="1"/>
          </p:cNvPicPr>
          <p:nvPr/>
        </p:nvPicPr>
        <p:blipFill>
          <a:blip r:embed="rId7"/>
          <a:stretch>
            <a:fillRect/>
          </a:stretch>
        </p:blipFill>
        <p:spPr>
          <a:xfrm>
            <a:off x="5166360" y="4631436"/>
            <a:ext cx="283464" cy="283464"/>
          </a:xfrm>
          <a:prstGeom prst="rect">
            <a:avLst/>
          </a:prstGeom>
        </p:spPr>
      </p:pic>
      <p:sp>
        <p:nvSpPr>
          <p:cNvPr id="34" name="Text 25"/>
          <p:cNvSpPr txBox="1"/>
          <p:nvPr/>
        </p:nvSpPr>
        <p:spPr>
          <a:xfrm>
            <a:off x="5623560" y="4622292"/>
            <a:ext cx="3246120" cy="301752"/>
          </a:xfrm>
          <a:prstGeom prst="rect">
            <a:avLst/>
          </a:prstGeom>
          <a:noFill/>
          <a:ln/>
        </p:spPr>
        <p:txBody>
          <a:bodyPr wrap="square" lIns="0" tIns="0" rIns="0" bIns="0" rtlCol="0" anchor="ctr"/>
          <a:lstStyle/>
          <a:p>
            <a:pPr algn="l" indent="0" marL="0">
              <a:buNone/>
            </a:pPr>
            <a:r>
              <a:rPr lang="en-US" sz="1200" b="1" dirty="0">
                <a:solidFill>
                  <a:schemeClr val="tx1"/>
                </a:solidFill>
                <a:latin typeface="IBM Plex Sans Arabic" pitchFamily="34" charset="0"/>
                <a:ea typeface="IBM Plex Sans Arabic" pitchFamily="34" charset="-122"/>
                <a:cs typeface="IBM Plex Sans Arabic" pitchFamily="34" charset="-120"/>
              </a:rPr>
              <a:t>Wheel Covers &amp; Exterior Enhancements</a:t>
            </a:r>
            <a:endParaRPr lang="en-US" sz="1200" dirty="0"/>
          </a:p>
        </p:txBody>
      </p:sp>
      <p:sp>
        <p:nvSpPr>
          <p:cNvPr id="35" name="Text 26"/>
          <p:cNvSpPr txBox="1"/>
          <p:nvPr/>
        </p:nvSpPr>
        <p:spPr>
          <a:xfrm>
            <a:off x="8854135" y="4622292"/>
            <a:ext cx="2514600" cy="301752"/>
          </a:xfrm>
          <a:prstGeom prst="rect">
            <a:avLst/>
          </a:prstGeom>
          <a:noFill/>
          <a:ln/>
        </p:spPr>
        <p:txBody>
          <a:bodyPr wrap="square" lIns="0" tIns="0" rIns="0" bIns="0" rtlCol="0" anchor="ctr"/>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أغطية العجلات والإضافات الخارجية</a:t>
            </a:r>
            <a:endParaRPr lang="ar-AE" sz="1200" dirty="0"/>
          </a:p>
        </p:txBody>
      </p:sp>
      <p:sp>
        <p:nvSpPr>
          <p:cNvPr id="36" name="Category row 7"/>
          <p:cNvSpPr/>
          <p:nvPr/>
        </p:nvSpPr>
        <p:spPr>
          <a:xfrm>
            <a:off x="5029200" y="5056632"/>
            <a:ext cx="6522415" cy="448056"/>
          </a:xfrm>
          <a:prstGeom prst="roundRect">
            <a:avLst>
              <a:gd name="adj" fmla="val 14286"/>
            </a:avLst>
          </a:prstGeom>
          <a:solidFill>
            <a:schemeClr val="bg2"/>
          </a:solidFill>
          <a:ln/>
        </p:spPr>
      </p:sp>
      <p:pic>
        <p:nvPicPr>
          <p:cNvPr id="37" name="Category icon 7" descr="icon">    </p:cNvPr>
          <p:cNvPicPr>
            <a:picLocks noChangeAspect="1"/>
          </p:cNvPicPr>
          <p:nvPr/>
        </p:nvPicPr>
        <p:blipFill>
          <a:blip r:embed="rId8"/>
          <a:stretch>
            <a:fillRect/>
          </a:stretch>
        </p:blipFill>
        <p:spPr>
          <a:xfrm>
            <a:off x="5166360" y="5138928"/>
            <a:ext cx="283464" cy="283464"/>
          </a:xfrm>
          <a:prstGeom prst="rect">
            <a:avLst/>
          </a:prstGeom>
        </p:spPr>
      </p:pic>
      <p:sp>
        <p:nvSpPr>
          <p:cNvPr id="38" name="Text 28"/>
          <p:cNvSpPr txBox="1"/>
          <p:nvPr/>
        </p:nvSpPr>
        <p:spPr>
          <a:xfrm>
            <a:off x="5623560" y="5129784"/>
            <a:ext cx="3246120" cy="301752"/>
          </a:xfrm>
          <a:prstGeom prst="rect">
            <a:avLst/>
          </a:prstGeom>
          <a:noFill/>
          <a:ln/>
        </p:spPr>
        <p:txBody>
          <a:bodyPr wrap="square" lIns="0" tIns="0" rIns="0" bIns="0" rtlCol="0" anchor="ctr"/>
          <a:lstStyle/>
          <a:p>
            <a:pPr algn="l" indent="0" marL="0">
              <a:buNone/>
            </a:pPr>
            <a:r>
              <a:rPr lang="en-US" sz="1200" b="1" dirty="0">
                <a:solidFill>
                  <a:schemeClr val="tx1"/>
                </a:solidFill>
                <a:latin typeface="IBM Plex Sans Arabic" pitchFamily="34" charset="0"/>
                <a:ea typeface="IBM Plex Sans Arabic" pitchFamily="34" charset="-122"/>
                <a:cs typeface="IBM Plex Sans Arabic" pitchFamily="34" charset="-120"/>
              </a:rPr>
              <a:t>Cabin Air Filters</a:t>
            </a:r>
            <a:endParaRPr lang="en-US" sz="1200" dirty="0"/>
          </a:p>
        </p:txBody>
      </p:sp>
      <p:sp>
        <p:nvSpPr>
          <p:cNvPr id="39" name="Text 29"/>
          <p:cNvSpPr txBox="1"/>
          <p:nvPr/>
        </p:nvSpPr>
        <p:spPr>
          <a:xfrm>
            <a:off x="8854135" y="5129784"/>
            <a:ext cx="2514600" cy="301752"/>
          </a:xfrm>
          <a:prstGeom prst="rect">
            <a:avLst/>
          </a:prstGeom>
          <a:noFill/>
          <a:ln/>
        </p:spPr>
        <p:txBody>
          <a:bodyPr wrap="square" lIns="0" tIns="0" rIns="0" bIns="0" rtlCol="0" anchor="ctr"/>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فلاتر المقصورة</a:t>
            </a:r>
            <a:endParaRPr lang="ar-AE" sz="1200" dirty="0"/>
          </a:p>
        </p:txBody>
      </p:sp>
      <p:sp>
        <p:nvSpPr>
          <p:cNvPr id="40" name="Category row 8"/>
          <p:cNvSpPr/>
          <p:nvPr/>
        </p:nvSpPr>
        <p:spPr>
          <a:xfrm>
            <a:off x="5029200" y="5564124"/>
            <a:ext cx="6522415" cy="448056"/>
          </a:xfrm>
          <a:prstGeom prst="roundRect">
            <a:avLst>
              <a:gd name="adj" fmla="val 14286"/>
            </a:avLst>
          </a:prstGeom>
          <a:solidFill>
            <a:schemeClr val="bg2"/>
          </a:solidFill>
          <a:ln/>
        </p:spPr>
      </p:sp>
      <p:pic>
        <p:nvPicPr>
          <p:cNvPr id="41" name="Category icon 8" descr="icon">    </p:cNvPr>
          <p:cNvPicPr>
            <a:picLocks noChangeAspect="1"/>
          </p:cNvPicPr>
          <p:nvPr/>
        </p:nvPicPr>
        <p:blipFill>
          <a:blip r:embed="rId9"/>
          <a:stretch>
            <a:fillRect/>
          </a:stretch>
        </p:blipFill>
        <p:spPr>
          <a:xfrm>
            <a:off x="5166360" y="5646420"/>
            <a:ext cx="283464" cy="283464"/>
          </a:xfrm>
          <a:prstGeom prst="rect">
            <a:avLst/>
          </a:prstGeom>
        </p:spPr>
      </p:pic>
      <p:sp>
        <p:nvSpPr>
          <p:cNvPr id="42" name="Text 31"/>
          <p:cNvSpPr txBox="1"/>
          <p:nvPr/>
        </p:nvSpPr>
        <p:spPr>
          <a:xfrm>
            <a:off x="5623560" y="5637276"/>
            <a:ext cx="3246120" cy="301752"/>
          </a:xfrm>
          <a:prstGeom prst="rect">
            <a:avLst/>
          </a:prstGeom>
          <a:noFill/>
          <a:ln/>
        </p:spPr>
        <p:txBody>
          <a:bodyPr wrap="square" lIns="0" tIns="0" rIns="0" bIns="0" rtlCol="0" anchor="ctr"/>
          <a:lstStyle/>
          <a:p>
            <a:pPr algn="l" indent="0" marL="0">
              <a:buNone/>
            </a:pPr>
            <a:r>
              <a:rPr lang="en-US" sz="1200" b="1" dirty="0">
                <a:solidFill>
                  <a:schemeClr val="tx1"/>
                </a:solidFill>
                <a:latin typeface="IBM Plex Sans Arabic" pitchFamily="34" charset="0"/>
                <a:ea typeface="IBM Plex Sans Arabic" pitchFamily="34" charset="-122"/>
                <a:cs typeface="IBM Plex Sans Arabic" pitchFamily="34" charset="-120"/>
              </a:rPr>
              <a:t>Smart &amp; Functional Accessories</a:t>
            </a:r>
            <a:endParaRPr lang="en-US" sz="1200" dirty="0"/>
          </a:p>
        </p:txBody>
      </p:sp>
      <p:sp>
        <p:nvSpPr>
          <p:cNvPr id="43" name="Text 32"/>
          <p:cNvSpPr txBox="1"/>
          <p:nvPr/>
        </p:nvSpPr>
        <p:spPr>
          <a:xfrm>
            <a:off x="8854135" y="5637276"/>
            <a:ext cx="2514600" cy="301752"/>
          </a:xfrm>
          <a:prstGeom prst="rect">
            <a:avLst/>
          </a:prstGeom>
          <a:noFill/>
          <a:ln/>
        </p:spPr>
        <p:txBody>
          <a:bodyPr wrap="square" lIns="0" tIns="0" rIns="0" bIns="0" rtlCol="0" anchor="ctr"/>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المنتجات الذكية والعملية</a:t>
            </a:r>
            <a:endParaRPr lang="ar-AE" sz="1200" dirty="0"/>
          </a:p>
        </p:txBody>
      </p:sp>
      <p:sp>
        <p:nvSpPr>
          <p:cNvPr id="4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endParaRPr lang="en-US" sz="3000" dirty="0"/>
          </a:p>
        </p:txBody>
      </p:sp>
      <p:sp>
        <p:nvSpPr>
          <p:cNvPr id="4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algn="r" indent="0" marL="0">
              <a:buNone/>
            </a:pPr>
            <a:endParaRPr lang="en-US" sz="30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A75"/>
                </a:solidFill>
                <a:latin typeface="IBM Plex Sans Arabic"/>
                <a:ea typeface="IBM Plex Sans Arabic"/>
                <a:cs typeface="IBM Plex Sans Arabic"/>
              </a:defRPr>
            </a:lvl1pPr>
          </a:lstStyle>
          <a:p>
            <a:pPr algn="r"/>
            <a:fld id="{F7021451-1387-4CA6-816F-3879F97B5CBC}" type="slidenum">
              <a:rPr b="0" lang="en-US"/>
              <a:t>9</a:t>
            </a:fld>
            <a:endParaRPr lang="en-US"/>
          </a:p>
        </p:txBody>
      </p:sp>
      <p:sp>
        <p:nvSpPr>
          <p:cNvPr id="46" name="Back to contents" descr="Back to contents">
            <a:hlinkClick r:id="rId12" action="ppaction://hlinksldjump" tooltip="Back to Contents / العودة إلى المحتويات"/>
          </p:cNvPr>
          <p:cNvSpPr/>
          <p:nvPr/>
        </p:nvSpPr>
        <p:spPr>
          <a:xfrm>
            <a:off x="8838000" y="6283000"/>
            <a:ext cx="1850000" cy="300000"/>
          </a:xfrm>
          <a:prstGeom prst="roundRect">
            <a:avLst>
              <a:gd name="adj" fmla="val 50000"/>
            </a:avLst>
          </a:prstGeom>
          <a:noFill/>
          <a:ln w="9525">
            <a:solidFill>
              <a:schemeClr val="accent1"/>
            </a:solidFill>
          </a:ln>
        </p:spPr>
        <p:txBody>
          <a:bodyPr wrap="none" lIns="0" tIns="0" rIns="0" bIns="0" rtlCol="0" anchor="ctr"/>
          <a:lstStyle/>
          <a:p>
            <a:pPr algn="ctr"/>
            <a:r>
              <a:rPr lang="en-US" sz="900" b="1" spc="120" dirty="0">
                <a:solidFill>
                  <a:schemeClr val="accent1"/>
                </a:solidFill>
                <a:latin typeface="IBM Plex Sans Arabic"/>
                <a:cs typeface="IBM Plex Sans Arabic"/>
              </a:rPr>
              <a:t>CONTENTS  ·  </a:t>
            </a:r>
            <a:r>
              <a:rPr lang="ar-AE" sz="900" b="1" dirty="0">
                <a:solidFill>
                  <a:schemeClr val="accent1"/>
                </a:solidFill>
                <a:latin typeface="IBM Plex Sans Arabic"/>
                <a:cs typeface="IBM Plex Sans Arabic"/>
              </a:rPr>
              <a:t>المحتويات</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2"/>
                </a:solidFill>
                <a:latin typeface="IBM Plex Sans Arabic" pitchFamily="34" charset="0"/>
                <a:ea typeface="IBM Plex Sans Arabic" pitchFamily="34" charset="-122"/>
                <a:cs typeface="IBM Plex Sans Arabic" pitchFamily="34" charset="-120"/>
              </a:rPr>
              <a:t>02   ·   WHAT WE DO</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2"/>
                </a:solidFill>
                <a:latin typeface="IBM Plex Sans Arabic" pitchFamily="34" charset="0"/>
                <a:ea typeface="IBM Plex Sans Arabic" pitchFamily="34" charset="-122"/>
                <a:cs typeface="IBM Plex Sans Arabic" pitchFamily="34" charset="-120"/>
              </a:rPr>
              <a:t>ماذا نقدم   ·   02</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bg1"/>
                </a:solidFill>
                <a:latin typeface="IBM Plex Sans Arabic Light" pitchFamily="34" charset="0"/>
                <a:ea typeface="IBM Plex Sans Arabic Light" pitchFamily="34" charset="-122"/>
                <a:cs typeface="IBM Plex Sans Arabic Light" pitchFamily="34" charset="-120"/>
              </a:rPr>
              <a:t>EV Charging Solutions</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bg1"/>
                </a:solidFill>
                <a:latin typeface="IBM Plex Sans Arabic Light" pitchFamily="34" charset="0"/>
                <a:ea typeface="IBM Plex Sans Arabic Light" pitchFamily="34" charset="-122"/>
                <a:cs typeface="IBM Plex Sans Arabic Light" pitchFamily="34" charset="-120"/>
              </a:rPr>
              <a:t>حلول الشحن</a:t>
            </a:r>
            <a:endParaRPr lang="ar-AE" sz="3000" dirty="0"/>
          </a:p>
        </p:txBody>
      </p:sp>
      <p:pic>
        <p:nvPicPr>
          <p:cNvPr id="6" name="Charger" descr="EV wall charger illustration">    </p:cNvPr>
          <p:cNvPicPr>
            <a:picLocks noChangeAspect="1"/>
          </p:cNvPicPr>
          <p:nvPr/>
        </p:nvPicPr>
        <p:blipFill>
          <a:blip r:embed="rId1"/>
          <a:srcRect l="0" r="0" t="0" b="0"/>
          <a:stretch/>
        </p:blipFill>
        <p:spPr>
          <a:xfrm>
            <a:off x="548640" y="1417320"/>
            <a:ext cx="4069080" cy="4575454"/>
          </a:xfrm>
          <a:prstGeom prst="rect">
            <a:avLst/>
          </a:prstGeom>
        </p:spPr>
      </p:pic>
      <p:sp>
        <p:nvSpPr>
          <p:cNvPr id="7" name="Charging icon 1 circle"/>
          <p:cNvSpPr/>
          <p:nvPr/>
        </p:nvSpPr>
        <p:spPr>
          <a:xfrm>
            <a:off x="4846320" y="1691640"/>
            <a:ext cx="566928" cy="566928"/>
          </a:xfrm>
          <a:prstGeom prst="ellipse">
            <a:avLst/>
          </a:prstGeom>
          <a:solidFill>
            <a:schemeClr val="bg1">
              <a:alpha val="10000"/>
            </a:schemeClr>
          </a:solidFill>
          <a:ln/>
        </p:spPr>
      </p:sp>
      <p:pic>
        <p:nvPicPr>
          <p:cNvPr id="8" name="Charging icon 1" descr="icon">    </p:cNvPr>
          <p:cNvPicPr>
            <a:picLocks noChangeAspect="1"/>
          </p:cNvPicPr>
          <p:nvPr/>
        </p:nvPicPr>
        <p:blipFill>
          <a:blip r:embed="rId2"/>
          <a:stretch>
            <a:fillRect/>
          </a:stretch>
        </p:blipFill>
        <p:spPr>
          <a:xfrm>
            <a:off x="4982383" y="1827703"/>
            <a:ext cx="294803" cy="294803"/>
          </a:xfrm>
          <a:prstGeom prst="rect">
            <a:avLst/>
          </a:prstGeom>
        </p:spPr>
      </p:pic>
      <p:sp>
        <p:nvSpPr>
          <p:cNvPr id="9" name="Text 5"/>
          <p:cNvSpPr txBox="1"/>
          <p:nvPr/>
        </p:nvSpPr>
        <p:spPr>
          <a:xfrm>
            <a:off x="5623560" y="1673352"/>
            <a:ext cx="2926080" cy="274320"/>
          </a:xfrm>
          <a:prstGeom prst="rect">
            <a:avLst/>
          </a:prstGeom>
          <a:noFill/>
          <a:ln/>
        </p:spPr>
        <p:txBody>
          <a:bodyPr wrap="square" lIns="0" tIns="0" rIns="0" bIns="0" rtlCol="0" anchor="t"/>
          <a:lstStyle/>
          <a:p>
            <a:pPr algn="l" indent="0" marL="0">
              <a:buNone/>
            </a:pPr>
            <a:r>
              <a:rPr lang="en-US" sz="1400" b="1" dirty="0">
                <a:solidFill>
                  <a:schemeClr val="bg1"/>
                </a:solidFill>
                <a:latin typeface="IBM Plex Sans Arabic" pitchFamily="34" charset="0"/>
                <a:ea typeface="IBM Plex Sans Arabic" pitchFamily="34" charset="-122"/>
                <a:cs typeface="IBM Plex Sans Arabic" pitchFamily="34" charset="-120"/>
              </a:rPr>
              <a:t>Matched to your vehicle</a:t>
            </a:r>
            <a:endParaRPr lang="en-US" sz="1400" dirty="0"/>
          </a:p>
        </p:txBody>
      </p:sp>
      <p:sp>
        <p:nvSpPr>
          <p:cNvPr id="10" name="Text 6"/>
          <p:cNvSpPr txBox="1"/>
          <p:nvPr/>
        </p:nvSpPr>
        <p:spPr>
          <a:xfrm>
            <a:off x="8641080" y="1673352"/>
            <a:ext cx="2910535" cy="274320"/>
          </a:xfrm>
          <a:prstGeom prst="rect">
            <a:avLst/>
          </a:prstGeom>
          <a:noFill/>
          <a:ln/>
        </p:spPr>
        <p:txBody>
          <a:bodyPr wrap="square" lIns="0" tIns="0" rIns="0" bIns="0" rtlCol="0" anchor="t"/>
          <a:lstStyle/>
          <a:p>
            <a:pPr rtl="1" algn="r" indent="0" marL="0">
              <a:buNone/>
            </a:pPr>
            <a:r>
              <a:rPr lang="ar-AE" altLang="en-US" sz="1400" b="1" dirty="0">
                <a:solidFill>
                  <a:schemeClr val="accent2"/>
                </a:solidFill>
                <a:latin typeface="IBM Plex Sans Arabic" pitchFamily="34" charset="0"/>
                <a:ea typeface="IBM Plex Sans Arabic" pitchFamily="34" charset="-122"/>
                <a:cs typeface="IBM Plex Sans Arabic" pitchFamily="34" charset="-120"/>
              </a:rPr>
              <a:t>حلول مناسبة لمركبتك</a:t>
            </a:r>
            <a:endParaRPr lang="ar-AE" sz="1400" dirty="0"/>
          </a:p>
        </p:txBody>
      </p:sp>
      <p:sp>
        <p:nvSpPr>
          <p:cNvPr id="11" name="Text 7"/>
          <p:cNvSpPr txBox="1"/>
          <p:nvPr/>
        </p:nvSpPr>
        <p:spPr>
          <a:xfrm>
            <a:off x="5623560" y="2039112"/>
            <a:ext cx="2926080" cy="914400"/>
          </a:xfrm>
          <a:prstGeom prst="rect">
            <a:avLst/>
          </a:prstGeom>
          <a:noFill/>
          <a:ln/>
        </p:spPr>
        <p:txBody>
          <a:bodyPr wrap="square" lIns="0" tIns="0" rIns="0" bIns="0" rtlCol="0" anchor="t"/>
          <a:lstStyle/>
          <a:p>
            <a:pPr algn="l" indent="0" marL="0">
              <a:buNone/>
            </a:pPr>
            <a:r>
              <a:rPr lang="en-US" sz="1150" dirty="0">
                <a:solidFill>
                  <a:schemeClr val="accent5"/>
                </a:solidFill>
                <a:latin typeface="IBM Plex Sans Arabic" pitchFamily="34" charset="0"/>
                <a:ea typeface="IBM Plex Sans Arabic" pitchFamily="34" charset="-122"/>
                <a:cs typeface="IBM Plex Sans Arabic" pitchFamily="34" charset="-120"/>
              </a:rPr>
              <a:t>We help customers choose the right charging solution based on vehicle compatibility, usage and technical specifications.</a:t>
            </a:r>
            <a:endParaRPr lang="en-US" sz="1150" dirty="0"/>
          </a:p>
        </p:txBody>
      </p:sp>
      <p:sp>
        <p:nvSpPr>
          <p:cNvPr id="12" name="Text 8"/>
          <p:cNvSpPr txBox="1"/>
          <p:nvPr/>
        </p:nvSpPr>
        <p:spPr>
          <a:xfrm>
            <a:off x="8641080" y="2039112"/>
            <a:ext cx="2910535" cy="914400"/>
          </a:xfrm>
          <a:prstGeom prst="rect">
            <a:avLst/>
          </a:prstGeom>
          <a:noFill/>
          <a:ln/>
        </p:spPr>
        <p:txBody>
          <a:bodyPr wrap="square" lIns="0" tIns="0" rIns="0" bIns="0" rtlCol="0" anchor="t"/>
          <a:lstStyle/>
          <a:p>
            <a:pPr rtl="1" algn="r" indent="0" marL="0">
              <a:buNone/>
            </a:pPr>
            <a:r>
              <a:rPr lang="ar-AE" altLang="en-US" sz="1150" dirty="0">
                <a:solidFill>
                  <a:schemeClr val="accent5"/>
                </a:solidFill>
                <a:latin typeface="IBM Plex Sans Arabic" pitchFamily="34" charset="0"/>
                <a:ea typeface="IBM Plex Sans Arabic" pitchFamily="34" charset="-122"/>
                <a:cs typeface="IBM Plex Sans Arabic" pitchFamily="34" charset="-120"/>
              </a:rPr>
              <a:t>نساعد العملاء في اختيار حلول الشحن المناسبة بناءً على نوع المركبة ومتطلبات الاستخدام والمواصفات الفنية.</a:t>
            </a:r>
            <a:endParaRPr lang="ar-AE" sz="1150" dirty="0"/>
          </a:p>
        </p:txBody>
      </p:sp>
      <p:sp>
        <p:nvSpPr>
          <p:cNvPr id="13" name="Charging icon 2 circle"/>
          <p:cNvSpPr/>
          <p:nvPr/>
        </p:nvSpPr>
        <p:spPr>
          <a:xfrm>
            <a:off x="4846320" y="3172968"/>
            <a:ext cx="566928" cy="566928"/>
          </a:xfrm>
          <a:prstGeom prst="ellipse">
            <a:avLst/>
          </a:prstGeom>
          <a:solidFill>
            <a:schemeClr val="bg1">
              <a:alpha val="10000"/>
            </a:schemeClr>
          </a:solidFill>
          <a:ln/>
        </p:spPr>
      </p:sp>
      <p:pic>
        <p:nvPicPr>
          <p:cNvPr id="14" name="Charging icon 2" descr="icon">    </p:cNvPr>
          <p:cNvPicPr>
            <a:picLocks noChangeAspect="1"/>
          </p:cNvPicPr>
          <p:nvPr/>
        </p:nvPicPr>
        <p:blipFill>
          <a:blip r:embed="rId3"/>
          <a:stretch>
            <a:fillRect/>
          </a:stretch>
        </p:blipFill>
        <p:spPr>
          <a:xfrm>
            <a:off x="4982383" y="3309031"/>
            <a:ext cx="294803" cy="294803"/>
          </a:xfrm>
          <a:prstGeom prst="rect">
            <a:avLst/>
          </a:prstGeom>
        </p:spPr>
      </p:pic>
      <p:sp>
        <p:nvSpPr>
          <p:cNvPr id="15" name="Text 10"/>
          <p:cNvSpPr txBox="1"/>
          <p:nvPr/>
        </p:nvSpPr>
        <p:spPr>
          <a:xfrm>
            <a:off x="5623560" y="3154680"/>
            <a:ext cx="2926080" cy="274320"/>
          </a:xfrm>
          <a:prstGeom prst="rect">
            <a:avLst/>
          </a:prstGeom>
          <a:noFill/>
          <a:ln/>
        </p:spPr>
        <p:txBody>
          <a:bodyPr wrap="square" lIns="0" tIns="0" rIns="0" bIns="0" rtlCol="0" anchor="t"/>
          <a:lstStyle/>
          <a:p>
            <a:pPr algn="l" indent="0" marL="0">
              <a:buNone/>
            </a:pPr>
            <a:r>
              <a:rPr lang="en-US" sz="1400" b="1" dirty="0">
                <a:solidFill>
                  <a:schemeClr val="bg1"/>
                </a:solidFill>
                <a:latin typeface="IBM Plex Sans Arabic" pitchFamily="34" charset="0"/>
                <a:ea typeface="IBM Plex Sans Arabic" pitchFamily="34" charset="-122"/>
                <a:cs typeface="IBM Plex Sans Arabic" pitchFamily="34" charset="-120"/>
              </a:rPr>
              <a:t>Professional installation</a:t>
            </a:r>
            <a:endParaRPr lang="en-US" sz="1400" dirty="0"/>
          </a:p>
        </p:txBody>
      </p:sp>
      <p:sp>
        <p:nvSpPr>
          <p:cNvPr id="16" name="Text 11"/>
          <p:cNvSpPr txBox="1"/>
          <p:nvPr/>
        </p:nvSpPr>
        <p:spPr>
          <a:xfrm>
            <a:off x="8641080" y="3154680"/>
            <a:ext cx="2910535" cy="274320"/>
          </a:xfrm>
          <a:prstGeom prst="rect">
            <a:avLst/>
          </a:prstGeom>
          <a:noFill/>
          <a:ln/>
        </p:spPr>
        <p:txBody>
          <a:bodyPr wrap="square" lIns="0" tIns="0" rIns="0" bIns="0" rtlCol="0" anchor="t"/>
          <a:lstStyle/>
          <a:p>
            <a:pPr rtl="1" algn="r" indent="0" marL="0">
              <a:buNone/>
            </a:pPr>
            <a:r>
              <a:rPr lang="ar-AE" altLang="en-US" sz="1400" b="1" dirty="0">
                <a:solidFill>
                  <a:schemeClr val="accent2"/>
                </a:solidFill>
                <a:latin typeface="IBM Plex Sans Arabic" pitchFamily="34" charset="0"/>
                <a:ea typeface="IBM Plex Sans Arabic" pitchFamily="34" charset="-122"/>
                <a:cs typeface="IBM Plex Sans Arabic" pitchFamily="34" charset="-120"/>
              </a:rPr>
              <a:t>تركيب احترافي</a:t>
            </a:r>
            <a:endParaRPr lang="ar-AE" sz="1400" dirty="0"/>
          </a:p>
        </p:txBody>
      </p:sp>
      <p:sp>
        <p:nvSpPr>
          <p:cNvPr id="17" name="Text 12"/>
          <p:cNvSpPr txBox="1"/>
          <p:nvPr/>
        </p:nvSpPr>
        <p:spPr>
          <a:xfrm>
            <a:off x="5623560" y="3520440"/>
            <a:ext cx="2926080" cy="914400"/>
          </a:xfrm>
          <a:prstGeom prst="rect">
            <a:avLst/>
          </a:prstGeom>
          <a:noFill/>
          <a:ln/>
        </p:spPr>
        <p:txBody>
          <a:bodyPr wrap="square" lIns="0" tIns="0" rIns="0" bIns="0" rtlCol="0" anchor="t"/>
          <a:lstStyle/>
          <a:p>
            <a:pPr algn="l" indent="0" marL="0">
              <a:buNone/>
            </a:pPr>
            <a:r>
              <a:rPr lang="en-US" sz="1150" dirty="0">
                <a:solidFill>
                  <a:schemeClr val="accent5"/>
                </a:solidFill>
                <a:latin typeface="IBM Plex Sans Arabic" pitchFamily="34" charset="0"/>
                <a:ea typeface="IBM Plex Sans Arabic" pitchFamily="34" charset="-122"/>
                <a:cs typeface="IBM Plex Sans Arabic" pitchFamily="34" charset="-120"/>
              </a:rPr>
              <a:t>A dedicated technical team installs chargers and adapters for homes, workplaces and other suitable locations.</a:t>
            </a:r>
            <a:endParaRPr lang="en-US" sz="1150" dirty="0"/>
          </a:p>
        </p:txBody>
      </p:sp>
      <p:sp>
        <p:nvSpPr>
          <p:cNvPr id="18" name="Text 13"/>
          <p:cNvSpPr txBox="1"/>
          <p:nvPr/>
        </p:nvSpPr>
        <p:spPr>
          <a:xfrm>
            <a:off x="8641080" y="3520440"/>
            <a:ext cx="2910535" cy="914400"/>
          </a:xfrm>
          <a:prstGeom prst="rect">
            <a:avLst/>
          </a:prstGeom>
          <a:noFill/>
          <a:ln/>
        </p:spPr>
        <p:txBody>
          <a:bodyPr wrap="square" lIns="0" tIns="0" rIns="0" bIns="0" rtlCol="0" anchor="t"/>
          <a:lstStyle/>
          <a:p>
            <a:pPr rtl="1" algn="r" indent="0" marL="0">
              <a:buNone/>
            </a:pPr>
            <a:r>
              <a:rPr lang="ar-AE" altLang="en-US" sz="1150" dirty="0">
                <a:solidFill>
                  <a:schemeClr val="accent5"/>
                </a:solidFill>
                <a:latin typeface="IBM Plex Sans Arabic" pitchFamily="34" charset="0"/>
                <a:ea typeface="IBM Plex Sans Arabic" pitchFamily="34" charset="-122"/>
                <a:cs typeface="IBM Plex Sans Arabic" pitchFamily="34" charset="-120"/>
              </a:rPr>
              <a:t>فريق فني متخصص يتولى تركيب الشواحن والمحولات للمنازل ومواقع العمل وغيرها من المواقع المناسبة.</a:t>
            </a:r>
            <a:endParaRPr lang="ar-AE" sz="1150" dirty="0"/>
          </a:p>
        </p:txBody>
      </p:sp>
      <p:sp>
        <p:nvSpPr>
          <p:cNvPr id="19" name="Charging icon 3 circle"/>
          <p:cNvSpPr/>
          <p:nvPr/>
        </p:nvSpPr>
        <p:spPr>
          <a:xfrm>
            <a:off x="4846320" y="4654296"/>
            <a:ext cx="566928" cy="566928"/>
          </a:xfrm>
          <a:prstGeom prst="ellipse">
            <a:avLst/>
          </a:prstGeom>
          <a:solidFill>
            <a:schemeClr val="bg1">
              <a:alpha val="10000"/>
            </a:schemeClr>
          </a:solidFill>
          <a:ln/>
        </p:spPr>
      </p:sp>
      <p:pic>
        <p:nvPicPr>
          <p:cNvPr id="20" name="Charging icon 3" descr="icon">    </p:cNvPr>
          <p:cNvPicPr>
            <a:picLocks noChangeAspect="1"/>
          </p:cNvPicPr>
          <p:nvPr/>
        </p:nvPicPr>
        <p:blipFill>
          <a:blip r:embed="rId4"/>
          <a:stretch>
            <a:fillRect/>
          </a:stretch>
        </p:blipFill>
        <p:spPr>
          <a:xfrm>
            <a:off x="4982383" y="4790359"/>
            <a:ext cx="294803" cy="294803"/>
          </a:xfrm>
          <a:prstGeom prst="rect">
            <a:avLst/>
          </a:prstGeom>
        </p:spPr>
      </p:pic>
      <p:sp>
        <p:nvSpPr>
          <p:cNvPr id="21" name="Text 15"/>
          <p:cNvSpPr txBox="1"/>
          <p:nvPr/>
        </p:nvSpPr>
        <p:spPr>
          <a:xfrm>
            <a:off x="5623560" y="4636008"/>
            <a:ext cx="2926080" cy="274320"/>
          </a:xfrm>
          <a:prstGeom prst="rect">
            <a:avLst/>
          </a:prstGeom>
          <a:noFill/>
          <a:ln/>
        </p:spPr>
        <p:txBody>
          <a:bodyPr wrap="square" lIns="0" tIns="0" rIns="0" bIns="0" rtlCol="0" anchor="t"/>
          <a:lstStyle/>
          <a:p>
            <a:pPr algn="l" indent="0" marL="0">
              <a:buNone/>
            </a:pPr>
            <a:r>
              <a:rPr lang="en-US" sz="1400" b="1" dirty="0">
                <a:solidFill>
                  <a:schemeClr val="bg1"/>
                </a:solidFill>
                <a:latin typeface="IBM Plex Sans Arabic" pitchFamily="34" charset="0"/>
                <a:ea typeface="IBM Plex Sans Arabic" pitchFamily="34" charset="-122"/>
                <a:cs typeface="IBM Plex Sans Arabic" pitchFamily="34" charset="-120"/>
              </a:rPr>
              <a:t>Warranty-backed service</a:t>
            </a:r>
            <a:endParaRPr lang="en-US" sz="1400" dirty="0"/>
          </a:p>
        </p:txBody>
      </p:sp>
      <p:sp>
        <p:nvSpPr>
          <p:cNvPr id="22" name="Text 16"/>
          <p:cNvSpPr txBox="1"/>
          <p:nvPr/>
        </p:nvSpPr>
        <p:spPr>
          <a:xfrm>
            <a:off x="8641080" y="4636008"/>
            <a:ext cx="2910535" cy="274320"/>
          </a:xfrm>
          <a:prstGeom prst="rect">
            <a:avLst/>
          </a:prstGeom>
          <a:noFill/>
          <a:ln/>
        </p:spPr>
        <p:txBody>
          <a:bodyPr wrap="square" lIns="0" tIns="0" rIns="0" bIns="0" rtlCol="0" anchor="t"/>
          <a:lstStyle/>
          <a:p>
            <a:pPr rtl="1" algn="r" indent="0" marL="0">
              <a:buNone/>
            </a:pPr>
            <a:r>
              <a:rPr lang="ar-AE" altLang="en-US" sz="1400" b="1" dirty="0">
                <a:solidFill>
                  <a:schemeClr val="accent2"/>
                </a:solidFill>
                <a:latin typeface="IBM Plex Sans Arabic" pitchFamily="34" charset="0"/>
                <a:ea typeface="IBM Plex Sans Arabic" pitchFamily="34" charset="-122"/>
                <a:cs typeface="IBM Plex Sans Arabic" pitchFamily="34" charset="-120"/>
              </a:rPr>
              <a:t>خدمة مدعومة بالضمان</a:t>
            </a:r>
            <a:endParaRPr lang="ar-AE" sz="1400" dirty="0"/>
          </a:p>
        </p:txBody>
      </p:sp>
      <p:sp>
        <p:nvSpPr>
          <p:cNvPr id="23" name="Text 17"/>
          <p:cNvSpPr txBox="1"/>
          <p:nvPr/>
        </p:nvSpPr>
        <p:spPr>
          <a:xfrm>
            <a:off x="5623560" y="5001768"/>
            <a:ext cx="2926080" cy="914400"/>
          </a:xfrm>
          <a:prstGeom prst="rect">
            <a:avLst/>
          </a:prstGeom>
          <a:noFill/>
          <a:ln/>
        </p:spPr>
        <p:txBody>
          <a:bodyPr wrap="square" lIns="0" tIns="0" rIns="0" bIns="0" rtlCol="0" anchor="t"/>
          <a:lstStyle/>
          <a:p>
            <a:pPr algn="l" indent="0" marL="0">
              <a:buNone/>
            </a:pPr>
            <a:r>
              <a:rPr lang="en-US" sz="1150" dirty="0">
                <a:solidFill>
                  <a:schemeClr val="accent5"/>
                </a:solidFill>
                <a:latin typeface="IBM Plex Sans Arabic" pitchFamily="34" charset="0"/>
                <a:ea typeface="IBM Plex Sans Arabic" pitchFamily="34" charset="-122"/>
                <a:cs typeface="IBM Plex Sans Arabic" pitchFamily="34" charset="-120"/>
              </a:rPr>
              <a:t>Installation services come with a warranty, subject to the applicable terms and conditions.</a:t>
            </a:r>
            <a:endParaRPr lang="en-US" sz="1150" dirty="0"/>
          </a:p>
        </p:txBody>
      </p:sp>
      <p:sp>
        <p:nvSpPr>
          <p:cNvPr id="24" name="Text 18"/>
          <p:cNvSpPr txBox="1"/>
          <p:nvPr/>
        </p:nvSpPr>
        <p:spPr>
          <a:xfrm>
            <a:off x="8641080" y="5001768"/>
            <a:ext cx="2910535" cy="914400"/>
          </a:xfrm>
          <a:prstGeom prst="rect">
            <a:avLst/>
          </a:prstGeom>
          <a:noFill/>
          <a:ln/>
        </p:spPr>
        <p:txBody>
          <a:bodyPr wrap="square" lIns="0" tIns="0" rIns="0" bIns="0" rtlCol="0" anchor="t"/>
          <a:lstStyle/>
          <a:p>
            <a:pPr rtl="1" algn="r" indent="0" marL="0">
              <a:buNone/>
            </a:pPr>
            <a:r>
              <a:rPr lang="ar-AE" altLang="en-US" sz="1150" dirty="0">
                <a:solidFill>
                  <a:schemeClr val="accent5"/>
                </a:solidFill>
                <a:latin typeface="IBM Plex Sans Arabic" pitchFamily="34" charset="0"/>
                <a:ea typeface="IBM Plex Sans Arabic" pitchFamily="34" charset="-122"/>
                <a:cs typeface="IBM Plex Sans Arabic" pitchFamily="34" charset="-120"/>
              </a:rPr>
              <a:t>نوفر ضماناً على خدمات التركيب وفقاً للشروط المعتمدة.</a:t>
            </a:r>
            <a:endParaRPr lang="ar-AE" sz="115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DDE2E7"/>
                </a:solidFill>
                <a:latin typeface="IBM Plex Sans Arabic"/>
                <a:ea typeface="IBM Plex Sans Arabic"/>
                <a:cs typeface="IBM Plex Sans Arabic"/>
              </a:defRPr>
            </a:lvl1pPr>
          </a:lstStyle>
          <a:p>
            <a:pPr algn="r"/>
            <a:fld id="{F7021451-1387-4CA6-816F-3879F97B5CBC}" type="slidenum">
              <a:rPr b="0" lang="en-US"/>
              <a:t>10</a:t>
            </a:fld>
            <a:endParaRPr lang="en-US"/>
          </a:p>
        </p:txBody>
      </p:sp>
      <p:sp>
        <p:nvSpPr>
          <p:cNvPr id="26" name="Back to contents" descr="Back to contents">
            <a:hlinkClick r:id="rId7" action="ppaction://hlinksldjump" tooltip="Back to Contents / العودة إلى المحتويات"/>
          </p:cNvPr>
          <p:cNvSpPr/>
          <p:nvPr/>
        </p:nvSpPr>
        <p:spPr>
          <a:xfrm>
            <a:off x="8838000" y="6283000"/>
            <a:ext cx="1850000" cy="300000"/>
          </a:xfrm>
          <a:prstGeom prst="roundRect">
            <a:avLst>
              <a:gd name="adj" fmla="val 50000"/>
            </a:avLst>
          </a:prstGeom>
          <a:noFill/>
          <a:ln w="9525">
            <a:solidFill>
              <a:schemeClr val="accent1"/>
            </a:solidFill>
          </a:ln>
        </p:spPr>
        <p:txBody>
          <a:bodyPr wrap="none" lIns="0" tIns="0" rIns="0" bIns="0" rtlCol="0" anchor="ctr"/>
          <a:lstStyle/>
          <a:p>
            <a:pPr algn="ctr"/>
            <a:r>
              <a:rPr lang="en-US" sz="900" b="1" spc="120" dirty="0">
                <a:solidFill>
                  <a:schemeClr val="accent1"/>
                </a:solidFill>
                <a:latin typeface="IBM Plex Sans Arabic"/>
                <a:cs typeface="IBM Plex Sans Arabic"/>
              </a:rPr>
              <a:t>CONTENTS  ·  </a:t>
            </a:r>
            <a:r>
              <a:rPr lang="ar-AE" sz="900" b="1" dirty="0">
                <a:solidFill>
                  <a:schemeClr val="accent1"/>
                </a:solidFill>
                <a:latin typeface="IBM Plex Sans Arabic"/>
                <a:cs typeface="IBM Plex Sans Arabic"/>
              </a:rPr>
              <a:t>المحتويات</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1"/>
                </a:solidFill>
                <a:latin typeface="IBM Plex Sans Arabic" pitchFamily="34" charset="0"/>
                <a:ea typeface="IBM Plex Sans Arabic" pitchFamily="34" charset="-122"/>
                <a:cs typeface="IBM Plex Sans Arabic" pitchFamily="34" charset="-120"/>
              </a:rPr>
              <a:t>02   ·   WHAT WE DO</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1"/>
                </a:solidFill>
                <a:latin typeface="IBM Plex Sans Arabic" pitchFamily="34" charset="0"/>
                <a:ea typeface="IBM Plex Sans Arabic" pitchFamily="34" charset="-122"/>
                <a:cs typeface="IBM Plex Sans Arabic" pitchFamily="34" charset="-120"/>
              </a:rPr>
              <a:t>ماذا نقدم   ·   02</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tx1"/>
                </a:solidFill>
                <a:latin typeface="IBM Plex Sans Arabic Light" pitchFamily="34" charset="0"/>
                <a:ea typeface="IBM Plex Sans Arabic Light" pitchFamily="34" charset="-122"/>
                <a:cs typeface="IBM Plex Sans Arabic Light" pitchFamily="34" charset="-120"/>
              </a:rPr>
              <a:t>Technical Services</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tx1"/>
                </a:solidFill>
                <a:latin typeface="IBM Plex Sans Arabic Light" pitchFamily="34" charset="0"/>
                <a:ea typeface="IBM Plex Sans Arabic Light" pitchFamily="34" charset="-122"/>
                <a:cs typeface="IBM Plex Sans Arabic Light" pitchFamily="34" charset="-120"/>
              </a:rPr>
              <a:t>خدماتنا الفنية</a:t>
            </a:r>
            <a:endParaRPr lang="ar-AE" sz="3000" dirty="0"/>
          </a:p>
        </p:txBody>
      </p:sp>
      <p:sp>
        <p:nvSpPr>
          <p:cNvPr id="6" name="Service card 1"/>
          <p:cNvSpPr/>
          <p:nvPr/>
        </p:nvSpPr>
        <p:spPr>
          <a:xfrm>
            <a:off x="640080" y="1691640"/>
            <a:ext cx="3456432" cy="4389120"/>
          </a:xfrm>
          <a:prstGeom prst="roundRect">
            <a:avLst>
              <a:gd name="adj" fmla="val 2646"/>
            </a:avLst>
          </a:prstGeom>
          <a:solidFill>
            <a:schemeClr val="bg1"/>
          </a:solidFill>
          <a:ln/>
          <a:effectLst>
            <a:outerShdw sx="100000" sy="100000" kx="0" ky="0" algn="bl" rotWithShape="0" blurRad="177800" dist="38100" dir="5400000">
              <a:srgbClr val="0B0D10">
                <a:alpha val="10000"/>
              </a:srgbClr>
            </a:outerShdw>
          </a:effectLst>
        </p:spPr>
      </p:sp>
      <p:sp>
        <p:nvSpPr>
          <p:cNvPr id="7" name="Service icon 1 circle"/>
          <p:cNvSpPr/>
          <p:nvPr/>
        </p:nvSpPr>
        <p:spPr>
          <a:xfrm>
            <a:off x="960120" y="2011680"/>
            <a:ext cx="822960" cy="822960"/>
          </a:xfrm>
          <a:prstGeom prst="ellipse">
            <a:avLst/>
          </a:prstGeom>
          <a:solidFill>
            <a:schemeClr val="accent6"/>
          </a:solidFill>
          <a:ln/>
        </p:spPr>
      </p:sp>
      <p:pic>
        <p:nvPicPr>
          <p:cNvPr id="8" name="Service icon 1" descr="icon">    </p:cNvPr>
          <p:cNvPicPr>
            <a:picLocks noChangeAspect="1"/>
          </p:cNvPicPr>
          <p:nvPr/>
        </p:nvPicPr>
        <p:blipFill>
          <a:blip r:embed="rId1"/>
          <a:stretch>
            <a:fillRect/>
          </a:stretch>
        </p:blipFill>
        <p:spPr>
          <a:xfrm>
            <a:off x="1157630" y="2209190"/>
            <a:ext cx="427939" cy="427939"/>
          </a:xfrm>
          <a:prstGeom prst="rect">
            <a:avLst/>
          </a:prstGeom>
        </p:spPr>
      </p:pic>
      <p:sp>
        <p:nvSpPr>
          <p:cNvPr id="9" name="Text 6"/>
          <p:cNvSpPr txBox="1"/>
          <p:nvPr/>
        </p:nvSpPr>
        <p:spPr>
          <a:xfrm>
            <a:off x="960120" y="3063240"/>
            <a:ext cx="2816352" cy="292608"/>
          </a:xfrm>
          <a:prstGeom prst="rect">
            <a:avLst/>
          </a:prstGeom>
          <a:noFill/>
          <a:ln/>
        </p:spPr>
        <p:txBody>
          <a:bodyPr wrap="square" lIns="0" tIns="0" rIns="0" bIns="0" rtlCol="0" anchor="t"/>
          <a:lstStyle/>
          <a:p>
            <a:pPr algn="l" indent="0" marL="0">
              <a:buNone/>
            </a:pPr>
            <a:r>
              <a:rPr lang="en-US" sz="1700" b="1" dirty="0">
                <a:solidFill>
                  <a:schemeClr val="tx1"/>
                </a:solidFill>
                <a:latin typeface="IBM Plex Sans Arabic" pitchFamily="34" charset="0"/>
                <a:ea typeface="IBM Plex Sans Arabic" pitchFamily="34" charset="-122"/>
                <a:cs typeface="IBM Plex Sans Arabic" pitchFamily="34" charset="-120"/>
              </a:rPr>
              <a:t>Charger Installation</a:t>
            </a:r>
            <a:endParaRPr lang="en-US" sz="1700" dirty="0"/>
          </a:p>
        </p:txBody>
      </p:sp>
      <p:sp>
        <p:nvSpPr>
          <p:cNvPr id="10" name="Text 7"/>
          <p:cNvSpPr txBox="1"/>
          <p:nvPr/>
        </p:nvSpPr>
        <p:spPr>
          <a:xfrm>
            <a:off x="960120" y="3410712"/>
            <a:ext cx="2816352" cy="292608"/>
          </a:xfrm>
          <a:prstGeom prst="rect">
            <a:avLst/>
          </a:prstGeom>
          <a:noFill/>
          <a:ln/>
        </p:spPr>
        <p:txBody>
          <a:bodyPr wrap="square" lIns="0" tIns="0" rIns="0" bIns="0" rtlCol="0" anchor="t"/>
          <a:lstStyle/>
          <a:p>
            <a:pPr rtl="1" algn="r" indent="0" marL="0">
              <a:buNone/>
            </a:pPr>
            <a:r>
              <a:rPr lang="ar-AE" altLang="en-US" sz="1500" b="1" dirty="0">
                <a:solidFill>
                  <a:schemeClr val="accent1"/>
                </a:solidFill>
                <a:latin typeface="IBM Plex Sans Arabic" pitchFamily="34" charset="0"/>
                <a:ea typeface="IBM Plex Sans Arabic" pitchFamily="34" charset="-122"/>
                <a:cs typeface="IBM Plex Sans Arabic" pitchFamily="34" charset="-120"/>
              </a:rPr>
              <a:t>تركيب الشواحن</a:t>
            </a:r>
            <a:endParaRPr lang="ar-AE" sz="1500" dirty="0"/>
          </a:p>
        </p:txBody>
      </p:sp>
      <p:sp>
        <p:nvSpPr>
          <p:cNvPr id="11" name="Text 8"/>
          <p:cNvSpPr txBox="1"/>
          <p:nvPr/>
        </p:nvSpPr>
        <p:spPr>
          <a:xfrm>
            <a:off x="960120" y="3840480"/>
            <a:ext cx="2816352" cy="777240"/>
          </a:xfrm>
          <a:prstGeom prst="rect">
            <a:avLst/>
          </a:prstGeom>
          <a:noFill/>
          <a:ln/>
        </p:spPr>
        <p:txBody>
          <a:bodyPr wrap="square" lIns="0" tIns="0" rIns="0" bIns="0" rtlCol="0" anchor="t"/>
          <a:lstStyle/>
          <a:p>
            <a:pPr algn="l" indent="0" marL="0">
              <a:buNone/>
            </a:pPr>
            <a:r>
              <a:rPr lang="en-US" sz="1200" dirty="0">
                <a:solidFill>
                  <a:schemeClr val="accent3"/>
                </a:solidFill>
                <a:latin typeface="IBM Plex Sans Arabic" pitchFamily="34" charset="0"/>
                <a:ea typeface="IBM Plex Sans Arabic" pitchFamily="34" charset="-122"/>
                <a:cs typeface="IBM Plex Sans Arabic" pitchFamily="34" charset="-120"/>
              </a:rPr>
              <a:t>Carried out by EVCARS’ dedicated technical team after assessing the installation requirements.</a:t>
            </a:r>
            <a:endParaRPr lang="en-US" sz="1200" dirty="0"/>
          </a:p>
        </p:txBody>
      </p:sp>
      <p:sp>
        <p:nvSpPr>
          <p:cNvPr id="12" name="Text 9"/>
          <p:cNvSpPr txBox="1"/>
          <p:nvPr/>
        </p:nvSpPr>
        <p:spPr>
          <a:xfrm>
            <a:off x="960120" y="4709160"/>
            <a:ext cx="2816352" cy="777240"/>
          </a:xfrm>
          <a:prstGeom prst="rect">
            <a:avLst/>
          </a:prstGeom>
          <a:noFill/>
          <a:ln/>
        </p:spPr>
        <p:txBody>
          <a:bodyPr wrap="square" lIns="0" tIns="0" rIns="0" bIns="0" rtlCol="0" anchor="t"/>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يتولاها فريق فني متخصص تابع للشركة بعد تقييم متطلبات التركيب.</a:t>
            </a:r>
            <a:endParaRPr lang="ar-AE" sz="1200" dirty="0"/>
          </a:p>
        </p:txBody>
      </p:sp>
      <p:sp>
        <p:nvSpPr>
          <p:cNvPr id="13" name="hairline"/>
          <p:cNvSpPr/>
          <p:nvPr/>
        </p:nvSpPr>
        <p:spPr>
          <a:xfrm>
            <a:off x="960120" y="5532120"/>
            <a:ext cx="2816352" cy="0"/>
          </a:xfrm>
          <a:prstGeom prst="line">
            <a:avLst/>
          </a:prstGeom>
          <a:noFill/>
          <a:ln w="9525">
            <a:solidFill>
              <a:schemeClr val="accent5"/>
            </a:solidFill>
            <a:prstDash val="solid"/>
          </a:ln>
        </p:spPr>
      </p:sp>
      <p:sp>
        <p:nvSpPr>
          <p:cNvPr id="14" name="Text 11"/>
          <p:cNvSpPr txBox="1"/>
          <p:nvPr/>
        </p:nvSpPr>
        <p:spPr>
          <a:xfrm>
            <a:off x="960120" y="5650992"/>
            <a:ext cx="2816352" cy="274320"/>
          </a:xfrm>
          <a:prstGeom prst="rect">
            <a:avLst/>
          </a:prstGeom>
          <a:noFill/>
          <a:ln/>
        </p:spPr>
        <p:txBody>
          <a:bodyPr wrap="square" lIns="0" tIns="0" rIns="0" bIns="0" rtlCol="0" anchor="t"/>
          <a:lstStyle/>
          <a:p>
            <a:pPr algn="ctr" indent="0" marL="0">
              <a:buNone/>
            </a:pPr>
            <a:r>
              <a:rPr lang="en-US" sz="1000" dirty="0">
                <a:solidFill>
                  <a:schemeClr val="accent3"/>
                </a:solidFill>
                <a:latin typeface="IBM Plex Sans Arabic" pitchFamily="34" charset="0"/>
                <a:ea typeface="IBM Plex Sans Arabic" pitchFamily="34" charset="-122"/>
                <a:cs typeface="IBM Plex Sans Arabic" pitchFamily="34" charset="-120"/>
              </a:rPr>
              <a:t>Warranty on installation  ·  ضمان على التركيب</a:t>
            </a:r>
            <a:endParaRPr lang="en-US" sz="1000" dirty="0"/>
          </a:p>
        </p:txBody>
      </p:sp>
      <p:sp>
        <p:nvSpPr>
          <p:cNvPr id="15" name="Service card 2"/>
          <p:cNvSpPr/>
          <p:nvPr/>
        </p:nvSpPr>
        <p:spPr>
          <a:xfrm>
            <a:off x="4366260" y="1691640"/>
            <a:ext cx="3456432" cy="4389120"/>
          </a:xfrm>
          <a:prstGeom prst="roundRect">
            <a:avLst>
              <a:gd name="adj" fmla="val 2646"/>
            </a:avLst>
          </a:prstGeom>
          <a:solidFill>
            <a:schemeClr val="bg1"/>
          </a:solidFill>
          <a:ln/>
          <a:effectLst>
            <a:outerShdw sx="100000" sy="100000" kx="0" ky="0" algn="bl" rotWithShape="0" blurRad="177800" dist="38100" dir="5400000">
              <a:srgbClr val="0B0D10">
                <a:alpha val="10000"/>
              </a:srgbClr>
            </a:outerShdw>
          </a:effectLst>
        </p:spPr>
      </p:sp>
      <p:sp>
        <p:nvSpPr>
          <p:cNvPr id="16" name="Service icon 2 circle"/>
          <p:cNvSpPr/>
          <p:nvPr/>
        </p:nvSpPr>
        <p:spPr>
          <a:xfrm>
            <a:off x="4686300" y="2011680"/>
            <a:ext cx="822960" cy="822960"/>
          </a:xfrm>
          <a:prstGeom prst="ellipse">
            <a:avLst/>
          </a:prstGeom>
          <a:solidFill>
            <a:schemeClr val="accent6"/>
          </a:solidFill>
          <a:ln/>
        </p:spPr>
      </p:sp>
      <p:pic>
        <p:nvPicPr>
          <p:cNvPr id="17" name="Service icon 2" descr="icon">    </p:cNvPr>
          <p:cNvPicPr>
            <a:picLocks noChangeAspect="1"/>
          </p:cNvPicPr>
          <p:nvPr/>
        </p:nvPicPr>
        <p:blipFill>
          <a:blip r:embed="rId2"/>
          <a:stretch>
            <a:fillRect/>
          </a:stretch>
        </p:blipFill>
        <p:spPr>
          <a:xfrm>
            <a:off x="4883810" y="2209190"/>
            <a:ext cx="427939" cy="427939"/>
          </a:xfrm>
          <a:prstGeom prst="rect">
            <a:avLst/>
          </a:prstGeom>
        </p:spPr>
      </p:pic>
      <p:sp>
        <p:nvSpPr>
          <p:cNvPr id="18" name="Text 14"/>
          <p:cNvSpPr txBox="1"/>
          <p:nvPr/>
        </p:nvSpPr>
        <p:spPr>
          <a:xfrm>
            <a:off x="4686300" y="3063240"/>
            <a:ext cx="2816352" cy="292608"/>
          </a:xfrm>
          <a:prstGeom prst="rect">
            <a:avLst/>
          </a:prstGeom>
          <a:noFill/>
          <a:ln/>
        </p:spPr>
        <p:txBody>
          <a:bodyPr wrap="square" lIns="0" tIns="0" rIns="0" bIns="0" rtlCol="0" anchor="t"/>
          <a:lstStyle/>
          <a:p>
            <a:pPr algn="l" indent="0" marL="0">
              <a:buNone/>
            </a:pPr>
            <a:r>
              <a:rPr lang="en-US" sz="1700" b="1" dirty="0">
                <a:solidFill>
                  <a:schemeClr val="tx1"/>
                </a:solidFill>
                <a:latin typeface="IBM Plex Sans Arabic" pitchFamily="34" charset="0"/>
                <a:ea typeface="IBM Plex Sans Arabic" pitchFamily="34" charset="-122"/>
                <a:cs typeface="IBM Plex Sans Arabic" pitchFamily="34" charset="-120"/>
              </a:rPr>
              <a:t>Accessory Installation</a:t>
            </a:r>
            <a:endParaRPr lang="en-US" sz="1700" dirty="0"/>
          </a:p>
        </p:txBody>
      </p:sp>
      <p:sp>
        <p:nvSpPr>
          <p:cNvPr id="19" name="Text 15"/>
          <p:cNvSpPr txBox="1"/>
          <p:nvPr/>
        </p:nvSpPr>
        <p:spPr>
          <a:xfrm>
            <a:off x="4686300" y="3410712"/>
            <a:ext cx="2816352" cy="292608"/>
          </a:xfrm>
          <a:prstGeom prst="rect">
            <a:avLst/>
          </a:prstGeom>
          <a:noFill/>
          <a:ln/>
        </p:spPr>
        <p:txBody>
          <a:bodyPr wrap="square" lIns="0" tIns="0" rIns="0" bIns="0" rtlCol="0" anchor="t"/>
          <a:lstStyle/>
          <a:p>
            <a:pPr rtl="1" algn="r" indent="0" marL="0">
              <a:buNone/>
            </a:pPr>
            <a:r>
              <a:rPr lang="ar-AE" altLang="en-US" sz="1500" b="1" dirty="0">
                <a:solidFill>
                  <a:schemeClr val="accent1"/>
                </a:solidFill>
                <a:latin typeface="IBM Plex Sans Arabic" pitchFamily="34" charset="0"/>
                <a:ea typeface="IBM Plex Sans Arabic" pitchFamily="34" charset="-122"/>
                <a:cs typeface="IBM Plex Sans Arabic" pitchFamily="34" charset="-120"/>
              </a:rPr>
              <a:t>تركيب الإكسسوارات</a:t>
            </a:r>
            <a:endParaRPr lang="ar-AE" sz="1500" dirty="0"/>
          </a:p>
        </p:txBody>
      </p:sp>
      <p:sp>
        <p:nvSpPr>
          <p:cNvPr id="20" name="Text 16"/>
          <p:cNvSpPr txBox="1"/>
          <p:nvPr/>
        </p:nvSpPr>
        <p:spPr>
          <a:xfrm>
            <a:off x="4686300" y="3840480"/>
            <a:ext cx="2816352" cy="777240"/>
          </a:xfrm>
          <a:prstGeom prst="rect">
            <a:avLst/>
          </a:prstGeom>
          <a:noFill/>
          <a:ln/>
        </p:spPr>
        <p:txBody>
          <a:bodyPr wrap="square" lIns="0" tIns="0" rIns="0" bIns="0" rtlCol="0" anchor="t"/>
          <a:lstStyle/>
          <a:p>
            <a:pPr algn="l" indent="0" marL="0">
              <a:buNone/>
            </a:pPr>
            <a:r>
              <a:rPr lang="en-US" sz="1200" dirty="0">
                <a:solidFill>
                  <a:schemeClr val="accent3"/>
                </a:solidFill>
                <a:latin typeface="IBM Plex Sans Arabic" pitchFamily="34" charset="0"/>
                <a:ea typeface="IBM Plex Sans Arabic" pitchFamily="34" charset="-122"/>
                <a:cs typeface="IBM Plex Sans Arabic" pitchFamily="34" charset="-120"/>
              </a:rPr>
              <a:t>Complimentary in-branch installation for eligible accessories purchased from EVCARS.</a:t>
            </a:r>
            <a:endParaRPr lang="en-US" sz="1200" dirty="0"/>
          </a:p>
        </p:txBody>
      </p:sp>
      <p:sp>
        <p:nvSpPr>
          <p:cNvPr id="21" name="Text 17"/>
          <p:cNvSpPr txBox="1"/>
          <p:nvPr/>
        </p:nvSpPr>
        <p:spPr>
          <a:xfrm>
            <a:off x="4686300" y="4709160"/>
            <a:ext cx="2816352" cy="777240"/>
          </a:xfrm>
          <a:prstGeom prst="rect">
            <a:avLst/>
          </a:prstGeom>
          <a:noFill/>
          <a:ln/>
        </p:spPr>
        <p:txBody>
          <a:bodyPr wrap="square" lIns="0" tIns="0" rIns="0" bIns="0" rtlCol="0" anchor="t"/>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تركيب مجاني داخل الفروع للإكسسوارات المؤهلة التي يتم شراؤها من الشركة.</a:t>
            </a:r>
            <a:endParaRPr lang="ar-AE" sz="1200" dirty="0"/>
          </a:p>
        </p:txBody>
      </p:sp>
      <p:sp>
        <p:nvSpPr>
          <p:cNvPr id="22" name="hairline"/>
          <p:cNvSpPr/>
          <p:nvPr/>
        </p:nvSpPr>
        <p:spPr>
          <a:xfrm>
            <a:off x="4686300" y="5532120"/>
            <a:ext cx="2816352" cy="0"/>
          </a:xfrm>
          <a:prstGeom prst="line">
            <a:avLst/>
          </a:prstGeom>
          <a:noFill/>
          <a:ln w="9525">
            <a:solidFill>
              <a:schemeClr val="accent5"/>
            </a:solidFill>
            <a:prstDash val="solid"/>
          </a:ln>
        </p:spPr>
      </p:sp>
      <p:sp>
        <p:nvSpPr>
          <p:cNvPr id="23" name="Text 19"/>
          <p:cNvSpPr txBox="1"/>
          <p:nvPr/>
        </p:nvSpPr>
        <p:spPr>
          <a:xfrm>
            <a:off x="4686300" y="5650992"/>
            <a:ext cx="2816352" cy="274320"/>
          </a:xfrm>
          <a:prstGeom prst="rect">
            <a:avLst/>
          </a:prstGeom>
          <a:noFill/>
          <a:ln/>
        </p:spPr>
        <p:txBody>
          <a:bodyPr wrap="square" lIns="0" tIns="0" rIns="0" bIns="0" rtlCol="0" anchor="t"/>
          <a:lstStyle/>
          <a:p>
            <a:pPr algn="ctr" indent="0" marL="0">
              <a:buNone/>
            </a:pPr>
            <a:r>
              <a:rPr lang="en-US" sz="1000" dirty="0">
                <a:solidFill>
                  <a:schemeClr val="accent3"/>
                </a:solidFill>
                <a:latin typeface="IBM Plex Sans Arabic" pitchFamily="34" charset="0"/>
                <a:ea typeface="IBM Plex Sans Arabic" pitchFamily="34" charset="-122"/>
                <a:cs typeface="IBM Plex Sans Arabic" pitchFamily="34" charset="-120"/>
              </a:rPr>
              <a:t>UAE &amp; Oman branches  ·  فروع الإمارات وعُمان</a:t>
            </a:r>
            <a:endParaRPr lang="en-US" sz="1000" dirty="0"/>
          </a:p>
        </p:txBody>
      </p:sp>
      <p:sp>
        <p:nvSpPr>
          <p:cNvPr id="24" name="Service card 3"/>
          <p:cNvSpPr/>
          <p:nvPr/>
        </p:nvSpPr>
        <p:spPr>
          <a:xfrm>
            <a:off x="8092440" y="1691640"/>
            <a:ext cx="3456432" cy="4389120"/>
          </a:xfrm>
          <a:prstGeom prst="roundRect">
            <a:avLst>
              <a:gd name="adj" fmla="val 2646"/>
            </a:avLst>
          </a:prstGeom>
          <a:solidFill>
            <a:schemeClr val="bg1"/>
          </a:solidFill>
          <a:ln/>
          <a:effectLst>
            <a:outerShdw sx="100000" sy="100000" kx="0" ky="0" algn="bl" rotWithShape="0" blurRad="177800" dist="38100" dir="5400000">
              <a:srgbClr val="0B0D10">
                <a:alpha val="10000"/>
              </a:srgbClr>
            </a:outerShdw>
          </a:effectLst>
        </p:spPr>
      </p:sp>
      <p:sp>
        <p:nvSpPr>
          <p:cNvPr id="25" name="Service icon 3 circle"/>
          <p:cNvSpPr/>
          <p:nvPr/>
        </p:nvSpPr>
        <p:spPr>
          <a:xfrm>
            <a:off x="8412480" y="2011680"/>
            <a:ext cx="822960" cy="822960"/>
          </a:xfrm>
          <a:prstGeom prst="ellipse">
            <a:avLst/>
          </a:prstGeom>
          <a:solidFill>
            <a:schemeClr val="accent6"/>
          </a:solidFill>
          <a:ln/>
        </p:spPr>
      </p:sp>
      <p:pic>
        <p:nvPicPr>
          <p:cNvPr id="26" name="Service icon 3" descr="icon">    </p:cNvPr>
          <p:cNvPicPr>
            <a:picLocks noChangeAspect="1"/>
          </p:cNvPicPr>
          <p:nvPr/>
        </p:nvPicPr>
        <p:blipFill>
          <a:blip r:embed="rId3"/>
          <a:stretch>
            <a:fillRect/>
          </a:stretch>
        </p:blipFill>
        <p:spPr>
          <a:xfrm>
            <a:off x="8609990" y="2209190"/>
            <a:ext cx="427939" cy="427939"/>
          </a:xfrm>
          <a:prstGeom prst="rect">
            <a:avLst/>
          </a:prstGeom>
        </p:spPr>
      </p:pic>
      <p:sp>
        <p:nvSpPr>
          <p:cNvPr id="27" name="Text 22"/>
          <p:cNvSpPr txBox="1"/>
          <p:nvPr/>
        </p:nvSpPr>
        <p:spPr>
          <a:xfrm>
            <a:off x="8412480" y="3063240"/>
            <a:ext cx="2816352" cy="292608"/>
          </a:xfrm>
          <a:prstGeom prst="rect">
            <a:avLst/>
          </a:prstGeom>
          <a:noFill/>
          <a:ln/>
        </p:spPr>
        <p:txBody>
          <a:bodyPr wrap="square" lIns="0" tIns="0" rIns="0" bIns="0" rtlCol="0" anchor="t"/>
          <a:lstStyle/>
          <a:p>
            <a:pPr algn="l" indent="0" marL="0">
              <a:buNone/>
            </a:pPr>
            <a:r>
              <a:rPr lang="en-US" sz="1700" b="1" dirty="0">
                <a:solidFill>
                  <a:schemeClr val="tx1"/>
                </a:solidFill>
                <a:latin typeface="IBM Plex Sans Arabic" pitchFamily="34" charset="0"/>
                <a:ea typeface="IBM Plex Sans Arabic" pitchFamily="34" charset="-122"/>
                <a:cs typeface="IBM Plex Sans Arabic" pitchFamily="34" charset="-120"/>
              </a:rPr>
              <a:t>Tesla AC Care</a:t>
            </a:r>
            <a:endParaRPr lang="en-US" sz="1700" dirty="0"/>
          </a:p>
        </p:txBody>
      </p:sp>
      <p:sp>
        <p:nvSpPr>
          <p:cNvPr id="28" name="Text 23"/>
          <p:cNvSpPr txBox="1"/>
          <p:nvPr/>
        </p:nvSpPr>
        <p:spPr>
          <a:xfrm>
            <a:off x="8412480" y="3410712"/>
            <a:ext cx="2816352" cy="292608"/>
          </a:xfrm>
          <a:prstGeom prst="rect">
            <a:avLst/>
          </a:prstGeom>
          <a:noFill/>
          <a:ln/>
        </p:spPr>
        <p:txBody>
          <a:bodyPr wrap="square" lIns="0" tIns="0" rIns="0" bIns="0" rtlCol="0" anchor="t"/>
          <a:lstStyle/>
          <a:p>
            <a:pPr rtl="1" algn="r" indent="0" marL="0">
              <a:buNone/>
            </a:pPr>
            <a:r>
              <a:rPr lang="ar-AE" altLang="en-US" sz="1500" b="1" dirty="0">
                <a:solidFill>
                  <a:schemeClr val="accent1"/>
                </a:solidFill>
                <a:latin typeface="IBM Plex Sans Arabic" pitchFamily="34" charset="0"/>
                <a:ea typeface="IBM Plex Sans Arabic" pitchFamily="34" charset="-122"/>
                <a:cs typeface="IBM Plex Sans Arabic" pitchFamily="34" charset="-120"/>
              </a:rPr>
              <a:t>العناية بتكييف تسلا</a:t>
            </a:r>
            <a:endParaRPr lang="ar-AE" sz="1500" dirty="0"/>
          </a:p>
        </p:txBody>
      </p:sp>
      <p:sp>
        <p:nvSpPr>
          <p:cNvPr id="29" name="Text 24"/>
          <p:cNvSpPr txBox="1"/>
          <p:nvPr/>
        </p:nvSpPr>
        <p:spPr>
          <a:xfrm>
            <a:off x="8412480" y="3840480"/>
            <a:ext cx="2816352" cy="777240"/>
          </a:xfrm>
          <a:prstGeom prst="rect">
            <a:avLst/>
          </a:prstGeom>
          <a:noFill/>
          <a:ln/>
        </p:spPr>
        <p:txBody>
          <a:bodyPr wrap="square" lIns="0" tIns="0" rIns="0" bIns="0" rtlCol="0" anchor="t"/>
          <a:lstStyle/>
          <a:p>
            <a:pPr algn="l" indent="0" marL="0">
              <a:buNone/>
            </a:pPr>
            <a:r>
              <a:rPr lang="en-US" sz="1200" dirty="0">
                <a:solidFill>
                  <a:schemeClr val="accent3"/>
                </a:solidFill>
                <a:latin typeface="IBM Plex Sans Arabic" pitchFamily="34" charset="0"/>
                <a:ea typeface="IBM Plex Sans Arabic" pitchFamily="34" charset="-122"/>
                <a:cs typeface="IBM Plex Sans Arabic" pitchFamily="34" charset="-120"/>
              </a:rPr>
              <a:t>Quick, focused care for Tesla AC systems: filter replacement, cleaning and cooling checks.</a:t>
            </a:r>
            <a:endParaRPr lang="en-US" sz="1200" dirty="0"/>
          </a:p>
        </p:txBody>
      </p:sp>
      <p:sp>
        <p:nvSpPr>
          <p:cNvPr id="30" name="Text 25"/>
          <p:cNvSpPr txBox="1"/>
          <p:nvPr/>
        </p:nvSpPr>
        <p:spPr>
          <a:xfrm>
            <a:off x="8412480" y="4709160"/>
            <a:ext cx="2816352" cy="777240"/>
          </a:xfrm>
          <a:prstGeom prst="rect">
            <a:avLst/>
          </a:prstGeom>
          <a:noFill/>
          <a:ln/>
        </p:spPr>
        <p:txBody>
          <a:bodyPr wrap="square" lIns="0" tIns="0" rIns="0" bIns="0" rtlCol="0" anchor="t"/>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صيانة سريعة ومحددة لتكييف تسلا: تبديل الفلاتر، التنظيف، وفحص أداء التبريد.</a:t>
            </a:r>
            <a:endParaRPr lang="ar-AE" sz="1200" dirty="0"/>
          </a:p>
        </p:txBody>
      </p:sp>
      <p:sp>
        <p:nvSpPr>
          <p:cNvPr id="31" name="hairline"/>
          <p:cNvSpPr/>
          <p:nvPr/>
        </p:nvSpPr>
        <p:spPr>
          <a:xfrm>
            <a:off x="8412480" y="5532120"/>
            <a:ext cx="2816352" cy="0"/>
          </a:xfrm>
          <a:prstGeom prst="line">
            <a:avLst/>
          </a:prstGeom>
          <a:noFill/>
          <a:ln w="9525">
            <a:solidFill>
              <a:schemeClr val="accent5"/>
            </a:solidFill>
            <a:prstDash val="solid"/>
          </a:ln>
        </p:spPr>
      </p:sp>
      <p:sp>
        <p:nvSpPr>
          <p:cNvPr id="32" name="Text 27"/>
          <p:cNvSpPr txBox="1"/>
          <p:nvPr/>
        </p:nvSpPr>
        <p:spPr>
          <a:xfrm>
            <a:off x="8412480" y="5650992"/>
            <a:ext cx="2816352" cy="274320"/>
          </a:xfrm>
          <a:prstGeom prst="rect">
            <a:avLst/>
          </a:prstGeom>
          <a:noFill/>
          <a:ln/>
        </p:spPr>
        <p:txBody>
          <a:bodyPr wrap="square" lIns="0" tIns="0" rIns="0" bIns="0" rtlCol="0" anchor="t"/>
          <a:lstStyle/>
          <a:p>
            <a:pPr algn="ctr" indent="0" marL="0">
              <a:buNone/>
            </a:pPr>
            <a:r>
              <a:rPr lang="en-US" sz="1000" dirty="0">
                <a:solidFill>
                  <a:schemeClr val="accent3"/>
                </a:solidFill>
                <a:latin typeface="IBM Plex Sans Arabic" pitchFamily="34" charset="0"/>
                <a:ea typeface="IBM Plex Sans Arabic" pitchFamily="34" charset="-122"/>
                <a:cs typeface="IBM Plex Sans Arabic" pitchFamily="34" charset="-120"/>
              </a:rPr>
              <a:t>Dubai · Sharjah · Al Ain  ·  دبي · الشارقة · العين</a:t>
            </a:r>
            <a:endParaRPr lang="en-US" sz="10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A75"/>
                </a:solidFill>
                <a:latin typeface="IBM Plex Sans Arabic"/>
                <a:ea typeface="IBM Plex Sans Arabic"/>
                <a:cs typeface="IBM Plex Sans Arabic"/>
              </a:defRPr>
            </a:lvl1pPr>
          </a:lstStyle>
          <a:p>
            <a:pPr algn="r"/>
            <a:fld id="{F7021451-1387-4CA6-816F-3879F97B5CBC}" type="slidenum">
              <a:rPr b="0" lang="en-US"/>
              <a:t>11</a:t>
            </a:fld>
            <a:endParaRPr lang="en-US"/>
          </a:p>
        </p:txBody>
      </p:sp>
      <p:sp>
        <p:nvSpPr>
          <p:cNvPr id="33" name="Back to contents" descr="Back to contents">
            <a:hlinkClick r:id="rId6" action="ppaction://hlinksldjump" tooltip="Back to Contents / العودة إلى المحتويات"/>
          </p:cNvPr>
          <p:cNvSpPr/>
          <p:nvPr/>
        </p:nvSpPr>
        <p:spPr>
          <a:xfrm>
            <a:off x="8838000" y="6283000"/>
            <a:ext cx="1850000" cy="300000"/>
          </a:xfrm>
          <a:prstGeom prst="roundRect">
            <a:avLst>
              <a:gd name="adj" fmla="val 50000"/>
            </a:avLst>
          </a:prstGeom>
          <a:noFill/>
          <a:ln w="9525">
            <a:solidFill>
              <a:schemeClr val="accent1"/>
            </a:solidFill>
          </a:ln>
        </p:spPr>
        <p:txBody>
          <a:bodyPr wrap="none" lIns="0" tIns="0" rIns="0" bIns="0" rtlCol="0" anchor="ctr"/>
          <a:lstStyle/>
          <a:p>
            <a:pPr algn="ctr"/>
            <a:r>
              <a:rPr lang="en-US" sz="900" b="1" spc="120" dirty="0">
                <a:solidFill>
                  <a:schemeClr val="accent1"/>
                </a:solidFill>
                <a:latin typeface="IBM Plex Sans Arabic"/>
                <a:cs typeface="IBM Plex Sans Arabic"/>
              </a:rPr>
              <a:t>CONTENTS  ·  </a:t>
            </a:r>
            <a:r>
              <a:rPr lang="ar-AE" sz="900" b="1" dirty="0">
                <a:solidFill>
                  <a:schemeClr val="accent1"/>
                </a:solidFill>
                <a:latin typeface="IBM Plex Sans Arabic"/>
                <a:cs typeface="IBM Plex Sans Arabic"/>
              </a:rPr>
              <a:t>المحتويات</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2"/>
                </a:solidFill>
                <a:latin typeface="IBM Plex Sans Arabic" pitchFamily="34" charset="0"/>
                <a:ea typeface="IBM Plex Sans Arabic" pitchFamily="34" charset="-122"/>
                <a:cs typeface="IBM Plex Sans Arabic" pitchFamily="34" charset="-120"/>
              </a:rPr>
              <a:t>03   ·   WHO WE SERVE</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2"/>
                </a:solidFill>
                <a:latin typeface="IBM Plex Sans Arabic" pitchFamily="34" charset="0"/>
                <a:ea typeface="IBM Plex Sans Arabic" pitchFamily="34" charset="-122"/>
                <a:cs typeface="IBM Plex Sans Arabic" pitchFamily="34" charset="-120"/>
              </a:rPr>
              <a:t>من نخدم   ·   03</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bg1"/>
                </a:solidFill>
                <a:latin typeface="IBM Plex Sans Arabic Light" pitchFamily="34" charset="0"/>
                <a:ea typeface="IBM Plex Sans Arabic Light" pitchFamily="34" charset="-122"/>
                <a:cs typeface="IBM Plex Sans Arabic Light" pitchFamily="34" charset="-120"/>
              </a:rPr>
              <a:t>Vehicle Brands We Serve</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bg1"/>
                </a:solidFill>
                <a:latin typeface="IBM Plex Sans Arabic Light" pitchFamily="34" charset="0"/>
                <a:ea typeface="IBM Plex Sans Arabic Light" pitchFamily="34" charset="-122"/>
                <a:cs typeface="IBM Plex Sans Arabic Light" pitchFamily="34" charset="-120"/>
              </a:rPr>
              <a:t>السيارات التي نخدمها</a:t>
            </a:r>
            <a:endParaRPr lang="ar-AE" sz="3000" dirty="0"/>
          </a:p>
        </p:txBody>
      </p:sp>
      <p:sp>
        <p:nvSpPr>
          <p:cNvPr id="6" name="TESLA panel"/>
          <p:cNvSpPr/>
          <p:nvPr/>
        </p:nvSpPr>
        <p:spPr>
          <a:xfrm>
            <a:off x="640080" y="1691640"/>
            <a:ext cx="3456432" cy="3429000"/>
          </a:xfrm>
          <a:prstGeom prst="roundRect">
            <a:avLst>
              <a:gd name="adj" fmla="val 2667"/>
            </a:avLst>
          </a:prstGeom>
          <a:solidFill>
            <a:schemeClr val="bg1">
              <a:alpha val="6000"/>
            </a:schemeClr>
          </a:solidFill>
          <a:ln w="9525">
            <a:solidFill>
              <a:schemeClr val="bg1">
                <a:alpha val="18000"/>
              </a:schemeClr>
            </a:solidFill>
            <a:prstDash val="solid"/>
          </a:ln>
        </p:spPr>
      </p:sp>
      <p:pic>
        <p:nvPicPr>
          <p:cNvPr id="7" name="TESLA icon" descr="icon">    </p:cNvPr>
          <p:cNvPicPr>
            <a:picLocks noChangeAspect="1"/>
          </p:cNvPicPr>
          <p:nvPr/>
        </p:nvPicPr>
        <p:blipFill>
          <a:blip r:embed="rId2"/>
          <a:stretch>
            <a:fillRect/>
          </a:stretch>
        </p:blipFill>
        <p:spPr>
          <a:xfrm>
            <a:off x="1005840" y="2057400"/>
            <a:ext cx="457200" cy="457200"/>
          </a:xfrm>
          <a:prstGeom prst="rect">
            <a:avLst/>
          </a:prstGeom>
        </p:spPr>
      </p:pic>
      <p:sp>
        <p:nvSpPr>
          <p:cNvPr id="8" name="Text 5"/>
          <p:cNvSpPr txBox="1"/>
          <p:nvPr/>
        </p:nvSpPr>
        <p:spPr>
          <a:xfrm>
            <a:off x="1005840" y="2743200"/>
            <a:ext cx="2724912" cy="640080"/>
          </a:xfrm>
          <a:prstGeom prst="rect">
            <a:avLst/>
          </a:prstGeom>
          <a:noFill/>
          <a:ln/>
        </p:spPr>
        <p:txBody>
          <a:bodyPr wrap="square" lIns="0" tIns="0" rIns="0" bIns="0" rtlCol="0" anchor="t"/>
          <a:lstStyle/>
          <a:p>
            <a:pPr algn="l" indent="0" marL="0">
              <a:buNone/>
            </a:pPr>
            <a:r>
              <a:rPr lang="en-US" sz="3600" spc="600" kern="0" dirty="0">
                <a:solidFill>
                  <a:schemeClr val="bg1"/>
                </a:solidFill>
                <a:latin typeface="IBM Plex Sans Arabic Light" pitchFamily="34" charset="0"/>
                <a:ea typeface="IBM Plex Sans Arabic Light" pitchFamily="34" charset="-122"/>
                <a:cs typeface="IBM Plex Sans Arabic Light" pitchFamily="34" charset="-120"/>
              </a:rPr>
              <a:t>TESLA</a:t>
            </a:r>
            <a:endParaRPr lang="en-US" sz="3600" dirty="0"/>
          </a:p>
        </p:txBody>
      </p:sp>
      <p:sp>
        <p:nvSpPr>
          <p:cNvPr id="9" name="Text 6"/>
          <p:cNvSpPr txBox="1"/>
          <p:nvPr/>
        </p:nvSpPr>
        <p:spPr>
          <a:xfrm>
            <a:off x="1005840" y="3520440"/>
            <a:ext cx="2724912" cy="731520"/>
          </a:xfrm>
          <a:prstGeom prst="rect">
            <a:avLst/>
          </a:prstGeom>
          <a:noFill/>
          <a:ln/>
        </p:spPr>
        <p:txBody>
          <a:bodyPr wrap="square" lIns="0" tIns="0" rIns="0" bIns="0" rtlCol="0" anchor="t"/>
          <a:lstStyle/>
          <a:p>
            <a:pPr algn="l" indent="0" marL="0">
              <a:buNone/>
            </a:pPr>
            <a:r>
              <a:rPr lang="en-US" sz="1200" dirty="0">
                <a:solidFill>
                  <a:schemeClr val="accent5"/>
                </a:solidFill>
                <a:latin typeface="IBM Plex Sans Arabic" pitchFamily="34" charset="0"/>
                <a:ea typeface="IBM Plex Sans Arabic" pitchFamily="34" charset="-122"/>
                <a:cs typeface="IBM Plex Sans Arabic" pitchFamily="34" charset="-120"/>
              </a:rPr>
              <a:t>Interior and exterior accessories, charging solutions, and specialized products and services.</a:t>
            </a:r>
            <a:endParaRPr lang="en-US" sz="1200" dirty="0"/>
          </a:p>
        </p:txBody>
      </p:sp>
      <p:sp>
        <p:nvSpPr>
          <p:cNvPr id="10" name="Text 7"/>
          <p:cNvSpPr txBox="1"/>
          <p:nvPr/>
        </p:nvSpPr>
        <p:spPr>
          <a:xfrm>
            <a:off x="1005840" y="4297680"/>
            <a:ext cx="2724912" cy="640080"/>
          </a:xfrm>
          <a:prstGeom prst="rect">
            <a:avLst/>
          </a:prstGeom>
          <a:noFill/>
          <a:ln/>
        </p:spPr>
        <p:txBody>
          <a:bodyPr wrap="square" lIns="0" tIns="0" rIns="0" bIns="0" rtlCol="0" anchor="t"/>
          <a:lstStyle/>
          <a:p>
            <a:pPr rtl="1" algn="r" indent="0" marL="0">
              <a:buNone/>
            </a:pPr>
            <a:r>
              <a:rPr lang="ar-AE" altLang="en-US" sz="1200" dirty="0">
                <a:solidFill>
                  <a:schemeClr val="accent5"/>
                </a:solidFill>
                <a:latin typeface="IBM Plex Sans Arabic" pitchFamily="34" charset="0"/>
                <a:ea typeface="IBM Plex Sans Arabic" pitchFamily="34" charset="-122"/>
                <a:cs typeface="IBM Plex Sans Arabic" pitchFamily="34" charset="-120"/>
              </a:rPr>
              <a:t>إكسسوارات داخلية وخارجية، حلول شحن، ومنتجات وخدمات متخصصة.</a:t>
            </a:r>
            <a:endParaRPr lang="ar-AE" sz="1200" dirty="0"/>
          </a:p>
        </p:txBody>
      </p:sp>
      <p:sp>
        <p:nvSpPr>
          <p:cNvPr id="11" name="ROX panel"/>
          <p:cNvSpPr/>
          <p:nvPr/>
        </p:nvSpPr>
        <p:spPr>
          <a:xfrm>
            <a:off x="4366260" y="1691640"/>
            <a:ext cx="3456432" cy="3429000"/>
          </a:xfrm>
          <a:prstGeom prst="roundRect">
            <a:avLst>
              <a:gd name="adj" fmla="val 2667"/>
            </a:avLst>
          </a:prstGeom>
          <a:solidFill>
            <a:schemeClr val="bg1">
              <a:alpha val="6000"/>
            </a:schemeClr>
          </a:solidFill>
          <a:ln w="9525">
            <a:solidFill>
              <a:schemeClr val="bg1">
                <a:alpha val="18000"/>
              </a:schemeClr>
            </a:solidFill>
            <a:prstDash val="solid"/>
          </a:ln>
        </p:spPr>
      </p:sp>
      <p:pic>
        <p:nvPicPr>
          <p:cNvPr id="12" name="ROX icon" descr="icon">    </p:cNvPr>
          <p:cNvPicPr>
            <a:picLocks noChangeAspect="1"/>
          </p:cNvPicPr>
          <p:nvPr/>
        </p:nvPicPr>
        <p:blipFill>
          <a:blip r:embed="rId3"/>
          <a:stretch>
            <a:fillRect/>
          </a:stretch>
        </p:blipFill>
        <p:spPr>
          <a:xfrm>
            <a:off x="4732020" y="2057400"/>
            <a:ext cx="457200" cy="457200"/>
          </a:xfrm>
          <a:prstGeom prst="rect">
            <a:avLst/>
          </a:prstGeom>
        </p:spPr>
      </p:pic>
      <p:sp>
        <p:nvSpPr>
          <p:cNvPr id="13" name="Text 9"/>
          <p:cNvSpPr txBox="1"/>
          <p:nvPr/>
        </p:nvSpPr>
        <p:spPr>
          <a:xfrm>
            <a:off x="4732020" y="2743200"/>
            <a:ext cx="2724912" cy="640080"/>
          </a:xfrm>
          <a:prstGeom prst="rect">
            <a:avLst/>
          </a:prstGeom>
          <a:noFill/>
          <a:ln/>
        </p:spPr>
        <p:txBody>
          <a:bodyPr wrap="square" lIns="0" tIns="0" rIns="0" bIns="0" rtlCol="0" anchor="t"/>
          <a:lstStyle/>
          <a:p>
            <a:pPr algn="l" indent="0" marL="0">
              <a:buNone/>
            </a:pPr>
            <a:r>
              <a:rPr lang="en-US" sz="3600" spc="600" kern="0" dirty="0">
                <a:solidFill>
                  <a:schemeClr val="bg1"/>
                </a:solidFill>
                <a:latin typeface="IBM Plex Sans Arabic Light" pitchFamily="34" charset="0"/>
                <a:ea typeface="IBM Plex Sans Arabic Light" pitchFamily="34" charset="-122"/>
                <a:cs typeface="IBM Plex Sans Arabic Light" pitchFamily="34" charset="-120"/>
              </a:rPr>
              <a:t>ROX</a:t>
            </a:r>
            <a:endParaRPr lang="en-US" sz="3600" dirty="0"/>
          </a:p>
        </p:txBody>
      </p:sp>
      <p:sp>
        <p:nvSpPr>
          <p:cNvPr id="14" name="Text 10"/>
          <p:cNvSpPr txBox="1"/>
          <p:nvPr/>
        </p:nvSpPr>
        <p:spPr>
          <a:xfrm>
            <a:off x="4732020" y="3520440"/>
            <a:ext cx="2724912" cy="731520"/>
          </a:xfrm>
          <a:prstGeom prst="rect">
            <a:avLst/>
          </a:prstGeom>
          <a:noFill/>
          <a:ln/>
        </p:spPr>
        <p:txBody>
          <a:bodyPr wrap="square" lIns="0" tIns="0" rIns="0" bIns="0" rtlCol="0" anchor="t"/>
          <a:lstStyle/>
          <a:p>
            <a:pPr algn="l" indent="0" marL="0">
              <a:buNone/>
            </a:pPr>
            <a:r>
              <a:rPr lang="en-US" sz="1200" dirty="0">
                <a:solidFill>
                  <a:schemeClr val="accent5"/>
                </a:solidFill>
                <a:latin typeface="IBM Plex Sans Arabic" pitchFamily="34" charset="0"/>
                <a:ea typeface="IBM Plex Sans Arabic" pitchFamily="34" charset="-122"/>
                <a:cs typeface="IBM Plex Sans Arabic" pitchFamily="34" charset="-120"/>
              </a:rPr>
              <a:t>Specialized accessories and products for selected ROX models.</a:t>
            </a:r>
            <a:endParaRPr lang="en-US" sz="1200" dirty="0"/>
          </a:p>
        </p:txBody>
      </p:sp>
      <p:sp>
        <p:nvSpPr>
          <p:cNvPr id="15" name="Text 11"/>
          <p:cNvSpPr txBox="1"/>
          <p:nvPr/>
        </p:nvSpPr>
        <p:spPr>
          <a:xfrm>
            <a:off x="4732020" y="4297680"/>
            <a:ext cx="2724912" cy="640080"/>
          </a:xfrm>
          <a:prstGeom prst="rect">
            <a:avLst/>
          </a:prstGeom>
          <a:noFill/>
          <a:ln/>
        </p:spPr>
        <p:txBody>
          <a:bodyPr wrap="square" lIns="0" tIns="0" rIns="0" bIns="0" rtlCol="0" anchor="t"/>
          <a:lstStyle/>
          <a:p>
            <a:pPr rtl="1" algn="r" indent="0" marL="0">
              <a:buNone/>
            </a:pPr>
            <a:r>
              <a:rPr lang="ar-AE" altLang="en-US" sz="1200" dirty="0">
                <a:solidFill>
                  <a:schemeClr val="accent5"/>
                </a:solidFill>
                <a:latin typeface="IBM Plex Sans Arabic" pitchFamily="34" charset="0"/>
                <a:ea typeface="IBM Plex Sans Arabic" pitchFamily="34" charset="-122"/>
                <a:cs typeface="IBM Plex Sans Arabic" pitchFamily="34" charset="-120"/>
              </a:rPr>
              <a:t>إكسسوارات ومنتجات متخصصة تناسب طرازات مختارة من سيارات ROX.</a:t>
            </a:r>
            <a:endParaRPr lang="ar-AE" sz="1200" dirty="0"/>
          </a:p>
        </p:txBody>
      </p:sp>
      <p:sp>
        <p:nvSpPr>
          <p:cNvPr id="16" name="LEOPARD panel"/>
          <p:cNvSpPr/>
          <p:nvPr/>
        </p:nvSpPr>
        <p:spPr>
          <a:xfrm>
            <a:off x="8092440" y="1691640"/>
            <a:ext cx="3456432" cy="3429000"/>
          </a:xfrm>
          <a:prstGeom prst="roundRect">
            <a:avLst>
              <a:gd name="adj" fmla="val 2667"/>
            </a:avLst>
          </a:prstGeom>
          <a:solidFill>
            <a:schemeClr val="bg1">
              <a:alpha val="6000"/>
            </a:schemeClr>
          </a:solidFill>
          <a:ln w="9525">
            <a:solidFill>
              <a:schemeClr val="bg1">
                <a:alpha val="18000"/>
              </a:schemeClr>
            </a:solidFill>
            <a:prstDash val="solid"/>
          </a:ln>
        </p:spPr>
      </p:sp>
      <p:pic>
        <p:nvPicPr>
          <p:cNvPr id="17" name="LEOPARD icon" descr="icon">    </p:cNvPr>
          <p:cNvPicPr>
            <a:picLocks noChangeAspect="1"/>
          </p:cNvPicPr>
          <p:nvPr/>
        </p:nvPicPr>
        <p:blipFill>
          <a:blip r:embed="rId4"/>
          <a:stretch>
            <a:fillRect/>
          </a:stretch>
        </p:blipFill>
        <p:spPr>
          <a:xfrm>
            <a:off x="8458200" y="2057400"/>
            <a:ext cx="457200" cy="457200"/>
          </a:xfrm>
          <a:prstGeom prst="rect">
            <a:avLst/>
          </a:prstGeom>
        </p:spPr>
      </p:pic>
      <p:sp>
        <p:nvSpPr>
          <p:cNvPr id="18" name="Text 13"/>
          <p:cNvSpPr txBox="1"/>
          <p:nvPr/>
        </p:nvSpPr>
        <p:spPr>
          <a:xfrm>
            <a:off x="8458200" y="2743200"/>
            <a:ext cx="2724912" cy="640080"/>
          </a:xfrm>
          <a:prstGeom prst="rect">
            <a:avLst/>
          </a:prstGeom>
          <a:noFill/>
          <a:ln/>
        </p:spPr>
        <p:txBody>
          <a:bodyPr wrap="square" lIns="0" tIns="0" rIns="0" bIns="0" rtlCol="0" anchor="t"/>
          <a:lstStyle/>
          <a:p>
            <a:pPr algn="l" indent="0" marL="0">
              <a:buNone/>
            </a:pPr>
            <a:r>
              <a:rPr lang="en-US" sz="3600" spc="600" kern="0" dirty="0">
                <a:solidFill>
                  <a:schemeClr val="bg1"/>
                </a:solidFill>
                <a:latin typeface="IBM Plex Sans Arabic Light" pitchFamily="34" charset="0"/>
                <a:ea typeface="IBM Plex Sans Arabic Light" pitchFamily="34" charset="-122"/>
                <a:cs typeface="IBM Plex Sans Arabic Light" pitchFamily="34" charset="-120"/>
              </a:rPr>
              <a:t>LEOPARD</a:t>
            </a:r>
            <a:endParaRPr lang="en-US" sz="3600" dirty="0"/>
          </a:p>
        </p:txBody>
      </p:sp>
      <p:sp>
        <p:nvSpPr>
          <p:cNvPr id="19" name="Text 14"/>
          <p:cNvSpPr txBox="1"/>
          <p:nvPr/>
        </p:nvSpPr>
        <p:spPr>
          <a:xfrm>
            <a:off x="8458200" y="3520440"/>
            <a:ext cx="2724912" cy="731520"/>
          </a:xfrm>
          <a:prstGeom prst="rect">
            <a:avLst/>
          </a:prstGeom>
          <a:noFill/>
          <a:ln/>
        </p:spPr>
        <p:txBody>
          <a:bodyPr wrap="square" lIns="0" tIns="0" rIns="0" bIns="0" rtlCol="0" anchor="t"/>
          <a:lstStyle/>
          <a:p>
            <a:pPr algn="l" indent="0" marL="0">
              <a:buNone/>
            </a:pPr>
            <a:r>
              <a:rPr lang="en-US" sz="1200" dirty="0">
                <a:solidFill>
                  <a:schemeClr val="accent5"/>
                </a:solidFill>
                <a:latin typeface="IBM Plex Sans Arabic" pitchFamily="34" charset="0"/>
                <a:ea typeface="IBM Plex Sans Arabic" pitchFamily="34" charset="-122"/>
                <a:cs typeface="IBM Plex Sans Arabic" pitchFamily="34" charset="-120"/>
              </a:rPr>
              <a:t>Selected accessories and enhancements for Leopard models.</a:t>
            </a:r>
            <a:endParaRPr lang="en-US" sz="1200" dirty="0"/>
          </a:p>
        </p:txBody>
      </p:sp>
      <p:sp>
        <p:nvSpPr>
          <p:cNvPr id="20" name="Text 15"/>
          <p:cNvSpPr txBox="1"/>
          <p:nvPr/>
        </p:nvSpPr>
        <p:spPr>
          <a:xfrm>
            <a:off x="8458200" y="4297680"/>
            <a:ext cx="2724912" cy="640080"/>
          </a:xfrm>
          <a:prstGeom prst="rect">
            <a:avLst/>
          </a:prstGeom>
          <a:noFill/>
          <a:ln/>
        </p:spPr>
        <p:txBody>
          <a:bodyPr wrap="square" lIns="0" tIns="0" rIns="0" bIns="0" rtlCol="0" anchor="t"/>
          <a:lstStyle/>
          <a:p>
            <a:pPr rtl="1" algn="r" indent="0" marL="0">
              <a:buNone/>
            </a:pPr>
            <a:r>
              <a:rPr lang="ar-AE" altLang="en-US" sz="1200" dirty="0">
                <a:solidFill>
                  <a:schemeClr val="accent5"/>
                </a:solidFill>
                <a:latin typeface="IBM Plex Sans Arabic" pitchFamily="34" charset="0"/>
                <a:ea typeface="IBM Plex Sans Arabic" pitchFamily="34" charset="-122"/>
                <a:cs typeface="IBM Plex Sans Arabic" pitchFamily="34" charset="-120"/>
              </a:rPr>
              <a:t>مجموعة مختارة من الإكسسوارات والإضافات الخاصة بطرازات Leopard.</a:t>
            </a:r>
            <a:endParaRPr lang="ar-AE" sz="1200" dirty="0"/>
          </a:p>
        </p:txBody>
      </p:sp>
      <p:sp>
        <p:nvSpPr>
          <p:cNvPr id="21" name="Text 16"/>
          <p:cNvSpPr txBox="1"/>
          <p:nvPr/>
        </p:nvSpPr>
        <p:spPr>
          <a:xfrm>
            <a:off x="640080" y="5440680"/>
            <a:ext cx="5120640" cy="548640"/>
          </a:xfrm>
          <a:prstGeom prst="rect">
            <a:avLst/>
          </a:prstGeom>
          <a:noFill/>
          <a:ln/>
        </p:spPr>
        <p:txBody>
          <a:bodyPr wrap="square" lIns="0" tIns="0" rIns="0" bIns="0" rtlCol="0" anchor="t"/>
          <a:lstStyle/>
          <a:p>
            <a:pPr algn="l" indent="0" marL="0">
              <a:buNone/>
            </a:pPr>
            <a:r>
              <a:rPr lang="en-US" sz="1000" i="1" dirty="0">
                <a:solidFill>
                  <a:schemeClr val="accent5"/>
                </a:solidFill>
                <a:latin typeface="IBM Plex Sans Arabic" pitchFamily="34" charset="0"/>
                <a:ea typeface="IBM Plex Sans Arabic" pitchFamily="34" charset="-122"/>
                <a:cs typeface="IBM Plex Sans Arabic" pitchFamily="34" charset="-120"/>
              </a:rPr>
              <a:t>Vehicle brands are listed to identify compatible product categories and do not imply official manufacturer authorization or dealership status.</a:t>
            </a:r>
            <a:endParaRPr lang="en-US" sz="1000" dirty="0"/>
          </a:p>
        </p:txBody>
      </p:sp>
      <p:sp>
        <p:nvSpPr>
          <p:cNvPr id="22" name="Text 17"/>
          <p:cNvSpPr txBox="1"/>
          <p:nvPr/>
        </p:nvSpPr>
        <p:spPr>
          <a:xfrm>
            <a:off x="6430975" y="5440680"/>
            <a:ext cx="5120640" cy="548640"/>
          </a:xfrm>
          <a:prstGeom prst="rect">
            <a:avLst/>
          </a:prstGeom>
          <a:noFill/>
          <a:ln/>
        </p:spPr>
        <p:txBody>
          <a:bodyPr wrap="square" lIns="0" tIns="0" rIns="0" bIns="0" rtlCol="0" anchor="t"/>
          <a:lstStyle/>
          <a:p>
            <a:pPr rtl="1" algn="r" indent="0" marL="0">
              <a:buNone/>
            </a:pPr>
            <a:r>
              <a:rPr lang="ar-AE" altLang="en-US" sz="1000" dirty="0">
                <a:solidFill>
                  <a:schemeClr val="accent5"/>
                </a:solidFill>
                <a:latin typeface="IBM Plex Sans Arabic" pitchFamily="34" charset="0"/>
                <a:ea typeface="IBM Plex Sans Arabic" pitchFamily="34" charset="-122"/>
                <a:cs typeface="IBM Plex Sans Arabic" pitchFamily="34" charset="-120"/>
              </a:rPr>
              <a:t>العلامات المذكورة هي علامات المركبات التي تخدمها EVCARS، ولا يعني إدراجها وجود اعتماد أو وكالة رسمية من مصنّعي المركبات.</a:t>
            </a:r>
            <a:endParaRPr lang="ar-AE" sz="10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DDE2E7"/>
                </a:solidFill>
                <a:latin typeface="IBM Plex Sans Arabic"/>
                <a:ea typeface="IBM Plex Sans Arabic"/>
                <a:cs typeface="IBM Plex Sans Arabic"/>
              </a:defRPr>
            </a:lvl1pPr>
          </a:lstStyle>
          <a:p>
            <a:pPr algn="r"/>
            <a:fld id="{F7021451-1387-4CA6-816F-3879F97B5CBC}" type="slidenum">
              <a:rPr b="0" lang="en-US"/>
              <a:t>12</a:t>
            </a:fld>
            <a:endParaRPr lang="en-US"/>
          </a:p>
        </p:txBody>
      </p:sp>
      <p:sp>
        <p:nvSpPr>
          <p:cNvPr id="26" name="Back to contents" descr="Back to contents">
            <a:hlinkClick r:id="rId7" action="ppaction://hlinksldjump" tooltip="Back to Contents / العودة إلى المحتويات"/>
          </p:cNvPr>
          <p:cNvSpPr/>
          <p:nvPr/>
        </p:nvSpPr>
        <p:spPr>
          <a:xfrm>
            <a:off x="8838000" y="6283000"/>
            <a:ext cx="1850000" cy="300000"/>
          </a:xfrm>
          <a:prstGeom prst="roundRect">
            <a:avLst>
              <a:gd name="adj" fmla="val 50000"/>
            </a:avLst>
          </a:prstGeom>
          <a:noFill/>
          <a:ln w="9525">
            <a:solidFill>
              <a:schemeClr val="accent1"/>
            </a:solidFill>
          </a:ln>
        </p:spPr>
        <p:txBody>
          <a:bodyPr wrap="none" lIns="0" tIns="0" rIns="0" bIns="0" rtlCol="0" anchor="ctr"/>
          <a:lstStyle/>
          <a:p>
            <a:pPr algn="ctr"/>
            <a:r>
              <a:rPr lang="en-US" sz="900" b="1" spc="120" dirty="0">
                <a:solidFill>
                  <a:schemeClr val="accent1"/>
                </a:solidFill>
                <a:latin typeface="IBM Plex Sans Arabic"/>
                <a:cs typeface="IBM Plex Sans Arabic"/>
              </a:rPr>
              <a:t>CONTENTS  ·  </a:t>
            </a:r>
            <a:r>
              <a:rPr lang="ar-AE" sz="900" b="1" dirty="0">
                <a:solidFill>
                  <a:schemeClr val="accent1"/>
                </a:solidFill>
                <a:latin typeface="IBM Plex Sans Arabic"/>
                <a:cs typeface="IBM Plex Sans Arabic"/>
              </a:rPr>
              <a:t>المحتويات</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1"/>
                </a:solidFill>
                <a:latin typeface="IBM Plex Sans Arabic" pitchFamily="34" charset="0"/>
                <a:ea typeface="IBM Plex Sans Arabic" pitchFamily="34" charset="-122"/>
                <a:cs typeface="IBM Plex Sans Arabic" pitchFamily="34" charset="-120"/>
              </a:rPr>
              <a:t>03   ·   WHO WE SERVE</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1"/>
                </a:solidFill>
                <a:latin typeface="IBM Plex Sans Arabic" pitchFamily="34" charset="0"/>
                <a:ea typeface="IBM Plex Sans Arabic" pitchFamily="34" charset="-122"/>
                <a:cs typeface="IBM Plex Sans Arabic" pitchFamily="34" charset="-120"/>
              </a:rPr>
              <a:t>من نخدم   ·   03</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tx1"/>
                </a:solidFill>
                <a:latin typeface="IBM Plex Sans Arabic Light" pitchFamily="34" charset="0"/>
                <a:ea typeface="IBM Plex Sans Arabic Light" pitchFamily="34" charset="-122"/>
                <a:cs typeface="IBM Plex Sans Arabic Light" pitchFamily="34" charset="-120"/>
              </a:rPr>
              <a:t>Brands We Work With</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tx1"/>
                </a:solidFill>
                <a:latin typeface="IBM Plex Sans Arabic Light" pitchFamily="34" charset="0"/>
                <a:ea typeface="IBM Plex Sans Arabic Light" pitchFamily="34" charset="-122"/>
                <a:cs typeface="IBM Plex Sans Arabic Light" pitchFamily="34" charset="-120"/>
              </a:rPr>
              <a:t>علامات نعمل معها</a:t>
            </a:r>
            <a:endParaRPr lang="ar-AE" sz="3000" dirty="0"/>
          </a:p>
        </p:txBody>
      </p:sp>
      <p:sp>
        <p:nvSpPr>
          <p:cNvPr id="6" name="Text 4"/>
          <p:cNvSpPr txBox="1"/>
          <p:nvPr/>
        </p:nvSpPr>
        <p:spPr>
          <a:xfrm>
            <a:off x="640080" y="1600200"/>
            <a:ext cx="5120640" cy="685800"/>
          </a:xfrm>
          <a:prstGeom prst="rect">
            <a:avLst/>
          </a:prstGeom>
          <a:noFill/>
          <a:ln/>
        </p:spPr>
        <p:txBody>
          <a:bodyPr wrap="square" lIns="0" tIns="0" rIns="0" bIns="0" rtlCol="0" anchor="t"/>
          <a:lstStyle/>
          <a:p>
            <a:pPr algn="l" indent="0" marL="0">
              <a:buNone/>
            </a:pPr>
            <a:r>
              <a:rPr lang="en-US" sz="1300" dirty="0">
                <a:solidFill>
                  <a:schemeClr val="accent3"/>
                </a:solidFill>
                <a:latin typeface="IBM Plex Sans Arabic" pitchFamily="34" charset="0"/>
                <a:ea typeface="IBM Plex Sans Arabic" pitchFamily="34" charset="-122"/>
                <a:cs typeface="IBM Plex Sans Arabic" pitchFamily="34" charset="-120"/>
              </a:rPr>
              <a:t>EVCARS works with a range of brands and companies across the EV accessories, charging solutions and related services sectors.</a:t>
            </a:r>
            <a:endParaRPr lang="en-US" sz="1300" dirty="0"/>
          </a:p>
        </p:txBody>
      </p:sp>
      <p:sp>
        <p:nvSpPr>
          <p:cNvPr id="7" name="Text 5"/>
          <p:cNvSpPr txBox="1"/>
          <p:nvPr/>
        </p:nvSpPr>
        <p:spPr>
          <a:xfrm>
            <a:off x="6430975" y="1600200"/>
            <a:ext cx="5120640" cy="685800"/>
          </a:xfrm>
          <a:prstGeom prst="rect">
            <a:avLst/>
          </a:prstGeom>
          <a:noFill/>
          <a:ln/>
        </p:spPr>
        <p:txBody>
          <a:bodyPr wrap="square" lIns="0" tIns="0" rIns="0" bIns="0" rtlCol="0" anchor="t"/>
          <a:lstStyle/>
          <a:p>
            <a:pPr rtl="1" algn="r" indent="0" marL="0">
              <a:buNone/>
            </a:pPr>
            <a:r>
              <a:rPr lang="ar-AE" altLang="en-US" sz="1300" dirty="0">
                <a:solidFill>
                  <a:schemeClr val="accent3"/>
                </a:solidFill>
                <a:latin typeface="IBM Plex Sans Arabic" pitchFamily="34" charset="0"/>
                <a:ea typeface="IBM Plex Sans Arabic" pitchFamily="34" charset="-122"/>
                <a:cs typeface="IBM Plex Sans Arabic" pitchFamily="34" charset="-120"/>
              </a:rPr>
              <a:t>تعمل EVCARS مع مجموعة من العلامات التجارية والشركات في قطاع السيارات الكهربائية والإكسسوارات وحلول الشحن والخدمات المرتبطة بها.</a:t>
            </a:r>
            <a:endParaRPr lang="ar-AE" sz="13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A75"/>
                </a:solidFill>
                <a:latin typeface="IBM Plex Sans Arabic"/>
                <a:ea typeface="IBM Plex Sans Arabic"/>
                <a:cs typeface="IBM Plex Sans Arabic"/>
              </a:defRPr>
            </a:lvl1pPr>
          </a:lstStyle>
          <a:p>
            <a:pPr algn="r"/>
            <a:fld id="{F7021451-1387-4CA6-816F-3879F97B5CBC}" type="slidenum">
              <a:rPr b="0" lang="en-US"/>
              <a:t>13</a:t>
            </a:fld>
            <a:endParaRPr lang="en-US"/>
          </a:p>
        </p:txBody>
      </p:sp>
      <p:pic>
        <p:nvPicPr>
          <p:cNvPr id="28" name="Partner EVSPACE" descr="EVSPACE logo"/>
          <p:cNvPicPr>
            <a:picLocks noChangeAspect="1"/>
          </p:cNvPicPr>
          <p:nvPr/>
        </p:nvPicPr>
        <p:blipFill>
          <a:blip r:embed="rId3"/>
          <a:stretch>
            <a:fillRect/>
          </a:stretch>
        </p:blipFill>
        <p:spPr>
          <a:xfrm>
            <a:off x="640080" y="2514600"/>
            <a:ext cx="3456432" cy="1051560"/>
          </a:xfrm>
          <a:prstGeom prst="rect">
            <a:avLst/>
          </a:prstGeom>
          <a:effectLst>
            <a:outerShdw blurRad="152400" dist="38100" dir="5400000" algn="t" rotWithShape="0">
              <a:srgbClr val="0B0D10">
                <a:alpha val="16000"/>
              </a:srgbClr>
            </a:outerShdw>
          </a:effectLst>
        </p:spPr>
      </p:pic>
      <p:pic>
        <p:nvPicPr>
          <p:cNvPr id="29" name="Partner HALOBLK" descr="HALOBLK logo"/>
          <p:cNvPicPr>
            <a:picLocks noChangeAspect="1"/>
          </p:cNvPicPr>
          <p:nvPr/>
        </p:nvPicPr>
        <p:blipFill>
          <a:blip r:embed="rId4"/>
          <a:stretch>
            <a:fillRect/>
          </a:stretch>
        </p:blipFill>
        <p:spPr>
          <a:xfrm>
            <a:off x="4366260" y="2514600"/>
            <a:ext cx="3456432" cy="1051560"/>
          </a:xfrm>
          <a:prstGeom prst="rect">
            <a:avLst/>
          </a:prstGeom>
          <a:effectLst>
            <a:outerShdw blurRad="152400" dist="38100" dir="5400000" algn="t" rotWithShape="0">
              <a:srgbClr val="0B0D10">
                <a:alpha val="16000"/>
              </a:srgbClr>
            </a:outerShdw>
          </a:effectLst>
        </p:spPr>
      </p:pic>
      <p:pic>
        <p:nvPicPr>
          <p:cNvPr id="30" name="Partner EV BSGT" descr="EV BSGT logo"/>
          <p:cNvPicPr>
            <a:picLocks noChangeAspect="1"/>
          </p:cNvPicPr>
          <p:nvPr/>
        </p:nvPicPr>
        <p:blipFill>
          <a:blip r:embed="rId5"/>
          <a:stretch>
            <a:fillRect/>
          </a:stretch>
        </p:blipFill>
        <p:spPr>
          <a:xfrm>
            <a:off x="8092440" y="2514600"/>
            <a:ext cx="3456432" cy="1051560"/>
          </a:xfrm>
          <a:prstGeom prst="rect">
            <a:avLst/>
          </a:prstGeom>
          <a:effectLst>
            <a:outerShdw blurRad="152400" dist="38100" dir="5400000" algn="t" rotWithShape="0">
              <a:srgbClr val="0B0D10">
                <a:alpha val="16000"/>
              </a:srgbClr>
            </a:outerShdw>
          </a:effectLst>
        </p:spPr>
      </p:pic>
      <p:pic>
        <p:nvPicPr>
          <p:cNvPr id="31" name="Partner EVS Electric Vehicle Services" descr="EVS Electric Vehicle Services logo"/>
          <p:cNvPicPr>
            <a:picLocks noChangeAspect="1"/>
          </p:cNvPicPr>
          <p:nvPr/>
        </p:nvPicPr>
        <p:blipFill>
          <a:blip r:embed="rId6"/>
          <a:stretch>
            <a:fillRect/>
          </a:stretch>
        </p:blipFill>
        <p:spPr>
          <a:xfrm>
            <a:off x="640080" y="3749040"/>
            <a:ext cx="3456432" cy="1051560"/>
          </a:xfrm>
          <a:prstGeom prst="rect">
            <a:avLst/>
          </a:prstGeom>
          <a:effectLst>
            <a:outerShdw blurRad="152400" dist="38100" dir="5400000" algn="t" rotWithShape="0">
              <a:srgbClr val="0B0D10">
                <a:alpha val="16000"/>
              </a:srgbClr>
            </a:outerShdw>
          </a:effectLst>
        </p:spPr>
      </p:pic>
      <p:pic>
        <p:nvPicPr>
          <p:cNvPr id="32" name="Partner Enhance Automotive" descr="Enhance Automotive logo"/>
          <p:cNvPicPr>
            <a:picLocks noChangeAspect="1"/>
          </p:cNvPicPr>
          <p:nvPr/>
        </p:nvPicPr>
        <p:blipFill>
          <a:blip r:embed="rId7"/>
          <a:stretch>
            <a:fillRect/>
          </a:stretch>
        </p:blipFill>
        <p:spPr>
          <a:xfrm>
            <a:off x="4366260" y="3749040"/>
            <a:ext cx="3456432" cy="1051560"/>
          </a:xfrm>
          <a:prstGeom prst="rect">
            <a:avLst/>
          </a:prstGeom>
          <a:effectLst>
            <a:outerShdw blurRad="152400" dist="38100" dir="5400000" algn="t" rotWithShape="0">
              <a:srgbClr val="0B0D10">
                <a:alpha val="16000"/>
              </a:srgbClr>
            </a:outerShdw>
          </a:effectLst>
        </p:spPr>
      </p:pic>
      <p:pic>
        <p:nvPicPr>
          <p:cNvPr id="33" name="Partner IGUANA Premium Auto Care" descr="IGUANA Premium Auto Care logo"/>
          <p:cNvPicPr>
            <a:picLocks noChangeAspect="1"/>
          </p:cNvPicPr>
          <p:nvPr/>
        </p:nvPicPr>
        <p:blipFill>
          <a:blip r:embed="rId8"/>
          <a:stretch>
            <a:fillRect/>
          </a:stretch>
        </p:blipFill>
        <p:spPr>
          <a:xfrm>
            <a:off x="8092440" y="3749040"/>
            <a:ext cx="3456432" cy="1051560"/>
          </a:xfrm>
          <a:prstGeom prst="rect">
            <a:avLst/>
          </a:prstGeom>
          <a:effectLst>
            <a:outerShdw blurRad="152400" dist="38100" dir="5400000" algn="t" rotWithShape="0">
              <a:srgbClr val="0B0D10">
                <a:alpha val="16000"/>
              </a:srgbClr>
            </a:outerShdw>
          </a:effectLst>
        </p:spPr>
      </p:pic>
      <p:pic>
        <p:nvPicPr>
          <p:cNvPr id="34" name="Partner Al Atlalah Al Shamikha" descr="Al Atlalah Al Shamikha logo"/>
          <p:cNvPicPr>
            <a:picLocks noChangeAspect="1"/>
          </p:cNvPicPr>
          <p:nvPr/>
        </p:nvPicPr>
        <p:blipFill>
          <a:blip r:embed="rId9"/>
          <a:stretch>
            <a:fillRect/>
          </a:stretch>
        </p:blipFill>
        <p:spPr>
          <a:xfrm>
            <a:off x="640080" y="4983480"/>
            <a:ext cx="3456432" cy="1051560"/>
          </a:xfrm>
          <a:prstGeom prst="rect">
            <a:avLst/>
          </a:prstGeom>
          <a:effectLst>
            <a:outerShdw blurRad="152400" dist="38100" dir="5400000" algn="t" rotWithShape="0">
              <a:srgbClr val="0B0D10">
                <a:alpha val="16000"/>
              </a:srgbClr>
            </a:outerShdw>
          </a:effectLst>
        </p:spPr>
      </p:pic>
      <p:pic>
        <p:nvPicPr>
          <p:cNvPr id="35" name="Partner S.O.S Auto Services" descr="S.O.S Auto Services logo"/>
          <p:cNvPicPr>
            <a:picLocks noChangeAspect="1"/>
          </p:cNvPicPr>
          <p:nvPr/>
        </p:nvPicPr>
        <p:blipFill>
          <a:blip r:embed="rId10"/>
          <a:stretch>
            <a:fillRect/>
          </a:stretch>
        </p:blipFill>
        <p:spPr>
          <a:xfrm>
            <a:off x="4366260" y="4983480"/>
            <a:ext cx="3456432" cy="1051560"/>
          </a:xfrm>
          <a:prstGeom prst="rect">
            <a:avLst/>
          </a:prstGeom>
          <a:effectLst>
            <a:outerShdw blurRad="152400" dist="38100" dir="5400000" algn="t" rotWithShape="0">
              <a:srgbClr val="0B0D10">
                <a:alpha val="16000"/>
              </a:srgbClr>
            </a:outerShdw>
          </a:effectLst>
        </p:spPr>
      </p:pic>
      <p:pic>
        <p:nvPicPr>
          <p:cNvPr id="36" name="Partner Al Nahla Trading" descr="Al Nahla Trading logo"/>
          <p:cNvPicPr>
            <a:picLocks noChangeAspect="1"/>
          </p:cNvPicPr>
          <p:nvPr/>
        </p:nvPicPr>
        <p:blipFill>
          <a:blip r:embed="rId11"/>
          <a:stretch>
            <a:fillRect/>
          </a:stretch>
        </p:blipFill>
        <p:spPr>
          <a:xfrm>
            <a:off x="8092440" y="4983480"/>
            <a:ext cx="3456432" cy="1051560"/>
          </a:xfrm>
          <a:prstGeom prst="rect">
            <a:avLst/>
          </a:prstGeom>
          <a:effectLst>
            <a:outerShdw blurRad="152400" dist="38100" dir="5400000" algn="t" rotWithShape="0">
              <a:srgbClr val="0B0D10">
                <a:alpha val="16000"/>
              </a:srgbClr>
            </a:outerShdw>
          </a:effectLst>
        </p:spPr>
      </p:pic>
      <p:sp>
        <p:nvSpPr>
          <p:cNvPr id="37" name="Back to contents" descr="Back to contents">
            <a:hlinkClick r:id="rId12" action="ppaction://hlinksldjump" tooltip="Back to Contents / العودة إلى المحتويات"/>
          </p:cNvPr>
          <p:cNvSpPr/>
          <p:nvPr/>
        </p:nvSpPr>
        <p:spPr>
          <a:xfrm>
            <a:off x="8838000" y="6283000"/>
            <a:ext cx="1850000" cy="300000"/>
          </a:xfrm>
          <a:prstGeom prst="roundRect">
            <a:avLst>
              <a:gd name="adj" fmla="val 50000"/>
            </a:avLst>
          </a:prstGeom>
          <a:noFill/>
          <a:ln w="9525">
            <a:solidFill>
              <a:schemeClr val="accent1"/>
            </a:solidFill>
          </a:ln>
        </p:spPr>
        <p:txBody>
          <a:bodyPr wrap="none" lIns="0" tIns="0" rIns="0" bIns="0" rtlCol="0" anchor="ctr"/>
          <a:lstStyle/>
          <a:p>
            <a:pPr algn="ctr"/>
            <a:r>
              <a:rPr lang="en-US" sz="900" b="1" spc="120" dirty="0">
                <a:solidFill>
                  <a:schemeClr val="accent1"/>
                </a:solidFill>
                <a:latin typeface="IBM Plex Sans Arabic"/>
                <a:cs typeface="IBM Plex Sans Arabic"/>
              </a:rPr>
              <a:t>CONTENTS  ·  </a:t>
            </a:r>
            <a:r>
              <a:rPr lang="ar-AE" sz="900" b="1" dirty="0">
                <a:solidFill>
                  <a:schemeClr val="accent1"/>
                </a:solidFill>
                <a:latin typeface="IBM Plex Sans Arabic"/>
                <a:cs typeface="IBM Plex Sans Arabic"/>
              </a:rPr>
              <a:t>المحتويات</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1"/>
                </a:solidFill>
                <a:latin typeface="IBM Plex Sans Arabic" pitchFamily="34" charset="0"/>
                <a:ea typeface="IBM Plex Sans Arabic" pitchFamily="34" charset="-122"/>
                <a:cs typeface="IBM Plex Sans Arabic" pitchFamily="34" charset="-120"/>
              </a:rPr>
              <a:t>04   ·   WHERE WE ARE</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1"/>
                </a:solidFill>
                <a:latin typeface="IBM Plex Sans Arabic" pitchFamily="34" charset="0"/>
                <a:ea typeface="IBM Plex Sans Arabic" pitchFamily="34" charset="-122"/>
                <a:cs typeface="IBM Plex Sans Arabic" pitchFamily="34" charset="-120"/>
              </a:rPr>
              <a:t>أين نحن   ·   04</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tx1"/>
                </a:solidFill>
                <a:latin typeface="IBM Plex Sans Arabic Light" pitchFamily="34" charset="0"/>
                <a:ea typeface="IBM Plex Sans Arabic Light" pitchFamily="34" charset="-122"/>
                <a:cs typeface="IBM Plex Sans Arabic Light" pitchFamily="34" charset="-120"/>
              </a:rPr>
              <a:t>Our Branch Network</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tx1"/>
                </a:solidFill>
                <a:latin typeface="IBM Plex Sans Arabic Light" pitchFamily="34" charset="0"/>
                <a:ea typeface="IBM Plex Sans Arabic Light" pitchFamily="34" charset="-122"/>
                <a:cs typeface="IBM Plex Sans Arabic Light" pitchFamily="34" charset="-120"/>
              </a:rPr>
              <a:t>شبكة فروعنا</a:t>
            </a:r>
            <a:endParaRPr lang="ar-AE" sz="3000" dirty="0"/>
          </a:p>
        </p:txBody>
      </p:sp>
      <p:sp>
        <p:nvSpPr>
          <p:cNvPr id="6" name="Text 4"/>
          <p:cNvSpPr txBox="1"/>
          <p:nvPr/>
        </p:nvSpPr>
        <p:spPr>
          <a:xfrm>
            <a:off x="640080" y="1481328"/>
            <a:ext cx="5120640" cy="274320"/>
          </a:xfrm>
          <a:prstGeom prst="rect">
            <a:avLst/>
          </a:prstGeom>
          <a:noFill/>
          <a:ln/>
        </p:spPr>
        <p:txBody>
          <a:bodyPr wrap="square" lIns="0" tIns="0" rIns="0" bIns="0" rtlCol="0" anchor="t"/>
          <a:lstStyle/>
          <a:p>
            <a:pPr algn="l" indent="0" marL="0">
              <a:buNone/>
            </a:pPr>
            <a:r>
              <a:rPr lang="en-US" sz="1300" dirty="0">
                <a:solidFill>
                  <a:schemeClr val="accent3"/>
                </a:solidFill>
                <a:latin typeface="IBM Plex Sans Arabic" pitchFamily="34" charset="0"/>
                <a:ea typeface="IBM Plex Sans Arabic" pitchFamily="34" charset="-122"/>
                <a:cs typeface="IBM Plex Sans Arabic" pitchFamily="34" charset="-120"/>
              </a:rPr>
              <a:t>Five branches across the UAE and the Sultanate of Oman.</a:t>
            </a:r>
            <a:endParaRPr lang="en-US" sz="1300" dirty="0"/>
          </a:p>
        </p:txBody>
      </p:sp>
      <p:sp>
        <p:nvSpPr>
          <p:cNvPr id="7" name="Text 5"/>
          <p:cNvSpPr txBox="1"/>
          <p:nvPr/>
        </p:nvSpPr>
        <p:spPr>
          <a:xfrm>
            <a:off x="6430975" y="1481328"/>
            <a:ext cx="5120640" cy="274320"/>
          </a:xfrm>
          <a:prstGeom prst="rect">
            <a:avLst/>
          </a:prstGeom>
          <a:noFill/>
          <a:ln/>
        </p:spPr>
        <p:txBody>
          <a:bodyPr wrap="square" lIns="0" tIns="0" rIns="0" bIns="0" rtlCol="0" anchor="t"/>
          <a:lstStyle/>
          <a:p>
            <a:pPr rtl="1" algn="r" indent="0" marL="0">
              <a:buNone/>
            </a:pPr>
            <a:r>
              <a:rPr lang="ar-AE" altLang="en-US" sz="1300" dirty="0">
                <a:solidFill>
                  <a:schemeClr val="accent3"/>
                </a:solidFill>
                <a:latin typeface="IBM Plex Sans Arabic" pitchFamily="34" charset="0"/>
                <a:ea typeface="IBM Plex Sans Arabic" pitchFamily="34" charset="-122"/>
                <a:cs typeface="IBM Plex Sans Arabic" pitchFamily="34" charset="-120"/>
              </a:rPr>
              <a:t>شبكة تضم خمسة فروع في دولة الإمارات العربية المتحدة وسلطنة عُمان.</a:t>
            </a:r>
            <a:endParaRPr lang="ar-AE" sz="1300" dirty="0"/>
          </a:p>
        </p:txBody>
      </p:sp>
      <p:sp>
        <p:nvSpPr>
          <p:cNvPr id="8" name="Text 6"/>
          <p:cNvSpPr txBox="1"/>
          <p:nvPr/>
        </p:nvSpPr>
        <p:spPr>
          <a:xfrm>
            <a:off x="640080" y="2011680"/>
            <a:ext cx="6254496" cy="256032"/>
          </a:xfrm>
          <a:prstGeom prst="rect">
            <a:avLst/>
          </a:prstGeom>
          <a:noFill/>
          <a:ln/>
        </p:spPr>
        <p:txBody>
          <a:bodyPr wrap="square" lIns="0" tIns="0" rIns="0" bIns="0" rtlCol="0" anchor="t"/>
          <a:lstStyle/>
          <a:p>
            <a:pPr algn="l" indent="0" marL="0">
              <a:buNone/>
            </a:pPr>
            <a:r>
              <a:rPr lang="en-US" sz="1000" b="1" spc="200" kern="0" dirty="0">
                <a:solidFill>
                  <a:schemeClr val="accent1"/>
                </a:solidFill>
                <a:latin typeface="IBM Plex Sans Arabic" pitchFamily="34" charset="0"/>
                <a:ea typeface="IBM Plex Sans Arabic" pitchFamily="34" charset="-122"/>
                <a:cs typeface="IBM Plex Sans Arabic" pitchFamily="34" charset="-120"/>
              </a:rPr>
              <a:t>UNITED ARAB EMIRATES   |   دولة الإمارات العربية المتحدة</a:t>
            </a:r>
            <a:endParaRPr lang="en-US" sz="1000" dirty="0"/>
          </a:p>
        </p:txBody>
      </p:sp>
      <p:sp>
        <p:nvSpPr>
          <p:cNvPr id="9" name="Text 7"/>
          <p:cNvSpPr txBox="1"/>
          <p:nvPr/>
        </p:nvSpPr>
        <p:spPr>
          <a:xfrm>
            <a:off x="7351776" y="2011680"/>
            <a:ext cx="4123944" cy="256032"/>
          </a:xfrm>
          <a:prstGeom prst="rect">
            <a:avLst/>
          </a:prstGeom>
          <a:noFill/>
          <a:ln/>
        </p:spPr>
        <p:txBody>
          <a:bodyPr wrap="square" lIns="0" tIns="0" rIns="0" bIns="0" rtlCol="0" anchor="t"/>
          <a:lstStyle/>
          <a:p>
            <a:pPr algn="l" indent="0" marL="0">
              <a:buNone/>
            </a:pPr>
            <a:r>
              <a:rPr lang="en-US" sz="1000" b="1" spc="200" kern="0" dirty="0">
                <a:solidFill>
                  <a:schemeClr val="accent1"/>
                </a:solidFill>
                <a:latin typeface="IBM Plex Sans Arabic" pitchFamily="34" charset="0"/>
                <a:ea typeface="IBM Plex Sans Arabic" pitchFamily="34" charset="-122"/>
                <a:cs typeface="IBM Plex Sans Arabic" pitchFamily="34" charset="-120"/>
              </a:rPr>
              <a:t>SULTANATE OF OMAN   |   سلطنة عُمان</a:t>
            </a:r>
            <a:endParaRPr lang="en-US" sz="1000" dirty="0"/>
          </a:p>
        </p:txBody>
      </p:sp>
      <p:sp>
        <p:nvSpPr>
          <p:cNvPr id="10" name="Branch card Dubai"/>
          <p:cNvSpPr/>
          <p:nvPr/>
        </p:nvSpPr>
        <p:spPr>
          <a:xfrm>
            <a:off x="640080" y="2377440"/>
            <a:ext cx="1993392" cy="3017520"/>
          </a:xfrm>
          <a:prstGeom prst="roundRect">
            <a:avLst>
              <a:gd name="adj" fmla="val 4587"/>
            </a:avLst>
          </a:prstGeom>
          <a:solidFill>
            <a:schemeClr val="bg2"/>
          </a:solidFill>
          <a:ln/>
        </p:spPr>
      </p:sp>
      <p:pic>
        <p:nvPicPr>
          <p:cNvPr id="11" name="Branch icon Dubai" descr="storefront icon">    </p:cNvPr>
          <p:cNvPicPr>
            <a:picLocks noChangeAspect="1"/>
          </p:cNvPicPr>
          <p:nvPr/>
        </p:nvPicPr>
        <p:blipFill>
          <a:blip r:embed="rId1"/>
          <a:stretch>
            <a:fillRect/>
          </a:stretch>
        </p:blipFill>
        <p:spPr>
          <a:xfrm>
            <a:off x="868680" y="2633472"/>
            <a:ext cx="457200" cy="457200"/>
          </a:xfrm>
          <a:prstGeom prst="rect">
            <a:avLst/>
          </a:prstGeom>
        </p:spPr>
      </p:pic>
      <p:sp>
        <p:nvSpPr>
          <p:cNvPr id="12" name="Text 9"/>
          <p:cNvSpPr txBox="1"/>
          <p:nvPr/>
        </p:nvSpPr>
        <p:spPr>
          <a:xfrm>
            <a:off x="868680" y="3291840"/>
            <a:ext cx="1627632" cy="347472"/>
          </a:xfrm>
          <a:prstGeom prst="rect">
            <a:avLst/>
          </a:prstGeom>
          <a:noFill/>
          <a:ln/>
        </p:spPr>
        <p:txBody>
          <a:bodyPr wrap="square" lIns="0" tIns="0" rIns="0" bIns="0" rtlCol="0" anchor="t"/>
          <a:lstStyle/>
          <a:p>
            <a:pPr algn="l" indent="0" marL="0">
              <a:buNone/>
            </a:pPr>
            <a:r>
              <a:rPr lang="en-US" sz="1900" dirty="0">
                <a:solidFill>
                  <a:schemeClr val="tx1"/>
                </a:solidFill>
                <a:latin typeface="IBM Plex Sans Arabic Light" pitchFamily="34" charset="0"/>
                <a:ea typeface="IBM Plex Sans Arabic Light" pitchFamily="34" charset="-122"/>
                <a:cs typeface="IBM Plex Sans Arabic Light" pitchFamily="34" charset="-120"/>
                <a:hlinkClick r:id="rId9" tooltip="Open Dubai on Google Maps"/>
              </a:rPr>
              <a:t>Dubai</a:t>
            </a:r>
            <a:endParaRPr lang="en-US" sz="1900" dirty="0"/>
          </a:p>
        </p:txBody>
      </p:sp>
      <p:sp>
        <p:nvSpPr>
          <p:cNvPr id="13" name="Text 10"/>
          <p:cNvSpPr txBox="1"/>
          <p:nvPr/>
        </p:nvSpPr>
        <p:spPr>
          <a:xfrm>
            <a:off x="868680" y="3657600"/>
            <a:ext cx="1627632" cy="274320"/>
          </a:xfrm>
          <a:prstGeom prst="rect">
            <a:avLst/>
          </a:prstGeom>
          <a:noFill/>
          <a:ln/>
        </p:spPr>
        <p:txBody>
          <a:bodyPr wrap="square" lIns="0" tIns="0" rIns="0" bIns="0" rtlCol="0" anchor="t"/>
          <a:lstStyle/>
          <a:p>
            <a:pPr rtl="1" algn="r" indent="0" marL="0">
              <a:buNone/>
            </a:pPr>
            <a:r>
              <a:rPr lang="ar-AE" altLang="en-US" sz="1500" b="1" dirty="0">
                <a:solidFill>
                  <a:schemeClr val="accent1"/>
                </a:solidFill>
                <a:latin typeface="IBM Plex Sans Arabic" pitchFamily="34" charset="0"/>
                <a:ea typeface="IBM Plex Sans Arabic" pitchFamily="34" charset="-122"/>
                <a:cs typeface="IBM Plex Sans Arabic" pitchFamily="34" charset="-120"/>
                <a:hlinkClick r:id="rId9" tooltip="Open Dubai on Google Maps"/>
              </a:rPr>
              <a:t>دبي</a:t>
            </a:r>
            <a:endParaRPr lang="ar-AE" sz="1500" dirty="0"/>
          </a:p>
        </p:txBody>
      </p:sp>
      <p:sp>
        <p:nvSpPr>
          <p:cNvPr id="14" name="Text 11"/>
          <p:cNvSpPr txBox="1"/>
          <p:nvPr/>
        </p:nvSpPr>
        <p:spPr>
          <a:xfrm>
            <a:off x="868680" y="4069080"/>
            <a:ext cx="1627632" cy="594360"/>
          </a:xfrm>
          <a:prstGeom prst="rect">
            <a:avLst/>
          </a:prstGeom>
          <a:noFill/>
          <a:ln/>
        </p:spPr>
        <p:txBody>
          <a:bodyPr wrap="square" lIns="0" tIns="0" rIns="0" bIns="0" rtlCol="0" anchor="t"/>
          <a:lstStyle/>
          <a:p>
            <a:pPr algn="l" indent="0" marL="0">
              <a:buNone/>
            </a:pPr>
            <a:r>
              <a:rPr lang="en-US" sz="1050" dirty="0">
                <a:solidFill>
                  <a:schemeClr val="accent3"/>
                </a:solidFill>
                <a:latin typeface="IBM Plex Sans Arabic" pitchFamily="34" charset="0"/>
                <a:ea typeface="IBM Plex Sans Arabic" pitchFamily="34" charset="-122"/>
                <a:cs typeface="IBM Plex Sans Arabic" pitchFamily="34" charset="-120"/>
              </a:rPr>
              <a:t>Accessories, charging solutions and related customer services.</a:t>
            </a:r>
            <a:endParaRPr lang="en-US" sz="1050" dirty="0"/>
          </a:p>
        </p:txBody>
      </p:sp>
      <p:sp>
        <p:nvSpPr>
          <p:cNvPr id="15" name="Text 12"/>
          <p:cNvSpPr txBox="1"/>
          <p:nvPr/>
        </p:nvSpPr>
        <p:spPr>
          <a:xfrm>
            <a:off x="868680" y="4663440"/>
            <a:ext cx="1627632" cy="594360"/>
          </a:xfrm>
          <a:prstGeom prst="rect">
            <a:avLst/>
          </a:prstGeom>
          <a:noFill/>
          <a:ln/>
        </p:spPr>
        <p:txBody>
          <a:bodyPr wrap="square" lIns="0" tIns="0" rIns="0" bIns="0" rtlCol="0" anchor="t"/>
          <a:lstStyle/>
          <a:p>
            <a:pPr rtl="1" algn="r" indent="0" marL="0">
              <a:buNone/>
            </a:pPr>
            <a:r>
              <a:rPr lang="ar-AE" altLang="en-US" sz="1050" dirty="0">
                <a:solidFill>
                  <a:schemeClr val="accent3"/>
                </a:solidFill>
                <a:latin typeface="IBM Plex Sans Arabic" pitchFamily="34" charset="0"/>
                <a:ea typeface="IBM Plex Sans Arabic" pitchFamily="34" charset="-122"/>
                <a:cs typeface="IBM Plex Sans Arabic" pitchFamily="34" charset="-120"/>
              </a:rPr>
              <a:t>إكسسوارات وحلول شحن وخدمات مرتبطة.</a:t>
            </a:r>
            <a:endParaRPr lang="ar-AE" sz="1050" dirty="0"/>
          </a:p>
        </p:txBody>
      </p:sp>
      <p:sp>
        <p:nvSpPr>
          <p:cNvPr id="16" name="Branch card Sharjah"/>
          <p:cNvSpPr/>
          <p:nvPr/>
        </p:nvSpPr>
        <p:spPr>
          <a:xfrm>
            <a:off x="2770632" y="2377440"/>
            <a:ext cx="1993392" cy="3017520"/>
          </a:xfrm>
          <a:prstGeom prst="roundRect">
            <a:avLst>
              <a:gd name="adj" fmla="val 4587"/>
            </a:avLst>
          </a:prstGeom>
          <a:solidFill>
            <a:schemeClr val="bg2"/>
          </a:solidFill>
          <a:ln/>
        </p:spPr>
      </p:sp>
      <p:pic>
        <p:nvPicPr>
          <p:cNvPr id="17" name="Branch icon Sharjah" descr="storefront icon">    </p:cNvPr>
          <p:cNvPicPr>
            <a:picLocks noChangeAspect="1"/>
          </p:cNvPicPr>
          <p:nvPr/>
        </p:nvPicPr>
        <p:blipFill>
          <a:blip r:embed="rId2"/>
          <a:stretch>
            <a:fillRect/>
          </a:stretch>
        </p:blipFill>
        <p:spPr>
          <a:xfrm>
            <a:off x="2999232" y="2633472"/>
            <a:ext cx="457200" cy="457200"/>
          </a:xfrm>
          <a:prstGeom prst="rect">
            <a:avLst/>
          </a:prstGeom>
        </p:spPr>
      </p:pic>
      <p:sp>
        <p:nvSpPr>
          <p:cNvPr id="18" name="Text 14"/>
          <p:cNvSpPr txBox="1"/>
          <p:nvPr/>
        </p:nvSpPr>
        <p:spPr>
          <a:xfrm>
            <a:off x="2999232" y="3291840"/>
            <a:ext cx="1627632" cy="347472"/>
          </a:xfrm>
          <a:prstGeom prst="rect">
            <a:avLst/>
          </a:prstGeom>
          <a:noFill/>
          <a:ln/>
        </p:spPr>
        <p:txBody>
          <a:bodyPr wrap="square" lIns="0" tIns="0" rIns="0" bIns="0" rtlCol="0" anchor="t"/>
          <a:lstStyle/>
          <a:p>
            <a:pPr algn="l" indent="0" marL="0">
              <a:buNone/>
            </a:pPr>
            <a:r>
              <a:rPr lang="en-US" sz="1900" dirty="0">
                <a:solidFill>
                  <a:schemeClr val="tx1"/>
                </a:solidFill>
                <a:latin typeface="IBM Plex Sans Arabic Light" pitchFamily="34" charset="0"/>
                <a:ea typeface="IBM Plex Sans Arabic Light" pitchFamily="34" charset="-122"/>
                <a:cs typeface="IBM Plex Sans Arabic Light" pitchFamily="34" charset="-120"/>
                <a:hlinkClick r:id="rId10" tooltip="Open Sharjah on Google Maps"/>
              </a:rPr>
              <a:t>Sharjah</a:t>
            </a:r>
            <a:endParaRPr lang="en-US" sz="1900" dirty="0"/>
          </a:p>
        </p:txBody>
      </p:sp>
      <p:sp>
        <p:nvSpPr>
          <p:cNvPr id="19" name="Text 15"/>
          <p:cNvSpPr txBox="1"/>
          <p:nvPr/>
        </p:nvSpPr>
        <p:spPr>
          <a:xfrm>
            <a:off x="2999232" y="3657600"/>
            <a:ext cx="1627632" cy="274320"/>
          </a:xfrm>
          <a:prstGeom prst="rect">
            <a:avLst/>
          </a:prstGeom>
          <a:noFill/>
          <a:ln/>
        </p:spPr>
        <p:txBody>
          <a:bodyPr wrap="square" lIns="0" tIns="0" rIns="0" bIns="0" rtlCol="0" anchor="t"/>
          <a:lstStyle/>
          <a:p>
            <a:pPr rtl="1" algn="r" indent="0" marL="0">
              <a:buNone/>
            </a:pPr>
            <a:r>
              <a:rPr lang="ar-AE" altLang="en-US" sz="1500" b="1" dirty="0">
                <a:solidFill>
                  <a:schemeClr val="accent1"/>
                </a:solidFill>
                <a:latin typeface="IBM Plex Sans Arabic" pitchFamily="34" charset="0"/>
                <a:ea typeface="IBM Plex Sans Arabic" pitchFamily="34" charset="-122"/>
                <a:cs typeface="IBM Plex Sans Arabic" pitchFamily="34" charset="-120"/>
                <a:hlinkClick r:id="rId10" tooltip="Open Sharjah on Google Maps"/>
              </a:rPr>
              <a:t>الشارقة</a:t>
            </a:r>
            <a:endParaRPr lang="ar-AE" sz="1500" dirty="0"/>
          </a:p>
        </p:txBody>
      </p:sp>
      <p:sp>
        <p:nvSpPr>
          <p:cNvPr id="20" name="Text 16"/>
          <p:cNvSpPr txBox="1"/>
          <p:nvPr/>
        </p:nvSpPr>
        <p:spPr>
          <a:xfrm>
            <a:off x="2999232" y="4069080"/>
            <a:ext cx="1627632" cy="594360"/>
          </a:xfrm>
          <a:prstGeom prst="rect">
            <a:avLst/>
          </a:prstGeom>
          <a:noFill/>
          <a:ln/>
        </p:spPr>
        <p:txBody>
          <a:bodyPr wrap="square" lIns="0" tIns="0" rIns="0" bIns="0" rtlCol="0" anchor="t"/>
          <a:lstStyle/>
          <a:p>
            <a:pPr algn="l" indent="0" marL="0">
              <a:buNone/>
            </a:pPr>
            <a:r>
              <a:rPr lang="en-US" sz="1050" dirty="0">
                <a:solidFill>
                  <a:schemeClr val="accent3"/>
                </a:solidFill>
                <a:latin typeface="IBM Plex Sans Arabic" pitchFamily="34" charset="0"/>
                <a:ea typeface="IBM Plex Sans Arabic" pitchFamily="34" charset="-122"/>
                <a:cs typeface="IBM Plex Sans Arabic" pitchFamily="34" charset="-120"/>
              </a:rPr>
              <a:t>Specialized products and services for EV owners.</a:t>
            </a:r>
            <a:endParaRPr lang="en-US" sz="1050" dirty="0"/>
          </a:p>
        </p:txBody>
      </p:sp>
      <p:sp>
        <p:nvSpPr>
          <p:cNvPr id="21" name="Text 17"/>
          <p:cNvSpPr txBox="1"/>
          <p:nvPr/>
        </p:nvSpPr>
        <p:spPr>
          <a:xfrm>
            <a:off x="2999232" y="4663440"/>
            <a:ext cx="1627632" cy="594360"/>
          </a:xfrm>
          <a:prstGeom prst="rect">
            <a:avLst/>
          </a:prstGeom>
          <a:noFill/>
          <a:ln/>
        </p:spPr>
        <p:txBody>
          <a:bodyPr wrap="square" lIns="0" tIns="0" rIns="0" bIns="0" rtlCol="0" anchor="t"/>
          <a:lstStyle/>
          <a:p>
            <a:pPr rtl="1" algn="r" indent="0" marL="0">
              <a:buNone/>
            </a:pPr>
            <a:r>
              <a:rPr lang="ar-AE" altLang="en-US" sz="1050" dirty="0">
                <a:solidFill>
                  <a:schemeClr val="accent3"/>
                </a:solidFill>
                <a:latin typeface="IBM Plex Sans Arabic" pitchFamily="34" charset="0"/>
                <a:ea typeface="IBM Plex Sans Arabic" pitchFamily="34" charset="-122"/>
                <a:cs typeface="IBM Plex Sans Arabic" pitchFamily="34" charset="-120"/>
              </a:rPr>
              <a:t>منتجات وخدمات متخصصة لملاك السيارات الكهربائية.</a:t>
            </a:r>
            <a:endParaRPr lang="ar-AE" sz="1050" dirty="0"/>
          </a:p>
        </p:txBody>
      </p:sp>
      <p:sp>
        <p:nvSpPr>
          <p:cNvPr id="22" name="Branch card Al Ain"/>
          <p:cNvSpPr/>
          <p:nvPr/>
        </p:nvSpPr>
        <p:spPr>
          <a:xfrm>
            <a:off x="4901184" y="2377440"/>
            <a:ext cx="1993392" cy="3017520"/>
          </a:xfrm>
          <a:prstGeom prst="roundRect">
            <a:avLst>
              <a:gd name="adj" fmla="val 4587"/>
            </a:avLst>
          </a:prstGeom>
          <a:solidFill>
            <a:schemeClr val="bg2"/>
          </a:solidFill>
          <a:ln/>
        </p:spPr>
      </p:sp>
      <p:pic>
        <p:nvPicPr>
          <p:cNvPr id="23" name="Branch icon Al Ain" descr="storefront icon">    </p:cNvPr>
          <p:cNvPicPr>
            <a:picLocks noChangeAspect="1"/>
          </p:cNvPicPr>
          <p:nvPr/>
        </p:nvPicPr>
        <p:blipFill>
          <a:blip r:embed="rId3"/>
          <a:stretch>
            <a:fillRect/>
          </a:stretch>
        </p:blipFill>
        <p:spPr>
          <a:xfrm>
            <a:off x="5129784" y="2633472"/>
            <a:ext cx="457200" cy="457200"/>
          </a:xfrm>
          <a:prstGeom prst="rect">
            <a:avLst/>
          </a:prstGeom>
        </p:spPr>
      </p:pic>
      <p:sp>
        <p:nvSpPr>
          <p:cNvPr id="24" name="Text 19"/>
          <p:cNvSpPr txBox="1"/>
          <p:nvPr/>
        </p:nvSpPr>
        <p:spPr>
          <a:xfrm>
            <a:off x="5129784" y="3291840"/>
            <a:ext cx="1627632" cy="347472"/>
          </a:xfrm>
          <a:prstGeom prst="rect">
            <a:avLst/>
          </a:prstGeom>
          <a:noFill/>
          <a:ln/>
        </p:spPr>
        <p:txBody>
          <a:bodyPr wrap="square" lIns="0" tIns="0" rIns="0" bIns="0" rtlCol="0" anchor="t"/>
          <a:lstStyle/>
          <a:p>
            <a:pPr algn="l" indent="0" marL="0">
              <a:buNone/>
            </a:pPr>
            <a:r>
              <a:rPr lang="en-US" sz="1900" dirty="0">
                <a:solidFill>
                  <a:schemeClr val="tx1"/>
                </a:solidFill>
                <a:latin typeface="IBM Plex Sans Arabic Light" pitchFamily="34" charset="0"/>
                <a:ea typeface="IBM Plex Sans Arabic Light" pitchFamily="34" charset="-122"/>
                <a:cs typeface="IBM Plex Sans Arabic Light" pitchFamily="34" charset="-120"/>
                <a:hlinkClick r:id="rId11" tooltip="Open Al Ain on Google Maps"/>
              </a:rPr>
              <a:t>Al Ain</a:t>
            </a:r>
            <a:endParaRPr lang="en-US" sz="1900" dirty="0"/>
          </a:p>
        </p:txBody>
      </p:sp>
      <p:sp>
        <p:nvSpPr>
          <p:cNvPr id="25" name="Text 20"/>
          <p:cNvSpPr txBox="1"/>
          <p:nvPr/>
        </p:nvSpPr>
        <p:spPr>
          <a:xfrm>
            <a:off x="5129784" y="3657600"/>
            <a:ext cx="1627632" cy="274320"/>
          </a:xfrm>
          <a:prstGeom prst="rect">
            <a:avLst/>
          </a:prstGeom>
          <a:noFill/>
          <a:ln/>
        </p:spPr>
        <p:txBody>
          <a:bodyPr wrap="square" lIns="0" tIns="0" rIns="0" bIns="0" rtlCol="0" anchor="t"/>
          <a:lstStyle/>
          <a:p>
            <a:pPr rtl="1" algn="r" indent="0" marL="0">
              <a:buNone/>
            </a:pPr>
            <a:r>
              <a:rPr lang="ar-AE" altLang="en-US" sz="1500" b="1" dirty="0">
                <a:solidFill>
                  <a:schemeClr val="accent1"/>
                </a:solidFill>
                <a:latin typeface="IBM Plex Sans Arabic" pitchFamily="34" charset="0"/>
                <a:ea typeface="IBM Plex Sans Arabic" pitchFamily="34" charset="-122"/>
                <a:cs typeface="IBM Plex Sans Arabic" pitchFamily="34" charset="-120"/>
                <a:hlinkClick r:id="rId11" tooltip="Open Al Ain on Google Maps"/>
              </a:rPr>
              <a:t>العين</a:t>
            </a:r>
            <a:endParaRPr lang="ar-AE" sz="1500" dirty="0"/>
          </a:p>
        </p:txBody>
      </p:sp>
      <p:sp>
        <p:nvSpPr>
          <p:cNvPr id="26" name="Text 21"/>
          <p:cNvSpPr txBox="1"/>
          <p:nvPr/>
        </p:nvSpPr>
        <p:spPr>
          <a:xfrm>
            <a:off x="5129784" y="4069080"/>
            <a:ext cx="1627632" cy="594360"/>
          </a:xfrm>
          <a:prstGeom prst="rect">
            <a:avLst/>
          </a:prstGeom>
          <a:noFill/>
          <a:ln/>
        </p:spPr>
        <p:txBody>
          <a:bodyPr wrap="square" lIns="0" tIns="0" rIns="0" bIns="0" rtlCol="0" anchor="t"/>
          <a:lstStyle/>
          <a:p>
            <a:pPr algn="l" indent="0" marL="0">
              <a:buNone/>
            </a:pPr>
            <a:r>
              <a:rPr lang="en-US" sz="1050" dirty="0">
                <a:solidFill>
                  <a:schemeClr val="accent3"/>
                </a:solidFill>
                <a:latin typeface="IBM Plex Sans Arabic" pitchFamily="34" charset="0"/>
                <a:ea typeface="IBM Plex Sans Arabic" pitchFamily="34" charset="-122"/>
                <a:cs typeface="IBM Plex Sans Arabic" pitchFamily="34" charset="-120"/>
              </a:rPr>
              <a:t>EV accessories and related services.</a:t>
            </a:r>
            <a:endParaRPr lang="en-US" sz="1050" dirty="0"/>
          </a:p>
        </p:txBody>
      </p:sp>
      <p:sp>
        <p:nvSpPr>
          <p:cNvPr id="27" name="Text 22"/>
          <p:cNvSpPr txBox="1"/>
          <p:nvPr/>
        </p:nvSpPr>
        <p:spPr>
          <a:xfrm>
            <a:off x="5129784" y="4663440"/>
            <a:ext cx="1627632" cy="594360"/>
          </a:xfrm>
          <a:prstGeom prst="rect">
            <a:avLst/>
          </a:prstGeom>
          <a:noFill/>
          <a:ln/>
        </p:spPr>
        <p:txBody>
          <a:bodyPr wrap="square" lIns="0" tIns="0" rIns="0" bIns="0" rtlCol="0" anchor="t"/>
          <a:lstStyle/>
          <a:p>
            <a:pPr rtl="1" algn="r" indent="0" marL="0">
              <a:buNone/>
            </a:pPr>
            <a:r>
              <a:rPr lang="ar-AE" altLang="en-US" sz="1050" dirty="0">
                <a:solidFill>
                  <a:schemeClr val="accent3"/>
                </a:solidFill>
                <a:latin typeface="IBM Plex Sans Arabic" pitchFamily="34" charset="0"/>
                <a:ea typeface="IBM Plex Sans Arabic" pitchFamily="34" charset="-122"/>
                <a:cs typeface="IBM Plex Sans Arabic" pitchFamily="34" charset="-120"/>
              </a:rPr>
              <a:t>إكسسوارات السيارات الكهربائية والخدمات المرتبطة بها.</a:t>
            </a:r>
            <a:endParaRPr lang="ar-AE" sz="1050" dirty="0"/>
          </a:p>
        </p:txBody>
      </p:sp>
      <p:sp>
        <p:nvSpPr>
          <p:cNvPr id="28" name="Branch card Muscat"/>
          <p:cNvSpPr/>
          <p:nvPr/>
        </p:nvSpPr>
        <p:spPr>
          <a:xfrm>
            <a:off x="7351776" y="2377440"/>
            <a:ext cx="1993392" cy="3017520"/>
          </a:xfrm>
          <a:prstGeom prst="roundRect">
            <a:avLst>
              <a:gd name="adj" fmla="val 4587"/>
            </a:avLst>
          </a:prstGeom>
          <a:solidFill>
            <a:schemeClr val="accent6"/>
          </a:solidFill>
          <a:ln/>
        </p:spPr>
      </p:sp>
      <p:pic>
        <p:nvPicPr>
          <p:cNvPr id="29" name="Branch icon Muscat" descr="storefront icon">    </p:cNvPr>
          <p:cNvPicPr>
            <a:picLocks noChangeAspect="1"/>
          </p:cNvPicPr>
          <p:nvPr/>
        </p:nvPicPr>
        <p:blipFill>
          <a:blip r:embed="rId4"/>
          <a:stretch>
            <a:fillRect/>
          </a:stretch>
        </p:blipFill>
        <p:spPr>
          <a:xfrm>
            <a:off x="7580376" y="2633472"/>
            <a:ext cx="457200" cy="457200"/>
          </a:xfrm>
          <a:prstGeom prst="rect">
            <a:avLst/>
          </a:prstGeom>
        </p:spPr>
      </p:pic>
      <p:sp>
        <p:nvSpPr>
          <p:cNvPr id="30" name="Text 24"/>
          <p:cNvSpPr txBox="1"/>
          <p:nvPr/>
        </p:nvSpPr>
        <p:spPr>
          <a:xfrm>
            <a:off x="7580376" y="3291840"/>
            <a:ext cx="1627632" cy="347472"/>
          </a:xfrm>
          <a:prstGeom prst="rect">
            <a:avLst/>
          </a:prstGeom>
          <a:noFill/>
          <a:ln/>
        </p:spPr>
        <p:txBody>
          <a:bodyPr wrap="square" lIns="0" tIns="0" rIns="0" bIns="0" rtlCol="0" anchor="t"/>
          <a:lstStyle/>
          <a:p>
            <a:pPr algn="l" indent="0" marL="0">
              <a:buNone/>
            </a:pPr>
            <a:r>
              <a:rPr lang="en-US" sz="1900" dirty="0">
                <a:solidFill>
                  <a:schemeClr val="tx1"/>
                </a:solidFill>
                <a:latin typeface="IBM Plex Sans Arabic Light" pitchFamily="34" charset="0"/>
                <a:ea typeface="IBM Plex Sans Arabic Light" pitchFamily="34" charset="-122"/>
                <a:cs typeface="IBM Plex Sans Arabic Light" pitchFamily="34" charset="-120"/>
                <a:hlinkClick r:id="rId12" tooltip="Open Muscat on Google Maps"/>
              </a:rPr>
              <a:t>Muscat</a:t>
            </a:r>
            <a:endParaRPr lang="en-US" sz="1900" dirty="0"/>
          </a:p>
        </p:txBody>
      </p:sp>
      <p:sp>
        <p:nvSpPr>
          <p:cNvPr id="31" name="Text 25"/>
          <p:cNvSpPr txBox="1"/>
          <p:nvPr/>
        </p:nvSpPr>
        <p:spPr>
          <a:xfrm>
            <a:off x="7580376" y="3657600"/>
            <a:ext cx="1627632" cy="274320"/>
          </a:xfrm>
          <a:prstGeom prst="rect">
            <a:avLst/>
          </a:prstGeom>
          <a:noFill/>
          <a:ln/>
        </p:spPr>
        <p:txBody>
          <a:bodyPr wrap="square" lIns="0" tIns="0" rIns="0" bIns="0" rtlCol="0" anchor="t"/>
          <a:lstStyle/>
          <a:p>
            <a:pPr rtl="1" algn="r" indent="0" marL="0">
              <a:buNone/>
            </a:pPr>
            <a:r>
              <a:rPr lang="ar-AE" altLang="en-US" sz="1500" b="1" dirty="0">
                <a:solidFill>
                  <a:schemeClr val="accent1"/>
                </a:solidFill>
                <a:latin typeface="IBM Plex Sans Arabic" pitchFamily="34" charset="0"/>
                <a:ea typeface="IBM Plex Sans Arabic" pitchFamily="34" charset="-122"/>
                <a:cs typeface="IBM Plex Sans Arabic" pitchFamily="34" charset="-120"/>
                <a:hlinkClick r:id="rId12" tooltip="Open Muscat on Google Maps"/>
              </a:rPr>
              <a:t>مسقط</a:t>
            </a:r>
            <a:endParaRPr lang="ar-AE" sz="1500" dirty="0"/>
          </a:p>
        </p:txBody>
      </p:sp>
      <p:sp>
        <p:nvSpPr>
          <p:cNvPr id="32" name="Text 26"/>
          <p:cNvSpPr txBox="1"/>
          <p:nvPr/>
        </p:nvSpPr>
        <p:spPr>
          <a:xfrm>
            <a:off x="7580376" y="4069080"/>
            <a:ext cx="1627632" cy="594360"/>
          </a:xfrm>
          <a:prstGeom prst="rect">
            <a:avLst/>
          </a:prstGeom>
          <a:noFill/>
          <a:ln/>
        </p:spPr>
        <p:txBody>
          <a:bodyPr wrap="square" lIns="0" tIns="0" rIns="0" bIns="0" rtlCol="0" anchor="t"/>
          <a:lstStyle/>
          <a:p>
            <a:pPr algn="l" indent="0" marL="0">
              <a:buNone/>
            </a:pPr>
            <a:r>
              <a:rPr lang="en-US" sz="1050" dirty="0">
                <a:solidFill>
                  <a:schemeClr val="accent3"/>
                </a:solidFill>
                <a:latin typeface="IBM Plex Sans Arabic" pitchFamily="34" charset="0"/>
                <a:ea typeface="IBM Plex Sans Arabic" pitchFamily="34" charset="-122"/>
                <a:cs typeface="IBM Plex Sans Arabic" pitchFamily="34" charset="-120"/>
              </a:rPr>
              <a:t>Specialized products and services for EV owners in Oman.</a:t>
            </a:r>
            <a:endParaRPr lang="en-US" sz="1050" dirty="0"/>
          </a:p>
        </p:txBody>
      </p:sp>
      <p:sp>
        <p:nvSpPr>
          <p:cNvPr id="33" name="Text 27"/>
          <p:cNvSpPr txBox="1"/>
          <p:nvPr/>
        </p:nvSpPr>
        <p:spPr>
          <a:xfrm>
            <a:off x="7580376" y="4663440"/>
            <a:ext cx="1627632" cy="594360"/>
          </a:xfrm>
          <a:prstGeom prst="rect">
            <a:avLst/>
          </a:prstGeom>
          <a:noFill/>
          <a:ln/>
        </p:spPr>
        <p:txBody>
          <a:bodyPr wrap="square" lIns="0" tIns="0" rIns="0" bIns="0" rtlCol="0" anchor="t"/>
          <a:lstStyle/>
          <a:p>
            <a:pPr rtl="1" algn="r" indent="0" marL="0">
              <a:buNone/>
            </a:pPr>
            <a:r>
              <a:rPr lang="ar-AE" altLang="en-US" sz="1050" dirty="0">
                <a:solidFill>
                  <a:schemeClr val="accent3"/>
                </a:solidFill>
                <a:latin typeface="IBM Plex Sans Arabic" pitchFamily="34" charset="0"/>
                <a:ea typeface="IBM Plex Sans Arabic" pitchFamily="34" charset="-122"/>
                <a:cs typeface="IBM Plex Sans Arabic" pitchFamily="34" charset="-120"/>
              </a:rPr>
              <a:t>منتجات وخدمات متخصصة لملاك السيارات الكهربائية في عُمان.</a:t>
            </a:r>
            <a:endParaRPr lang="ar-AE" sz="1050" dirty="0"/>
          </a:p>
        </p:txBody>
      </p:sp>
      <p:sp>
        <p:nvSpPr>
          <p:cNvPr id="34" name="Branch card Saham"/>
          <p:cNvSpPr/>
          <p:nvPr/>
        </p:nvSpPr>
        <p:spPr>
          <a:xfrm>
            <a:off x="9482328" y="2377440"/>
            <a:ext cx="1993392" cy="3017520"/>
          </a:xfrm>
          <a:prstGeom prst="roundRect">
            <a:avLst>
              <a:gd name="adj" fmla="val 4587"/>
            </a:avLst>
          </a:prstGeom>
          <a:solidFill>
            <a:schemeClr val="accent6"/>
          </a:solidFill>
          <a:ln/>
        </p:spPr>
      </p:sp>
      <p:pic>
        <p:nvPicPr>
          <p:cNvPr id="35" name="Branch icon Saham" descr="storefront icon">    </p:cNvPr>
          <p:cNvPicPr>
            <a:picLocks noChangeAspect="1"/>
          </p:cNvPicPr>
          <p:nvPr/>
        </p:nvPicPr>
        <p:blipFill>
          <a:blip r:embed="rId5"/>
          <a:stretch>
            <a:fillRect/>
          </a:stretch>
        </p:blipFill>
        <p:spPr>
          <a:xfrm>
            <a:off x="9710928" y="2633472"/>
            <a:ext cx="457200" cy="457200"/>
          </a:xfrm>
          <a:prstGeom prst="rect">
            <a:avLst/>
          </a:prstGeom>
        </p:spPr>
      </p:pic>
      <p:sp>
        <p:nvSpPr>
          <p:cNvPr id="36" name="Text 29"/>
          <p:cNvSpPr txBox="1"/>
          <p:nvPr/>
        </p:nvSpPr>
        <p:spPr>
          <a:xfrm>
            <a:off x="9710928" y="3291840"/>
            <a:ext cx="1627632" cy="347472"/>
          </a:xfrm>
          <a:prstGeom prst="rect">
            <a:avLst/>
          </a:prstGeom>
          <a:noFill/>
          <a:ln/>
        </p:spPr>
        <p:txBody>
          <a:bodyPr wrap="square" lIns="0" tIns="0" rIns="0" bIns="0" rtlCol="0" anchor="t"/>
          <a:lstStyle/>
          <a:p>
            <a:pPr algn="l" indent="0" marL="0">
              <a:buNone/>
            </a:pPr>
            <a:r>
              <a:rPr lang="en-US" sz="1900" dirty="0">
                <a:solidFill>
                  <a:schemeClr val="tx1"/>
                </a:solidFill>
                <a:latin typeface="IBM Plex Sans Arabic Light" pitchFamily="34" charset="0"/>
                <a:ea typeface="IBM Plex Sans Arabic Light" pitchFamily="34" charset="-122"/>
                <a:cs typeface="IBM Plex Sans Arabic Light" pitchFamily="34" charset="-120"/>
                <a:hlinkClick r:id="rId13" tooltip="Open Saham on Google Maps"/>
              </a:rPr>
              <a:t>Saham</a:t>
            </a:r>
            <a:endParaRPr lang="en-US" sz="1900" dirty="0"/>
          </a:p>
        </p:txBody>
      </p:sp>
      <p:sp>
        <p:nvSpPr>
          <p:cNvPr id="37" name="Text 30"/>
          <p:cNvSpPr txBox="1"/>
          <p:nvPr/>
        </p:nvSpPr>
        <p:spPr>
          <a:xfrm>
            <a:off x="9710928" y="3657600"/>
            <a:ext cx="1627632" cy="274320"/>
          </a:xfrm>
          <a:prstGeom prst="rect">
            <a:avLst/>
          </a:prstGeom>
          <a:noFill/>
          <a:ln/>
        </p:spPr>
        <p:txBody>
          <a:bodyPr wrap="square" lIns="0" tIns="0" rIns="0" bIns="0" rtlCol="0" anchor="t"/>
          <a:lstStyle/>
          <a:p>
            <a:pPr rtl="1" algn="r" indent="0" marL="0">
              <a:buNone/>
            </a:pPr>
            <a:r>
              <a:rPr lang="ar-AE" altLang="en-US" sz="1500" b="1" dirty="0">
                <a:solidFill>
                  <a:schemeClr val="accent1"/>
                </a:solidFill>
                <a:latin typeface="IBM Plex Sans Arabic" pitchFamily="34" charset="0"/>
                <a:ea typeface="IBM Plex Sans Arabic" pitchFamily="34" charset="-122"/>
                <a:cs typeface="IBM Plex Sans Arabic" pitchFamily="34" charset="-120"/>
                <a:hlinkClick r:id="rId13" tooltip="Open Saham on Google Maps"/>
              </a:rPr>
              <a:t>صحم</a:t>
            </a:r>
            <a:endParaRPr lang="ar-AE" sz="1500" dirty="0"/>
          </a:p>
        </p:txBody>
      </p:sp>
      <p:sp>
        <p:nvSpPr>
          <p:cNvPr id="38" name="Text 31"/>
          <p:cNvSpPr txBox="1"/>
          <p:nvPr/>
        </p:nvSpPr>
        <p:spPr>
          <a:xfrm>
            <a:off x="9710928" y="4069080"/>
            <a:ext cx="1627632" cy="594360"/>
          </a:xfrm>
          <a:prstGeom prst="rect">
            <a:avLst/>
          </a:prstGeom>
          <a:noFill/>
          <a:ln/>
        </p:spPr>
        <p:txBody>
          <a:bodyPr wrap="square" lIns="0" tIns="0" rIns="0" bIns="0" rtlCol="0" anchor="t"/>
          <a:lstStyle/>
          <a:p>
            <a:pPr algn="l" indent="0" marL="0">
              <a:buNone/>
            </a:pPr>
            <a:r>
              <a:rPr lang="en-US" sz="1050" dirty="0">
                <a:solidFill>
                  <a:schemeClr val="accent3"/>
                </a:solidFill>
                <a:latin typeface="IBM Plex Sans Arabic" pitchFamily="34" charset="0"/>
                <a:ea typeface="IBM Plex Sans Arabic" pitchFamily="34" charset="-122"/>
                <a:cs typeface="IBM Plex Sans Arabic" pitchFamily="34" charset="-120"/>
              </a:rPr>
              <a:t>Expanding access to products and services in North Al Batinah.</a:t>
            </a:r>
            <a:endParaRPr lang="en-US" sz="1050" dirty="0"/>
          </a:p>
        </p:txBody>
      </p:sp>
      <p:sp>
        <p:nvSpPr>
          <p:cNvPr id="39" name="Text 32"/>
          <p:cNvSpPr txBox="1"/>
          <p:nvPr/>
        </p:nvSpPr>
        <p:spPr>
          <a:xfrm>
            <a:off x="9710928" y="4663440"/>
            <a:ext cx="1627632" cy="594360"/>
          </a:xfrm>
          <a:prstGeom prst="rect">
            <a:avLst/>
          </a:prstGeom>
          <a:noFill/>
          <a:ln/>
        </p:spPr>
        <p:txBody>
          <a:bodyPr wrap="square" lIns="0" tIns="0" rIns="0" bIns="0" rtlCol="0" anchor="t"/>
          <a:lstStyle/>
          <a:p>
            <a:pPr rtl="1" algn="r" indent="0" marL="0">
              <a:buNone/>
            </a:pPr>
            <a:r>
              <a:rPr lang="ar-AE" altLang="en-US" sz="1050" dirty="0">
                <a:solidFill>
                  <a:schemeClr val="accent3"/>
                </a:solidFill>
                <a:latin typeface="IBM Plex Sans Arabic" pitchFamily="34" charset="0"/>
                <a:ea typeface="IBM Plex Sans Arabic" pitchFamily="34" charset="-122"/>
                <a:cs typeface="IBM Plex Sans Arabic" pitchFamily="34" charset="-120"/>
              </a:rPr>
              <a:t>تعزيز الوصول إلى المنتجات والخدمات في شمال الباطنة.</a:t>
            </a:r>
            <a:endParaRPr lang="ar-AE" sz="1050" dirty="0"/>
          </a:p>
        </p:txBody>
      </p:sp>
      <p:sp>
        <p:nvSpPr>
          <p:cNvPr id="40" name="Service band"/>
          <p:cNvSpPr/>
          <p:nvPr/>
        </p:nvSpPr>
        <p:spPr>
          <a:xfrm>
            <a:off x="640080" y="5532120"/>
            <a:ext cx="10911535" cy="640080"/>
          </a:xfrm>
          <a:prstGeom prst="roundRect">
            <a:avLst>
              <a:gd name="adj" fmla="val 14286"/>
            </a:avLst>
          </a:prstGeom>
          <a:solidFill>
            <a:schemeClr val="tx1"/>
          </a:solidFill>
          <a:ln/>
        </p:spPr>
      </p:sp>
      <p:pic>
        <p:nvPicPr>
          <p:cNvPr id="41" name="WhatsApp icon" descr="WhatsApp icon">    </p:cNvPr>
          <p:cNvPicPr>
            <a:picLocks noChangeAspect="1"/>
          </p:cNvPicPr>
          <p:nvPr/>
        </p:nvPicPr>
        <p:blipFill>
          <a:blip r:embed="rId6"/>
          <a:stretch>
            <a:fillRect/>
          </a:stretch>
        </p:blipFill>
        <p:spPr>
          <a:xfrm>
            <a:off x="914400" y="5660136"/>
            <a:ext cx="384048" cy="384048"/>
          </a:xfrm>
          <a:prstGeom prst="rect">
            <a:avLst/>
          </a:prstGeom>
        </p:spPr>
      </p:pic>
      <p:sp>
        <p:nvSpPr>
          <p:cNvPr id="42" name="Text 34"/>
          <p:cNvSpPr txBox="1"/>
          <p:nvPr/>
        </p:nvSpPr>
        <p:spPr>
          <a:xfrm>
            <a:off x="1508760" y="5605272"/>
            <a:ext cx="3017520" cy="228600"/>
          </a:xfrm>
          <a:prstGeom prst="rect">
            <a:avLst/>
          </a:prstGeom>
          <a:noFill/>
          <a:ln/>
        </p:spPr>
        <p:txBody>
          <a:bodyPr wrap="square" lIns="0" tIns="0" rIns="0" bIns="0" rtlCol="0" anchor="t"/>
          <a:lstStyle/>
          <a:p>
            <a:pPr algn="l" indent="0" marL="0">
              <a:buNone/>
            </a:pPr>
            <a:r>
              <a:rPr lang="en-US" sz="950" b="1" spc="300" kern="0" dirty="0">
                <a:solidFill>
                  <a:schemeClr val="accent2"/>
                </a:solidFill>
                <a:latin typeface="IBM Plex Sans Arabic" pitchFamily="34" charset="0"/>
                <a:ea typeface="IBM Plex Sans Arabic" pitchFamily="34" charset="-122"/>
                <a:cs typeface="IBM Plex Sans Arabic" pitchFamily="34" charset="-120"/>
              </a:rPr>
              <a:t>UNIFIED CUSTOMER SERVICE</a:t>
            </a:r>
            <a:endParaRPr lang="en-US" sz="950" dirty="0"/>
          </a:p>
        </p:txBody>
      </p:sp>
      <p:sp>
        <p:nvSpPr>
          <p:cNvPr id="43" name="Text 35"/>
          <p:cNvSpPr txBox="1"/>
          <p:nvPr/>
        </p:nvSpPr>
        <p:spPr>
          <a:xfrm>
            <a:off x="1508760" y="5815584"/>
            <a:ext cx="3017520" cy="292608"/>
          </a:xfrm>
          <a:prstGeom prst="rect">
            <a:avLst/>
          </a:prstGeom>
          <a:noFill/>
          <a:ln/>
        </p:spPr>
        <p:txBody>
          <a:bodyPr wrap="square" lIns="0" tIns="0" rIns="0" bIns="0" rtlCol="0" anchor="t"/>
          <a:lstStyle/>
          <a:p>
            <a:pPr algn="l" indent="0" marL="0">
              <a:buNone/>
            </a:pPr>
            <a:r>
              <a:rPr lang="en-US" sz="1600" b="1" dirty="0">
                <a:solidFill>
                  <a:schemeClr val="bg1"/>
                </a:solidFill>
                <a:latin typeface="IBM Plex Sans Arabic" pitchFamily="34" charset="0"/>
                <a:ea typeface="IBM Plex Sans Arabic" pitchFamily="34" charset="-122"/>
                <a:cs typeface="IBM Plex Sans Arabic" pitchFamily="34" charset="-120"/>
              </a:rPr>
              <a:t>+971 50 777 7134</a:t>
            </a:r>
            <a:endParaRPr lang="en-US" sz="1600" dirty="0"/>
          </a:p>
        </p:txBody>
      </p:sp>
      <p:sp>
        <p:nvSpPr>
          <p:cNvPr id="44" name="Text 36"/>
          <p:cNvSpPr txBox="1"/>
          <p:nvPr/>
        </p:nvSpPr>
        <p:spPr>
          <a:xfrm>
            <a:off x="7345375" y="5605272"/>
            <a:ext cx="3931920" cy="228600"/>
          </a:xfrm>
          <a:prstGeom prst="rect">
            <a:avLst/>
          </a:prstGeom>
          <a:noFill/>
          <a:ln/>
        </p:spPr>
        <p:txBody>
          <a:bodyPr wrap="square" lIns="0" tIns="0" rIns="0" bIns="0" rtlCol="0" anchor="t"/>
          <a:lstStyle/>
          <a:p>
            <a:pPr rtl="1" algn="r" indent="0" marL="0">
              <a:buNone/>
            </a:pPr>
            <a:r>
              <a:rPr lang="ar-AE" altLang="en-US" sz="1100" b="1" dirty="0">
                <a:solidFill>
                  <a:schemeClr val="accent2"/>
                </a:solidFill>
                <a:latin typeface="IBM Plex Sans Arabic" pitchFamily="34" charset="0"/>
                <a:ea typeface="IBM Plex Sans Arabic" pitchFamily="34" charset="-122"/>
                <a:cs typeface="IBM Plex Sans Arabic" pitchFamily="34" charset="-120"/>
              </a:rPr>
              <a:t>خدمة العملاء الموحدة</a:t>
            </a:r>
            <a:endParaRPr lang="ar-AE" sz="1100" dirty="0"/>
          </a:p>
        </p:txBody>
      </p:sp>
      <p:sp>
        <p:nvSpPr>
          <p:cNvPr id="45" name="Text 37"/>
          <p:cNvSpPr txBox="1"/>
          <p:nvPr/>
        </p:nvSpPr>
        <p:spPr>
          <a:xfrm>
            <a:off x="7345375" y="5833872"/>
            <a:ext cx="3931920" cy="274320"/>
          </a:xfrm>
          <a:prstGeom prst="rect">
            <a:avLst/>
          </a:prstGeom>
          <a:noFill/>
          <a:ln/>
        </p:spPr>
        <p:txBody>
          <a:bodyPr wrap="square" lIns="0" tIns="0" rIns="0" bIns="0" rtlCol="0" anchor="t"/>
          <a:lstStyle/>
          <a:p>
            <a:pPr rtl="1" algn="r" indent="0" marL="0">
              <a:buNone/>
            </a:pPr>
            <a:r>
              <a:rPr lang="ar-AE" altLang="en-US" sz="1300" dirty="0">
                <a:solidFill>
                  <a:schemeClr val="bg1"/>
                </a:solidFill>
                <a:latin typeface="IBM Plex Sans Arabic" pitchFamily="34" charset="0"/>
                <a:ea typeface="IBM Plex Sans Arabic" pitchFamily="34" charset="-122"/>
                <a:cs typeface="IBM Plex Sans Arabic" pitchFamily="34" charset="-120"/>
              </a:rPr>
              <a:t>اتصال وواتساب  ·  Call &amp; WhatsApp</a:t>
            </a:r>
            <a:endParaRPr lang="ar-AE" sz="13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A75"/>
                </a:solidFill>
                <a:latin typeface="IBM Plex Sans Arabic"/>
                <a:ea typeface="IBM Plex Sans Arabic"/>
                <a:cs typeface="IBM Plex Sans Arabic"/>
              </a:defRPr>
            </a:lvl1pPr>
          </a:lstStyle>
          <a:p>
            <a:pPr algn="r"/>
            <a:fld id="{F7021451-1387-4CA6-816F-3879F97B5CBC}" type="slidenum">
              <a:rPr b="0" lang="en-US"/>
              <a:t>14</a:t>
            </a:fld>
            <a:endParaRPr lang="en-US"/>
          </a:p>
        </p:txBody>
      </p:sp>
      <p:sp>
        <p:nvSpPr>
          <p:cNvPr id="46" name="Map cue Dubai"/>
          <p:cNvSpPr txBox="1"/>
          <p:nvPr/>
        </p:nvSpPr>
        <p:spPr>
          <a:xfrm>
            <a:off x="1633472" y="2627440"/>
            <a:ext cx="880000" cy="200000"/>
          </a:xfrm>
          <a:prstGeom prst="rect">
            <a:avLst/>
          </a:prstGeom>
          <a:noFill/>
        </p:spPr>
        <p:txBody>
          <a:bodyPr wrap="square" lIns="0" tIns="0" rIns="0" bIns="0" rtlCol="0" anchor="t"/>
          <a:lstStyle/>
          <a:p>
            <a:pPr algn="r"/>
            <a:r>
              <a:rPr lang="en-US" sz="900" b="1" spc="150" dirty="0">
                <a:solidFill>
                  <a:schemeClr val="accent1"/>
                </a:solidFill>
                <a:latin typeface="IBM Plex Sans Arabic"/>
                <a:cs typeface="IBM Plex Sans Arabic"/>
              </a:rPr>
              <a:t>MAP  ↗</a:t>
            </a:r>
          </a:p>
        </p:txBody>
      </p:sp>
      <p:sp>
        <p:nvSpPr>
          <p:cNvPr id="47" name="Map cue Sharjah"/>
          <p:cNvSpPr txBox="1"/>
          <p:nvPr/>
        </p:nvSpPr>
        <p:spPr>
          <a:xfrm>
            <a:off x="3764024" y="2627440"/>
            <a:ext cx="880000" cy="200000"/>
          </a:xfrm>
          <a:prstGeom prst="rect">
            <a:avLst/>
          </a:prstGeom>
          <a:noFill/>
        </p:spPr>
        <p:txBody>
          <a:bodyPr wrap="square" lIns="0" tIns="0" rIns="0" bIns="0" rtlCol="0" anchor="t"/>
          <a:lstStyle/>
          <a:p>
            <a:pPr algn="r"/>
            <a:r>
              <a:rPr lang="en-US" sz="900" b="1" spc="150" dirty="0">
                <a:solidFill>
                  <a:schemeClr val="accent1"/>
                </a:solidFill>
                <a:latin typeface="IBM Plex Sans Arabic"/>
                <a:cs typeface="IBM Plex Sans Arabic"/>
              </a:rPr>
              <a:t>MAP  ↗</a:t>
            </a:r>
          </a:p>
        </p:txBody>
      </p:sp>
      <p:sp>
        <p:nvSpPr>
          <p:cNvPr id="48" name="Map cue Al Ain"/>
          <p:cNvSpPr txBox="1"/>
          <p:nvPr/>
        </p:nvSpPr>
        <p:spPr>
          <a:xfrm>
            <a:off x="5894576" y="2627440"/>
            <a:ext cx="880000" cy="200000"/>
          </a:xfrm>
          <a:prstGeom prst="rect">
            <a:avLst/>
          </a:prstGeom>
          <a:noFill/>
        </p:spPr>
        <p:txBody>
          <a:bodyPr wrap="square" lIns="0" tIns="0" rIns="0" bIns="0" rtlCol="0" anchor="t"/>
          <a:lstStyle/>
          <a:p>
            <a:pPr algn="r"/>
            <a:r>
              <a:rPr lang="en-US" sz="900" b="1" spc="150" dirty="0">
                <a:solidFill>
                  <a:schemeClr val="accent1"/>
                </a:solidFill>
                <a:latin typeface="IBM Plex Sans Arabic"/>
                <a:cs typeface="IBM Plex Sans Arabic"/>
              </a:rPr>
              <a:t>MAP  ↗</a:t>
            </a:r>
          </a:p>
        </p:txBody>
      </p:sp>
      <p:sp>
        <p:nvSpPr>
          <p:cNvPr id="49" name="Map cue Muscat"/>
          <p:cNvSpPr txBox="1"/>
          <p:nvPr/>
        </p:nvSpPr>
        <p:spPr>
          <a:xfrm>
            <a:off x="8345168" y="2627440"/>
            <a:ext cx="880000" cy="200000"/>
          </a:xfrm>
          <a:prstGeom prst="rect">
            <a:avLst/>
          </a:prstGeom>
          <a:noFill/>
        </p:spPr>
        <p:txBody>
          <a:bodyPr wrap="square" lIns="0" tIns="0" rIns="0" bIns="0" rtlCol="0" anchor="t"/>
          <a:lstStyle/>
          <a:p>
            <a:pPr algn="r"/>
            <a:r>
              <a:rPr lang="en-US" sz="900" b="1" spc="150" dirty="0">
                <a:solidFill>
                  <a:schemeClr val="accent1"/>
                </a:solidFill>
                <a:latin typeface="IBM Plex Sans Arabic"/>
                <a:cs typeface="IBM Plex Sans Arabic"/>
              </a:rPr>
              <a:t>MAP  ↗</a:t>
            </a:r>
          </a:p>
        </p:txBody>
      </p:sp>
      <p:sp>
        <p:nvSpPr>
          <p:cNvPr id="50" name="Map cue Saham"/>
          <p:cNvSpPr txBox="1"/>
          <p:nvPr/>
        </p:nvSpPr>
        <p:spPr>
          <a:xfrm>
            <a:off x="10475720" y="2627440"/>
            <a:ext cx="880000" cy="200000"/>
          </a:xfrm>
          <a:prstGeom prst="rect">
            <a:avLst/>
          </a:prstGeom>
          <a:noFill/>
        </p:spPr>
        <p:txBody>
          <a:bodyPr wrap="square" lIns="0" tIns="0" rIns="0" bIns="0" rtlCol="0" anchor="t"/>
          <a:lstStyle/>
          <a:p>
            <a:pPr algn="r"/>
            <a:r>
              <a:rPr lang="en-US" sz="900" b="1" spc="150" dirty="0">
                <a:solidFill>
                  <a:schemeClr val="accent1"/>
                </a:solidFill>
                <a:latin typeface="IBM Plex Sans Arabic"/>
                <a:cs typeface="IBM Plex Sans Arabic"/>
              </a:rPr>
              <a:t>MAP  ↗</a:t>
            </a:r>
          </a:p>
        </p:txBody>
      </p:sp>
      <p:sp>
        <p:nvSpPr>
          <p:cNvPr id="51" name="Map Dubai" descr="Open Dubai on Google Maps">
            <a:hlinkClick r:id="rId9" tooltip="Open Dubai on Google Maps"/>
          </p:cNvPr>
          <p:cNvSpPr/>
          <p:nvPr/>
        </p:nvSpPr>
        <p:spPr>
          <a:xfrm>
            <a:off x="640080" y="2377440"/>
            <a:ext cx="1993392" cy="3017520"/>
          </a:xfrm>
          <a:prstGeom prst="roundRect">
            <a:avLst/>
          </a:prstGeom>
          <a:noFill/>
          <a:ln>
            <a:noFill/>
          </a:ln>
        </p:spPr>
        <p:txBody>
          <a:bodyPr/>
          <a:lstStyle/>
          <a:p>
            <a:endParaRPr lang="en-US"/>
          </a:p>
        </p:txBody>
      </p:sp>
      <p:sp>
        <p:nvSpPr>
          <p:cNvPr id="52" name="Map Sharjah" descr="Open Sharjah on Google Maps">
            <a:hlinkClick r:id="rId10" tooltip="Open Sharjah on Google Maps"/>
          </p:cNvPr>
          <p:cNvSpPr/>
          <p:nvPr/>
        </p:nvSpPr>
        <p:spPr>
          <a:xfrm>
            <a:off x="2770632" y="2377440"/>
            <a:ext cx="1993392" cy="3017520"/>
          </a:xfrm>
          <a:prstGeom prst="roundRect">
            <a:avLst/>
          </a:prstGeom>
          <a:noFill/>
          <a:ln>
            <a:noFill/>
          </a:ln>
        </p:spPr>
        <p:txBody>
          <a:bodyPr/>
          <a:lstStyle/>
          <a:p>
            <a:endParaRPr lang="en-US"/>
          </a:p>
        </p:txBody>
      </p:sp>
      <p:sp>
        <p:nvSpPr>
          <p:cNvPr id="53" name="Map Al Ain" descr="Open Al Ain on Google Maps">
            <a:hlinkClick r:id="rId11" tooltip="Open Al Ain on Google Maps"/>
          </p:cNvPr>
          <p:cNvSpPr/>
          <p:nvPr/>
        </p:nvSpPr>
        <p:spPr>
          <a:xfrm>
            <a:off x="4901184" y="2377440"/>
            <a:ext cx="1993392" cy="3017520"/>
          </a:xfrm>
          <a:prstGeom prst="roundRect">
            <a:avLst/>
          </a:prstGeom>
          <a:noFill/>
          <a:ln>
            <a:noFill/>
          </a:ln>
        </p:spPr>
        <p:txBody>
          <a:bodyPr/>
          <a:lstStyle/>
          <a:p>
            <a:endParaRPr lang="en-US"/>
          </a:p>
        </p:txBody>
      </p:sp>
      <p:sp>
        <p:nvSpPr>
          <p:cNvPr id="54" name="Map Muscat" descr="Open Muscat on Google Maps">
            <a:hlinkClick r:id="rId12" tooltip="Open Muscat on Google Maps"/>
          </p:cNvPr>
          <p:cNvSpPr/>
          <p:nvPr/>
        </p:nvSpPr>
        <p:spPr>
          <a:xfrm>
            <a:off x="7351776" y="2377440"/>
            <a:ext cx="1993392" cy="3017520"/>
          </a:xfrm>
          <a:prstGeom prst="roundRect">
            <a:avLst/>
          </a:prstGeom>
          <a:noFill/>
          <a:ln>
            <a:noFill/>
          </a:ln>
        </p:spPr>
        <p:txBody>
          <a:bodyPr/>
          <a:lstStyle/>
          <a:p>
            <a:endParaRPr lang="en-US"/>
          </a:p>
        </p:txBody>
      </p:sp>
      <p:sp>
        <p:nvSpPr>
          <p:cNvPr id="55" name="Map Saham" descr="Open Saham on Google Maps">
            <a:hlinkClick r:id="rId13" tooltip="Open Saham on Google Maps"/>
          </p:cNvPr>
          <p:cNvSpPr/>
          <p:nvPr/>
        </p:nvSpPr>
        <p:spPr>
          <a:xfrm>
            <a:off x="9482328" y="2377440"/>
            <a:ext cx="1993392" cy="3017520"/>
          </a:xfrm>
          <a:prstGeom prst="roundRect">
            <a:avLst/>
          </a:prstGeom>
          <a:noFill/>
          <a:ln>
            <a:noFill/>
          </a:ln>
        </p:spPr>
        <p:txBody>
          <a:bodyPr/>
          <a:lstStyle/>
          <a:p>
            <a:endParaRPr lang="en-US"/>
          </a:p>
        </p:txBody>
      </p:sp>
      <p:sp>
        <p:nvSpPr>
          <p:cNvPr id="56" name="WhatsApp link" descr="Chat on WhatsApp">
            <a:hlinkClick r:id="rId14" tooltip="Chat on WhatsApp"/>
          </p:cNvPr>
          <p:cNvSpPr/>
          <p:nvPr/>
        </p:nvSpPr>
        <p:spPr>
          <a:xfrm>
            <a:off x="640080" y="5532120"/>
            <a:ext cx="4300000" cy="640080"/>
          </a:xfrm>
          <a:prstGeom prst="roundRect">
            <a:avLst/>
          </a:prstGeom>
          <a:noFill/>
          <a:ln>
            <a:noFill/>
          </a:ln>
        </p:spPr>
        <p:txBody>
          <a:bodyPr/>
          <a:lstStyle/>
          <a:p>
            <a:endParaRPr lang="en-US"/>
          </a:p>
        </p:txBody>
      </p:sp>
      <p:pic>
        <p:nvPicPr>
          <p:cNvPr id="57" name="Store icon" descr="Website icon"/>
          <p:cNvPicPr>
            <a:picLocks noChangeAspect="1"/>
          </p:cNvPicPr>
          <p:nvPr/>
        </p:nvPicPr>
        <p:blipFill>
          <a:blip r:embed="rId15"/>
          <a:stretch>
            <a:fillRect/>
          </a:stretch>
        </p:blipFill>
        <p:spPr>
          <a:xfrm>
            <a:off x="5120000" y="5660136"/>
            <a:ext cx="384048" cy="384048"/>
          </a:xfrm>
          <a:prstGeom prst="rect">
            <a:avLst/>
          </a:prstGeom>
        </p:spPr>
      </p:pic>
      <p:sp>
        <p:nvSpPr>
          <p:cNvPr id="58" name="Store label"/>
          <p:cNvSpPr txBox="1"/>
          <p:nvPr/>
        </p:nvSpPr>
        <p:spPr>
          <a:xfrm>
            <a:off x="5660000" y="5605272"/>
            <a:ext cx="2300000" cy="228600"/>
          </a:xfrm>
          <a:prstGeom prst="rect">
            <a:avLst/>
          </a:prstGeom>
          <a:noFill/>
        </p:spPr>
        <p:txBody>
          <a:bodyPr wrap="square" lIns="0" tIns="0" rIns="0" bIns="0" rtlCol="0" anchor="t"/>
          <a:lstStyle/>
          <a:p>
            <a:pPr algn="l"/>
            <a:r>
              <a:rPr lang="en-US" sz="950" b="1" spc="150" dirty="0">
                <a:solidFill>
                  <a:schemeClr val="accent2"/>
                </a:solidFill>
                <a:latin typeface="IBM Plex Sans Arabic"/>
                <a:cs typeface="IBM Plex Sans Arabic"/>
              </a:rPr>
              <a:t>ONLINE STORE  |  المتجر</a:t>
            </a:r>
          </a:p>
        </p:txBody>
      </p:sp>
      <p:sp>
        <p:nvSpPr>
          <p:cNvPr id="59" name="Store url"/>
          <p:cNvSpPr txBox="1"/>
          <p:nvPr/>
        </p:nvSpPr>
        <p:spPr>
          <a:xfrm>
            <a:off x="5660000" y="5815584"/>
            <a:ext cx="2300000" cy="292608"/>
          </a:xfrm>
          <a:prstGeom prst="rect">
            <a:avLst/>
          </a:prstGeom>
          <a:noFill/>
        </p:spPr>
        <p:txBody>
          <a:bodyPr wrap="square" lIns="0" tIns="0" rIns="0" bIns="0" rtlCol="0" anchor="t"/>
          <a:lstStyle/>
          <a:p>
            <a:pPr algn="l"/>
            <a:r>
              <a:rPr lang="en-US" sz="1600" b="1" spc="0" dirty="0">
                <a:solidFill>
                  <a:schemeClr val="bg1"/>
                </a:solidFill>
                <a:latin typeface="IBM Plex Sans Arabic"/>
                <a:cs typeface="IBM Plex Sans Arabic"/>
              </a:rPr>
              <a:t>evcarsuae.com</a:t>
            </a:r>
          </a:p>
        </p:txBody>
      </p:sp>
      <p:sp>
        <p:nvSpPr>
          <p:cNvPr id="60" name="Store link" descr="Open evcarsuae.com">
            <a:hlinkClick r:id="rId16" tooltip="Open evcarsuae.com"/>
          </p:cNvPr>
          <p:cNvSpPr/>
          <p:nvPr/>
        </p:nvSpPr>
        <p:spPr>
          <a:xfrm>
            <a:off x="5000000" y="5532120"/>
            <a:ext cx="3000000" cy="640080"/>
          </a:xfrm>
          <a:prstGeom prst="roundRect">
            <a:avLst/>
          </a:prstGeom>
          <a:noFill/>
          <a:ln>
            <a:noFill/>
          </a:ln>
        </p:spPr>
        <p:txBody>
          <a:bodyPr/>
          <a:lstStyle/>
          <a:p>
            <a:endParaRPr lang="en-US"/>
          </a:p>
        </p:txBody>
      </p:sp>
      <p:sp>
        <p:nvSpPr>
          <p:cNvPr id="61" name="Back to contents" descr="Back to contents">
            <a:hlinkClick r:id="rId17" action="ppaction://hlinksldjump" tooltip="Back to Contents / العودة إلى المحتويات"/>
          </p:cNvPr>
          <p:cNvSpPr/>
          <p:nvPr/>
        </p:nvSpPr>
        <p:spPr>
          <a:xfrm>
            <a:off x="8838000" y="6283000"/>
            <a:ext cx="1850000" cy="300000"/>
          </a:xfrm>
          <a:prstGeom prst="roundRect">
            <a:avLst>
              <a:gd name="adj" fmla="val 50000"/>
            </a:avLst>
          </a:prstGeom>
          <a:noFill/>
          <a:ln w="9525">
            <a:solidFill>
              <a:schemeClr val="accent1"/>
            </a:solidFill>
          </a:ln>
        </p:spPr>
        <p:txBody>
          <a:bodyPr wrap="none" lIns="0" tIns="0" rIns="0" bIns="0" rtlCol="0" anchor="ctr"/>
          <a:lstStyle/>
          <a:p>
            <a:pPr algn="ctr"/>
            <a:r>
              <a:rPr lang="en-US" sz="900" b="1" spc="120" dirty="0">
                <a:solidFill>
                  <a:schemeClr val="accent1"/>
                </a:solidFill>
                <a:latin typeface="IBM Plex Sans Arabic"/>
                <a:cs typeface="IBM Plex Sans Arabic"/>
              </a:rPr>
              <a:t>CONTENTS  ·  </a:t>
            </a:r>
            <a:r>
              <a:rPr lang="ar-AE" sz="900" b="1" dirty="0">
                <a:solidFill>
                  <a:schemeClr val="accent1"/>
                </a:solidFill>
                <a:latin typeface="IBM Plex Sans Arabic"/>
                <a:cs typeface="IBM Plex Sans Arabic"/>
              </a:rPr>
              <a:t>المحتويات</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2"/>
                </a:solidFill>
                <a:latin typeface="IBM Plex Sans Arabic" pitchFamily="34" charset="0"/>
                <a:ea typeface="IBM Plex Sans Arabic" pitchFamily="34" charset="-122"/>
                <a:cs typeface="IBM Plex Sans Arabic" pitchFamily="34" charset="-120"/>
              </a:rPr>
              <a:t>04   ·   WHERE WE ARE</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2"/>
                </a:solidFill>
                <a:latin typeface="IBM Plex Sans Arabic" pitchFamily="34" charset="0"/>
                <a:ea typeface="IBM Plex Sans Arabic" pitchFamily="34" charset="-122"/>
                <a:cs typeface="IBM Plex Sans Arabic" pitchFamily="34" charset="-120"/>
              </a:rPr>
              <a:t>أين نحن   ·   04</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bg1"/>
                </a:solidFill>
                <a:latin typeface="IBM Plex Sans Arabic Light" pitchFamily="34" charset="0"/>
                <a:ea typeface="IBM Plex Sans Arabic Light" pitchFamily="34" charset="-122"/>
                <a:cs typeface="IBM Plex Sans Arabic Light" pitchFamily="34" charset="-120"/>
              </a:rPr>
              <a:t>Operational Capabilities</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bg1"/>
                </a:solidFill>
                <a:latin typeface="IBM Plex Sans Arabic Light" pitchFamily="34" charset="0"/>
                <a:ea typeface="IBM Plex Sans Arabic Light" pitchFamily="34" charset="-122"/>
                <a:cs typeface="IBM Plex Sans Arabic Light" pitchFamily="34" charset="-120"/>
              </a:rPr>
              <a:t>قدراتنا التشغيلية</a:t>
            </a:r>
            <a:endParaRPr lang="ar-AE" sz="3000" dirty="0"/>
          </a:p>
        </p:txBody>
      </p:sp>
      <p:sp>
        <p:nvSpPr>
          <p:cNvPr id="6" name="Text 4"/>
          <p:cNvSpPr txBox="1"/>
          <p:nvPr/>
        </p:nvSpPr>
        <p:spPr>
          <a:xfrm>
            <a:off x="640080" y="1554480"/>
            <a:ext cx="5120640" cy="914400"/>
          </a:xfrm>
          <a:prstGeom prst="rect">
            <a:avLst/>
          </a:prstGeom>
          <a:noFill/>
          <a:ln/>
        </p:spPr>
        <p:txBody>
          <a:bodyPr wrap="square" lIns="0" tIns="0" rIns="0" bIns="0" rtlCol="0" anchor="t"/>
          <a:lstStyle/>
          <a:p>
            <a:pPr algn="l" indent="0" marL="0">
              <a:buNone/>
            </a:pPr>
            <a:r>
              <a:rPr lang="en-US" sz="1300" dirty="0">
                <a:solidFill>
                  <a:schemeClr val="accent5"/>
                </a:solidFill>
                <a:latin typeface="IBM Plex Sans Arabic" pitchFamily="34" charset="0"/>
                <a:ea typeface="IBM Plex Sans Arabic" pitchFamily="34" charset="-122"/>
                <a:cs typeface="IBM Plex Sans Arabic" pitchFamily="34" charset="-120"/>
              </a:rPr>
              <a:t>A business infrastructure supporting retail, distribution and technical services, built to support product availability, direct customer service and future expansion.</a:t>
            </a:r>
            <a:endParaRPr lang="en-US" sz="1300" dirty="0"/>
          </a:p>
        </p:txBody>
      </p:sp>
      <p:sp>
        <p:nvSpPr>
          <p:cNvPr id="7" name="Text 5"/>
          <p:cNvSpPr txBox="1"/>
          <p:nvPr/>
        </p:nvSpPr>
        <p:spPr>
          <a:xfrm>
            <a:off x="6430975" y="1554480"/>
            <a:ext cx="5120640" cy="914400"/>
          </a:xfrm>
          <a:prstGeom prst="rect">
            <a:avLst/>
          </a:prstGeom>
          <a:noFill/>
          <a:ln/>
        </p:spPr>
        <p:txBody>
          <a:bodyPr wrap="square" lIns="0" tIns="0" rIns="0" bIns="0" rtlCol="0" anchor="t"/>
          <a:lstStyle/>
          <a:p>
            <a:pPr rtl="1" algn="r" indent="0" marL="0">
              <a:buNone/>
            </a:pPr>
            <a:r>
              <a:rPr lang="ar-AE" altLang="en-US" sz="1300" dirty="0">
                <a:solidFill>
                  <a:schemeClr val="accent5"/>
                </a:solidFill>
                <a:latin typeface="IBM Plex Sans Arabic" pitchFamily="34" charset="0"/>
                <a:ea typeface="IBM Plex Sans Arabic" pitchFamily="34" charset="-122"/>
                <a:cs typeface="IBM Plex Sans Arabic" pitchFamily="34" charset="-120"/>
              </a:rPr>
              <a:t>بنية تشغيلية تدعم أعمال البيع والتوزيع والخدمات الفنية، وتساعد على توفير المنتجات للعملاء وتقديم خدمات فنية مباشرة ودعم التوسع المستقبلي.</a:t>
            </a:r>
            <a:endParaRPr lang="ar-AE" sz="1300" dirty="0"/>
          </a:p>
        </p:txBody>
      </p:sp>
      <p:sp>
        <p:nvSpPr>
          <p:cNvPr id="8" name="Capability panel 1"/>
          <p:cNvSpPr/>
          <p:nvPr/>
        </p:nvSpPr>
        <p:spPr>
          <a:xfrm>
            <a:off x="640080" y="2788920"/>
            <a:ext cx="3456432" cy="3108960"/>
          </a:xfrm>
          <a:prstGeom prst="roundRect">
            <a:avLst>
              <a:gd name="adj" fmla="val 2941"/>
            </a:avLst>
          </a:prstGeom>
          <a:solidFill>
            <a:schemeClr val="bg1">
              <a:alpha val="6000"/>
            </a:schemeClr>
          </a:solidFill>
          <a:ln w="9525">
            <a:solidFill>
              <a:schemeClr val="bg1">
                <a:alpha val="18000"/>
              </a:schemeClr>
            </a:solidFill>
            <a:prstDash val="solid"/>
          </a:ln>
        </p:spPr>
      </p:sp>
      <p:pic>
        <p:nvPicPr>
          <p:cNvPr id="9" name="Capability icon 1" descr="icon">    </p:cNvPr>
          <p:cNvPicPr>
            <a:picLocks noChangeAspect="1"/>
          </p:cNvPicPr>
          <p:nvPr/>
        </p:nvPicPr>
        <p:blipFill>
          <a:blip r:embed="rId1"/>
          <a:stretch>
            <a:fillRect/>
          </a:stretch>
        </p:blipFill>
        <p:spPr>
          <a:xfrm>
            <a:off x="1005840" y="3154680"/>
            <a:ext cx="777240" cy="777240"/>
          </a:xfrm>
          <a:prstGeom prst="rect">
            <a:avLst/>
          </a:prstGeom>
        </p:spPr>
      </p:pic>
      <p:sp>
        <p:nvSpPr>
          <p:cNvPr id="10" name="Text 7"/>
          <p:cNvSpPr txBox="1"/>
          <p:nvPr/>
        </p:nvSpPr>
        <p:spPr>
          <a:xfrm>
            <a:off x="1005840" y="4251960"/>
            <a:ext cx="2724912" cy="365760"/>
          </a:xfrm>
          <a:prstGeom prst="rect">
            <a:avLst/>
          </a:prstGeom>
          <a:noFill/>
          <a:ln/>
        </p:spPr>
        <p:txBody>
          <a:bodyPr wrap="square" lIns="0" tIns="0" rIns="0" bIns="0" rtlCol="0" anchor="t"/>
          <a:lstStyle/>
          <a:p>
            <a:pPr algn="l" indent="0" marL="0">
              <a:buNone/>
            </a:pPr>
            <a:r>
              <a:rPr lang="en-US" sz="1900" dirty="0">
                <a:solidFill>
                  <a:schemeClr val="bg1"/>
                </a:solidFill>
                <a:latin typeface="IBM Plex Sans Arabic Light" pitchFamily="34" charset="0"/>
                <a:ea typeface="IBM Plex Sans Arabic Light" pitchFamily="34" charset="-122"/>
                <a:cs typeface="IBM Plex Sans Arabic Light" pitchFamily="34" charset="-120"/>
              </a:rPr>
              <a:t>Central Warehouse</a:t>
            </a:r>
            <a:endParaRPr lang="en-US" sz="1900" dirty="0"/>
          </a:p>
        </p:txBody>
      </p:sp>
      <p:sp>
        <p:nvSpPr>
          <p:cNvPr id="11" name="Text 8"/>
          <p:cNvSpPr txBox="1"/>
          <p:nvPr/>
        </p:nvSpPr>
        <p:spPr>
          <a:xfrm>
            <a:off x="1005840" y="4663440"/>
            <a:ext cx="2724912" cy="320040"/>
          </a:xfrm>
          <a:prstGeom prst="rect">
            <a:avLst/>
          </a:prstGeom>
          <a:noFill/>
          <a:ln/>
        </p:spPr>
        <p:txBody>
          <a:bodyPr wrap="square" lIns="0" tIns="0" rIns="0" bIns="0" rtlCol="0" anchor="t"/>
          <a:lstStyle/>
          <a:p>
            <a:pPr rtl="1" algn="r" indent="0" marL="0">
              <a:buNone/>
            </a:pPr>
            <a:r>
              <a:rPr lang="ar-AE" altLang="en-US" sz="1600" b="1" dirty="0">
                <a:solidFill>
                  <a:schemeClr val="accent2"/>
                </a:solidFill>
                <a:latin typeface="IBM Plex Sans Arabic" pitchFamily="34" charset="0"/>
                <a:ea typeface="IBM Plex Sans Arabic" pitchFamily="34" charset="-122"/>
                <a:cs typeface="IBM Plex Sans Arabic" pitchFamily="34" charset="-120"/>
              </a:rPr>
              <a:t>مستودع مركزي</a:t>
            </a:r>
            <a:endParaRPr lang="ar-AE" sz="1600" dirty="0"/>
          </a:p>
        </p:txBody>
      </p:sp>
      <p:sp>
        <p:nvSpPr>
          <p:cNvPr id="12" name="Text 9"/>
          <p:cNvSpPr txBox="1"/>
          <p:nvPr/>
        </p:nvSpPr>
        <p:spPr>
          <a:xfrm>
            <a:off x="1005840" y="5257800"/>
            <a:ext cx="2724912" cy="256032"/>
          </a:xfrm>
          <a:prstGeom prst="rect">
            <a:avLst/>
          </a:prstGeom>
          <a:noFill/>
          <a:ln/>
        </p:spPr>
        <p:txBody>
          <a:bodyPr wrap="square" lIns="0" tIns="0" rIns="0" bIns="0" rtlCol="0" anchor="t"/>
          <a:lstStyle/>
          <a:p>
            <a:pPr algn="l" indent="0" marL="0">
              <a:buNone/>
            </a:pPr>
            <a:r>
              <a:rPr lang="en-US" sz="1100" dirty="0">
                <a:solidFill>
                  <a:schemeClr val="accent5"/>
                </a:solidFill>
                <a:latin typeface="IBM Plex Sans Arabic" pitchFamily="34" charset="0"/>
                <a:ea typeface="IBM Plex Sans Arabic" pitchFamily="34" charset="-122"/>
                <a:cs typeface="IBM Plex Sans Arabic" pitchFamily="34" charset="-120"/>
              </a:rPr>
              <a:t>Dubai</a:t>
            </a:r>
            <a:endParaRPr lang="en-US" sz="1100" dirty="0"/>
          </a:p>
        </p:txBody>
      </p:sp>
      <p:sp>
        <p:nvSpPr>
          <p:cNvPr id="13" name="Text 10"/>
          <p:cNvSpPr txBox="1"/>
          <p:nvPr/>
        </p:nvSpPr>
        <p:spPr>
          <a:xfrm>
            <a:off x="1005840" y="5513832"/>
            <a:ext cx="2724912" cy="256032"/>
          </a:xfrm>
          <a:prstGeom prst="rect">
            <a:avLst/>
          </a:prstGeom>
          <a:noFill/>
          <a:ln/>
        </p:spPr>
        <p:txBody>
          <a:bodyPr wrap="square" lIns="0" tIns="0" rIns="0" bIns="0" rtlCol="0" anchor="t"/>
          <a:lstStyle/>
          <a:p>
            <a:pPr rtl="1" algn="r" indent="0" marL="0">
              <a:buNone/>
            </a:pPr>
            <a:r>
              <a:rPr lang="ar-AE" altLang="en-US" sz="1100" dirty="0">
                <a:solidFill>
                  <a:schemeClr val="accent5"/>
                </a:solidFill>
                <a:latin typeface="IBM Plex Sans Arabic" pitchFamily="34" charset="0"/>
                <a:ea typeface="IBM Plex Sans Arabic" pitchFamily="34" charset="-122"/>
                <a:cs typeface="IBM Plex Sans Arabic" pitchFamily="34" charset="-120"/>
              </a:rPr>
              <a:t>دبي</a:t>
            </a:r>
            <a:endParaRPr lang="ar-AE" sz="1100" dirty="0"/>
          </a:p>
        </p:txBody>
      </p:sp>
      <p:sp>
        <p:nvSpPr>
          <p:cNvPr id="14" name="Capability panel 2"/>
          <p:cNvSpPr/>
          <p:nvPr/>
        </p:nvSpPr>
        <p:spPr>
          <a:xfrm>
            <a:off x="4366260" y="2788920"/>
            <a:ext cx="3456432" cy="3108960"/>
          </a:xfrm>
          <a:prstGeom prst="roundRect">
            <a:avLst>
              <a:gd name="adj" fmla="val 2941"/>
            </a:avLst>
          </a:prstGeom>
          <a:solidFill>
            <a:schemeClr val="bg1">
              <a:alpha val="6000"/>
            </a:schemeClr>
          </a:solidFill>
          <a:ln w="9525">
            <a:solidFill>
              <a:schemeClr val="bg1">
                <a:alpha val="18000"/>
              </a:schemeClr>
            </a:solidFill>
            <a:prstDash val="solid"/>
          </a:ln>
        </p:spPr>
      </p:sp>
      <p:pic>
        <p:nvPicPr>
          <p:cNvPr id="15" name="Capability icon 2" descr="icon">    </p:cNvPr>
          <p:cNvPicPr>
            <a:picLocks noChangeAspect="1"/>
          </p:cNvPicPr>
          <p:nvPr/>
        </p:nvPicPr>
        <p:blipFill>
          <a:blip r:embed="rId2"/>
          <a:stretch>
            <a:fillRect/>
          </a:stretch>
        </p:blipFill>
        <p:spPr>
          <a:xfrm>
            <a:off x="4732020" y="3154680"/>
            <a:ext cx="777240" cy="777240"/>
          </a:xfrm>
          <a:prstGeom prst="rect">
            <a:avLst/>
          </a:prstGeom>
        </p:spPr>
      </p:pic>
      <p:sp>
        <p:nvSpPr>
          <p:cNvPr id="16" name="Text 12"/>
          <p:cNvSpPr txBox="1"/>
          <p:nvPr/>
        </p:nvSpPr>
        <p:spPr>
          <a:xfrm>
            <a:off x="4732020" y="4251960"/>
            <a:ext cx="2724912" cy="365760"/>
          </a:xfrm>
          <a:prstGeom prst="rect">
            <a:avLst/>
          </a:prstGeom>
          <a:noFill/>
          <a:ln/>
        </p:spPr>
        <p:txBody>
          <a:bodyPr wrap="square" lIns="0" tIns="0" rIns="0" bIns="0" rtlCol="0" anchor="t"/>
          <a:lstStyle/>
          <a:p>
            <a:pPr algn="l" indent="0" marL="0">
              <a:buNone/>
            </a:pPr>
            <a:r>
              <a:rPr lang="en-US" sz="1900" dirty="0">
                <a:solidFill>
                  <a:schemeClr val="bg1"/>
                </a:solidFill>
                <a:latin typeface="IBM Plex Sans Arabic Light" pitchFamily="34" charset="0"/>
                <a:ea typeface="IBM Plex Sans Arabic Light" pitchFamily="34" charset="-122"/>
                <a:cs typeface="IBM Plex Sans Arabic Light" pitchFamily="34" charset="-120"/>
              </a:rPr>
              <a:t>Retail Branch Network</a:t>
            </a:r>
            <a:endParaRPr lang="en-US" sz="1900" dirty="0"/>
          </a:p>
        </p:txBody>
      </p:sp>
      <p:sp>
        <p:nvSpPr>
          <p:cNvPr id="17" name="Text 13"/>
          <p:cNvSpPr txBox="1"/>
          <p:nvPr/>
        </p:nvSpPr>
        <p:spPr>
          <a:xfrm>
            <a:off x="4732020" y="4663440"/>
            <a:ext cx="2724912" cy="320040"/>
          </a:xfrm>
          <a:prstGeom prst="rect">
            <a:avLst/>
          </a:prstGeom>
          <a:noFill/>
          <a:ln/>
        </p:spPr>
        <p:txBody>
          <a:bodyPr wrap="square" lIns="0" tIns="0" rIns="0" bIns="0" rtlCol="0" anchor="t"/>
          <a:lstStyle/>
          <a:p>
            <a:pPr rtl="1" algn="r" indent="0" marL="0">
              <a:buNone/>
            </a:pPr>
            <a:r>
              <a:rPr lang="ar-AE" altLang="en-US" sz="1600" b="1" dirty="0">
                <a:solidFill>
                  <a:schemeClr val="accent2"/>
                </a:solidFill>
                <a:latin typeface="IBM Plex Sans Arabic" pitchFamily="34" charset="0"/>
                <a:ea typeface="IBM Plex Sans Arabic" pitchFamily="34" charset="-122"/>
                <a:cs typeface="IBM Plex Sans Arabic" pitchFamily="34" charset="-120"/>
              </a:rPr>
              <a:t>شبكة فروع</a:t>
            </a:r>
            <a:endParaRPr lang="ar-AE" sz="1600" dirty="0"/>
          </a:p>
        </p:txBody>
      </p:sp>
      <p:sp>
        <p:nvSpPr>
          <p:cNvPr id="18" name="Text 14"/>
          <p:cNvSpPr txBox="1"/>
          <p:nvPr/>
        </p:nvSpPr>
        <p:spPr>
          <a:xfrm>
            <a:off x="4732020" y="5257800"/>
            <a:ext cx="2724912" cy="256032"/>
          </a:xfrm>
          <a:prstGeom prst="rect">
            <a:avLst/>
          </a:prstGeom>
          <a:noFill/>
          <a:ln/>
        </p:spPr>
        <p:txBody>
          <a:bodyPr wrap="square" lIns="0" tIns="0" rIns="0" bIns="0" rtlCol="0" anchor="t"/>
          <a:lstStyle/>
          <a:p>
            <a:pPr algn="l" indent="0" marL="0">
              <a:buNone/>
            </a:pPr>
            <a:r>
              <a:rPr lang="en-US" sz="1100" dirty="0">
                <a:solidFill>
                  <a:schemeClr val="accent5"/>
                </a:solidFill>
                <a:latin typeface="IBM Plex Sans Arabic" pitchFamily="34" charset="0"/>
                <a:ea typeface="IBM Plex Sans Arabic" pitchFamily="34" charset="-122"/>
                <a:cs typeface="IBM Plex Sans Arabic" pitchFamily="34" charset="-120"/>
              </a:rPr>
              <a:t>UAE &amp; Oman</a:t>
            </a:r>
            <a:endParaRPr lang="en-US" sz="1100" dirty="0"/>
          </a:p>
        </p:txBody>
      </p:sp>
      <p:sp>
        <p:nvSpPr>
          <p:cNvPr id="19" name="Text 15"/>
          <p:cNvSpPr txBox="1"/>
          <p:nvPr/>
        </p:nvSpPr>
        <p:spPr>
          <a:xfrm>
            <a:off x="4732020" y="5513832"/>
            <a:ext cx="2724912" cy="256032"/>
          </a:xfrm>
          <a:prstGeom prst="rect">
            <a:avLst/>
          </a:prstGeom>
          <a:noFill/>
          <a:ln/>
        </p:spPr>
        <p:txBody>
          <a:bodyPr wrap="square" lIns="0" tIns="0" rIns="0" bIns="0" rtlCol="0" anchor="t"/>
          <a:lstStyle/>
          <a:p>
            <a:pPr rtl="1" algn="r" indent="0" marL="0">
              <a:buNone/>
            </a:pPr>
            <a:r>
              <a:rPr lang="ar-AE" altLang="en-US" sz="1100" dirty="0">
                <a:solidFill>
                  <a:schemeClr val="accent5"/>
                </a:solidFill>
                <a:latin typeface="IBM Plex Sans Arabic" pitchFamily="34" charset="0"/>
                <a:ea typeface="IBM Plex Sans Arabic" pitchFamily="34" charset="-122"/>
                <a:cs typeface="IBM Plex Sans Arabic" pitchFamily="34" charset="-120"/>
              </a:rPr>
              <a:t>الإمارات وسلطنة عُمان</a:t>
            </a:r>
            <a:endParaRPr lang="ar-AE" sz="1100" dirty="0"/>
          </a:p>
        </p:txBody>
      </p:sp>
      <p:sp>
        <p:nvSpPr>
          <p:cNvPr id="20" name="Capability panel 3"/>
          <p:cNvSpPr/>
          <p:nvPr/>
        </p:nvSpPr>
        <p:spPr>
          <a:xfrm>
            <a:off x="8092440" y="2788920"/>
            <a:ext cx="3456432" cy="3108960"/>
          </a:xfrm>
          <a:prstGeom prst="roundRect">
            <a:avLst>
              <a:gd name="adj" fmla="val 2941"/>
            </a:avLst>
          </a:prstGeom>
          <a:solidFill>
            <a:schemeClr val="bg1">
              <a:alpha val="6000"/>
            </a:schemeClr>
          </a:solidFill>
          <a:ln w="9525">
            <a:solidFill>
              <a:schemeClr val="bg1">
                <a:alpha val="18000"/>
              </a:schemeClr>
            </a:solidFill>
            <a:prstDash val="solid"/>
          </a:ln>
        </p:spPr>
      </p:sp>
      <p:pic>
        <p:nvPicPr>
          <p:cNvPr id="21" name="Capability icon 3" descr="icon">    </p:cNvPr>
          <p:cNvPicPr>
            <a:picLocks noChangeAspect="1"/>
          </p:cNvPicPr>
          <p:nvPr/>
        </p:nvPicPr>
        <p:blipFill>
          <a:blip r:embed="rId3"/>
          <a:stretch>
            <a:fillRect/>
          </a:stretch>
        </p:blipFill>
        <p:spPr>
          <a:xfrm>
            <a:off x="8458200" y="3154680"/>
            <a:ext cx="777240" cy="777240"/>
          </a:xfrm>
          <a:prstGeom prst="rect">
            <a:avLst/>
          </a:prstGeom>
        </p:spPr>
      </p:pic>
      <p:sp>
        <p:nvSpPr>
          <p:cNvPr id="22" name="Text 17"/>
          <p:cNvSpPr txBox="1"/>
          <p:nvPr/>
        </p:nvSpPr>
        <p:spPr>
          <a:xfrm>
            <a:off x="8458200" y="4251960"/>
            <a:ext cx="2724912" cy="365760"/>
          </a:xfrm>
          <a:prstGeom prst="rect">
            <a:avLst/>
          </a:prstGeom>
          <a:noFill/>
          <a:ln/>
        </p:spPr>
        <p:txBody>
          <a:bodyPr wrap="square" lIns="0" tIns="0" rIns="0" bIns="0" rtlCol="0" anchor="t"/>
          <a:lstStyle/>
          <a:p>
            <a:pPr algn="l" indent="0" marL="0">
              <a:buNone/>
            </a:pPr>
            <a:r>
              <a:rPr lang="en-US" sz="1900" dirty="0">
                <a:solidFill>
                  <a:schemeClr val="bg1"/>
                </a:solidFill>
                <a:latin typeface="IBM Plex Sans Arabic Light" pitchFamily="34" charset="0"/>
                <a:ea typeface="IBM Plex Sans Arabic Light" pitchFamily="34" charset="-122"/>
                <a:cs typeface="IBM Plex Sans Arabic Light" pitchFamily="34" charset="-120"/>
              </a:rPr>
              <a:t>Installation Teams</a:t>
            </a:r>
            <a:endParaRPr lang="en-US" sz="1900" dirty="0"/>
          </a:p>
        </p:txBody>
      </p:sp>
      <p:sp>
        <p:nvSpPr>
          <p:cNvPr id="23" name="Text 18"/>
          <p:cNvSpPr txBox="1"/>
          <p:nvPr/>
        </p:nvSpPr>
        <p:spPr>
          <a:xfrm>
            <a:off x="8458200" y="4663440"/>
            <a:ext cx="2724912" cy="320040"/>
          </a:xfrm>
          <a:prstGeom prst="rect">
            <a:avLst/>
          </a:prstGeom>
          <a:noFill/>
          <a:ln/>
        </p:spPr>
        <p:txBody>
          <a:bodyPr wrap="square" lIns="0" tIns="0" rIns="0" bIns="0" rtlCol="0" anchor="t"/>
          <a:lstStyle/>
          <a:p>
            <a:pPr rtl="1" algn="r" indent="0" marL="0">
              <a:buNone/>
            </a:pPr>
            <a:r>
              <a:rPr lang="ar-AE" altLang="en-US" sz="1600" b="1" dirty="0">
                <a:solidFill>
                  <a:schemeClr val="accent2"/>
                </a:solidFill>
                <a:latin typeface="IBM Plex Sans Arabic" pitchFamily="34" charset="0"/>
                <a:ea typeface="IBM Plex Sans Arabic" pitchFamily="34" charset="-122"/>
                <a:cs typeface="IBM Plex Sans Arabic" pitchFamily="34" charset="-120"/>
              </a:rPr>
              <a:t>فرق التركيب</a:t>
            </a:r>
            <a:endParaRPr lang="ar-AE" sz="1600" dirty="0"/>
          </a:p>
        </p:txBody>
      </p:sp>
      <p:sp>
        <p:nvSpPr>
          <p:cNvPr id="24" name="Text 19"/>
          <p:cNvSpPr txBox="1"/>
          <p:nvPr/>
        </p:nvSpPr>
        <p:spPr>
          <a:xfrm>
            <a:off x="8458200" y="5257800"/>
            <a:ext cx="2724912" cy="256032"/>
          </a:xfrm>
          <a:prstGeom prst="rect">
            <a:avLst/>
          </a:prstGeom>
          <a:noFill/>
          <a:ln/>
        </p:spPr>
        <p:txBody>
          <a:bodyPr wrap="square" lIns="0" tIns="0" rIns="0" bIns="0" rtlCol="0" anchor="t"/>
          <a:lstStyle/>
          <a:p>
            <a:pPr algn="l" indent="0" marL="0">
              <a:buNone/>
            </a:pPr>
            <a:r>
              <a:rPr lang="en-US" sz="1100" dirty="0">
                <a:solidFill>
                  <a:schemeClr val="accent5"/>
                </a:solidFill>
                <a:latin typeface="IBM Plex Sans Arabic" pitchFamily="34" charset="0"/>
                <a:ea typeface="IBM Plex Sans Arabic" pitchFamily="34" charset="-122"/>
                <a:cs typeface="IBM Plex Sans Arabic" pitchFamily="34" charset="-120"/>
              </a:rPr>
              <a:t>Chargers &amp; accessories</a:t>
            </a:r>
            <a:endParaRPr lang="en-US" sz="1100" dirty="0"/>
          </a:p>
        </p:txBody>
      </p:sp>
      <p:sp>
        <p:nvSpPr>
          <p:cNvPr id="25" name="Text 20"/>
          <p:cNvSpPr txBox="1"/>
          <p:nvPr/>
        </p:nvSpPr>
        <p:spPr>
          <a:xfrm>
            <a:off x="8458200" y="5513832"/>
            <a:ext cx="2724912" cy="256032"/>
          </a:xfrm>
          <a:prstGeom prst="rect">
            <a:avLst/>
          </a:prstGeom>
          <a:noFill/>
          <a:ln/>
        </p:spPr>
        <p:txBody>
          <a:bodyPr wrap="square" lIns="0" tIns="0" rIns="0" bIns="0" rtlCol="0" anchor="t"/>
          <a:lstStyle/>
          <a:p>
            <a:pPr rtl="1" algn="r" indent="0" marL="0">
              <a:buNone/>
            </a:pPr>
            <a:r>
              <a:rPr lang="ar-AE" altLang="en-US" sz="1100" dirty="0">
                <a:solidFill>
                  <a:schemeClr val="accent5"/>
                </a:solidFill>
                <a:latin typeface="IBM Plex Sans Arabic" pitchFamily="34" charset="0"/>
                <a:ea typeface="IBM Plex Sans Arabic" pitchFamily="34" charset="-122"/>
                <a:cs typeface="IBM Plex Sans Arabic" pitchFamily="34" charset="-120"/>
              </a:rPr>
              <a:t>الشواحن والإكسسوارات</a:t>
            </a:r>
            <a:endParaRPr lang="ar-AE" sz="11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DDE2E7"/>
                </a:solidFill>
                <a:latin typeface="IBM Plex Sans Arabic"/>
                <a:ea typeface="IBM Plex Sans Arabic"/>
                <a:cs typeface="IBM Plex Sans Arabic"/>
              </a:defRPr>
            </a:lvl1pPr>
          </a:lstStyle>
          <a:p>
            <a:pPr algn="r"/>
            <a:fld id="{F7021451-1387-4CA6-816F-3879F97B5CBC}" type="slidenum">
              <a:rPr b="0" lang="en-US"/>
              <a:t>15</a:t>
            </a:fld>
            <a:endParaRPr lang="en-US"/>
          </a:p>
        </p:txBody>
      </p:sp>
      <p:sp>
        <p:nvSpPr>
          <p:cNvPr id="26" name="Back to contents" descr="Back to contents">
            <a:hlinkClick r:id="rId6" action="ppaction://hlinksldjump" tooltip="Back to Contents / العودة إلى المحتويات"/>
          </p:cNvPr>
          <p:cNvSpPr/>
          <p:nvPr/>
        </p:nvSpPr>
        <p:spPr>
          <a:xfrm>
            <a:off x="8838000" y="6283000"/>
            <a:ext cx="1850000" cy="300000"/>
          </a:xfrm>
          <a:prstGeom prst="roundRect">
            <a:avLst>
              <a:gd name="adj" fmla="val 50000"/>
            </a:avLst>
          </a:prstGeom>
          <a:noFill/>
          <a:ln w="9525">
            <a:solidFill>
              <a:schemeClr val="accent1"/>
            </a:solidFill>
          </a:ln>
        </p:spPr>
        <p:txBody>
          <a:bodyPr wrap="none" lIns="0" tIns="0" rIns="0" bIns="0" rtlCol="0" anchor="ctr"/>
          <a:lstStyle/>
          <a:p>
            <a:pPr algn="ctr"/>
            <a:r>
              <a:rPr lang="en-US" sz="900" b="1" spc="120" dirty="0">
                <a:solidFill>
                  <a:schemeClr val="accent1"/>
                </a:solidFill>
                <a:latin typeface="IBM Plex Sans Arabic"/>
                <a:cs typeface="IBM Plex Sans Arabic"/>
              </a:rPr>
              <a:t>CONTENTS  ·  </a:t>
            </a:r>
            <a:r>
              <a:rPr lang="ar-AE" sz="900" b="1" dirty="0">
                <a:solidFill>
                  <a:schemeClr val="accent1"/>
                </a:solidFill>
                <a:latin typeface="IBM Plex Sans Arabic"/>
                <a:cs typeface="IBM Plex Sans Arabic"/>
              </a:rPr>
              <a:t>المحتويات</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1"/>
                </a:solidFill>
                <a:latin typeface="IBM Plex Sans Arabic" pitchFamily="34" charset="0"/>
                <a:ea typeface="IBM Plex Sans Arabic" pitchFamily="34" charset="-122"/>
                <a:cs typeface="IBM Plex Sans Arabic" pitchFamily="34" charset="-120"/>
              </a:rPr>
              <a:t>05   ·   WHY EVCARS</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1"/>
                </a:solidFill>
                <a:latin typeface="IBM Plex Sans Arabic" pitchFamily="34" charset="0"/>
                <a:ea typeface="IBM Plex Sans Arabic" pitchFamily="34" charset="-122"/>
                <a:cs typeface="IBM Plex Sans Arabic" pitchFamily="34" charset="-120"/>
              </a:rPr>
              <a:t>لماذا نحن   ·   05</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tx1"/>
                </a:solidFill>
                <a:latin typeface="IBM Plex Sans Arabic Light" pitchFamily="34" charset="0"/>
                <a:ea typeface="IBM Plex Sans Arabic Light" pitchFamily="34" charset="-122"/>
                <a:cs typeface="IBM Plex Sans Arabic Light" pitchFamily="34" charset="-120"/>
              </a:rPr>
              <a:t>Warranty &amp; Customer Care</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tx1"/>
                </a:solidFill>
                <a:latin typeface="IBM Plex Sans Arabic Light" pitchFamily="34" charset="0"/>
                <a:ea typeface="IBM Plex Sans Arabic Light" pitchFamily="34" charset="-122"/>
                <a:cs typeface="IBM Plex Sans Arabic Light" pitchFamily="34" charset="-120"/>
              </a:rPr>
              <a:t>الضمان وخدمة العملاء</a:t>
            </a:r>
            <a:endParaRPr lang="ar-AE" sz="3000" dirty="0"/>
          </a:p>
        </p:txBody>
      </p:sp>
      <p:graphicFrame>
        <p:nvGraphicFramePr>
          <p:cNvPr id="17" name="Warranty table"/>
          <p:cNvGraphicFramePr>
            <a:graphicFrameLocks noGrp="1"/>
          </p:cNvGraphicFramePr>
          <p:nvPr>
            <p:extLst>
              <p:ext uri="{D42A27DB-BD31-4B8C-83A1-F6EECF244321}">
                <p14:modId xmlns:p14="http://schemas.microsoft.com/office/powerpoint/2010/main" val="1579011935"/>
              </p:ext>
            </p:extLst>
          </p:nvPr>
        </p:nvGraphicFramePr>
        <p:xfrm>
          <a:off x="640080" y="1691640"/>
          <a:ext cx="10911535" cy="914400"/>
        </p:xfrm>
        <a:graphic>
          <a:graphicData uri="http://schemas.openxmlformats.org/drawingml/2006/table">
            <a:tbl>
              <a:tblPr/>
              <a:tblGrid>
                <a:gridCol w="3840480"/>
                <a:gridCol w="3227832"/>
                <a:gridCol w="3840480"/>
              </a:tblGrid>
              <a:tr h="411480">
                <a:tc>
                  <a:txBody>
                    <a:bodyPr/>
                    <a:lstStyle/>
                    <a:p>
                      <a:pPr algn="l" indent="0" marL="0">
                        <a:buNone/>
                      </a:pPr>
                      <a:r>
                        <a:rPr lang="en-US" sz="1100" b="1" spc="200" kern="0" dirty="0">
                          <a:solidFill>
                            <a:schemeClr val="bg1"/>
                          </a:solidFill>
                          <a:latin typeface="IBM Plex Sans Arabic" pitchFamily="34" charset="0"/>
                          <a:ea typeface="IBM Plex Sans Arabic" pitchFamily="34" charset="-122"/>
                          <a:cs typeface="IBM Plex Sans Arabic" pitchFamily="34" charset="-120"/>
                        </a:rPr>
                        <a:t>CATEGORY</a:t>
                      </a:r>
                      <a:endParaRPr lang="en-US" sz="1100" dirty="0">
                        <a:latin typeface="IBM Plex Sans Arabic" charset="0"/>
                        <a:ea typeface="IBM Plex Sans Arabic" charset="0"/>
                        <a:cs typeface="IBM Plex Sans Arabic" charset="0"/>
                      </a:endParaRPr>
                    </a:p>
                  </a:txBody>
                  <a:tcPr marL="228600" marR="228600" marT="73152" marB="73152"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ctr" indent="0" marL="0">
                        <a:buNone/>
                      </a:pPr>
                      <a:r>
                        <a:rPr lang="en-US" sz="1100" b="1" spc="200" kern="0" dirty="0">
                          <a:solidFill>
                            <a:schemeClr val="bg1"/>
                          </a:solidFill>
                          <a:latin typeface="IBM Plex Sans Arabic" pitchFamily="34" charset="0"/>
                          <a:ea typeface="IBM Plex Sans Arabic" pitchFamily="34" charset="-122"/>
                          <a:cs typeface="IBM Plex Sans Arabic" pitchFamily="34" charset="-120"/>
                        </a:rPr>
                        <a:t>WARRANTY  |  الضمان</a:t>
                      </a:r>
                      <a:endParaRPr lang="en-US" sz="1100" dirty="0">
                        <a:latin typeface="IBM Plex Sans Arabic" charset="0"/>
                        <a:ea typeface="IBM Plex Sans Arabic" charset="0"/>
                        <a:cs typeface="IBM Plex Sans Arabic" charset="0"/>
                      </a:endParaRPr>
                    </a:p>
                  </a:txBody>
                  <a:tcPr marL="228600" marR="228600" marT="73152" marB="73152" anchor="ctr">
                    <a:lnL w="0" cap="flat" cmpd="sng" algn="ctr">
                      <a:noFill/>
                    </a:lnL>
                    <a:lnR w="0" cap="flat" cmpd="sng" algn="ctr">
                      <a:noFill/>
                    </a:lnR>
                    <a:lnT w="0" cap="flat" cmpd="sng" algn="ctr">
                      <a:noFill/>
                    </a:lnT>
                    <a:lnB w="0" cap="flat" cmpd="sng" algn="ctr">
                      <a:noFill/>
                    </a:lnB>
                    <a:solidFill>
                      <a:schemeClr val="tx1"/>
                    </a:solidFill>
                  </a:tcPr>
                </a:tc>
                <a:tc>
                  <a:txBody>
                    <a:bodyPr/>
                    <a:lstStyle/>
                    <a:p>
                      <a:pPr rtl="1" algn="r" indent="0" marL="0">
                        <a:buNone/>
                      </a:pPr>
                      <a:r>
                        <a:rPr lang="en-US" sz="1100" b="1" dirty="0">
                          <a:solidFill>
                            <a:schemeClr val="bg1"/>
                          </a:solidFill>
                          <a:latin typeface="IBM Plex Sans Arabic" pitchFamily="34" charset="0"/>
                          <a:ea typeface="IBM Plex Sans Arabic" pitchFamily="34" charset="-122"/>
                          <a:cs typeface="IBM Plex Sans Arabic" pitchFamily="34" charset="-120"/>
                        </a:rPr>
                        <a:t>الفئة</a:t>
                      </a:r>
                      <a:endParaRPr lang="en-US" sz="1100" dirty="0">
                        <a:latin typeface="IBM Plex Sans Arabic" charset="0"/>
                        <a:ea typeface="IBM Plex Sans Arabic" charset="0"/>
                        <a:cs typeface="IBM Plex Sans Arabic" charset="0"/>
                      </a:endParaRPr>
                    </a:p>
                  </a:txBody>
                  <a:tcPr marL="228600" marR="228600" marT="73152" marB="73152" anchor="ctr">
                    <a:lnL w="0" cap="flat" cmpd="sng" algn="ctr">
                      <a:noFill/>
                    </a:lnL>
                    <a:lnR w="0" cap="flat" cmpd="sng" algn="ctr">
                      <a:noFill/>
                    </a:lnR>
                    <a:lnT w="0" cap="flat" cmpd="sng" algn="ctr">
                      <a:noFill/>
                    </a:lnT>
                    <a:lnB w="0" cap="flat" cmpd="sng" algn="ctr">
                      <a:noFill/>
                    </a:lnB>
                    <a:solidFill>
                      <a:schemeClr val="tx1"/>
                    </a:solidFill>
                  </a:tcPr>
                </a:tc>
              </a:tr>
              <a:tr h="566928">
                <a:tc>
                  <a:txBody>
                    <a:bodyPr/>
                    <a:lstStyle/>
                    <a:p>
                      <a:pPr algn="l" indent="0" marL="0">
                        <a:buNone/>
                      </a:pPr>
                      <a:r>
                        <a:rPr lang="en-US" sz="1500" dirty="0">
                          <a:solidFill>
                            <a:schemeClr val="tx1"/>
                          </a:solidFill>
                          <a:latin typeface="IBM Plex Sans Arabic" pitchFamily="34" charset="0"/>
                          <a:ea typeface="IBM Plex Sans Arabic" pitchFamily="34" charset="-122"/>
                          <a:cs typeface="IBM Plex Sans Arabic" pitchFamily="34" charset="-120"/>
                        </a:rPr>
                        <a:t>Electrical Accessories</a:t>
                      </a:r>
                      <a:endParaRPr lang="en-US" sz="1500" dirty="0">
                        <a:latin typeface="IBM Plex Sans Arabic" charset="0"/>
                        <a:ea typeface="IBM Plex Sans Arabic" charset="0"/>
                        <a:cs typeface="IBM Plex Sans Arabic" charset="0"/>
                      </a:endParaRPr>
                    </a:p>
                  </a:txBody>
                  <a:tcPr marL="228600" marR="228600" marT="91440" marB="9144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500" b="1" dirty="0">
                          <a:solidFill>
                            <a:schemeClr val="accent1"/>
                          </a:solidFill>
                          <a:latin typeface="IBM Plex Sans Arabic" pitchFamily="34" charset="0"/>
                          <a:ea typeface="IBM Plex Sans Arabic" pitchFamily="34" charset="-122"/>
                          <a:cs typeface="IBM Plex Sans Arabic" pitchFamily="34" charset="-120"/>
                        </a:rPr>
                        <a:t>1 Year</a:t>
                      </a:r>
                      <a:pPr algn="ctr" indent="0" marL="0">
                        <a:buNone/>
                      </a:pPr>
                      <a:r>
                        <a:rPr lang="en-US" sz="1300" dirty="0">
                          <a:solidFill>
                            <a:schemeClr val="accent3"/>
                          </a:solidFill>
                          <a:latin typeface="IBM Plex Sans Arabic" pitchFamily="34" charset="0"/>
                          <a:ea typeface="IBM Plex Sans Arabic" pitchFamily="34" charset="-122"/>
                          <a:cs typeface="IBM Plex Sans Arabic" pitchFamily="34" charset="-120"/>
                        </a:rPr>
                        <a:t>   |   </a:t>
                      </a:r>
                      <a:pPr algn="ctr" indent="0" marL="0">
                        <a:buNone/>
                      </a:pPr>
                      <a:r>
                        <a:rPr lang="en-US" sz="1500" b="1" dirty="0">
                          <a:solidFill>
                            <a:schemeClr val="accent1"/>
                          </a:solidFill>
                          <a:latin typeface="IBM Plex Sans Arabic" pitchFamily="34" charset="0"/>
                          <a:ea typeface="IBM Plex Sans Arabic" pitchFamily="34" charset="-122"/>
                          <a:cs typeface="IBM Plex Sans Arabic" pitchFamily="34" charset="-120"/>
                        </a:rPr>
                        <a:t>سنة واحدة</a:t>
                      </a:r>
                      <a:endParaRPr lang="en-US" sz="1200" dirty="0"/>
                    </a:p>
                  </a:txBody>
                  <a:tcPr marL="182880" marR="182880" marT="91440" marB="9144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rtl="1" algn="r" indent="0" marL="0">
                        <a:buNone/>
                      </a:pPr>
                      <a:r>
                        <a:rPr lang="ar-AE" altLang="en-US" sz="1500" dirty="0">
                          <a:solidFill>
                            <a:schemeClr val="tx1"/>
                          </a:solidFill>
                          <a:latin typeface="IBM Plex Sans Arabic" pitchFamily="34" charset="0"/>
                          <a:ea typeface="IBM Plex Sans Arabic" pitchFamily="34" charset="-122"/>
                          <a:cs typeface="IBM Plex Sans Arabic" pitchFamily="34" charset="-120"/>
                        </a:rPr>
                        <a:t>الإكسسوارات الكهربائية</a:t>
                      </a:r>
                      <a:endParaRPr lang="ar-AE" sz="1500" dirty="0">
                        <a:latin typeface="IBM Plex Sans Arabic" charset="0"/>
                        <a:ea typeface="IBM Plex Sans Arabic" charset="0"/>
                        <a:cs typeface="IBM Plex Sans Arabic" charset="0"/>
                      </a:endParaRPr>
                    </a:p>
                  </a:txBody>
                  <a:tcPr marL="228600" marR="228600" marT="91440" marB="91440"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algn="l" indent="0" marL="0">
                        <a:buNone/>
                      </a:pPr>
                      <a:r>
                        <a:rPr lang="en-US" sz="1500" dirty="0">
                          <a:solidFill>
                            <a:schemeClr val="tx1"/>
                          </a:solidFill>
                          <a:latin typeface="IBM Plex Sans Arabic" pitchFamily="34" charset="0"/>
                          <a:ea typeface="IBM Plex Sans Arabic" pitchFamily="34" charset="-122"/>
                          <a:cs typeface="IBM Plex Sans Arabic" pitchFamily="34" charset="-120"/>
                        </a:rPr>
                        <a:t>Charging Adapters</a:t>
                      </a:r>
                      <a:endParaRPr lang="en-US" sz="1500" dirty="0">
                        <a:latin typeface="IBM Plex Sans Arabic" charset="0"/>
                        <a:ea typeface="IBM Plex Sans Arabic" charset="0"/>
                        <a:cs typeface="IBM Plex Sans Arabic" charset="0"/>
                      </a:endParaRPr>
                    </a:p>
                  </a:txBody>
                  <a:tcPr marL="228600" marR="228600" marT="91440" marB="9144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500" b="1" dirty="0">
                          <a:solidFill>
                            <a:schemeClr val="accent1"/>
                          </a:solidFill>
                          <a:latin typeface="IBM Plex Sans Arabic" pitchFamily="34" charset="0"/>
                          <a:ea typeface="IBM Plex Sans Arabic" pitchFamily="34" charset="-122"/>
                          <a:cs typeface="IBM Plex Sans Arabic" pitchFamily="34" charset="-120"/>
                        </a:rPr>
                        <a:t>1 Year</a:t>
                      </a:r>
                      <a:pPr algn="ctr" indent="0" marL="0">
                        <a:buNone/>
                      </a:pPr>
                      <a:r>
                        <a:rPr lang="en-US" sz="1300" dirty="0">
                          <a:solidFill>
                            <a:schemeClr val="accent3"/>
                          </a:solidFill>
                          <a:latin typeface="IBM Plex Sans Arabic" pitchFamily="34" charset="0"/>
                          <a:ea typeface="IBM Plex Sans Arabic" pitchFamily="34" charset="-122"/>
                          <a:cs typeface="IBM Plex Sans Arabic" pitchFamily="34" charset="-120"/>
                        </a:rPr>
                        <a:t>   |   </a:t>
                      </a:r>
                      <a:pPr algn="ctr" indent="0" marL="0">
                        <a:buNone/>
                      </a:pPr>
                      <a:r>
                        <a:rPr lang="en-US" sz="1500" b="1" dirty="0">
                          <a:solidFill>
                            <a:schemeClr val="accent1"/>
                          </a:solidFill>
                          <a:latin typeface="IBM Plex Sans Arabic" pitchFamily="34" charset="0"/>
                          <a:ea typeface="IBM Plex Sans Arabic" pitchFamily="34" charset="-122"/>
                          <a:cs typeface="IBM Plex Sans Arabic" pitchFamily="34" charset="-120"/>
                        </a:rPr>
                        <a:t>سنة واحدة</a:t>
                      </a:r>
                      <a:endParaRPr lang="en-US" sz="1200" dirty="0"/>
                    </a:p>
                  </a:txBody>
                  <a:tcPr marL="182880" marR="182880" marT="91440" marB="9144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rtl="1" algn="r" indent="0" marL="0">
                        <a:buNone/>
                      </a:pPr>
                      <a:r>
                        <a:rPr lang="ar-AE" altLang="en-US" sz="1500" dirty="0">
                          <a:solidFill>
                            <a:schemeClr val="tx1"/>
                          </a:solidFill>
                          <a:latin typeface="IBM Plex Sans Arabic" pitchFamily="34" charset="0"/>
                          <a:ea typeface="IBM Plex Sans Arabic" pitchFamily="34" charset="-122"/>
                          <a:cs typeface="IBM Plex Sans Arabic" pitchFamily="34" charset="-120"/>
                        </a:rPr>
                        <a:t>محولات الشحن</a:t>
                      </a:r>
                      <a:endParaRPr lang="ar-AE" sz="1500" dirty="0">
                        <a:latin typeface="IBM Plex Sans Arabic" charset="0"/>
                        <a:ea typeface="IBM Plex Sans Arabic" charset="0"/>
                        <a:cs typeface="IBM Plex Sans Arabic" charset="0"/>
                      </a:endParaRPr>
                    </a:p>
                  </a:txBody>
                  <a:tcPr marL="228600" marR="228600" marT="91440" marB="91440"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algn="l" indent="0" marL="0">
                        <a:buNone/>
                      </a:pPr>
                      <a:r>
                        <a:rPr lang="en-US" sz="1500" dirty="0">
                          <a:solidFill>
                            <a:schemeClr val="tx1"/>
                          </a:solidFill>
                          <a:latin typeface="IBM Plex Sans Arabic" pitchFamily="34" charset="0"/>
                          <a:ea typeface="IBM Plex Sans Arabic" pitchFamily="34" charset="-122"/>
                          <a:cs typeface="IBM Plex Sans Arabic" pitchFamily="34" charset="-120"/>
                        </a:rPr>
                        <a:t>EVSPACE Chargers</a:t>
                      </a:r>
                      <a:endParaRPr lang="en-US" sz="1500" dirty="0">
                        <a:latin typeface="IBM Plex Sans Arabic" charset="0"/>
                        <a:ea typeface="IBM Plex Sans Arabic" charset="0"/>
                        <a:cs typeface="IBM Plex Sans Arabic" charset="0"/>
                      </a:endParaRPr>
                    </a:p>
                  </a:txBody>
                  <a:tcPr marL="228600" marR="228600" marT="91440" marB="9144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500" b="1" dirty="0">
                          <a:solidFill>
                            <a:schemeClr val="accent1"/>
                          </a:solidFill>
                          <a:latin typeface="IBM Plex Sans Arabic" pitchFamily="34" charset="0"/>
                          <a:ea typeface="IBM Plex Sans Arabic" pitchFamily="34" charset="-122"/>
                          <a:cs typeface="IBM Plex Sans Arabic" pitchFamily="34" charset="-120"/>
                        </a:rPr>
                        <a:t>2 Years</a:t>
                      </a:r>
                      <a:pPr algn="ctr" indent="0" marL="0">
                        <a:buNone/>
                      </a:pPr>
                      <a:r>
                        <a:rPr lang="en-US" sz="1300" dirty="0">
                          <a:solidFill>
                            <a:schemeClr val="accent3"/>
                          </a:solidFill>
                          <a:latin typeface="IBM Plex Sans Arabic" pitchFamily="34" charset="0"/>
                          <a:ea typeface="IBM Plex Sans Arabic" pitchFamily="34" charset="-122"/>
                          <a:cs typeface="IBM Plex Sans Arabic" pitchFamily="34" charset="-120"/>
                        </a:rPr>
                        <a:t>   |   </a:t>
                      </a:r>
                      <a:pPr algn="ctr" indent="0" marL="0">
                        <a:buNone/>
                      </a:pPr>
                      <a:r>
                        <a:rPr lang="en-US" sz="1500" b="1" dirty="0">
                          <a:solidFill>
                            <a:schemeClr val="accent1"/>
                          </a:solidFill>
                          <a:latin typeface="IBM Plex Sans Arabic" pitchFamily="34" charset="0"/>
                          <a:ea typeface="IBM Plex Sans Arabic" pitchFamily="34" charset="-122"/>
                          <a:cs typeface="IBM Plex Sans Arabic" pitchFamily="34" charset="-120"/>
                        </a:rPr>
                        <a:t>سنتان</a:t>
                      </a:r>
                      <a:endParaRPr lang="en-US" sz="1200" dirty="0"/>
                    </a:p>
                  </a:txBody>
                  <a:tcPr marL="182880" marR="182880" marT="91440" marB="9144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rtl="1" algn="r" indent="0" marL="0">
                        <a:buNone/>
                      </a:pPr>
                      <a:r>
                        <a:rPr lang="ar-AE" altLang="en-US" sz="1500" dirty="0">
                          <a:solidFill>
                            <a:schemeClr val="tx1"/>
                          </a:solidFill>
                          <a:latin typeface="IBM Plex Sans Arabic" pitchFamily="34" charset="0"/>
                          <a:ea typeface="IBM Plex Sans Arabic" pitchFamily="34" charset="-122"/>
                          <a:cs typeface="IBM Plex Sans Arabic" pitchFamily="34" charset="-120"/>
                        </a:rPr>
                        <a:t>شواحن EVSPACE</a:t>
                      </a:r>
                      <a:endParaRPr lang="ar-AE" sz="1500" dirty="0">
                        <a:latin typeface="IBM Plex Sans Arabic" charset="0"/>
                        <a:ea typeface="IBM Plex Sans Arabic" charset="0"/>
                        <a:cs typeface="IBM Plex Sans Arabic" charset="0"/>
                      </a:endParaRPr>
                    </a:p>
                  </a:txBody>
                  <a:tcPr marL="228600" marR="228600" marT="91440" marB="91440"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algn="l" indent="0" marL="0">
                        <a:buNone/>
                      </a:pPr>
                      <a:r>
                        <a:rPr lang="en-US" sz="1500" dirty="0">
                          <a:solidFill>
                            <a:schemeClr val="tx1"/>
                          </a:solidFill>
                          <a:latin typeface="IBM Plex Sans Arabic" pitchFamily="34" charset="0"/>
                          <a:ea typeface="IBM Plex Sans Arabic" pitchFamily="34" charset="-122"/>
                          <a:cs typeface="IBM Plex Sans Arabic" pitchFamily="34" charset="-120"/>
                        </a:rPr>
                        <a:t>Charger Installation</a:t>
                      </a:r>
                      <a:endParaRPr lang="en-US" sz="1500" dirty="0">
                        <a:latin typeface="IBM Plex Sans Arabic" charset="0"/>
                        <a:ea typeface="IBM Plex Sans Arabic" charset="0"/>
                        <a:cs typeface="IBM Plex Sans Arabic" charset="0"/>
                      </a:endParaRPr>
                    </a:p>
                  </a:txBody>
                  <a:tcPr marL="228600" marR="228600" marT="91440" marB="9144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500" b="1" dirty="0">
                          <a:solidFill>
                            <a:schemeClr val="accent1"/>
                          </a:solidFill>
                          <a:latin typeface="IBM Plex Sans Arabic" pitchFamily="34" charset="0"/>
                          <a:ea typeface="IBM Plex Sans Arabic" pitchFamily="34" charset="-122"/>
                          <a:cs typeface="IBM Plex Sans Arabic" pitchFamily="34" charset="-120"/>
                        </a:rPr>
                        <a:t>2 Years</a:t>
                      </a:r>
                      <a:pPr algn="ctr" indent="0" marL="0">
                        <a:buNone/>
                      </a:pPr>
                      <a:r>
                        <a:rPr lang="en-US" sz="1300" dirty="0">
                          <a:solidFill>
                            <a:schemeClr val="accent3"/>
                          </a:solidFill>
                          <a:latin typeface="IBM Plex Sans Arabic" pitchFamily="34" charset="0"/>
                          <a:ea typeface="IBM Plex Sans Arabic" pitchFamily="34" charset="-122"/>
                          <a:cs typeface="IBM Plex Sans Arabic" pitchFamily="34" charset="-120"/>
                        </a:rPr>
                        <a:t>   |   </a:t>
                      </a:r>
                      <a:pPr algn="ctr" indent="0" marL="0">
                        <a:buNone/>
                      </a:pPr>
                      <a:r>
                        <a:rPr lang="en-US" sz="1500" b="1" dirty="0">
                          <a:solidFill>
                            <a:schemeClr val="accent1"/>
                          </a:solidFill>
                          <a:latin typeface="IBM Plex Sans Arabic" pitchFamily="34" charset="0"/>
                          <a:ea typeface="IBM Plex Sans Arabic" pitchFamily="34" charset="-122"/>
                          <a:cs typeface="IBM Plex Sans Arabic" pitchFamily="34" charset="-120"/>
                        </a:rPr>
                        <a:t>سنتان</a:t>
                      </a:r>
                      <a:endParaRPr lang="en-US" sz="1200" dirty="0"/>
                    </a:p>
                  </a:txBody>
                  <a:tcPr marL="182880" marR="182880" marT="91440" marB="9144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rtl="1" algn="r" indent="0" marL="0">
                        <a:buNone/>
                      </a:pPr>
                      <a:r>
                        <a:rPr lang="ar-AE" altLang="en-US" sz="1500" dirty="0">
                          <a:solidFill>
                            <a:schemeClr val="tx1"/>
                          </a:solidFill>
                          <a:latin typeface="IBM Plex Sans Arabic" pitchFamily="34" charset="0"/>
                          <a:ea typeface="IBM Plex Sans Arabic" pitchFamily="34" charset="-122"/>
                          <a:cs typeface="IBM Plex Sans Arabic" pitchFamily="34" charset="-120"/>
                        </a:rPr>
                        <a:t>خدمة تركيب الشواحن</a:t>
                      </a:r>
                      <a:endParaRPr lang="ar-AE" sz="1500" dirty="0">
                        <a:latin typeface="IBM Plex Sans Arabic" charset="0"/>
                        <a:ea typeface="IBM Plex Sans Arabic" charset="0"/>
                        <a:cs typeface="IBM Plex Sans Arabic" charset="0"/>
                      </a:endParaRPr>
                    </a:p>
                  </a:txBody>
                  <a:tcPr marL="228600" marR="228600" marT="91440" marB="91440"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algn="l" indent="0" marL="0">
                        <a:buNone/>
                      </a:pPr>
                      <a:r>
                        <a:rPr lang="en-US" sz="1500" dirty="0">
                          <a:solidFill>
                            <a:schemeClr val="tx1"/>
                          </a:solidFill>
                          <a:latin typeface="IBM Plex Sans Arabic" pitchFamily="34" charset="0"/>
                          <a:ea typeface="IBM Plex Sans Arabic" pitchFamily="34" charset="-122"/>
                          <a:cs typeface="IBM Plex Sans Arabic" pitchFamily="34" charset="-120"/>
                        </a:rPr>
                        <a:t>Other Accessories</a:t>
                      </a:r>
                      <a:endParaRPr lang="en-US" sz="1500" dirty="0">
                        <a:latin typeface="IBM Plex Sans Arabic" charset="0"/>
                        <a:ea typeface="IBM Plex Sans Arabic" charset="0"/>
                        <a:cs typeface="IBM Plex Sans Arabic" charset="0"/>
                      </a:endParaRPr>
                    </a:p>
                  </a:txBody>
                  <a:tcPr marL="228600" marR="228600" marT="91440" marB="9144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500" b="1" dirty="0">
                          <a:solidFill>
                            <a:schemeClr val="accent1"/>
                          </a:solidFill>
                          <a:latin typeface="IBM Plex Sans Arabic" pitchFamily="34" charset="0"/>
                          <a:ea typeface="IBM Plex Sans Arabic" pitchFamily="34" charset="-122"/>
                          <a:cs typeface="IBM Plex Sans Arabic" pitchFamily="34" charset="-120"/>
                        </a:rPr>
                        <a:t>Product-specific</a:t>
                      </a:r>
                      <a:pPr algn="ctr" indent="0" marL="0">
                        <a:buNone/>
                      </a:pPr>
                      <a:r>
                        <a:rPr lang="en-US" sz="1300" dirty="0">
                          <a:solidFill>
                            <a:schemeClr val="accent3"/>
                          </a:solidFill>
                          <a:latin typeface="IBM Plex Sans Arabic" pitchFamily="34" charset="0"/>
                          <a:ea typeface="IBM Plex Sans Arabic" pitchFamily="34" charset="-122"/>
                          <a:cs typeface="IBM Plex Sans Arabic" pitchFamily="34" charset="-120"/>
                        </a:rPr>
                        <a:t>   |   </a:t>
                      </a:r>
                      <a:pPr algn="ctr" indent="0" marL="0">
                        <a:buNone/>
                      </a:pPr>
                      <a:r>
                        <a:rPr lang="en-US" sz="1500" b="1" dirty="0">
                          <a:solidFill>
                            <a:schemeClr val="accent1"/>
                          </a:solidFill>
                          <a:latin typeface="IBM Plex Sans Arabic" pitchFamily="34" charset="0"/>
                          <a:ea typeface="IBM Plex Sans Arabic" pitchFamily="34" charset="-122"/>
                          <a:cs typeface="IBM Plex Sans Arabic" pitchFamily="34" charset="-120"/>
                        </a:rPr>
                        <a:t>حسب المنتج</a:t>
                      </a:r>
                      <a:endParaRPr lang="en-US" sz="1200" dirty="0"/>
                    </a:p>
                  </a:txBody>
                  <a:tcPr marL="182880" marR="182880" marT="91440" marB="9144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rtl="1" algn="r" indent="0" marL="0">
                        <a:buNone/>
                      </a:pPr>
                      <a:r>
                        <a:rPr lang="ar-AE" altLang="en-US" sz="1500" dirty="0">
                          <a:solidFill>
                            <a:schemeClr val="tx1"/>
                          </a:solidFill>
                          <a:latin typeface="IBM Plex Sans Arabic" pitchFamily="34" charset="0"/>
                          <a:ea typeface="IBM Plex Sans Arabic" pitchFamily="34" charset="-122"/>
                          <a:cs typeface="IBM Plex Sans Arabic" pitchFamily="34" charset="-120"/>
                        </a:rPr>
                        <a:t>الإكسسوارات الأخرى</a:t>
                      </a:r>
                      <a:endParaRPr lang="ar-AE" sz="1500" dirty="0">
                        <a:latin typeface="IBM Plex Sans Arabic" charset="0"/>
                        <a:ea typeface="IBM Plex Sans Arabic" charset="0"/>
                        <a:cs typeface="IBM Plex Sans Arabic" charset="0"/>
                      </a:endParaRPr>
                    </a:p>
                  </a:txBody>
                  <a:tcPr marL="228600" marR="228600" marT="91440" marB="91440"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pic>
        <p:nvPicPr>
          <p:cNvPr id="7" name="Warranty icon" descr="icon">    </p:cNvPr>
          <p:cNvPicPr>
            <a:picLocks noChangeAspect="1"/>
          </p:cNvPicPr>
          <p:nvPr/>
        </p:nvPicPr>
        <p:blipFill>
          <a:blip r:embed="rId1"/>
          <a:stretch>
            <a:fillRect/>
          </a:stretch>
        </p:blipFill>
        <p:spPr>
          <a:xfrm>
            <a:off x="640080" y="5120640"/>
            <a:ext cx="411480" cy="411480"/>
          </a:xfrm>
          <a:prstGeom prst="rect">
            <a:avLst/>
          </a:prstGeom>
        </p:spPr>
      </p:pic>
      <p:sp>
        <p:nvSpPr>
          <p:cNvPr id="8" name="Text 4"/>
          <p:cNvSpPr txBox="1"/>
          <p:nvPr/>
        </p:nvSpPr>
        <p:spPr>
          <a:xfrm>
            <a:off x="1280160" y="5074920"/>
            <a:ext cx="4663440" cy="777240"/>
          </a:xfrm>
          <a:prstGeom prst="rect">
            <a:avLst/>
          </a:prstGeom>
          <a:noFill/>
          <a:ln/>
        </p:spPr>
        <p:txBody>
          <a:bodyPr wrap="square" lIns="0" tIns="0" rIns="0" bIns="0" rtlCol="0" anchor="t"/>
          <a:lstStyle/>
          <a:p>
            <a:pPr algn="l" indent="0" marL="0">
              <a:buNone/>
            </a:pPr>
            <a:r>
              <a:rPr lang="en-US" sz="1050" dirty="0">
                <a:solidFill>
                  <a:schemeClr val="accent3"/>
                </a:solidFill>
                <a:latin typeface="IBM Plex Sans Arabic" pitchFamily="34" charset="0"/>
                <a:ea typeface="IBM Plex Sans Arabic" pitchFamily="34" charset="-122"/>
                <a:cs typeface="IBM Plex Sans Arabic" pitchFamily="34" charset="-120"/>
              </a:rPr>
              <a:t>Warranty coverage is subject to the applicable product or service terms and conditions and may vary according to the product and its intended use.</a:t>
            </a:r>
            <a:endParaRPr lang="en-US" sz="1050" dirty="0"/>
          </a:p>
        </p:txBody>
      </p:sp>
      <p:sp>
        <p:nvSpPr>
          <p:cNvPr id="9" name="Text 5"/>
          <p:cNvSpPr txBox="1"/>
          <p:nvPr/>
        </p:nvSpPr>
        <p:spPr>
          <a:xfrm>
            <a:off x="6430975" y="5074920"/>
            <a:ext cx="5120640" cy="777240"/>
          </a:xfrm>
          <a:prstGeom prst="rect">
            <a:avLst/>
          </a:prstGeom>
          <a:noFill/>
          <a:ln/>
        </p:spPr>
        <p:txBody>
          <a:bodyPr wrap="square" lIns="0" tIns="0" rIns="0" bIns="0" rtlCol="0" anchor="t"/>
          <a:lstStyle/>
          <a:p>
            <a:pPr rtl="1" algn="r" indent="0" marL="0">
              <a:buNone/>
            </a:pPr>
            <a:r>
              <a:rPr lang="ar-AE" altLang="en-US" sz="1050" dirty="0">
                <a:solidFill>
                  <a:schemeClr val="accent3"/>
                </a:solidFill>
                <a:latin typeface="IBM Plex Sans Arabic" pitchFamily="34" charset="0"/>
                <a:ea typeface="IBM Plex Sans Arabic" pitchFamily="34" charset="-122"/>
                <a:cs typeface="IBM Plex Sans Arabic" pitchFamily="34" charset="-120"/>
              </a:rPr>
              <a:t>تطبق شروط وأحكام الضمان الخاصة بكل منتج أو خدمة، وقد تختلف التغطية وفقاً لطبيعة المنتج وطريقة الاستخدام.</a:t>
            </a:r>
            <a:endParaRPr lang="ar-AE" sz="105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A75"/>
                </a:solidFill>
                <a:latin typeface="IBM Plex Sans Arabic"/>
                <a:ea typeface="IBM Plex Sans Arabic"/>
                <a:cs typeface="IBM Plex Sans Arabic"/>
              </a:defRPr>
            </a:lvl1pPr>
          </a:lstStyle>
          <a:p>
            <a:pPr algn="r"/>
            <a:fld id="{F7021451-1387-4CA6-816F-3879F97B5CBC}" type="slidenum">
              <a:rPr b="0" lang="en-US"/>
              <a:t>16</a:t>
            </a:fld>
            <a:endParaRPr lang="en-US"/>
          </a:p>
        </p:txBody>
      </p:sp>
      <p:sp>
        <p:nvSpPr>
          <p:cNvPr id="26" name="Back to contents" descr="Back to contents">
            <a:hlinkClick r:id="rId4" action="ppaction://hlinksldjump" tooltip="Back to Contents / العودة إلى المحتويات"/>
          </p:cNvPr>
          <p:cNvSpPr/>
          <p:nvPr/>
        </p:nvSpPr>
        <p:spPr>
          <a:xfrm>
            <a:off x="8838000" y="6283000"/>
            <a:ext cx="1850000" cy="300000"/>
          </a:xfrm>
          <a:prstGeom prst="roundRect">
            <a:avLst>
              <a:gd name="adj" fmla="val 50000"/>
            </a:avLst>
          </a:prstGeom>
          <a:noFill/>
          <a:ln w="9525">
            <a:solidFill>
              <a:schemeClr val="accent1"/>
            </a:solidFill>
          </a:ln>
        </p:spPr>
        <p:txBody>
          <a:bodyPr wrap="none" lIns="0" tIns="0" rIns="0" bIns="0" rtlCol="0" anchor="ctr"/>
          <a:lstStyle/>
          <a:p>
            <a:pPr algn="ctr"/>
            <a:r>
              <a:rPr lang="en-US" sz="900" b="1" spc="120" dirty="0">
                <a:solidFill>
                  <a:schemeClr val="accent1"/>
                </a:solidFill>
                <a:latin typeface="IBM Plex Sans Arabic"/>
                <a:cs typeface="IBM Plex Sans Arabic"/>
              </a:rPr>
              <a:t>CONTENTS  ·  </a:t>
            </a:r>
            <a:r>
              <a:rPr lang="ar-AE" sz="900" b="1" dirty="0">
                <a:solidFill>
                  <a:schemeClr val="accent1"/>
                </a:solidFill>
                <a:latin typeface="IBM Plex Sans Arabic"/>
                <a:cs typeface="IBM Plex Sans Arabic"/>
              </a:rPr>
              <a:t>المحتويات</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2"/>
                </a:solidFill>
                <a:latin typeface="IBM Plex Sans Arabic" pitchFamily="34" charset="0"/>
                <a:ea typeface="IBM Plex Sans Arabic" pitchFamily="34" charset="-122"/>
                <a:cs typeface="IBM Plex Sans Arabic" pitchFamily="34" charset="-120"/>
              </a:rPr>
              <a:t>05   ·   WHY EVCARS</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2"/>
                </a:solidFill>
                <a:latin typeface="IBM Plex Sans Arabic" pitchFamily="34" charset="0"/>
                <a:ea typeface="IBM Plex Sans Arabic" pitchFamily="34" charset="-122"/>
                <a:cs typeface="IBM Plex Sans Arabic" pitchFamily="34" charset="-120"/>
              </a:rPr>
              <a:t>لماذا نحن   ·   05</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bg1"/>
                </a:solidFill>
                <a:latin typeface="IBM Plex Sans Arabic Light" pitchFamily="34" charset="0"/>
                <a:ea typeface="IBM Plex Sans Arabic Light" pitchFamily="34" charset="-122"/>
                <a:cs typeface="IBM Plex Sans Arabic Light" pitchFamily="34" charset="-120"/>
              </a:rPr>
              <a:t>Online Shopping &amp; Delivery</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bg1"/>
                </a:solidFill>
                <a:latin typeface="IBM Plex Sans Arabic Light" pitchFamily="34" charset="0"/>
                <a:ea typeface="IBM Plex Sans Arabic Light" pitchFamily="34" charset="-122"/>
                <a:cs typeface="IBM Plex Sans Arabic Light" pitchFamily="34" charset="-120"/>
              </a:rPr>
              <a:t>التسوق الإلكتروني والتوصيل</a:t>
            </a:r>
            <a:endParaRPr lang="ar-AE" sz="3000" dirty="0"/>
          </a:p>
        </p:txBody>
      </p:sp>
      <p:pic>
        <p:nvPicPr>
          <p:cNvPr id="6" name="Devices" descr="Online store on laptop and phone">    </p:cNvPr>
          <p:cNvPicPr>
            <a:picLocks noChangeAspect="1"/>
          </p:cNvPicPr>
          <p:nvPr/>
        </p:nvPicPr>
        <p:blipFill>
          <a:blip r:embed="rId2"/>
          <a:stretch>
            <a:fillRect/>
          </a:stretch>
        </p:blipFill>
        <p:spPr>
          <a:xfrm>
            <a:off x="5989320" y="1508760"/>
            <a:ext cx="5577840" cy="3532632"/>
          </a:xfrm>
          <a:prstGeom prst="rect">
            <a:avLst/>
          </a:prstGeom>
        </p:spPr>
      </p:pic>
      <p:sp>
        <p:nvSpPr>
          <p:cNvPr id="7" name="Text 4"/>
          <p:cNvSpPr txBox="1"/>
          <p:nvPr/>
        </p:nvSpPr>
        <p:spPr>
          <a:xfrm>
            <a:off x="640080" y="1691640"/>
            <a:ext cx="5029200" cy="594360"/>
          </a:xfrm>
          <a:prstGeom prst="rect">
            <a:avLst/>
          </a:prstGeom>
          <a:noFill/>
          <a:ln/>
        </p:spPr>
        <p:txBody>
          <a:bodyPr wrap="square" lIns="0" tIns="0" rIns="0" bIns="0" rtlCol="0" anchor="t"/>
          <a:lstStyle/>
          <a:p>
            <a:pPr algn="l" indent="0" marL="0">
              <a:buNone/>
            </a:pPr>
            <a:r>
              <a:rPr lang="en-US" sz="3600" dirty="0">
                <a:solidFill>
                  <a:schemeClr val="bg1"/>
                </a:solidFill>
                <a:latin typeface="IBM Plex Sans Arabic Light" pitchFamily="34" charset="0"/>
                <a:ea typeface="IBM Plex Sans Arabic Light" pitchFamily="34" charset="-122"/>
                <a:cs typeface="IBM Plex Sans Arabic Light" pitchFamily="34" charset="-120"/>
              </a:rPr>
              <a:t>Order Today.</a:t>
            </a:r>
            <a:endParaRPr lang="en-US" sz="3600" dirty="0"/>
          </a:p>
        </p:txBody>
      </p:sp>
      <p:sp>
        <p:nvSpPr>
          <p:cNvPr id="8" name="Text 5"/>
          <p:cNvSpPr txBox="1"/>
          <p:nvPr/>
        </p:nvSpPr>
        <p:spPr>
          <a:xfrm>
            <a:off x="640080" y="2286000"/>
            <a:ext cx="5029200" cy="594360"/>
          </a:xfrm>
          <a:prstGeom prst="rect">
            <a:avLst/>
          </a:prstGeom>
          <a:noFill/>
          <a:ln/>
        </p:spPr>
        <p:txBody>
          <a:bodyPr wrap="square" lIns="0" tIns="0" rIns="0" bIns="0" rtlCol="0" anchor="t"/>
          <a:lstStyle/>
          <a:p>
            <a:pPr algn="l" indent="0" marL="0">
              <a:buNone/>
            </a:pPr>
            <a:r>
              <a:rPr lang="en-US" sz="3600" dirty="0">
                <a:solidFill>
                  <a:schemeClr val="accent2"/>
                </a:solidFill>
                <a:latin typeface="IBM Plex Sans Arabic Light" pitchFamily="34" charset="0"/>
                <a:ea typeface="IBM Plex Sans Arabic Light" pitchFamily="34" charset="-122"/>
                <a:cs typeface="IBM Plex Sans Arabic Light" pitchFamily="34" charset="-120"/>
              </a:rPr>
              <a:t>Receive Tomorrow.</a:t>
            </a:r>
            <a:endParaRPr lang="en-US" sz="3600" dirty="0"/>
          </a:p>
        </p:txBody>
      </p:sp>
      <p:sp>
        <p:nvSpPr>
          <p:cNvPr id="9" name="Text 6"/>
          <p:cNvSpPr txBox="1"/>
          <p:nvPr/>
        </p:nvSpPr>
        <p:spPr>
          <a:xfrm>
            <a:off x="640080" y="3017520"/>
            <a:ext cx="5029200" cy="457200"/>
          </a:xfrm>
          <a:prstGeom prst="rect">
            <a:avLst/>
          </a:prstGeom>
          <a:noFill/>
          <a:ln/>
        </p:spPr>
        <p:txBody>
          <a:bodyPr wrap="square" lIns="0" tIns="0" rIns="0" bIns="0" rtlCol="0" anchor="t"/>
          <a:lstStyle/>
          <a:p>
            <a:pPr rtl="1" algn="r" indent="0" marL="0">
              <a:buNone/>
            </a:pPr>
            <a:r>
              <a:rPr lang="ar-AE" altLang="en-US" sz="2400" b="1" dirty="0">
                <a:solidFill>
                  <a:schemeClr val="bg1"/>
                </a:solidFill>
                <a:latin typeface="IBM Plex Sans Arabic" pitchFamily="34" charset="0"/>
                <a:ea typeface="IBM Plex Sans Arabic" pitchFamily="34" charset="-122"/>
                <a:cs typeface="IBM Plex Sans Arabic" pitchFamily="34" charset="-120"/>
              </a:rPr>
              <a:t>اطلب اليوم، واستلم غداً.</a:t>
            </a:r>
            <a:endParaRPr lang="ar-AE" sz="2400" dirty="0"/>
          </a:p>
        </p:txBody>
      </p:sp>
      <p:sp>
        <p:nvSpPr>
          <p:cNvPr id="10" name="Text 7"/>
          <p:cNvSpPr txBox="1"/>
          <p:nvPr/>
        </p:nvSpPr>
        <p:spPr>
          <a:xfrm>
            <a:off x="640080" y="3703320"/>
            <a:ext cx="5029200" cy="1371600"/>
          </a:xfrm>
          <a:prstGeom prst="rect">
            <a:avLst/>
          </a:prstGeom>
          <a:noFill/>
          <a:ln/>
        </p:spPr>
        <p:txBody>
          <a:bodyPr wrap="square" lIns="0" tIns="0" rIns="0" bIns="0" rtlCol="0" anchor="t"/>
          <a:lstStyle/>
          <a:p>
            <a:pPr algn="l" indent="0" marL="0">
              <a:buNone/>
            </a:pPr>
            <a:r>
              <a:rPr lang="en-US" sz="1200" dirty="0">
                <a:solidFill>
                  <a:schemeClr val="accent5"/>
                </a:solidFill>
                <a:latin typeface="IBM Plex Sans Arabic" pitchFamily="34" charset="0"/>
                <a:ea typeface="IBM Plex Sans Arabic" pitchFamily="34" charset="-122"/>
                <a:cs typeface="IBM Plex Sans Arabic" pitchFamily="34" charset="-120"/>
              </a:rPr>
              <a:t>Browse and order with ease, with delivery options across the UAE and Oman. Next-day delivery is available for eligible orders, depending on location, order cut-off times and product availability; deliveries are handled by third-party logistics providers.</a:t>
            </a:r>
            <a:endParaRPr lang="en-US" sz="1200" dirty="0"/>
          </a:p>
        </p:txBody>
      </p:sp>
      <p:sp>
        <p:nvSpPr>
          <p:cNvPr id="11" name="Text 8"/>
          <p:cNvSpPr txBox="1"/>
          <p:nvPr/>
        </p:nvSpPr>
        <p:spPr>
          <a:xfrm>
            <a:off x="640080" y="4892040"/>
            <a:ext cx="5029200" cy="1188720"/>
          </a:xfrm>
          <a:prstGeom prst="rect">
            <a:avLst/>
          </a:prstGeom>
          <a:noFill/>
          <a:ln/>
        </p:spPr>
        <p:txBody>
          <a:bodyPr wrap="square" lIns="0" tIns="0" rIns="0" bIns="0" rtlCol="0" anchor="t"/>
          <a:lstStyle/>
          <a:p>
            <a:pPr rtl="1" algn="r" indent="0" marL="0">
              <a:buNone/>
            </a:pPr>
            <a:r>
              <a:rPr lang="ar-AE" altLang="en-US" sz="1200" dirty="0">
                <a:solidFill>
                  <a:schemeClr val="accent5"/>
                </a:solidFill>
                <a:latin typeface="IBM Plex Sans Arabic" pitchFamily="34" charset="0"/>
                <a:ea typeface="IBM Plex Sans Arabic" pitchFamily="34" charset="-122"/>
                <a:cs typeface="IBM Plex Sans Arabic" pitchFamily="34" charset="-120"/>
              </a:rPr>
              <a:t>تسوق إلكتروني سهل مع خيارات توصيل داخل الإمارات وسلطنة عُمان. يتوفر التوصيل في اليوم التالي للطلبات المؤهلة حسب المنطقة ووقت الطلب وتوفر المنتج، وتُنفذ عمليات التوصيل عبر شركات شحن خارجية.</a:t>
            </a:r>
            <a:endParaRPr lang="ar-AE" sz="1200" dirty="0"/>
          </a:p>
        </p:txBody>
      </p:sp>
      <p:pic>
        <p:nvPicPr>
          <p:cNvPr id="12" name="Website icon" descr="website icon">    </p:cNvPr>
          <p:cNvPicPr>
            <a:picLocks noChangeAspect="1"/>
          </p:cNvPicPr>
          <p:nvPr/>
        </p:nvPicPr>
        <p:blipFill>
          <a:blip r:embed="rId3"/>
          <a:stretch>
            <a:fillRect/>
          </a:stretch>
        </p:blipFill>
        <p:spPr>
          <a:xfrm>
            <a:off x="6400800" y="5577840"/>
            <a:ext cx="365760" cy="365760"/>
          </a:xfrm>
          <a:prstGeom prst="rect">
            <a:avLst/>
          </a:prstGeom>
        </p:spPr>
      </p:pic>
      <p:sp>
        <p:nvSpPr>
          <p:cNvPr id="13" name="Text 9"/>
          <p:cNvSpPr txBox="1"/>
          <p:nvPr/>
        </p:nvSpPr>
        <p:spPr>
          <a:xfrm>
            <a:off x="6903720" y="5614416"/>
            <a:ext cx="2926080" cy="320040"/>
          </a:xfrm>
          <a:prstGeom prst="rect">
            <a:avLst/>
          </a:prstGeom>
          <a:noFill/>
          <a:ln/>
        </p:spPr>
        <p:txBody>
          <a:bodyPr wrap="square" lIns="0" tIns="0" rIns="0" bIns="0" rtlCol="0" anchor="t"/>
          <a:lstStyle/>
          <a:p>
            <a:pPr algn="l" indent="0" marL="0">
              <a:buNone/>
            </a:pPr>
            <a:r>
              <a:rPr lang="en-US" sz="1600" b="1" dirty="0">
                <a:solidFill>
                  <a:schemeClr val="bg1"/>
                </a:solidFill>
                <a:latin typeface="IBM Plex Sans Arabic" pitchFamily="34" charset="0"/>
                <a:ea typeface="IBM Plex Sans Arabic" pitchFamily="34" charset="-122"/>
                <a:cs typeface="IBM Plex Sans Arabic" pitchFamily="34" charset="-120"/>
              </a:rPr>
              <a:t>evcarsuae.com</a:t>
            </a:r>
            <a:endParaRPr lang="en-US" sz="1600" dirty="0"/>
          </a:p>
        </p:txBody>
      </p:sp>
      <p:pic>
        <p:nvPicPr>
          <p:cNvPr id="14" name="Delivery icon" descr="delivery icon">    </p:cNvPr>
          <p:cNvPicPr>
            <a:picLocks noChangeAspect="1"/>
          </p:cNvPicPr>
          <p:nvPr/>
        </p:nvPicPr>
        <p:blipFill>
          <a:blip r:embed="rId4"/>
          <a:stretch>
            <a:fillRect/>
          </a:stretch>
        </p:blipFill>
        <p:spPr>
          <a:xfrm>
            <a:off x="9326880" y="5577840"/>
            <a:ext cx="365760" cy="365760"/>
          </a:xfrm>
          <a:prstGeom prst="rect">
            <a:avLst/>
          </a:prstGeom>
        </p:spPr>
      </p:pic>
      <p:sp>
        <p:nvSpPr>
          <p:cNvPr id="15" name="Text 10"/>
          <p:cNvSpPr txBox="1"/>
          <p:nvPr/>
        </p:nvSpPr>
        <p:spPr>
          <a:xfrm>
            <a:off x="9829800" y="5614416"/>
            <a:ext cx="1828800" cy="320040"/>
          </a:xfrm>
          <a:prstGeom prst="rect">
            <a:avLst/>
          </a:prstGeom>
          <a:noFill/>
          <a:ln/>
        </p:spPr>
        <p:txBody>
          <a:bodyPr wrap="square" lIns="0" tIns="0" rIns="0" bIns="0" rtlCol="0" anchor="t"/>
          <a:lstStyle/>
          <a:p>
            <a:pPr algn="l" indent="0" marL="0">
              <a:buNone/>
            </a:pPr>
            <a:r>
              <a:rPr lang="en-US" sz="1400" dirty="0">
                <a:solidFill>
                  <a:schemeClr val="bg1"/>
                </a:solidFill>
                <a:latin typeface="IBM Plex Sans Arabic" pitchFamily="34" charset="0"/>
                <a:ea typeface="IBM Plex Sans Arabic" pitchFamily="34" charset="-122"/>
                <a:cs typeface="IBM Plex Sans Arabic" pitchFamily="34" charset="-120"/>
              </a:rPr>
              <a:t>UAE  ·  Oman</a:t>
            </a:r>
            <a:endParaRPr lang="en-US" sz="14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DDE2E7"/>
                </a:solidFill>
                <a:latin typeface="IBM Plex Sans Arabic"/>
                <a:ea typeface="IBM Plex Sans Arabic"/>
                <a:cs typeface="IBM Plex Sans Arabic"/>
              </a:defRPr>
            </a:lvl1pPr>
          </a:lstStyle>
          <a:p>
            <a:pPr algn="r"/>
            <a:fld id="{F7021451-1387-4CA6-816F-3879F97B5CBC}" type="slidenum">
              <a:rPr b="0" lang="en-US"/>
              <a:t>17</a:t>
            </a:fld>
            <a:endParaRPr lang="en-US"/>
          </a:p>
        </p:txBody>
      </p:sp>
      <p:sp>
        <p:nvSpPr>
          <p:cNvPr id="26" name="Store link" descr="Open evcarsuae.com">
            <a:hlinkClick r:id="rId7" tooltip="Open evcarsuae.com"/>
          </p:cNvPr>
          <p:cNvSpPr/>
          <p:nvPr/>
        </p:nvSpPr>
        <p:spPr>
          <a:xfrm>
            <a:off x="6400800" y="5520000"/>
            <a:ext cx="3000000" cy="480000"/>
          </a:xfrm>
          <a:prstGeom prst="rect">
            <a:avLst/>
          </a:prstGeom>
          <a:noFill/>
          <a:ln>
            <a:noFill/>
          </a:ln>
        </p:spPr>
        <p:txBody>
          <a:bodyPr/>
          <a:lstStyle/>
          <a:p>
            <a:endParaRPr lang="en-US"/>
          </a:p>
        </p:txBody>
      </p:sp>
      <p:sp>
        <p:nvSpPr>
          <p:cNvPr id="27" name="Back to contents" descr="Back to contents">
            <a:hlinkClick r:id="rId8" action="ppaction://hlinksldjump" tooltip="Back to Contents / العودة إلى المحتويات"/>
          </p:cNvPr>
          <p:cNvSpPr/>
          <p:nvPr/>
        </p:nvSpPr>
        <p:spPr>
          <a:xfrm>
            <a:off x="8838000" y="6283000"/>
            <a:ext cx="1850000" cy="300000"/>
          </a:xfrm>
          <a:prstGeom prst="roundRect">
            <a:avLst>
              <a:gd name="adj" fmla="val 50000"/>
            </a:avLst>
          </a:prstGeom>
          <a:noFill/>
          <a:ln w="9525">
            <a:solidFill>
              <a:schemeClr val="accent1"/>
            </a:solidFill>
          </a:ln>
        </p:spPr>
        <p:txBody>
          <a:bodyPr wrap="none" lIns="0" tIns="0" rIns="0" bIns="0" rtlCol="0" anchor="ctr"/>
          <a:lstStyle/>
          <a:p>
            <a:pPr algn="ctr"/>
            <a:r>
              <a:rPr lang="en-US" sz="900" b="1" spc="120" dirty="0">
                <a:solidFill>
                  <a:schemeClr val="accent1"/>
                </a:solidFill>
                <a:latin typeface="IBM Plex Sans Arabic"/>
                <a:cs typeface="IBM Plex Sans Arabic"/>
              </a:rPr>
              <a:t>CONTENTS  ·  </a:t>
            </a:r>
            <a:r>
              <a:rPr lang="ar-AE" sz="900" b="1" dirty="0">
                <a:solidFill>
                  <a:schemeClr val="accent1"/>
                </a:solidFill>
                <a:latin typeface="IBM Plex Sans Arabic"/>
                <a:cs typeface="IBM Plex Sans Arabic"/>
              </a:rPr>
              <a:t>المحتويات</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1"/>
                </a:solidFill>
                <a:latin typeface="IBM Plex Sans Arabic" pitchFamily="34" charset="0"/>
                <a:ea typeface="IBM Plex Sans Arabic" pitchFamily="34" charset="-122"/>
                <a:cs typeface="IBM Plex Sans Arabic" pitchFamily="34" charset="-120"/>
              </a:rPr>
              <a:t>05   ·   WHY EVCARS</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1"/>
                </a:solidFill>
                <a:latin typeface="IBM Plex Sans Arabic" pitchFamily="34" charset="0"/>
                <a:ea typeface="IBM Plex Sans Arabic" pitchFamily="34" charset="-122"/>
                <a:cs typeface="IBM Plex Sans Arabic" pitchFamily="34" charset="-120"/>
              </a:rPr>
              <a:t>لماذا نحن   ·   05</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tx1"/>
                </a:solidFill>
                <a:latin typeface="IBM Plex Sans Arabic Light" pitchFamily="34" charset="0"/>
                <a:ea typeface="IBM Plex Sans Arabic Light" pitchFamily="34" charset="-122"/>
                <a:cs typeface="IBM Plex Sans Arabic Light" pitchFamily="34" charset="-120"/>
              </a:rPr>
              <a:t>Exhibitions &amp; Events</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tx1"/>
                </a:solidFill>
                <a:latin typeface="IBM Plex Sans Arabic Light" pitchFamily="34" charset="0"/>
                <a:ea typeface="IBM Plex Sans Arabic Light" pitchFamily="34" charset="-122"/>
                <a:cs typeface="IBM Plex Sans Arabic Light" pitchFamily="34" charset="-120"/>
              </a:rPr>
              <a:t>المعارض والفعاليات</a:t>
            </a:r>
            <a:endParaRPr lang="ar-AE" sz="3000" dirty="0"/>
          </a:p>
        </p:txBody>
      </p:sp>
      <p:sp>
        <p:nvSpPr>
          <p:cNvPr id="6" name="Exhibition panel"/>
          <p:cNvSpPr/>
          <p:nvPr/>
        </p:nvSpPr>
        <p:spPr>
          <a:xfrm>
            <a:off x="640080" y="1691640"/>
            <a:ext cx="4206240" cy="4389120"/>
          </a:xfrm>
          <a:prstGeom prst="roundRect">
            <a:avLst>
              <a:gd name="adj" fmla="val 2174"/>
            </a:avLst>
          </a:prstGeom>
          <a:solidFill>
            <a:schemeClr val="tx1"/>
          </a:solidFill>
          <a:ln/>
        </p:spPr>
      </p:sp>
      <p:pic>
        <p:nvPicPr>
          <p:cNvPr id="7" name="Exhibition icon" descr="icon">    </p:cNvPr>
          <p:cNvPicPr>
            <a:picLocks noChangeAspect="1"/>
          </p:cNvPicPr>
          <p:nvPr/>
        </p:nvPicPr>
        <p:blipFill>
          <a:blip r:embed="rId1"/>
          <a:stretch>
            <a:fillRect/>
          </a:stretch>
        </p:blipFill>
        <p:spPr>
          <a:xfrm>
            <a:off x="3657600" y="2011680"/>
            <a:ext cx="640080" cy="640080"/>
          </a:xfrm>
          <a:prstGeom prst="rect">
            <a:avLst/>
          </a:prstGeom>
        </p:spPr>
      </p:pic>
      <p:sp>
        <p:nvSpPr>
          <p:cNvPr id="8" name="Text 5"/>
          <p:cNvSpPr txBox="1"/>
          <p:nvPr/>
        </p:nvSpPr>
        <p:spPr>
          <a:xfrm>
            <a:off x="1005840" y="1920240"/>
            <a:ext cx="1828800" cy="868680"/>
          </a:xfrm>
          <a:prstGeom prst="rect">
            <a:avLst/>
          </a:prstGeom>
          <a:noFill/>
          <a:ln/>
        </p:spPr>
        <p:txBody>
          <a:bodyPr wrap="square" lIns="0" tIns="0" rIns="0" bIns="0" rtlCol="0" anchor="t"/>
          <a:lstStyle/>
          <a:p>
            <a:pPr algn="l" indent="0" marL="0">
              <a:buNone/>
            </a:pPr>
            <a:r>
              <a:rPr lang="en-US" sz="5600" dirty="0">
                <a:solidFill>
                  <a:schemeClr val="accent2"/>
                </a:solidFill>
                <a:latin typeface="IBM Plex Sans Arabic Light" pitchFamily="34" charset="0"/>
                <a:ea typeface="IBM Plex Sans Arabic Light" pitchFamily="34" charset="-122"/>
                <a:cs typeface="IBM Plex Sans Arabic Light" pitchFamily="34" charset="-120"/>
              </a:rPr>
              <a:t>6</a:t>
            </a:r>
            <a:endParaRPr lang="en-US" sz="5600" dirty="0"/>
          </a:p>
        </p:txBody>
      </p:sp>
      <p:sp>
        <p:nvSpPr>
          <p:cNvPr id="9" name="Text 6"/>
          <p:cNvSpPr txBox="1"/>
          <p:nvPr/>
        </p:nvSpPr>
        <p:spPr>
          <a:xfrm>
            <a:off x="1005840" y="2834640"/>
            <a:ext cx="3291840" cy="274320"/>
          </a:xfrm>
          <a:prstGeom prst="rect">
            <a:avLst/>
          </a:prstGeom>
          <a:noFill/>
          <a:ln/>
        </p:spPr>
        <p:txBody>
          <a:bodyPr wrap="square" lIns="0" tIns="0" rIns="0" bIns="0" rtlCol="0" anchor="t"/>
          <a:lstStyle/>
          <a:p>
            <a:pPr algn="l" indent="0" marL="0">
              <a:buNone/>
            </a:pPr>
            <a:r>
              <a:rPr lang="en-US" sz="1300" b="1" dirty="0">
                <a:solidFill>
                  <a:schemeClr val="bg1"/>
                </a:solidFill>
                <a:latin typeface="IBM Plex Sans Arabic" pitchFamily="34" charset="0"/>
                <a:ea typeface="IBM Plex Sans Arabic" pitchFamily="34" charset="-122"/>
                <a:cs typeface="IBM Plex Sans Arabic" pitchFamily="34" charset="-120"/>
              </a:rPr>
              <a:t>Exhibitions, 2025 – 2026</a:t>
            </a:r>
            <a:endParaRPr lang="en-US" sz="1300" dirty="0"/>
          </a:p>
        </p:txBody>
      </p:sp>
      <p:sp>
        <p:nvSpPr>
          <p:cNvPr id="10" name="Text 7"/>
          <p:cNvSpPr txBox="1"/>
          <p:nvPr/>
        </p:nvSpPr>
        <p:spPr>
          <a:xfrm>
            <a:off x="1005840" y="3127248"/>
            <a:ext cx="3291840" cy="274320"/>
          </a:xfrm>
          <a:prstGeom prst="rect">
            <a:avLst/>
          </a:prstGeom>
          <a:noFill/>
          <a:ln/>
        </p:spPr>
        <p:txBody>
          <a:bodyPr wrap="square" lIns="0" tIns="0" rIns="0" bIns="0" rtlCol="0" anchor="t"/>
          <a:lstStyle/>
          <a:p>
            <a:pPr rtl="1" algn="r" indent="0" marL="0">
              <a:buNone/>
            </a:pPr>
            <a:r>
              <a:rPr lang="ar-AE" altLang="en-US" sz="1300" dirty="0">
                <a:solidFill>
                  <a:schemeClr val="accent5"/>
                </a:solidFill>
                <a:latin typeface="IBM Plex Sans Arabic" pitchFamily="34" charset="0"/>
                <a:ea typeface="IBM Plex Sans Arabic" pitchFamily="34" charset="-122"/>
                <a:cs typeface="IBM Plex Sans Arabic" pitchFamily="34" charset="-120"/>
              </a:rPr>
              <a:t>مشاركات في المعارض</a:t>
            </a:r>
            <a:endParaRPr lang="ar-AE" sz="1300" dirty="0"/>
          </a:p>
        </p:txBody>
      </p:sp>
      <p:sp>
        <p:nvSpPr>
          <p:cNvPr id="11" name="Text 8"/>
          <p:cNvSpPr txBox="1"/>
          <p:nvPr/>
        </p:nvSpPr>
        <p:spPr>
          <a:xfrm>
            <a:off x="1005840" y="3657600"/>
            <a:ext cx="3474720" cy="1097280"/>
          </a:xfrm>
          <a:prstGeom prst="rect">
            <a:avLst/>
          </a:prstGeom>
          <a:noFill/>
          <a:ln/>
        </p:spPr>
        <p:txBody>
          <a:bodyPr wrap="square" lIns="0" tIns="0" rIns="0" bIns="0" rtlCol="0" anchor="t"/>
          <a:lstStyle/>
          <a:p>
            <a:pPr algn="l" indent="0" marL="0">
              <a:buNone/>
            </a:pPr>
            <a:r>
              <a:rPr lang="en-US" sz="1200" dirty="0">
                <a:solidFill>
                  <a:schemeClr val="accent5"/>
                </a:solidFill>
                <a:latin typeface="IBM Plex Sans Arabic" pitchFamily="34" charset="0"/>
                <a:ea typeface="IBM Plex Sans Arabic" pitchFamily="34" charset="-122"/>
                <a:cs typeface="IBM Plex Sans Arabic" pitchFamily="34" charset="-120"/>
              </a:rPr>
              <a:t>Showcasing our accessories, charging solutions and specialized services, and engaging directly with customers and industry audiences.</a:t>
            </a:r>
            <a:endParaRPr lang="en-US" sz="1200" dirty="0"/>
          </a:p>
        </p:txBody>
      </p:sp>
      <p:sp>
        <p:nvSpPr>
          <p:cNvPr id="12" name="Text 9"/>
          <p:cNvSpPr txBox="1"/>
          <p:nvPr/>
        </p:nvSpPr>
        <p:spPr>
          <a:xfrm>
            <a:off x="1005840" y="4846320"/>
            <a:ext cx="3474720" cy="1097280"/>
          </a:xfrm>
          <a:prstGeom prst="rect">
            <a:avLst/>
          </a:prstGeom>
          <a:noFill/>
          <a:ln/>
        </p:spPr>
        <p:txBody>
          <a:bodyPr wrap="square" lIns="0" tIns="0" rIns="0" bIns="0" rtlCol="0" anchor="t"/>
          <a:lstStyle/>
          <a:p>
            <a:pPr rtl="1" algn="r" indent="0" marL="0">
              <a:buNone/>
            </a:pPr>
            <a:r>
              <a:rPr lang="ar-AE" altLang="en-US" sz="1200" dirty="0">
                <a:solidFill>
                  <a:schemeClr val="accent5"/>
                </a:solidFill>
                <a:latin typeface="IBM Plex Sans Arabic" pitchFamily="34" charset="0"/>
                <a:ea typeface="IBM Plex Sans Arabic" pitchFamily="34" charset="-122"/>
                <a:cs typeface="IBM Plex Sans Arabic" pitchFamily="34" charset="-120"/>
              </a:rPr>
              <a:t>استعراض المنتجات وحلول الشحن والخدمات المتخصصة، والتواصل المباشر مع العملاء والمهتمين بالقطاع.</a:t>
            </a:r>
            <a:endParaRPr lang="ar-AE" sz="1200" dirty="0"/>
          </a:p>
        </p:txBody>
      </p:sp>
      <p:sp>
        <p:nvSpPr>
          <p:cNvPr id="13" name="Exhibition row 1"/>
          <p:cNvSpPr/>
          <p:nvPr/>
        </p:nvSpPr>
        <p:spPr>
          <a:xfrm>
            <a:off x="5212080" y="1691640"/>
            <a:ext cx="6339535" cy="640080"/>
          </a:xfrm>
          <a:prstGeom prst="roundRect">
            <a:avLst>
              <a:gd name="adj" fmla="val 11429"/>
            </a:avLst>
          </a:prstGeom>
          <a:solidFill>
            <a:schemeClr val="bg2"/>
          </a:solidFill>
          <a:ln/>
        </p:spPr>
      </p:sp>
      <p:sp>
        <p:nvSpPr>
          <p:cNvPr id="14" name="Text 11"/>
          <p:cNvSpPr txBox="1"/>
          <p:nvPr/>
        </p:nvSpPr>
        <p:spPr>
          <a:xfrm>
            <a:off x="5486400" y="1801368"/>
            <a:ext cx="914400" cy="411480"/>
          </a:xfrm>
          <a:prstGeom prst="rect">
            <a:avLst/>
          </a:prstGeom>
          <a:noFill/>
          <a:ln/>
        </p:spPr>
        <p:txBody>
          <a:bodyPr wrap="square" lIns="0" tIns="0" rIns="0" bIns="0" rtlCol="0" anchor="ctr"/>
          <a:lstStyle/>
          <a:p>
            <a:pPr algn="l" indent="0" marL="0">
              <a:buNone/>
            </a:pPr>
            <a:r>
              <a:rPr lang="en-US" sz="2000" dirty="0">
                <a:solidFill>
                  <a:schemeClr val="tx1"/>
                </a:solidFill>
                <a:latin typeface="IBM Plex Sans Arabic Light" pitchFamily="34" charset="0"/>
                <a:ea typeface="IBM Plex Sans Arabic Light" pitchFamily="34" charset="-122"/>
                <a:cs typeface="IBM Plex Sans Arabic Light" pitchFamily="34" charset="-120"/>
              </a:rPr>
              <a:t>2025</a:t>
            </a:r>
            <a:endParaRPr lang="en-US" sz="2000" dirty="0"/>
          </a:p>
        </p:txBody>
      </p:sp>
      <p:sp>
        <p:nvSpPr>
          <p:cNvPr id="15" name="Text 12"/>
          <p:cNvSpPr txBox="1"/>
          <p:nvPr/>
        </p:nvSpPr>
        <p:spPr>
          <a:xfrm>
            <a:off x="6492240" y="1783080"/>
            <a:ext cx="4785055" cy="457200"/>
          </a:xfrm>
          <a:prstGeom prst="rect">
            <a:avLst/>
          </a:prstGeom>
          <a:noFill/>
          <a:ln/>
        </p:spPr>
        <p:txBody>
          <a:bodyPr wrap="square" lIns="0" tIns="0" rIns="0" bIns="0" rtlCol="0" anchor="ctr"/>
          <a:lstStyle/>
          <a:p>
            <a:pPr algn="l" indent="0" marL="0">
              <a:buNone/>
            </a:pPr>
            <a:r>
              <a:rPr lang="en-US" sz="1250" dirty="0">
                <a:solidFill>
                  <a:schemeClr val="accent4"/>
                </a:solidFill>
                <a:latin typeface="IBM Plex Sans Arabic" pitchFamily="34" charset="0"/>
                <a:ea typeface="IBM Plex Sans Arabic" pitchFamily="34" charset="-122"/>
                <a:cs typeface="IBM Plex Sans Arabic" pitchFamily="34" charset="-120"/>
              </a:rPr>
              <a:t>Custom Show Emirates</a:t>
            </a:r>
            <a:endParaRPr lang="en-US" sz="1250" dirty="0"/>
          </a:p>
        </p:txBody>
      </p:sp>
      <p:sp>
        <p:nvSpPr>
          <p:cNvPr id="16" name="Exhibition row 2"/>
          <p:cNvSpPr/>
          <p:nvPr/>
        </p:nvSpPr>
        <p:spPr>
          <a:xfrm>
            <a:off x="5212080" y="2423160"/>
            <a:ext cx="6339535" cy="640080"/>
          </a:xfrm>
          <a:prstGeom prst="roundRect">
            <a:avLst>
              <a:gd name="adj" fmla="val 11429"/>
            </a:avLst>
          </a:prstGeom>
          <a:solidFill>
            <a:schemeClr val="bg2"/>
          </a:solidFill>
          <a:ln/>
        </p:spPr>
      </p:sp>
      <p:sp>
        <p:nvSpPr>
          <p:cNvPr id="17" name="Text 14"/>
          <p:cNvSpPr txBox="1"/>
          <p:nvPr/>
        </p:nvSpPr>
        <p:spPr>
          <a:xfrm>
            <a:off x="5486400" y="2532888"/>
            <a:ext cx="914400" cy="411480"/>
          </a:xfrm>
          <a:prstGeom prst="rect">
            <a:avLst/>
          </a:prstGeom>
          <a:noFill/>
          <a:ln/>
        </p:spPr>
        <p:txBody>
          <a:bodyPr wrap="square" lIns="0" tIns="0" rIns="0" bIns="0" rtlCol="0" anchor="ctr"/>
          <a:lstStyle/>
          <a:p>
            <a:pPr algn="l" indent="0" marL="0">
              <a:buNone/>
            </a:pPr>
            <a:r>
              <a:rPr lang="en-US" sz="2000" dirty="0">
                <a:solidFill>
                  <a:schemeClr val="tx1"/>
                </a:solidFill>
                <a:latin typeface="IBM Plex Sans Arabic Light" pitchFamily="34" charset="0"/>
                <a:ea typeface="IBM Plex Sans Arabic Light" pitchFamily="34" charset="-122"/>
                <a:cs typeface="IBM Plex Sans Arabic Light" pitchFamily="34" charset="-120"/>
              </a:rPr>
              <a:t>2025</a:t>
            </a:r>
            <a:endParaRPr lang="en-US" sz="2000" dirty="0"/>
          </a:p>
        </p:txBody>
      </p:sp>
      <p:sp>
        <p:nvSpPr>
          <p:cNvPr id="18" name="Text 15"/>
          <p:cNvSpPr txBox="1"/>
          <p:nvPr/>
        </p:nvSpPr>
        <p:spPr>
          <a:xfrm>
            <a:off x="6492240" y="2514600"/>
            <a:ext cx="4785055" cy="457200"/>
          </a:xfrm>
          <a:prstGeom prst="rect">
            <a:avLst/>
          </a:prstGeom>
          <a:noFill/>
          <a:ln/>
        </p:spPr>
        <p:txBody>
          <a:bodyPr wrap="square" lIns="0" tIns="0" rIns="0" bIns="0" rtlCol="0" anchor="ctr"/>
          <a:lstStyle/>
          <a:p>
            <a:pPr algn="l" indent="0" marL="0">
              <a:buNone/>
            </a:pPr>
            <a:r>
              <a:rPr lang="en-US" sz="1250" dirty="0">
                <a:solidFill>
                  <a:schemeClr val="accent4"/>
                </a:solidFill>
                <a:latin typeface="IBM Plex Sans Arabic" pitchFamily="34" charset="0"/>
                <a:ea typeface="IBM Plex Sans Arabic" pitchFamily="34" charset="-122"/>
                <a:cs typeface="IBM Plex Sans Arabic" pitchFamily="34" charset="-120"/>
              </a:rPr>
              <a:t>Evolve, Sharjah</a:t>
            </a:r>
            <a:endParaRPr lang="en-US" sz="1250" dirty="0"/>
          </a:p>
        </p:txBody>
      </p:sp>
      <p:sp>
        <p:nvSpPr>
          <p:cNvPr id="19" name="Exhibition row 3"/>
          <p:cNvSpPr/>
          <p:nvPr/>
        </p:nvSpPr>
        <p:spPr>
          <a:xfrm>
            <a:off x="5212080" y="3154680"/>
            <a:ext cx="6339535" cy="640080"/>
          </a:xfrm>
          <a:prstGeom prst="roundRect">
            <a:avLst>
              <a:gd name="adj" fmla="val 11429"/>
            </a:avLst>
          </a:prstGeom>
          <a:solidFill>
            <a:schemeClr val="bg2"/>
          </a:solidFill>
          <a:ln/>
        </p:spPr>
      </p:sp>
      <p:sp>
        <p:nvSpPr>
          <p:cNvPr id="20" name="Text 17"/>
          <p:cNvSpPr txBox="1"/>
          <p:nvPr/>
        </p:nvSpPr>
        <p:spPr>
          <a:xfrm>
            <a:off x="5486400" y="3264408"/>
            <a:ext cx="914400" cy="411480"/>
          </a:xfrm>
          <a:prstGeom prst="rect">
            <a:avLst/>
          </a:prstGeom>
          <a:noFill/>
          <a:ln/>
        </p:spPr>
        <p:txBody>
          <a:bodyPr wrap="square" lIns="0" tIns="0" rIns="0" bIns="0" rtlCol="0" anchor="ctr"/>
          <a:lstStyle/>
          <a:p>
            <a:pPr algn="l" indent="0" marL="0">
              <a:buNone/>
            </a:pPr>
            <a:r>
              <a:rPr lang="en-US" sz="2000" dirty="0">
                <a:solidFill>
                  <a:schemeClr val="tx1"/>
                </a:solidFill>
                <a:latin typeface="IBM Plex Sans Arabic Light" pitchFamily="34" charset="0"/>
                <a:ea typeface="IBM Plex Sans Arabic Light" pitchFamily="34" charset="-122"/>
                <a:cs typeface="IBM Plex Sans Arabic Light" pitchFamily="34" charset="-120"/>
              </a:rPr>
              <a:t>2025</a:t>
            </a:r>
            <a:endParaRPr lang="en-US" sz="2000" dirty="0"/>
          </a:p>
        </p:txBody>
      </p:sp>
      <p:sp>
        <p:nvSpPr>
          <p:cNvPr id="21" name="Text 18"/>
          <p:cNvSpPr txBox="1"/>
          <p:nvPr/>
        </p:nvSpPr>
        <p:spPr>
          <a:xfrm>
            <a:off x="6492240" y="3246120"/>
            <a:ext cx="4785055" cy="457200"/>
          </a:xfrm>
          <a:prstGeom prst="rect">
            <a:avLst/>
          </a:prstGeom>
          <a:noFill/>
          <a:ln/>
        </p:spPr>
        <p:txBody>
          <a:bodyPr wrap="square" lIns="0" tIns="0" rIns="0" bIns="0" rtlCol="0" anchor="ctr"/>
          <a:lstStyle/>
          <a:p>
            <a:pPr algn="l" indent="0" marL="0">
              <a:buNone/>
            </a:pPr>
            <a:r>
              <a:rPr lang="en-US" sz="1250" dirty="0">
                <a:solidFill>
                  <a:schemeClr val="accent4"/>
                </a:solidFill>
                <a:latin typeface="IBM Plex Sans Arabic" pitchFamily="34" charset="0"/>
                <a:ea typeface="IBM Plex Sans Arabic" pitchFamily="34" charset="-122"/>
                <a:cs typeface="IBM Plex Sans Arabic" pitchFamily="34" charset="-120"/>
              </a:rPr>
              <a:t>Abu Dhabi International Hunting &amp; Equestrian Exhibition</a:t>
            </a:r>
            <a:endParaRPr lang="en-US" sz="1250" dirty="0"/>
          </a:p>
        </p:txBody>
      </p:sp>
      <p:sp>
        <p:nvSpPr>
          <p:cNvPr id="22" name="Exhibition row 4"/>
          <p:cNvSpPr/>
          <p:nvPr/>
        </p:nvSpPr>
        <p:spPr>
          <a:xfrm>
            <a:off x="5212080" y="3886200"/>
            <a:ext cx="6339535" cy="640080"/>
          </a:xfrm>
          <a:prstGeom prst="roundRect">
            <a:avLst>
              <a:gd name="adj" fmla="val 11429"/>
            </a:avLst>
          </a:prstGeom>
          <a:solidFill>
            <a:schemeClr val="bg2"/>
          </a:solidFill>
          <a:ln/>
        </p:spPr>
      </p:sp>
      <p:sp>
        <p:nvSpPr>
          <p:cNvPr id="23" name="Text 20"/>
          <p:cNvSpPr txBox="1"/>
          <p:nvPr/>
        </p:nvSpPr>
        <p:spPr>
          <a:xfrm>
            <a:off x="5486400" y="3995928"/>
            <a:ext cx="914400" cy="411480"/>
          </a:xfrm>
          <a:prstGeom prst="rect">
            <a:avLst/>
          </a:prstGeom>
          <a:noFill/>
          <a:ln/>
        </p:spPr>
        <p:txBody>
          <a:bodyPr wrap="square" lIns="0" tIns="0" rIns="0" bIns="0" rtlCol="0" anchor="ctr"/>
          <a:lstStyle/>
          <a:p>
            <a:pPr algn="l" indent="0" marL="0">
              <a:buNone/>
            </a:pPr>
            <a:r>
              <a:rPr lang="en-US" sz="2000" dirty="0">
                <a:solidFill>
                  <a:schemeClr val="tx1"/>
                </a:solidFill>
                <a:latin typeface="IBM Plex Sans Arabic Light" pitchFamily="34" charset="0"/>
                <a:ea typeface="IBM Plex Sans Arabic Light" pitchFamily="34" charset="-122"/>
                <a:cs typeface="IBM Plex Sans Arabic Light" pitchFamily="34" charset="-120"/>
              </a:rPr>
              <a:t>2025</a:t>
            </a:r>
            <a:endParaRPr lang="en-US" sz="2000" dirty="0"/>
          </a:p>
        </p:txBody>
      </p:sp>
      <p:sp>
        <p:nvSpPr>
          <p:cNvPr id="24" name="Text 21"/>
          <p:cNvSpPr txBox="1"/>
          <p:nvPr/>
        </p:nvSpPr>
        <p:spPr>
          <a:xfrm>
            <a:off x="6492240" y="3977640"/>
            <a:ext cx="4785055" cy="457200"/>
          </a:xfrm>
          <a:prstGeom prst="rect">
            <a:avLst/>
          </a:prstGeom>
          <a:noFill/>
          <a:ln/>
        </p:spPr>
        <p:txBody>
          <a:bodyPr wrap="square" lIns="0" tIns="0" rIns="0" bIns="0" rtlCol="0" anchor="ctr"/>
          <a:lstStyle/>
          <a:p>
            <a:pPr algn="l" indent="0" marL="0">
              <a:buNone/>
            </a:pPr>
            <a:r>
              <a:rPr lang="en-US" sz="1250" dirty="0">
                <a:solidFill>
                  <a:schemeClr val="accent4"/>
                </a:solidFill>
                <a:latin typeface="IBM Plex Sans Arabic" pitchFamily="34" charset="0"/>
                <a:ea typeface="IBM Plex Sans Arabic" pitchFamily="34" charset="-122"/>
                <a:cs typeface="IBM Plex Sans Arabic" pitchFamily="34" charset="-120"/>
              </a:rPr>
              <a:t>Al Ain International Hunting &amp; Equestrian Exhibition</a:t>
            </a:r>
            <a:endParaRPr lang="en-US" sz="1250" dirty="0"/>
          </a:p>
        </p:txBody>
      </p:sp>
      <p:sp>
        <p:nvSpPr>
          <p:cNvPr id="25" name="Exhibition row 5"/>
          <p:cNvSpPr/>
          <p:nvPr/>
        </p:nvSpPr>
        <p:spPr>
          <a:xfrm>
            <a:off x="5212080" y="4617720"/>
            <a:ext cx="6339535" cy="640080"/>
          </a:xfrm>
          <a:prstGeom prst="roundRect">
            <a:avLst>
              <a:gd name="adj" fmla="val 11429"/>
            </a:avLst>
          </a:prstGeom>
          <a:solidFill>
            <a:schemeClr val="bg2"/>
          </a:solidFill>
          <a:ln/>
        </p:spPr>
      </p:sp>
      <p:sp>
        <p:nvSpPr>
          <p:cNvPr id="26" name="Text 23"/>
          <p:cNvSpPr txBox="1"/>
          <p:nvPr/>
        </p:nvSpPr>
        <p:spPr>
          <a:xfrm>
            <a:off x="5486400" y="4727448"/>
            <a:ext cx="914400" cy="411480"/>
          </a:xfrm>
          <a:prstGeom prst="rect">
            <a:avLst/>
          </a:prstGeom>
          <a:noFill/>
          <a:ln/>
        </p:spPr>
        <p:txBody>
          <a:bodyPr wrap="square" lIns="0" tIns="0" rIns="0" bIns="0" rtlCol="0" anchor="ctr"/>
          <a:lstStyle/>
          <a:p>
            <a:pPr algn="l" indent="0" marL="0">
              <a:buNone/>
            </a:pPr>
            <a:r>
              <a:rPr lang="en-US" sz="2000" dirty="0">
                <a:solidFill>
                  <a:schemeClr val="accent1"/>
                </a:solidFill>
                <a:latin typeface="IBM Plex Sans Arabic Light" pitchFamily="34" charset="0"/>
                <a:ea typeface="IBM Plex Sans Arabic Light" pitchFamily="34" charset="-122"/>
                <a:cs typeface="IBM Plex Sans Arabic Light" pitchFamily="34" charset="-120"/>
              </a:rPr>
              <a:t>2026</a:t>
            </a:r>
            <a:endParaRPr lang="en-US" sz="2000" dirty="0"/>
          </a:p>
        </p:txBody>
      </p:sp>
      <p:sp>
        <p:nvSpPr>
          <p:cNvPr id="27" name="Text 24"/>
          <p:cNvSpPr txBox="1"/>
          <p:nvPr/>
        </p:nvSpPr>
        <p:spPr>
          <a:xfrm>
            <a:off x="6492240" y="4709160"/>
            <a:ext cx="4785055" cy="457200"/>
          </a:xfrm>
          <a:prstGeom prst="rect">
            <a:avLst/>
          </a:prstGeom>
          <a:noFill/>
          <a:ln/>
        </p:spPr>
        <p:txBody>
          <a:bodyPr wrap="square" lIns="0" tIns="0" rIns="0" bIns="0" rtlCol="0" anchor="ctr"/>
          <a:lstStyle/>
          <a:p>
            <a:pPr algn="l" indent="0" marL="0">
              <a:buNone/>
            </a:pPr>
            <a:r>
              <a:rPr lang="en-US" sz="1250" dirty="0">
                <a:solidFill>
                  <a:schemeClr val="accent4"/>
                </a:solidFill>
                <a:latin typeface="IBM Plex Sans Arabic" pitchFamily="34" charset="0"/>
                <a:ea typeface="IBM Plex Sans Arabic" pitchFamily="34" charset="-122"/>
                <a:cs typeface="IBM Plex Sans Arabic" pitchFamily="34" charset="-120"/>
              </a:rPr>
              <a:t>Abu Dhabi International Hunting &amp; Equestrian Exhibition</a:t>
            </a:r>
            <a:endParaRPr lang="en-US" sz="1250" dirty="0"/>
          </a:p>
        </p:txBody>
      </p:sp>
      <p:sp>
        <p:nvSpPr>
          <p:cNvPr id="28" name="Exhibition row 6"/>
          <p:cNvSpPr/>
          <p:nvPr/>
        </p:nvSpPr>
        <p:spPr>
          <a:xfrm>
            <a:off x="5212080" y="5349240"/>
            <a:ext cx="6339535" cy="640080"/>
          </a:xfrm>
          <a:prstGeom prst="roundRect">
            <a:avLst>
              <a:gd name="adj" fmla="val 11429"/>
            </a:avLst>
          </a:prstGeom>
          <a:solidFill>
            <a:schemeClr val="bg2"/>
          </a:solidFill>
          <a:ln/>
        </p:spPr>
      </p:sp>
      <p:sp>
        <p:nvSpPr>
          <p:cNvPr id="29" name="Text 26"/>
          <p:cNvSpPr txBox="1"/>
          <p:nvPr/>
        </p:nvSpPr>
        <p:spPr>
          <a:xfrm>
            <a:off x="5486400" y="5458968"/>
            <a:ext cx="914400" cy="411480"/>
          </a:xfrm>
          <a:prstGeom prst="rect">
            <a:avLst/>
          </a:prstGeom>
          <a:noFill/>
          <a:ln/>
        </p:spPr>
        <p:txBody>
          <a:bodyPr wrap="square" lIns="0" tIns="0" rIns="0" bIns="0" rtlCol="0" anchor="ctr"/>
          <a:lstStyle/>
          <a:p>
            <a:pPr algn="l" indent="0" marL="0">
              <a:buNone/>
            </a:pPr>
            <a:r>
              <a:rPr lang="en-US" sz="2000" dirty="0">
                <a:solidFill>
                  <a:schemeClr val="accent1"/>
                </a:solidFill>
                <a:latin typeface="IBM Plex Sans Arabic Light" pitchFamily="34" charset="0"/>
                <a:ea typeface="IBM Plex Sans Arabic Light" pitchFamily="34" charset="-122"/>
                <a:cs typeface="IBM Plex Sans Arabic Light" pitchFamily="34" charset="-120"/>
              </a:rPr>
              <a:t>2026</a:t>
            </a:r>
            <a:endParaRPr lang="en-US" sz="2000" dirty="0"/>
          </a:p>
        </p:txBody>
      </p:sp>
      <p:sp>
        <p:nvSpPr>
          <p:cNvPr id="30" name="Text 27"/>
          <p:cNvSpPr txBox="1"/>
          <p:nvPr/>
        </p:nvSpPr>
        <p:spPr>
          <a:xfrm>
            <a:off x="6492240" y="5440680"/>
            <a:ext cx="4785055" cy="457200"/>
          </a:xfrm>
          <a:prstGeom prst="rect">
            <a:avLst/>
          </a:prstGeom>
          <a:noFill/>
          <a:ln/>
        </p:spPr>
        <p:txBody>
          <a:bodyPr wrap="square" lIns="0" tIns="0" rIns="0" bIns="0" rtlCol="0" anchor="ctr"/>
          <a:lstStyle/>
          <a:p>
            <a:pPr algn="l" indent="0" marL="0">
              <a:buNone/>
            </a:pPr>
            <a:r>
              <a:rPr lang="en-US" sz="1250" dirty="0">
                <a:solidFill>
                  <a:schemeClr val="accent4"/>
                </a:solidFill>
                <a:latin typeface="IBM Plex Sans Arabic" pitchFamily="34" charset="0"/>
                <a:ea typeface="IBM Plex Sans Arabic" pitchFamily="34" charset="-122"/>
                <a:cs typeface="IBM Plex Sans Arabic" pitchFamily="34" charset="-120"/>
              </a:rPr>
              <a:t>Al Ain International Hunting &amp; Equestrian Exhibition</a:t>
            </a:r>
            <a:endParaRPr lang="en-US" sz="125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A75"/>
                </a:solidFill>
                <a:latin typeface="IBM Plex Sans Arabic"/>
                <a:ea typeface="IBM Plex Sans Arabic"/>
                <a:cs typeface="IBM Plex Sans Arabic"/>
              </a:defRPr>
            </a:lvl1pPr>
          </a:lstStyle>
          <a:p>
            <a:pPr algn="r"/>
            <a:fld id="{F7021451-1387-4CA6-816F-3879F97B5CBC}" type="slidenum">
              <a:rPr b="0" lang="en-US"/>
              <a:t>18</a:t>
            </a:fld>
            <a:endParaRPr lang="en-US"/>
          </a:p>
        </p:txBody>
      </p:sp>
      <p:sp>
        <p:nvSpPr>
          <p:cNvPr id="31" name="Back to contents" descr="Back to contents">
            <a:hlinkClick r:id="rId4" action="ppaction://hlinksldjump" tooltip="Back to Contents / العودة إلى المحتويات"/>
          </p:cNvPr>
          <p:cNvSpPr/>
          <p:nvPr/>
        </p:nvSpPr>
        <p:spPr>
          <a:xfrm>
            <a:off x="8838000" y="6283000"/>
            <a:ext cx="1850000" cy="300000"/>
          </a:xfrm>
          <a:prstGeom prst="roundRect">
            <a:avLst>
              <a:gd name="adj" fmla="val 50000"/>
            </a:avLst>
          </a:prstGeom>
          <a:noFill/>
          <a:ln w="9525">
            <a:solidFill>
              <a:schemeClr val="accent1"/>
            </a:solidFill>
          </a:ln>
        </p:spPr>
        <p:txBody>
          <a:bodyPr wrap="none" lIns="0" tIns="0" rIns="0" bIns="0" rtlCol="0" anchor="ctr"/>
          <a:lstStyle/>
          <a:p>
            <a:pPr algn="ctr"/>
            <a:r>
              <a:rPr lang="en-US" sz="900" b="1" spc="120" dirty="0">
                <a:solidFill>
                  <a:schemeClr val="accent1"/>
                </a:solidFill>
                <a:latin typeface="IBM Plex Sans Arabic"/>
                <a:cs typeface="IBM Plex Sans Arabic"/>
              </a:rPr>
              <a:t>CONTENTS  ·  </a:t>
            </a:r>
            <a:r>
              <a:rPr lang="ar-AE" sz="900" b="1" dirty="0">
                <a:solidFill>
                  <a:schemeClr val="accent1"/>
                </a:solidFill>
                <a:latin typeface="IBM Plex Sans Arabic"/>
                <a:cs typeface="IBM Plex Sans Arabic"/>
              </a:rPr>
              <a:t>المحتويات</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1"/>
                </a:solidFill>
                <a:latin typeface="IBM Plex Sans Arabic" pitchFamily="34" charset="0"/>
                <a:ea typeface="IBM Plex Sans Arabic" pitchFamily="34" charset="-122"/>
                <a:cs typeface="IBM Plex Sans Arabic" pitchFamily="34" charset="-120"/>
              </a:rPr>
              <a:t>05   ·   WHY EVCARS</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1"/>
                </a:solidFill>
                <a:latin typeface="IBM Plex Sans Arabic" pitchFamily="34" charset="0"/>
                <a:ea typeface="IBM Plex Sans Arabic" pitchFamily="34" charset="-122"/>
                <a:cs typeface="IBM Plex Sans Arabic" pitchFamily="34" charset="-120"/>
              </a:rPr>
              <a:t>لماذا نحن   ·   05</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tx1"/>
                </a:solidFill>
                <a:latin typeface="IBM Plex Sans Arabic Light" pitchFamily="34" charset="0"/>
                <a:ea typeface="IBM Plex Sans Arabic Light" pitchFamily="34" charset="-122"/>
                <a:cs typeface="IBM Plex Sans Arabic Light" pitchFamily="34" charset="-120"/>
              </a:rPr>
              <a:t>Why Choose EVCARS?</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tx1"/>
                </a:solidFill>
                <a:latin typeface="IBM Plex Sans Arabic Light" pitchFamily="34" charset="0"/>
                <a:ea typeface="IBM Plex Sans Arabic Light" pitchFamily="34" charset="-122"/>
                <a:cs typeface="IBM Plex Sans Arabic Light" pitchFamily="34" charset="-120"/>
              </a:rPr>
              <a:t>لماذا EVCARS؟</a:t>
            </a:r>
            <a:endParaRPr lang="ar-AE" sz="3000" dirty="0"/>
          </a:p>
        </p:txBody>
      </p:sp>
      <p:sp>
        <p:nvSpPr>
          <p:cNvPr id="6" name="Why tile 1"/>
          <p:cNvSpPr/>
          <p:nvPr/>
        </p:nvSpPr>
        <p:spPr>
          <a:xfrm>
            <a:off x="640080" y="1691640"/>
            <a:ext cx="2578608" cy="2103120"/>
          </a:xfrm>
          <a:prstGeom prst="roundRect">
            <a:avLst>
              <a:gd name="adj" fmla="val 4348"/>
            </a:avLst>
          </a:prstGeom>
          <a:solidFill>
            <a:schemeClr val="bg1"/>
          </a:solidFill>
          <a:ln/>
          <a:effectLst>
            <a:outerShdw sx="100000" sy="100000" kx="0" ky="0" algn="bl" rotWithShape="0" blurRad="177800" dist="38100" dir="5400000">
              <a:srgbClr val="0B0D10">
                <a:alpha val="10000"/>
              </a:srgbClr>
            </a:outerShdw>
          </a:effectLst>
        </p:spPr>
      </p:sp>
      <p:sp>
        <p:nvSpPr>
          <p:cNvPr id="7" name="Why icon 1 circle"/>
          <p:cNvSpPr/>
          <p:nvPr/>
        </p:nvSpPr>
        <p:spPr>
          <a:xfrm>
            <a:off x="868680" y="1874520"/>
            <a:ext cx="502920" cy="502920"/>
          </a:xfrm>
          <a:prstGeom prst="ellipse">
            <a:avLst/>
          </a:prstGeom>
          <a:solidFill>
            <a:schemeClr val="accent6"/>
          </a:solidFill>
          <a:ln/>
        </p:spPr>
      </p:sp>
      <p:pic>
        <p:nvPicPr>
          <p:cNvPr id="8" name="Why icon 1" descr="icon">    </p:cNvPr>
          <p:cNvPicPr>
            <a:picLocks noChangeAspect="1"/>
          </p:cNvPicPr>
          <p:nvPr/>
        </p:nvPicPr>
        <p:blipFill>
          <a:blip r:embed="rId1"/>
          <a:stretch>
            <a:fillRect/>
          </a:stretch>
        </p:blipFill>
        <p:spPr>
          <a:xfrm>
            <a:off x="989381" y="1995221"/>
            <a:ext cx="261518" cy="261518"/>
          </a:xfrm>
          <a:prstGeom prst="rect">
            <a:avLst/>
          </a:prstGeom>
        </p:spPr>
      </p:pic>
      <p:sp>
        <p:nvSpPr>
          <p:cNvPr id="9" name="Text 6"/>
          <p:cNvSpPr txBox="1"/>
          <p:nvPr/>
        </p:nvSpPr>
        <p:spPr>
          <a:xfrm>
            <a:off x="2304288" y="1920240"/>
            <a:ext cx="685800" cy="320040"/>
          </a:xfrm>
          <a:prstGeom prst="rect">
            <a:avLst/>
          </a:prstGeom>
          <a:noFill/>
          <a:ln/>
        </p:spPr>
        <p:txBody>
          <a:bodyPr wrap="square" lIns="0" tIns="0" rIns="0" bIns="0" rtlCol="0" anchor="t"/>
          <a:lstStyle/>
          <a:p>
            <a:pPr algn="r" indent="0" marL="0">
              <a:buNone/>
            </a:pPr>
            <a:r>
              <a:rPr lang="en-US" sz="1600" dirty="0">
                <a:solidFill>
                  <a:schemeClr val="accent3"/>
                </a:solidFill>
                <a:latin typeface="IBM Plex Sans Arabic Light" pitchFamily="34" charset="0"/>
                <a:ea typeface="IBM Plex Sans Arabic Light" pitchFamily="34" charset="-122"/>
                <a:cs typeface="IBM Plex Sans Arabic Light" pitchFamily="34" charset="-120"/>
              </a:rPr>
              <a:t>01</a:t>
            </a:r>
            <a:endParaRPr lang="en-US" sz="1600" dirty="0"/>
          </a:p>
        </p:txBody>
      </p:sp>
      <p:sp>
        <p:nvSpPr>
          <p:cNvPr id="10" name="Text 7"/>
          <p:cNvSpPr txBox="1"/>
          <p:nvPr/>
        </p:nvSpPr>
        <p:spPr>
          <a:xfrm>
            <a:off x="868680" y="2788920"/>
            <a:ext cx="2121408" cy="292608"/>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Specialization</a:t>
            </a:r>
            <a:endParaRPr lang="en-US" sz="1500" dirty="0"/>
          </a:p>
        </p:txBody>
      </p:sp>
      <p:sp>
        <p:nvSpPr>
          <p:cNvPr id="11" name="Text 8"/>
          <p:cNvSpPr txBox="1"/>
          <p:nvPr/>
        </p:nvSpPr>
        <p:spPr>
          <a:xfrm>
            <a:off x="868680" y="3172968"/>
            <a:ext cx="2121408" cy="292608"/>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التخصص</a:t>
            </a:r>
            <a:endParaRPr lang="ar-AE" sz="1400" dirty="0"/>
          </a:p>
        </p:txBody>
      </p:sp>
      <p:sp>
        <p:nvSpPr>
          <p:cNvPr id="12" name="Why tile 2"/>
          <p:cNvSpPr/>
          <p:nvPr/>
        </p:nvSpPr>
        <p:spPr>
          <a:xfrm>
            <a:off x="3417722" y="1691640"/>
            <a:ext cx="2578608" cy="2103120"/>
          </a:xfrm>
          <a:prstGeom prst="roundRect">
            <a:avLst>
              <a:gd name="adj" fmla="val 4348"/>
            </a:avLst>
          </a:prstGeom>
          <a:solidFill>
            <a:schemeClr val="bg1"/>
          </a:solidFill>
          <a:ln/>
          <a:effectLst>
            <a:outerShdw sx="100000" sy="100000" kx="0" ky="0" algn="bl" rotWithShape="0" blurRad="177800" dist="38100" dir="5400000">
              <a:srgbClr val="0B0D10">
                <a:alpha val="10000"/>
              </a:srgbClr>
            </a:outerShdw>
          </a:effectLst>
        </p:spPr>
      </p:sp>
      <p:sp>
        <p:nvSpPr>
          <p:cNvPr id="13" name="Why icon 2 circle"/>
          <p:cNvSpPr/>
          <p:nvPr/>
        </p:nvSpPr>
        <p:spPr>
          <a:xfrm>
            <a:off x="3646322" y="1874520"/>
            <a:ext cx="502920" cy="502920"/>
          </a:xfrm>
          <a:prstGeom prst="ellipse">
            <a:avLst/>
          </a:prstGeom>
          <a:solidFill>
            <a:schemeClr val="accent6"/>
          </a:solidFill>
          <a:ln/>
        </p:spPr>
      </p:sp>
      <p:pic>
        <p:nvPicPr>
          <p:cNvPr id="14" name="Why icon 2" descr="icon">    </p:cNvPr>
          <p:cNvPicPr>
            <a:picLocks noChangeAspect="1"/>
          </p:cNvPicPr>
          <p:nvPr/>
        </p:nvPicPr>
        <p:blipFill>
          <a:blip r:embed="rId2"/>
          <a:stretch>
            <a:fillRect/>
          </a:stretch>
        </p:blipFill>
        <p:spPr>
          <a:xfrm>
            <a:off x="3767023" y="1995221"/>
            <a:ext cx="261518" cy="261518"/>
          </a:xfrm>
          <a:prstGeom prst="rect">
            <a:avLst/>
          </a:prstGeom>
        </p:spPr>
      </p:pic>
      <p:sp>
        <p:nvSpPr>
          <p:cNvPr id="15" name="Text 11"/>
          <p:cNvSpPr txBox="1"/>
          <p:nvPr/>
        </p:nvSpPr>
        <p:spPr>
          <a:xfrm>
            <a:off x="5081930" y="1920240"/>
            <a:ext cx="685800" cy="320040"/>
          </a:xfrm>
          <a:prstGeom prst="rect">
            <a:avLst/>
          </a:prstGeom>
          <a:noFill/>
          <a:ln/>
        </p:spPr>
        <p:txBody>
          <a:bodyPr wrap="square" lIns="0" tIns="0" rIns="0" bIns="0" rtlCol="0" anchor="t"/>
          <a:lstStyle/>
          <a:p>
            <a:pPr algn="r" indent="0" marL="0">
              <a:buNone/>
            </a:pPr>
            <a:r>
              <a:rPr lang="en-US" sz="1600" dirty="0">
                <a:solidFill>
                  <a:schemeClr val="accent3"/>
                </a:solidFill>
                <a:latin typeface="IBM Plex Sans Arabic Light" pitchFamily="34" charset="0"/>
                <a:ea typeface="IBM Plex Sans Arabic Light" pitchFamily="34" charset="-122"/>
                <a:cs typeface="IBM Plex Sans Arabic Light" pitchFamily="34" charset="-120"/>
              </a:rPr>
              <a:t>02</a:t>
            </a:r>
            <a:endParaRPr lang="en-US" sz="1600" dirty="0"/>
          </a:p>
        </p:txBody>
      </p:sp>
      <p:sp>
        <p:nvSpPr>
          <p:cNvPr id="16" name="Text 12"/>
          <p:cNvSpPr txBox="1"/>
          <p:nvPr/>
        </p:nvSpPr>
        <p:spPr>
          <a:xfrm>
            <a:off x="3646322" y="2788920"/>
            <a:ext cx="2121408" cy="292608"/>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Branch Network</a:t>
            </a:r>
            <a:endParaRPr lang="en-US" sz="1500" dirty="0"/>
          </a:p>
        </p:txBody>
      </p:sp>
      <p:sp>
        <p:nvSpPr>
          <p:cNvPr id="17" name="Text 13"/>
          <p:cNvSpPr txBox="1"/>
          <p:nvPr/>
        </p:nvSpPr>
        <p:spPr>
          <a:xfrm>
            <a:off x="3646322" y="3172968"/>
            <a:ext cx="2121408" cy="292608"/>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شبكة الفروع</a:t>
            </a:r>
            <a:endParaRPr lang="ar-AE" sz="1400" dirty="0"/>
          </a:p>
        </p:txBody>
      </p:sp>
      <p:sp>
        <p:nvSpPr>
          <p:cNvPr id="18" name="Why tile 3"/>
          <p:cNvSpPr/>
          <p:nvPr/>
        </p:nvSpPr>
        <p:spPr>
          <a:xfrm>
            <a:off x="6195365" y="1691640"/>
            <a:ext cx="2578608" cy="2103120"/>
          </a:xfrm>
          <a:prstGeom prst="roundRect">
            <a:avLst>
              <a:gd name="adj" fmla="val 4348"/>
            </a:avLst>
          </a:prstGeom>
          <a:solidFill>
            <a:schemeClr val="bg1"/>
          </a:solidFill>
          <a:ln/>
          <a:effectLst>
            <a:outerShdw sx="100000" sy="100000" kx="0" ky="0" algn="bl" rotWithShape="0" blurRad="177800" dist="38100" dir="5400000">
              <a:srgbClr val="0B0D10">
                <a:alpha val="10000"/>
              </a:srgbClr>
            </a:outerShdw>
          </a:effectLst>
        </p:spPr>
      </p:sp>
      <p:sp>
        <p:nvSpPr>
          <p:cNvPr id="19" name="Why icon 3 circle"/>
          <p:cNvSpPr/>
          <p:nvPr/>
        </p:nvSpPr>
        <p:spPr>
          <a:xfrm>
            <a:off x="6423965" y="1874520"/>
            <a:ext cx="502920" cy="502920"/>
          </a:xfrm>
          <a:prstGeom prst="ellipse">
            <a:avLst/>
          </a:prstGeom>
          <a:solidFill>
            <a:schemeClr val="accent6"/>
          </a:solidFill>
          <a:ln/>
        </p:spPr>
      </p:sp>
      <p:pic>
        <p:nvPicPr>
          <p:cNvPr id="20" name="Why icon 3" descr="icon">    </p:cNvPr>
          <p:cNvPicPr>
            <a:picLocks noChangeAspect="1"/>
          </p:cNvPicPr>
          <p:nvPr/>
        </p:nvPicPr>
        <p:blipFill>
          <a:blip r:embed="rId3"/>
          <a:stretch>
            <a:fillRect/>
          </a:stretch>
        </p:blipFill>
        <p:spPr>
          <a:xfrm>
            <a:off x="6544666" y="1995221"/>
            <a:ext cx="261518" cy="261518"/>
          </a:xfrm>
          <a:prstGeom prst="rect">
            <a:avLst/>
          </a:prstGeom>
        </p:spPr>
      </p:pic>
      <p:sp>
        <p:nvSpPr>
          <p:cNvPr id="21" name="Text 16"/>
          <p:cNvSpPr txBox="1"/>
          <p:nvPr/>
        </p:nvSpPr>
        <p:spPr>
          <a:xfrm>
            <a:off x="7859573" y="1920240"/>
            <a:ext cx="685800" cy="320040"/>
          </a:xfrm>
          <a:prstGeom prst="rect">
            <a:avLst/>
          </a:prstGeom>
          <a:noFill/>
          <a:ln/>
        </p:spPr>
        <p:txBody>
          <a:bodyPr wrap="square" lIns="0" tIns="0" rIns="0" bIns="0" rtlCol="0" anchor="t"/>
          <a:lstStyle/>
          <a:p>
            <a:pPr algn="r" indent="0" marL="0">
              <a:buNone/>
            </a:pPr>
            <a:r>
              <a:rPr lang="en-US" sz="1600" dirty="0">
                <a:solidFill>
                  <a:schemeClr val="accent3"/>
                </a:solidFill>
                <a:latin typeface="IBM Plex Sans Arabic Light" pitchFamily="34" charset="0"/>
                <a:ea typeface="IBM Plex Sans Arabic Light" pitchFamily="34" charset="-122"/>
                <a:cs typeface="IBM Plex Sans Arabic Light" pitchFamily="34" charset="-120"/>
              </a:rPr>
              <a:t>03</a:t>
            </a:r>
            <a:endParaRPr lang="en-US" sz="1600" dirty="0"/>
          </a:p>
        </p:txBody>
      </p:sp>
      <p:sp>
        <p:nvSpPr>
          <p:cNvPr id="22" name="Text 17"/>
          <p:cNvSpPr txBox="1"/>
          <p:nvPr/>
        </p:nvSpPr>
        <p:spPr>
          <a:xfrm>
            <a:off x="6423965" y="2788920"/>
            <a:ext cx="2121408" cy="292608"/>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Product Variety</a:t>
            </a:r>
            <a:endParaRPr lang="en-US" sz="1500" dirty="0"/>
          </a:p>
        </p:txBody>
      </p:sp>
      <p:sp>
        <p:nvSpPr>
          <p:cNvPr id="23" name="Text 18"/>
          <p:cNvSpPr txBox="1"/>
          <p:nvPr/>
        </p:nvSpPr>
        <p:spPr>
          <a:xfrm>
            <a:off x="6423965" y="3172968"/>
            <a:ext cx="2121408" cy="292608"/>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المنتجات المتنوعة</a:t>
            </a:r>
            <a:endParaRPr lang="ar-AE" sz="1400" dirty="0"/>
          </a:p>
        </p:txBody>
      </p:sp>
      <p:sp>
        <p:nvSpPr>
          <p:cNvPr id="24" name="Why tile 4"/>
          <p:cNvSpPr/>
          <p:nvPr/>
        </p:nvSpPr>
        <p:spPr>
          <a:xfrm>
            <a:off x="8973007" y="1691640"/>
            <a:ext cx="2578608" cy="2103120"/>
          </a:xfrm>
          <a:prstGeom prst="roundRect">
            <a:avLst>
              <a:gd name="adj" fmla="val 4348"/>
            </a:avLst>
          </a:prstGeom>
          <a:solidFill>
            <a:schemeClr val="bg1"/>
          </a:solidFill>
          <a:ln/>
          <a:effectLst>
            <a:outerShdw sx="100000" sy="100000" kx="0" ky="0" algn="bl" rotWithShape="0" blurRad="177800" dist="38100" dir="5400000">
              <a:srgbClr val="0B0D10">
                <a:alpha val="10000"/>
              </a:srgbClr>
            </a:outerShdw>
          </a:effectLst>
        </p:spPr>
      </p:sp>
      <p:sp>
        <p:nvSpPr>
          <p:cNvPr id="25" name="Why icon 4 circle"/>
          <p:cNvSpPr/>
          <p:nvPr/>
        </p:nvSpPr>
        <p:spPr>
          <a:xfrm>
            <a:off x="9201607" y="1874520"/>
            <a:ext cx="502920" cy="502920"/>
          </a:xfrm>
          <a:prstGeom prst="ellipse">
            <a:avLst/>
          </a:prstGeom>
          <a:solidFill>
            <a:schemeClr val="accent6"/>
          </a:solidFill>
          <a:ln/>
        </p:spPr>
      </p:sp>
      <p:pic>
        <p:nvPicPr>
          <p:cNvPr id="26" name="Why icon 4" descr="icon">    </p:cNvPr>
          <p:cNvPicPr>
            <a:picLocks noChangeAspect="1"/>
          </p:cNvPicPr>
          <p:nvPr/>
        </p:nvPicPr>
        <p:blipFill>
          <a:blip r:embed="rId4"/>
          <a:stretch>
            <a:fillRect/>
          </a:stretch>
        </p:blipFill>
        <p:spPr>
          <a:xfrm>
            <a:off x="9322308" y="1995221"/>
            <a:ext cx="261518" cy="261518"/>
          </a:xfrm>
          <a:prstGeom prst="rect">
            <a:avLst/>
          </a:prstGeom>
        </p:spPr>
      </p:pic>
      <p:sp>
        <p:nvSpPr>
          <p:cNvPr id="27" name="Text 21"/>
          <p:cNvSpPr txBox="1"/>
          <p:nvPr/>
        </p:nvSpPr>
        <p:spPr>
          <a:xfrm>
            <a:off x="10637215" y="1920240"/>
            <a:ext cx="685800" cy="320040"/>
          </a:xfrm>
          <a:prstGeom prst="rect">
            <a:avLst/>
          </a:prstGeom>
          <a:noFill/>
          <a:ln/>
        </p:spPr>
        <p:txBody>
          <a:bodyPr wrap="square" lIns="0" tIns="0" rIns="0" bIns="0" rtlCol="0" anchor="t"/>
          <a:lstStyle/>
          <a:p>
            <a:pPr algn="r" indent="0" marL="0">
              <a:buNone/>
            </a:pPr>
            <a:r>
              <a:rPr lang="en-US" sz="1600" dirty="0">
                <a:solidFill>
                  <a:schemeClr val="accent3"/>
                </a:solidFill>
                <a:latin typeface="IBM Plex Sans Arabic Light" pitchFamily="34" charset="0"/>
                <a:ea typeface="IBM Plex Sans Arabic Light" pitchFamily="34" charset="-122"/>
                <a:cs typeface="IBM Plex Sans Arabic Light" pitchFamily="34" charset="-120"/>
              </a:rPr>
              <a:t>04</a:t>
            </a:r>
            <a:endParaRPr lang="en-US" sz="1600" dirty="0"/>
          </a:p>
        </p:txBody>
      </p:sp>
      <p:sp>
        <p:nvSpPr>
          <p:cNvPr id="28" name="Text 22"/>
          <p:cNvSpPr txBox="1"/>
          <p:nvPr/>
        </p:nvSpPr>
        <p:spPr>
          <a:xfrm>
            <a:off x="9201607" y="2788920"/>
            <a:ext cx="2121408" cy="292608"/>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Technical Teams</a:t>
            </a:r>
            <a:endParaRPr lang="en-US" sz="1500" dirty="0"/>
          </a:p>
        </p:txBody>
      </p:sp>
      <p:sp>
        <p:nvSpPr>
          <p:cNvPr id="29" name="Text 23"/>
          <p:cNvSpPr txBox="1"/>
          <p:nvPr/>
        </p:nvSpPr>
        <p:spPr>
          <a:xfrm>
            <a:off x="9201607" y="3172968"/>
            <a:ext cx="2121408" cy="292608"/>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الفرق الفنية</a:t>
            </a:r>
            <a:endParaRPr lang="ar-AE" sz="1400" dirty="0"/>
          </a:p>
        </p:txBody>
      </p:sp>
      <p:sp>
        <p:nvSpPr>
          <p:cNvPr id="30" name="Why tile 5"/>
          <p:cNvSpPr/>
          <p:nvPr/>
        </p:nvSpPr>
        <p:spPr>
          <a:xfrm>
            <a:off x="640080" y="3977640"/>
            <a:ext cx="2578608" cy="2103120"/>
          </a:xfrm>
          <a:prstGeom prst="roundRect">
            <a:avLst>
              <a:gd name="adj" fmla="val 4348"/>
            </a:avLst>
          </a:prstGeom>
          <a:solidFill>
            <a:schemeClr val="bg1"/>
          </a:solidFill>
          <a:ln/>
          <a:effectLst>
            <a:outerShdw sx="100000" sy="100000" kx="0" ky="0" algn="bl" rotWithShape="0" blurRad="177800" dist="38100" dir="5400000">
              <a:srgbClr val="0B0D10">
                <a:alpha val="10000"/>
              </a:srgbClr>
            </a:outerShdw>
          </a:effectLst>
        </p:spPr>
      </p:sp>
      <p:sp>
        <p:nvSpPr>
          <p:cNvPr id="31" name="Why icon 5 circle"/>
          <p:cNvSpPr/>
          <p:nvPr/>
        </p:nvSpPr>
        <p:spPr>
          <a:xfrm>
            <a:off x="868680" y="4160520"/>
            <a:ext cx="502920" cy="502920"/>
          </a:xfrm>
          <a:prstGeom prst="ellipse">
            <a:avLst/>
          </a:prstGeom>
          <a:solidFill>
            <a:schemeClr val="accent6"/>
          </a:solidFill>
          <a:ln/>
        </p:spPr>
      </p:sp>
      <p:pic>
        <p:nvPicPr>
          <p:cNvPr id="32" name="Why icon 5" descr="icon">    </p:cNvPr>
          <p:cNvPicPr>
            <a:picLocks noChangeAspect="1"/>
          </p:cNvPicPr>
          <p:nvPr/>
        </p:nvPicPr>
        <p:blipFill>
          <a:blip r:embed="rId5"/>
          <a:stretch>
            <a:fillRect/>
          </a:stretch>
        </p:blipFill>
        <p:spPr>
          <a:xfrm>
            <a:off x="989381" y="4281221"/>
            <a:ext cx="261518" cy="261518"/>
          </a:xfrm>
          <a:prstGeom prst="rect">
            <a:avLst/>
          </a:prstGeom>
        </p:spPr>
      </p:pic>
      <p:sp>
        <p:nvSpPr>
          <p:cNvPr id="33" name="Text 26"/>
          <p:cNvSpPr txBox="1"/>
          <p:nvPr/>
        </p:nvSpPr>
        <p:spPr>
          <a:xfrm>
            <a:off x="2304288" y="4206240"/>
            <a:ext cx="685800" cy="320040"/>
          </a:xfrm>
          <a:prstGeom prst="rect">
            <a:avLst/>
          </a:prstGeom>
          <a:noFill/>
          <a:ln/>
        </p:spPr>
        <p:txBody>
          <a:bodyPr wrap="square" lIns="0" tIns="0" rIns="0" bIns="0" rtlCol="0" anchor="t"/>
          <a:lstStyle/>
          <a:p>
            <a:pPr algn="r" indent="0" marL="0">
              <a:buNone/>
            </a:pPr>
            <a:r>
              <a:rPr lang="en-US" sz="1600" dirty="0">
                <a:solidFill>
                  <a:schemeClr val="accent3"/>
                </a:solidFill>
                <a:latin typeface="IBM Plex Sans Arabic Light" pitchFamily="34" charset="0"/>
                <a:ea typeface="IBM Plex Sans Arabic Light" pitchFamily="34" charset="-122"/>
                <a:cs typeface="IBM Plex Sans Arabic Light" pitchFamily="34" charset="-120"/>
              </a:rPr>
              <a:t>05</a:t>
            </a:r>
            <a:endParaRPr lang="en-US" sz="1600" dirty="0"/>
          </a:p>
        </p:txBody>
      </p:sp>
      <p:sp>
        <p:nvSpPr>
          <p:cNvPr id="34" name="Text 27"/>
          <p:cNvSpPr txBox="1"/>
          <p:nvPr/>
        </p:nvSpPr>
        <p:spPr>
          <a:xfrm>
            <a:off x="868680" y="5074920"/>
            <a:ext cx="2121408" cy="292608"/>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Free Installation</a:t>
            </a:r>
            <a:endParaRPr lang="en-US" sz="1500" dirty="0"/>
          </a:p>
        </p:txBody>
      </p:sp>
      <p:sp>
        <p:nvSpPr>
          <p:cNvPr id="35" name="Text 28"/>
          <p:cNvSpPr txBox="1"/>
          <p:nvPr/>
        </p:nvSpPr>
        <p:spPr>
          <a:xfrm>
            <a:off x="868680" y="5458968"/>
            <a:ext cx="2121408" cy="292608"/>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التركيب المجاني</a:t>
            </a:r>
            <a:endParaRPr lang="ar-AE" sz="1400" dirty="0"/>
          </a:p>
        </p:txBody>
      </p:sp>
      <p:sp>
        <p:nvSpPr>
          <p:cNvPr id="36" name="Why tile 6"/>
          <p:cNvSpPr/>
          <p:nvPr/>
        </p:nvSpPr>
        <p:spPr>
          <a:xfrm>
            <a:off x="3417722" y="3977640"/>
            <a:ext cx="2578608" cy="2103120"/>
          </a:xfrm>
          <a:prstGeom prst="roundRect">
            <a:avLst>
              <a:gd name="adj" fmla="val 4348"/>
            </a:avLst>
          </a:prstGeom>
          <a:solidFill>
            <a:schemeClr val="bg1"/>
          </a:solidFill>
          <a:ln/>
          <a:effectLst>
            <a:outerShdw sx="100000" sy="100000" kx="0" ky="0" algn="bl" rotWithShape="0" blurRad="177800" dist="38100" dir="5400000">
              <a:srgbClr val="0B0D10">
                <a:alpha val="10000"/>
              </a:srgbClr>
            </a:outerShdw>
          </a:effectLst>
        </p:spPr>
      </p:sp>
      <p:sp>
        <p:nvSpPr>
          <p:cNvPr id="37" name="Why icon 6 circle"/>
          <p:cNvSpPr/>
          <p:nvPr/>
        </p:nvSpPr>
        <p:spPr>
          <a:xfrm>
            <a:off x="3646322" y="4160520"/>
            <a:ext cx="502920" cy="502920"/>
          </a:xfrm>
          <a:prstGeom prst="ellipse">
            <a:avLst/>
          </a:prstGeom>
          <a:solidFill>
            <a:schemeClr val="accent6"/>
          </a:solidFill>
          <a:ln/>
        </p:spPr>
      </p:sp>
      <p:pic>
        <p:nvPicPr>
          <p:cNvPr id="38" name="Why icon 6" descr="icon">    </p:cNvPr>
          <p:cNvPicPr>
            <a:picLocks noChangeAspect="1"/>
          </p:cNvPicPr>
          <p:nvPr/>
        </p:nvPicPr>
        <p:blipFill>
          <a:blip r:embed="rId6"/>
          <a:stretch>
            <a:fillRect/>
          </a:stretch>
        </p:blipFill>
        <p:spPr>
          <a:xfrm>
            <a:off x="3767023" y="4281221"/>
            <a:ext cx="261518" cy="261518"/>
          </a:xfrm>
          <a:prstGeom prst="rect">
            <a:avLst/>
          </a:prstGeom>
        </p:spPr>
      </p:pic>
      <p:sp>
        <p:nvSpPr>
          <p:cNvPr id="39" name="Text 31"/>
          <p:cNvSpPr txBox="1"/>
          <p:nvPr/>
        </p:nvSpPr>
        <p:spPr>
          <a:xfrm>
            <a:off x="5081930" y="4206240"/>
            <a:ext cx="685800" cy="320040"/>
          </a:xfrm>
          <a:prstGeom prst="rect">
            <a:avLst/>
          </a:prstGeom>
          <a:noFill/>
          <a:ln/>
        </p:spPr>
        <p:txBody>
          <a:bodyPr wrap="square" lIns="0" tIns="0" rIns="0" bIns="0" rtlCol="0" anchor="t"/>
          <a:lstStyle/>
          <a:p>
            <a:pPr algn="r" indent="0" marL="0">
              <a:buNone/>
            </a:pPr>
            <a:r>
              <a:rPr lang="en-US" sz="1600" dirty="0">
                <a:solidFill>
                  <a:schemeClr val="accent3"/>
                </a:solidFill>
                <a:latin typeface="IBM Plex Sans Arabic Light" pitchFamily="34" charset="0"/>
                <a:ea typeface="IBM Plex Sans Arabic Light" pitchFamily="34" charset="-122"/>
                <a:cs typeface="IBM Plex Sans Arabic Light" pitchFamily="34" charset="-120"/>
              </a:rPr>
              <a:t>06</a:t>
            </a:r>
            <a:endParaRPr lang="en-US" sz="1600" dirty="0"/>
          </a:p>
        </p:txBody>
      </p:sp>
      <p:sp>
        <p:nvSpPr>
          <p:cNvPr id="40" name="Text 32"/>
          <p:cNvSpPr txBox="1"/>
          <p:nvPr/>
        </p:nvSpPr>
        <p:spPr>
          <a:xfrm>
            <a:off x="3646322" y="5074920"/>
            <a:ext cx="2121408" cy="292608"/>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Warranty Support</a:t>
            </a:r>
            <a:endParaRPr lang="en-US" sz="1500" dirty="0"/>
          </a:p>
        </p:txBody>
      </p:sp>
      <p:sp>
        <p:nvSpPr>
          <p:cNvPr id="41" name="Text 33"/>
          <p:cNvSpPr txBox="1"/>
          <p:nvPr/>
        </p:nvSpPr>
        <p:spPr>
          <a:xfrm>
            <a:off x="3646322" y="5458968"/>
            <a:ext cx="2121408" cy="292608"/>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الضمان</a:t>
            </a:r>
            <a:endParaRPr lang="ar-AE" sz="1400" dirty="0"/>
          </a:p>
        </p:txBody>
      </p:sp>
      <p:sp>
        <p:nvSpPr>
          <p:cNvPr id="42" name="Why tile 7"/>
          <p:cNvSpPr/>
          <p:nvPr/>
        </p:nvSpPr>
        <p:spPr>
          <a:xfrm>
            <a:off x="6195365" y="3977640"/>
            <a:ext cx="2578608" cy="2103120"/>
          </a:xfrm>
          <a:prstGeom prst="roundRect">
            <a:avLst>
              <a:gd name="adj" fmla="val 4348"/>
            </a:avLst>
          </a:prstGeom>
          <a:solidFill>
            <a:schemeClr val="bg1"/>
          </a:solidFill>
          <a:ln/>
          <a:effectLst>
            <a:outerShdw sx="100000" sy="100000" kx="0" ky="0" algn="bl" rotWithShape="0" blurRad="177800" dist="38100" dir="5400000">
              <a:srgbClr val="0B0D10">
                <a:alpha val="10000"/>
              </a:srgbClr>
            </a:outerShdw>
          </a:effectLst>
        </p:spPr>
      </p:sp>
      <p:sp>
        <p:nvSpPr>
          <p:cNvPr id="43" name="Why icon 7 circle"/>
          <p:cNvSpPr/>
          <p:nvPr/>
        </p:nvSpPr>
        <p:spPr>
          <a:xfrm>
            <a:off x="6423965" y="4160520"/>
            <a:ext cx="502920" cy="502920"/>
          </a:xfrm>
          <a:prstGeom prst="ellipse">
            <a:avLst/>
          </a:prstGeom>
          <a:solidFill>
            <a:schemeClr val="accent6"/>
          </a:solidFill>
          <a:ln/>
        </p:spPr>
      </p:sp>
      <p:pic>
        <p:nvPicPr>
          <p:cNvPr id="44" name="Why icon 7" descr="icon">    </p:cNvPr>
          <p:cNvPicPr>
            <a:picLocks noChangeAspect="1"/>
          </p:cNvPicPr>
          <p:nvPr/>
        </p:nvPicPr>
        <p:blipFill>
          <a:blip r:embed="rId7"/>
          <a:stretch>
            <a:fillRect/>
          </a:stretch>
        </p:blipFill>
        <p:spPr>
          <a:xfrm>
            <a:off x="6544666" y="4281221"/>
            <a:ext cx="261518" cy="261518"/>
          </a:xfrm>
          <a:prstGeom prst="rect">
            <a:avLst/>
          </a:prstGeom>
        </p:spPr>
      </p:pic>
      <p:sp>
        <p:nvSpPr>
          <p:cNvPr id="45" name="Text 36"/>
          <p:cNvSpPr txBox="1"/>
          <p:nvPr/>
        </p:nvSpPr>
        <p:spPr>
          <a:xfrm>
            <a:off x="7859573" y="4206240"/>
            <a:ext cx="685800" cy="320040"/>
          </a:xfrm>
          <a:prstGeom prst="rect">
            <a:avLst/>
          </a:prstGeom>
          <a:noFill/>
          <a:ln/>
        </p:spPr>
        <p:txBody>
          <a:bodyPr wrap="square" lIns="0" tIns="0" rIns="0" bIns="0" rtlCol="0" anchor="t"/>
          <a:lstStyle/>
          <a:p>
            <a:pPr algn="r" indent="0" marL="0">
              <a:buNone/>
            </a:pPr>
            <a:r>
              <a:rPr lang="en-US" sz="1600" dirty="0">
                <a:solidFill>
                  <a:schemeClr val="accent3"/>
                </a:solidFill>
                <a:latin typeface="IBM Plex Sans Arabic Light" pitchFamily="34" charset="0"/>
                <a:ea typeface="IBM Plex Sans Arabic Light" pitchFamily="34" charset="-122"/>
                <a:cs typeface="IBM Plex Sans Arabic Light" pitchFamily="34" charset="-120"/>
              </a:rPr>
              <a:t>07</a:t>
            </a:r>
            <a:endParaRPr lang="en-US" sz="1600" dirty="0"/>
          </a:p>
        </p:txBody>
      </p:sp>
      <p:sp>
        <p:nvSpPr>
          <p:cNvPr id="46" name="Text 37"/>
          <p:cNvSpPr txBox="1"/>
          <p:nvPr/>
        </p:nvSpPr>
        <p:spPr>
          <a:xfrm>
            <a:off x="6423965" y="5074920"/>
            <a:ext cx="2121408" cy="292608"/>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Convenient Shopping</a:t>
            </a:r>
            <a:endParaRPr lang="en-US" sz="1500" dirty="0"/>
          </a:p>
        </p:txBody>
      </p:sp>
      <p:sp>
        <p:nvSpPr>
          <p:cNvPr id="47" name="Text 38"/>
          <p:cNvSpPr txBox="1"/>
          <p:nvPr/>
        </p:nvSpPr>
        <p:spPr>
          <a:xfrm>
            <a:off x="6423965" y="5458968"/>
            <a:ext cx="2121408" cy="292608"/>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سهولة الطلب</a:t>
            </a:r>
            <a:endParaRPr lang="ar-AE" sz="1400" dirty="0"/>
          </a:p>
        </p:txBody>
      </p:sp>
      <p:sp>
        <p:nvSpPr>
          <p:cNvPr id="48" name="Brand tile"/>
          <p:cNvSpPr/>
          <p:nvPr/>
        </p:nvSpPr>
        <p:spPr>
          <a:xfrm>
            <a:off x="8973007" y="3977640"/>
            <a:ext cx="2578608" cy="2103120"/>
          </a:xfrm>
          <a:prstGeom prst="roundRect">
            <a:avLst>
              <a:gd name="adj" fmla="val 4348"/>
            </a:avLst>
          </a:prstGeom>
          <a:solidFill>
            <a:schemeClr val="tx1"/>
          </a:solidFill>
          <a:ln/>
        </p:spPr>
      </p:sp>
      <p:pic>
        <p:nvPicPr>
          <p:cNvPr id="49" name="Tile logo" descr="EVCARS logo">    </p:cNvPr>
          <p:cNvPicPr>
            <a:picLocks noChangeAspect="1"/>
          </p:cNvPicPr>
          <p:nvPr/>
        </p:nvPicPr>
        <p:blipFill>
          <a:blip r:embed="rId8"/>
          <a:stretch>
            <a:fillRect/>
          </a:stretch>
        </p:blipFill>
        <p:spPr>
          <a:xfrm>
            <a:off x="9293047" y="4617720"/>
            <a:ext cx="1938528" cy="389783"/>
          </a:xfrm>
          <a:prstGeom prst="rect">
            <a:avLst/>
          </a:prstGeom>
        </p:spPr>
      </p:pic>
      <p:sp>
        <p:nvSpPr>
          <p:cNvPr id="50" name="Text 40"/>
          <p:cNvSpPr txBox="1"/>
          <p:nvPr/>
        </p:nvSpPr>
        <p:spPr>
          <a:xfrm>
            <a:off x="9247327" y="5303520"/>
            <a:ext cx="2029968" cy="548640"/>
          </a:xfrm>
          <a:prstGeom prst="rect">
            <a:avLst/>
          </a:prstGeom>
          <a:noFill/>
          <a:ln/>
        </p:spPr>
        <p:txBody>
          <a:bodyPr wrap="square" lIns="0" tIns="0" rIns="0" bIns="0" rtlCol="0" anchor="t"/>
          <a:lstStyle/>
          <a:p>
            <a:pPr algn="ctr" indent="0" marL="0">
              <a:buNone/>
            </a:pPr>
            <a:r>
              <a:rPr lang="en-US" sz="1100" dirty="0">
                <a:solidFill>
                  <a:schemeClr val="accent5"/>
                </a:solidFill>
                <a:latin typeface="IBM Plex Sans Arabic" pitchFamily="34" charset="0"/>
                <a:ea typeface="IBM Plex Sans Arabic" pitchFamily="34" charset="-122"/>
                <a:cs typeface="IBM Plex Sans Arabic" pitchFamily="34" charset="-120"/>
              </a:rPr>
              <a:t>Driving the EV experience forward</a:t>
            </a:r>
            <a:endParaRPr lang="en-US" sz="11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A75"/>
                </a:solidFill>
                <a:latin typeface="IBM Plex Sans Arabic"/>
                <a:ea typeface="IBM Plex Sans Arabic"/>
                <a:cs typeface="IBM Plex Sans Arabic"/>
              </a:defRPr>
            </a:lvl1pPr>
          </a:lstStyle>
          <a:p>
            <a:pPr algn="r"/>
            <a:fld id="{F7021451-1387-4CA6-816F-3879F97B5CBC}" type="slidenum">
              <a:rPr b="0" lang="en-US"/>
              <a:t>19</a:t>
            </a:fld>
            <a:endParaRPr lang="en-US"/>
          </a:p>
        </p:txBody>
      </p:sp>
      <p:sp>
        <p:nvSpPr>
          <p:cNvPr id="51" name="Back to contents" descr="Back to contents">
            <a:hlinkClick r:id="rId11" action="ppaction://hlinksldjump" tooltip="Back to Contents / العودة إلى المحتويات"/>
          </p:cNvPr>
          <p:cNvSpPr/>
          <p:nvPr/>
        </p:nvSpPr>
        <p:spPr>
          <a:xfrm>
            <a:off x="8838000" y="6283000"/>
            <a:ext cx="1850000" cy="300000"/>
          </a:xfrm>
          <a:prstGeom prst="roundRect">
            <a:avLst>
              <a:gd name="adj" fmla="val 50000"/>
            </a:avLst>
          </a:prstGeom>
          <a:noFill/>
          <a:ln w="9525">
            <a:solidFill>
              <a:schemeClr val="accent1"/>
            </a:solidFill>
          </a:ln>
        </p:spPr>
        <p:txBody>
          <a:bodyPr wrap="none" lIns="0" tIns="0" rIns="0" bIns="0" rtlCol="0" anchor="ctr"/>
          <a:lstStyle/>
          <a:p>
            <a:pPr algn="ctr"/>
            <a:r>
              <a:rPr lang="en-US" sz="900" b="1" spc="120" dirty="0">
                <a:solidFill>
                  <a:schemeClr val="accent1"/>
                </a:solidFill>
                <a:latin typeface="IBM Plex Sans Arabic"/>
                <a:cs typeface="IBM Plex Sans Arabic"/>
              </a:rPr>
              <a:t>CONTENTS  ·  </a:t>
            </a:r>
            <a:r>
              <a:rPr lang="ar-AE" sz="900" b="1" dirty="0">
                <a:solidFill>
                  <a:schemeClr val="accent1"/>
                </a:solidFill>
                <a:latin typeface="IBM Plex Sans Arabic"/>
                <a:cs typeface="IBM Plex Sans Arabic"/>
              </a:rPr>
              <a:t>المحتويات</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2"/>
                </a:solidFill>
                <a:latin typeface="IBM Plex Sans Arabic" pitchFamily="34" charset="0"/>
                <a:ea typeface="IBM Plex Sans Arabic" pitchFamily="34" charset="-122"/>
                <a:cs typeface="IBM Plex Sans Arabic" pitchFamily="34" charset="-120"/>
              </a:rPr>
              <a:t>06   ·   AHEAD</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2"/>
                </a:solidFill>
                <a:latin typeface="IBM Plex Sans Arabic" pitchFamily="34" charset="0"/>
                <a:ea typeface="IBM Plex Sans Arabic" pitchFamily="34" charset="-122"/>
                <a:cs typeface="IBM Plex Sans Arabic" pitchFamily="34" charset="-120"/>
              </a:rPr>
              <a:t>المستقبل   ·   06</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bg1"/>
                </a:solidFill>
                <a:latin typeface="IBM Plex Sans Arabic Light" pitchFamily="34" charset="0"/>
                <a:ea typeface="IBM Plex Sans Arabic Light" pitchFamily="34" charset="-122"/>
                <a:cs typeface="IBM Plex Sans Arabic Light" pitchFamily="34" charset="-120"/>
              </a:rPr>
              <a:t>Our Future Direction</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bg1"/>
                </a:solidFill>
                <a:latin typeface="IBM Plex Sans Arabic Light" pitchFamily="34" charset="0"/>
                <a:ea typeface="IBM Plex Sans Arabic Light" pitchFamily="34" charset="-122"/>
                <a:cs typeface="IBM Plex Sans Arabic Light" pitchFamily="34" charset="-120"/>
              </a:rPr>
              <a:t>خططنا المستقبلية</a:t>
            </a:r>
            <a:endParaRPr lang="ar-AE" sz="3000" dirty="0"/>
          </a:p>
        </p:txBody>
      </p:sp>
      <p:sp>
        <p:nvSpPr>
          <p:cNvPr id="6" name="Text 4"/>
          <p:cNvSpPr txBox="1"/>
          <p:nvPr/>
        </p:nvSpPr>
        <p:spPr>
          <a:xfrm>
            <a:off x="640080" y="1600200"/>
            <a:ext cx="5074920" cy="1371600"/>
          </a:xfrm>
          <a:prstGeom prst="rect">
            <a:avLst/>
          </a:prstGeom>
          <a:noFill/>
          <a:ln/>
        </p:spPr>
        <p:txBody>
          <a:bodyPr wrap="square" lIns="0" tIns="0" rIns="0" bIns="0" rtlCol="0" anchor="t"/>
          <a:lstStyle/>
          <a:p>
            <a:pPr algn="l" indent="0" marL="0">
              <a:lnSpc>
                <a:spcPct val="110000"/>
              </a:lnSpc>
              <a:buNone/>
            </a:pPr>
            <a:r>
              <a:rPr lang="en-US" sz="1300" dirty="0">
                <a:solidFill>
                  <a:schemeClr val="accent5"/>
                </a:solidFill>
                <a:latin typeface="IBM Plex Sans Arabic" pitchFamily="34" charset="0"/>
                <a:ea typeface="IBM Plex Sans Arabic" pitchFamily="34" charset="-122"/>
                <a:cs typeface="IBM Plex Sans Arabic" pitchFamily="34" charset="-120"/>
              </a:rPr>
              <a:t>Strengthening the branch network, expanding the specialized product range, enhancing charging and installation services and improving the online shopping experience — with expansion into new regional markets, beginning with Saudi Arabia.</a:t>
            </a:r>
            <a:endParaRPr lang="en-US" sz="1300" dirty="0"/>
          </a:p>
        </p:txBody>
      </p:sp>
      <p:sp>
        <p:nvSpPr>
          <p:cNvPr id="7" name="Text 5"/>
          <p:cNvSpPr txBox="1"/>
          <p:nvPr/>
        </p:nvSpPr>
        <p:spPr>
          <a:xfrm>
            <a:off x="6476695" y="1600200"/>
            <a:ext cx="5074920" cy="1371600"/>
          </a:xfrm>
          <a:prstGeom prst="rect">
            <a:avLst/>
          </a:prstGeom>
          <a:noFill/>
          <a:ln/>
        </p:spPr>
        <p:txBody>
          <a:bodyPr wrap="square" lIns="0" tIns="0" rIns="0" bIns="0" rtlCol="0" anchor="t"/>
          <a:lstStyle/>
          <a:p>
            <a:pPr rtl="1" algn="r" indent="0" marL="0">
              <a:lnSpc>
                <a:spcPct val="110000"/>
              </a:lnSpc>
              <a:buNone/>
            </a:pPr>
            <a:r>
              <a:rPr lang="ar-AE" altLang="en-US" sz="1300" dirty="0">
                <a:solidFill>
                  <a:schemeClr val="accent5"/>
                </a:solidFill>
                <a:latin typeface="IBM Plex Sans Arabic" pitchFamily="34" charset="0"/>
                <a:ea typeface="IBM Plex Sans Arabic" pitchFamily="34" charset="-122"/>
                <a:cs typeface="IBM Plex Sans Arabic" pitchFamily="34" charset="-120"/>
              </a:rPr>
              <a:t>تعزيز شبكة الفروع، وتوسيع نطاق المنتجات المتخصصة، وتطوير خدمات الشحن والتركيب، وتحسين تجربة التسوق الإلكتروني، مع التوسع في أسواق إقليمية جديدة وفي مقدمتها المملكة العربية السعودية.</a:t>
            </a:r>
            <a:endParaRPr lang="ar-AE" sz="1300" dirty="0"/>
          </a:p>
        </p:txBody>
      </p:sp>
      <p:sp>
        <p:nvSpPr>
          <p:cNvPr id="8" name="Network line"/>
          <p:cNvSpPr/>
          <p:nvPr/>
        </p:nvSpPr>
        <p:spPr>
          <a:xfrm>
            <a:off x="1828800" y="3794760"/>
            <a:ext cx="8531352" cy="0"/>
          </a:xfrm>
          <a:prstGeom prst="line">
            <a:avLst/>
          </a:prstGeom>
          <a:noFill/>
          <a:ln w="15875">
            <a:solidFill>
              <a:schemeClr val="accent3"/>
            </a:solidFill>
            <a:prstDash val="dash"/>
          </a:ln>
        </p:spPr>
      </p:sp>
      <p:sp>
        <p:nvSpPr>
          <p:cNvPr id="9" name="Node Riyadh"/>
          <p:cNvSpPr/>
          <p:nvPr/>
        </p:nvSpPr>
        <p:spPr>
          <a:xfrm>
            <a:off x="1554480" y="3520440"/>
            <a:ext cx="548640" cy="548640"/>
          </a:xfrm>
          <a:prstGeom prst="ellipse">
            <a:avLst/>
          </a:prstGeom>
          <a:solidFill>
            <a:schemeClr val="tx1"/>
          </a:solidFill>
          <a:ln w="22225">
            <a:solidFill>
              <a:schemeClr val="accent2"/>
            </a:solidFill>
            <a:prstDash val="dash"/>
          </a:ln>
        </p:spPr>
      </p:sp>
      <p:sp>
        <p:nvSpPr>
          <p:cNvPr id="10" name="Text 8"/>
          <p:cNvSpPr txBox="1"/>
          <p:nvPr/>
        </p:nvSpPr>
        <p:spPr>
          <a:xfrm>
            <a:off x="365760" y="4251960"/>
            <a:ext cx="2926080" cy="365760"/>
          </a:xfrm>
          <a:prstGeom prst="rect">
            <a:avLst/>
          </a:prstGeom>
          <a:noFill/>
          <a:ln/>
        </p:spPr>
        <p:txBody>
          <a:bodyPr wrap="square" lIns="0" tIns="0" rIns="0" bIns="0" rtlCol="0" anchor="t"/>
          <a:lstStyle/>
          <a:p>
            <a:pPr algn="ctr" indent="0" marL="0">
              <a:buNone/>
            </a:pPr>
            <a:r>
              <a:rPr lang="en-US" sz="1800" dirty="0">
                <a:solidFill>
                  <a:schemeClr val="bg1"/>
                </a:solidFill>
                <a:latin typeface="IBM Plex Sans Arabic Light" pitchFamily="34" charset="0"/>
                <a:ea typeface="IBM Plex Sans Arabic Light" pitchFamily="34" charset="-122"/>
                <a:cs typeface="IBM Plex Sans Arabic Light" pitchFamily="34" charset="-120"/>
              </a:rPr>
              <a:t>Riyadh</a:t>
            </a:r>
            <a:endParaRPr lang="en-US" sz="1800" dirty="0"/>
          </a:p>
        </p:txBody>
      </p:sp>
      <p:sp>
        <p:nvSpPr>
          <p:cNvPr id="11" name="Text 9"/>
          <p:cNvSpPr txBox="1"/>
          <p:nvPr/>
        </p:nvSpPr>
        <p:spPr>
          <a:xfrm>
            <a:off x="365760" y="4617720"/>
            <a:ext cx="2926080" cy="274320"/>
          </a:xfrm>
          <a:prstGeom prst="rect">
            <a:avLst/>
          </a:prstGeom>
          <a:noFill/>
          <a:ln/>
        </p:spPr>
        <p:txBody>
          <a:bodyPr wrap="square" lIns="0" tIns="0" rIns="0" bIns="0" rtlCol="0" anchor="t"/>
          <a:lstStyle/>
          <a:p>
            <a:pPr rtl="1" algn="ctr" indent="0" marL="0">
              <a:buNone/>
            </a:pPr>
            <a:r>
              <a:rPr lang="ar-AE" altLang="en-US" sz="1400" b="1" dirty="0">
                <a:solidFill>
                  <a:schemeClr val="accent2"/>
                </a:solidFill>
                <a:latin typeface="IBM Plex Sans Arabic" pitchFamily="34" charset="0"/>
                <a:ea typeface="IBM Plex Sans Arabic" pitchFamily="34" charset="-122"/>
                <a:cs typeface="IBM Plex Sans Arabic" pitchFamily="34" charset="-120"/>
              </a:rPr>
              <a:t>الرياض</a:t>
            </a:r>
            <a:endParaRPr lang="ar-AE" sz="1400" dirty="0"/>
          </a:p>
        </p:txBody>
      </p:sp>
      <p:sp>
        <p:nvSpPr>
          <p:cNvPr id="12" name="Text 10"/>
          <p:cNvSpPr txBox="1"/>
          <p:nvPr/>
        </p:nvSpPr>
        <p:spPr>
          <a:xfrm>
            <a:off x="365760" y="4965192"/>
            <a:ext cx="2926080" cy="228600"/>
          </a:xfrm>
          <a:prstGeom prst="rect">
            <a:avLst/>
          </a:prstGeom>
          <a:noFill/>
          <a:ln/>
        </p:spPr>
        <p:txBody>
          <a:bodyPr wrap="square" lIns="0" tIns="0" rIns="0" bIns="0" rtlCol="0" anchor="t"/>
          <a:lstStyle/>
          <a:p>
            <a:pPr algn="ctr" indent="0" marL="0">
              <a:buNone/>
            </a:pPr>
            <a:r>
              <a:rPr lang="en-US" sz="1000" dirty="0">
                <a:solidFill>
                  <a:schemeClr val="accent5"/>
                </a:solidFill>
                <a:latin typeface="IBM Plex Sans Arabic" pitchFamily="34" charset="0"/>
                <a:ea typeface="IBM Plex Sans Arabic" pitchFamily="34" charset="-122"/>
                <a:cs typeface="IBM Plex Sans Arabic" pitchFamily="34" charset="-120"/>
              </a:rPr>
              <a:t>Saudi Arabia · Next</a:t>
            </a:r>
            <a:endParaRPr lang="en-US" sz="1000" dirty="0"/>
          </a:p>
        </p:txBody>
      </p:sp>
      <p:sp>
        <p:nvSpPr>
          <p:cNvPr id="13" name="Text 11"/>
          <p:cNvSpPr txBox="1"/>
          <p:nvPr/>
        </p:nvSpPr>
        <p:spPr>
          <a:xfrm>
            <a:off x="365760" y="5184648"/>
            <a:ext cx="2926080" cy="228600"/>
          </a:xfrm>
          <a:prstGeom prst="rect">
            <a:avLst/>
          </a:prstGeom>
          <a:noFill/>
          <a:ln/>
        </p:spPr>
        <p:txBody>
          <a:bodyPr wrap="square" lIns="0" tIns="0" rIns="0" bIns="0" rtlCol="0" anchor="t"/>
          <a:lstStyle/>
          <a:p>
            <a:pPr rtl="1" algn="ctr" indent="0" marL="0">
              <a:buNone/>
            </a:pPr>
            <a:r>
              <a:rPr lang="ar-AE" altLang="en-US" sz="1000" dirty="0">
                <a:solidFill>
                  <a:schemeClr val="accent5"/>
                </a:solidFill>
                <a:latin typeface="IBM Plex Sans Arabic" pitchFamily="34" charset="0"/>
                <a:ea typeface="IBM Plex Sans Arabic" pitchFamily="34" charset="-122"/>
                <a:cs typeface="IBM Plex Sans Arabic" pitchFamily="34" charset="-120"/>
              </a:rPr>
              <a:t>السعودية · قريباً</a:t>
            </a:r>
            <a:endParaRPr lang="ar-AE" sz="1000" dirty="0"/>
          </a:p>
        </p:txBody>
      </p:sp>
      <p:sp>
        <p:nvSpPr>
          <p:cNvPr id="14" name="Node UAE"/>
          <p:cNvSpPr/>
          <p:nvPr/>
        </p:nvSpPr>
        <p:spPr>
          <a:xfrm>
            <a:off x="5824728" y="3520440"/>
            <a:ext cx="548640" cy="548640"/>
          </a:xfrm>
          <a:prstGeom prst="ellipse">
            <a:avLst/>
          </a:prstGeom>
          <a:solidFill>
            <a:schemeClr val="accent2"/>
          </a:solidFill>
          <a:ln/>
        </p:spPr>
      </p:sp>
      <p:sp>
        <p:nvSpPr>
          <p:cNvPr id="15" name="Text 13"/>
          <p:cNvSpPr txBox="1"/>
          <p:nvPr/>
        </p:nvSpPr>
        <p:spPr>
          <a:xfrm>
            <a:off x="4636008" y="4251960"/>
            <a:ext cx="2926080" cy="365760"/>
          </a:xfrm>
          <a:prstGeom prst="rect">
            <a:avLst/>
          </a:prstGeom>
          <a:noFill/>
          <a:ln/>
        </p:spPr>
        <p:txBody>
          <a:bodyPr wrap="square" lIns="0" tIns="0" rIns="0" bIns="0" rtlCol="0" anchor="t"/>
          <a:lstStyle/>
          <a:p>
            <a:pPr algn="ctr" indent="0" marL="0">
              <a:buNone/>
            </a:pPr>
            <a:r>
              <a:rPr lang="en-US" sz="1800" dirty="0">
                <a:solidFill>
                  <a:schemeClr val="bg1"/>
                </a:solidFill>
                <a:latin typeface="IBM Plex Sans Arabic Light" pitchFamily="34" charset="0"/>
                <a:ea typeface="IBM Plex Sans Arabic Light" pitchFamily="34" charset="-122"/>
                <a:cs typeface="IBM Plex Sans Arabic Light" pitchFamily="34" charset="-120"/>
              </a:rPr>
              <a:t>UAE</a:t>
            </a:r>
            <a:endParaRPr lang="en-US" sz="1800" dirty="0"/>
          </a:p>
        </p:txBody>
      </p:sp>
      <p:sp>
        <p:nvSpPr>
          <p:cNvPr id="16" name="Text 14"/>
          <p:cNvSpPr txBox="1"/>
          <p:nvPr/>
        </p:nvSpPr>
        <p:spPr>
          <a:xfrm>
            <a:off x="4636008" y="4617720"/>
            <a:ext cx="2926080" cy="274320"/>
          </a:xfrm>
          <a:prstGeom prst="rect">
            <a:avLst/>
          </a:prstGeom>
          <a:noFill/>
          <a:ln/>
        </p:spPr>
        <p:txBody>
          <a:bodyPr wrap="square" lIns="0" tIns="0" rIns="0" bIns="0" rtlCol="0" anchor="t"/>
          <a:lstStyle/>
          <a:p>
            <a:pPr rtl="1" algn="ctr" indent="0" marL="0">
              <a:buNone/>
            </a:pPr>
            <a:r>
              <a:rPr lang="ar-AE" altLang="en-US" sz="1400" b="1" dirty="0">
                <a:solidFill>
                  <a:schemeClr val="accent2"/>
                </a:solidFill>
                <a:latin typeface="IBM Plex Sans Arabic" pitchFamily="34" charset="0"/>
                <a:ea typeface="IBM Plex Sans Arabic" pitchFamily="34" charset="-122"/>
                <a:cs typeface="IBM Plex Sans Arabic" pitchFamily="34" charset="-120"/>
              </a:rPr>
              <a:t>الإمارات</a:t>
            </a:r>
            <a:endParaRPr lang="ar-AE" sz="1400" dirty="0"/>
          </a:p>
        </p:txBody>
      </p:sp>
      <p:sp>
        <p:nvSpPr>
          <p:cNvPr id="17" name="Text 15"/>
          <p:cNvSpPr txBox="1"/>
          <p:nvPr/>
        </p:nvSpPr>
        <p:spPr>
          <a:xfrm>
            <a:off x="4636008" y="4965192"/>
            <a:ext cx="2926080" cy="228600"/>
          </a:xfrm>
          <a:prstGeom prst="rect">
            <a:avLst/>
          </a:prstGeom>
          <a:noFill/>
          <a:ln/>
        </p:spPr>
        <p:txBody>
          <a:bodyPr wrap="square" lIns="0" tIns="0" rIns="0" bIns="0" rtlCol="0" anchor="t"/>
          <a:lstStyle/>
          <a:p>
            <a:pPr algn="ctr" indent="0" marL="0">
              <a:buNone/>
            </a:pPr>
            <a:r>
              <a:rPr lang="en-US" sz="1000" dirty="0">
                <a:solidFill>
                  <a:schemeClr val="accent5"/>
                </a:solidFill>
                <a:latin typeface="IBM Plex Sans Arabic" pitchFamily="34" charset="0"/>
                <a:ea typeface="IBM Plex Sans Arabic" pitchFamily="34" charset="-122"/>
                <a:cs typeface="IBM Plex Sans Arabic" pitchFamily="34" charset="-120"/>
              </a:rPr>
              <a:t>Dubai · Sharjah · Al Ain</a:t>
            </a:r>
            <a:endParaRPr lang="en-US" sz="1000" dirty="0"/>
          </a:p>
        </p:txBody>
      </p:sp>
      <p:sp>
        <p:nvSpPr>
          <p:cNvPr id="18" name="Text 16"/>
          <p:cNvSpPr txBox="1"/>
          <p:nvPr/>
        </p:nvSpPr>
        <p:spPr>
          <a:xfrm>
            <a:off x="4636008" y="5184648"/>
            <a:ext cx="2926080" cy="228600"/>
          </a:xfrm>
          <a:prstGeom prst="rect">
            <a:avLst/>
          </a:prstGeom>
          <a:noFill/>
          <a:ln/>
        </p:spPr>
        <p:txBody>
          <a:bodyPr wrap="square" lIns="0" tIns="0" rIns="0" bIns="0" rtlCol="0" anchor="t"/>
          <a:lstStyle/>
          <a:p>
            <a:pPr rtl="1" algn="ctr" indent="0" marL="0">
              <a:buNone/>
            </a:pPr>
            <a:r>
              <a:rPr lang="ar-AE" altLang="en-US" sz="1000" dirty="0">
                <a:solidFill>
                  <a:schemeClr val="accent5"/>
                </a:solidFill>
                <a:latin typeface="IBM Plex Sans Arabic" pitchFamily="34" charset="0"/>
                <a:ea typeface="IBM Plex Sans Arabic" pitchFamily="34" charset="-122"/>
                <a:cs typeface="IBM Plex Sans Arabic" pitchFamily="34" charset="-120"/>
              </a:rPr>
              <a:t>دبي · الشارقة · العين</a:t>
            </a:r>
            <a:endParaRPr lang="ar-AE" sz="1000" dirty="0"/>
          </a:p>
        </p:txBody>
      </p:sp>
      <p:sp>
        <p:nvSpPr>
          <p:cNvPr id="19" name="Node Oman"/>
          <p:cNvSpPr/>
          <p:nvPr/>
        </p:nvSpPr>
        <p:spPr>
          <a:xfrm>
            <a:off x="10085832" y="3520440"/>
            <a:ext cx="548640" cy="548640"/>
          </a:xfrm>
          <a:prstGeom prst="ellipse">
            <a:avLst/>
          </a:prstGeom>
          <a:solidFill>
            <a:schemeClr val="accent2"/>
          </a:solidFill>
          <a:ln/>
        </p:spPr>
      </p:sp>
      <p:sp>
        <p:nvSpPr>
          <p:cNvPr id="20" name="Text 18"/>
          <p:cNvSpPr txBox="1"/>
          <p:nvPr/>
        </p:nvSpPr>
        <p:spPr>
          <a:xfrm>
            <a:off x="8897112" y="4251960"/>
            <a:ext cx="2926080" cy="365760"/>
          </a:xfrm>
          <a:prstGeom prst="rect">
            <a:avLst/>
          </a:prstGeom>
          <a:noFill/>
          <a:ln/>
        </p:spPr>
        <p:txBody>
          <a:bodyPr wrap="square" lIns="0" tIns="0" rIns="0" bIns="0" rtlCol="0" anchor="t"/>
          <a:lstStyle/>
          <a:p>
            <a:pPr algn="ctr" indent="0" marL="0">
              <a:buNone/>
            </a:pPr>
            <a:r>
              <a:rPr lang="en-US" sz="1800" dirty="0">
                <a:solidFill>
                  <a:schemeClr val="bg1"/>
                </a:solidFill>
                <a:latin typeface="IBM Plex Sans Arabic Light" pitchFamily="34" charset="0"/>
                <a:ea typeface="IBM Plex Sans Arabic Light" pitchFamily="34" charset="-122"/>
                <a:cs typeface="IBM Plex Sans Arabic Light" pitchFamily="34" charset="-120"/>
              </a:rPr>
              <a:t>Oman</a:t>
            </a:r>
            <a:endParaRPr lang="en-US" sz="1800" dirty="0"/>
          </a:p>
        </p:txBody>
      </p:sp>
      <p:sp>
        <p:nvSpPr>
          <p:cNvPr id="21" name="Text 19"/>
          <p:cNvSpPr txBox="1"/>
          <p:nvPr/>
        </p:nvSpPr>
        <p:spPr>
          <a:xfrm>
            <a:off x="8897112" y="4617720"/>
            <a:ext cx="2926080" cy="274320"/>
          </a:xfrm>
          <a:prstGeom prst="rect">
            <a:avLst/>
          </a:prstGeom>
          <a:noFill/>
          <a:ln/>
        </p:spPr>
        <p:txBody>
          <a:bodyPr wrap="square" lIns="0" tIns="0" rIns="0" bIns="0" rtlCol="0" anchor="t"/>
          <a:lstStyle/>
          <a:p>
            <a:pPr rtl="1" algn="ctr" indent="0" marL="0">
              <a:buNone/>
            </a:pPr>
            <a:r>
              <a:rPr lang="ar-AE" altLang="en-US" sz="1400" b="1" dirty="0">
                <a:solidFill>
                  <a:schemeClr val="accent2"/>
                </a:solidFill>
                <a:latin typeface="IBM Plex Sans Arabic" pitchFamily="34" charset="0"/>
                <a:ea typeface="IBM Plex Sans Arabic" pitchFamily="34" charset="-122"/>
                <a:cs typeface="IBM Plex Sans Arabic" pitchFamily="34" charset="-120"/>
              </a:rPr>
              <a:t>عُمان</a:t>
            </a:r>
            <a:endParaRPr lang="ar-AE" sz="1400" dirty="0"/>
          </a:p>
        </p:txBody>
      </p:sp>
      <p:sp>
        <p:nvSpPr>
          <p:cNvPr id="22" name="Text 20"/>
          <p:cNvSpPr txBox="1"/>
          <p:nvPr/>
        </p:nvSpPr>
        <p:spPr>
          <a:xfrm>
            <a:off x="8897112" y="4965192"/>
            <a:ext cx="2926080" cy="228600"/>
          </a:xfrm>
          <a:prstGeom prst="rect">
            <a:avLst/>
          </a:prstGeom>
          <a:noFill/>
          <a:ln/>
        </p:spPr>
        <p:txBody>
          <a:bodyPr wrap="square" lIns="0" tIns="0" rIns="0" bIns="0" rtlCol="0" anchor="t"/>
          <a:lstStyle/>
          <a:p>
            <a:pPr algn="ctr" indent="0" marL="0">
              <a:buNone/>
            </a:pPr>
            <a:r>
              <a:rPr lang="en-US" sz="1000" dirty="0">
                <a:solidFill>
                  <a:schemeClr val="accent5"/>
                </a:solidFill>
                <a:latin typeface="IBM Plex Sans Arabic" pitchFamily="34" charset="0"/>
                <a:ea typeface="IBM Plex Sans Arabic" pitchFamily="34" charset="-122"/>
                <a:cs typeface="IBM Plex Sans Arabic" pitchFamily="34" charset="-120"/>
              </a:rPr>
              <a:t>Muscat · Saham</a:t>
            </a:r>
            <a:endParaRPr lang="en-US" sz="1000" dirty="0"/>
          </a:p>
        </p:txBody>
      </p:sp>
      <p:sp>
        <p:nvSpPr>
          <p:cNvPr id="23" name="Text 21"/>
          <p:cNvSpPr txBox="1"/>
          <p:nvPr/>
        </p:nvSpPr>
        <p:spPr>
          <a:xfrm>
            <a:off x="8897112" y="5184648"/>
            <a:ext cx="2926080" cy="228600"/>
          </a:xfrm>
          <a:prstGeom prst="rect">
            <a:avLst/>
          </a:prstGeom>
          <a:noFill/>
          <a:ln/>
        </p:spPr>
        <p:txBody>
          <a:bodyPr wrap="square" lIns="0" tIns="0" rIns="0" bIns="0" rtlCol="0" anchor="t"/>
          <a:lstStyle/>
          <a:p>
            <a:pPr rtl="1" algn="ctr" indent="0" marL="0">
              <a:buNone/>
            </a:pPr>
            <a:r>
              <a:rPr lang="ar-AE" altLang="en-US" sz="1000" dirty="0">
                <a:solidFill>
                  <a:schemeClr val="accent5"/>
                </a:solidFill>
                <a:latin typeface="IBM Plex Sans Arabic" pitchFamily="34" charset="0"/>
                <a:ea typeface="IBM Plex Sans Arabic" pitchFamily="34" charset="-122"/>
                <a:cs typeface="IBM Plex Sans Arabic" pitchFamily="34" charset="-120"/>
              </a:rPr>
              <a:t>مسقط · صحم</a:t>
            </a:r>
            <a:endParaRPr lang="ar-AE" sz="10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DDE2E7"/>
                </a:solidFill>
                <a:latin typeface="IBM Plex Sans Arabic"/>
                <a:ea typeface="IBM Plex Sans Arabic"/>
                <a:cs typeface="IBM Plex Sans Arabic"/>
              </a:defRPr>
            </a:lvl1pPr>
          </a:lstStyle>
          <a:p>
            <a:pPr algn="r"/>
            <a:fld id="{F7021451-1387-4CA6-816F-3879F97B5CBC}" type="slidenum">
              <a:rPr b="0" lang="en-US"/>
              <a:t>20</a:t>
            </a:fld>
            <a:endParaRPr lang="en-US"/>
          </a:p>
        </p:txBody>
      </p:sp>
      <p:sp>
        <p:nvSpPr>
          <p:cNvPr id="26" name="Back to contents" descr="Back to contents">
            <a:hlinkClick r:id="rId3" action="ppaction://hlinksldjump" tooltip="Back to Contents / العودة إلى المحتويات"/>
          </p:cNvPr>
          <p:cNvSpPr/>
          <p:nvPr/>
        </p:nvSpPr>
        <p:spPr>
          <a:xfrm>
            <a:off x="8838000" y="6283000"/>
            <a:ext cx="1850000" cy="300000"/>
          </a:xfrm>
          <a:prstGeom prst="roundRect">
            <a:avLst>
              <a:gd name="adj" fmla="val 50000"/>
            </a:avLst>
          </a:prstGeom>
          <a:noFill/>
          <a:ln w="9525">
            <a:solidFill>
              <a:schemeClr val="accent1"/>
            </a:solidFill>
          </a:ln>
        </p:spPr>
        <p:txBody>
          <a:bodyPr wrap="none" lIns="0" tIns="0" rIns="0" bIns="0" rtlCol="0" anchor="ctr"/>
          <a:lstStyle/>
          <a:p>
            <a:pPr algn="ctr"/>
            <a:r>
              <a:rPr lang="en-US" sz="900" b="1" spc="120" dirty="0">
                <a:solidFill>
                  <a:schemeClr val="accent1"/>
                </a:solidFill>
                <a:latin typeface="IBM Plex Sans Arabic"/>
                <a:cs typeface="IBM Plex Sans Arabic"/>
              </a:rPr>
              <a:t>CONTENTS  ·  </a:t>
            </a:r>
            <a:r>
              <a:rPr lang="ar-AE" sz="900" b="1" dirty="0">
                <a:solidFill>
                  <a:schemeClr val="accent1"/>
                </a:solidFill>
                <a:latin typeface="IBM Plex Sans Arabic"/>
                <a:cs typeface="IBM Plex Sans Arabic"/>
              </a:rPr>
              <a:t>المحتويات</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EVCARS logo" descr="EVCARS logo">    </p:cNvPr>
          <p:cNvPicPr>
            <a:picLocks noChangeAspect="1"/>
          </p:cNvPicPr>
          <p:nvPr/>
        </p:nvPicPr>
        <p:blipFill>
          <a:blip r:embed="rId1"/>
          <a:stretch>
            <a:fillRect/>
          </a:stretch>
        </p:blipFill>
        <p:spPr>
          <a:xfrm>
            <a:off x="640080" y="685800"/>
            <a:ext cx="3291840" cy="661895"/>
          </a:xfrm>
          <a:prstGeom prst="rect">
            <a:avLst/>
          </a:prstGeom>
        </p:spPr>
      </p:pic>
      <p:sp>
        <p:nvSpPr>
          <p:cNvPr id="3" name="Text 0"/>
          <p:cNvSpPr txBox="1"/>
          <p:nvPr/>
        </p:nvSpPr>
        <p:spPr>
          <a:xfrm>
            <a:off x="640080" y="1828800"/>
            <a:ext cx="3657600" cy="256032"/>
          </a:xfrm>
          <a:prstGeom prst="rect">
            <a:avLst/>
          </a:prstGeom>
          <a:noFill/>
          <a:ln/>
        </p:spPr>
        <p:txBody>
          <a:bodyPr wrap="square" lIns="0" tIns="0" rIns="0" bIns="0" rtlCol="0" anchor="t"/>
          <a:lstStyle/>
          <a:p>
            <a:pPr algn="l" indent="0" marL="0">
              <a:buNone/>
            </a:pPr>
            <a:r>
              <a:rPr lang="en-US" sz="1100" b="1" spc="400" kern="0" dirty="0">
                <a:solidFill>
                  <a:schemeClr val="accent2"/>
                </a:solidFill>
                <a:latin typeface="IBM Plex Sans Arabic" pitchFamily="34" charset="0"/>
                <a:ea typeface="IBM Plex Sans Arabic" pitchFamily="34" charset="-122"/>
                <a:cs typeface="IBM Plex Sans Arabic" pitchFamily="34" charset="-120"/>
              </a:rPr>
              <a:t>CONTACT US</a:t>
            </a:r>
            <a:endParaRPr lang="en-US" sz="1100" dirty="0"/>
          </a:p>
        </p:txBody>
      </p:sp>
      <p:sp>
        <p:nvSpPr>
          <p:cNvPr id="4" name="Text 1"/>
          <p:cNvSpPr txBox="1"/>
          <p:nvPr/>
        </p:nvSpPr>
        <p:spPr>
          <a:xfrm>
            <a:off x="640080" y="2148840"/>
            <a:ext cx="4572000" cy="548640"/>
          </a:xfrm>
          <a:prstGeom prst="rect">
            <a:avLst/>
          </a:prstGeom>
          <a:noFill/>
          <a:ln/>
        </p:spPr>
        <p:txBody>
          <a:bodyPr wrap="square" lIns="0" tIns="0" rIns="0" bIns="0" rtlCol="0" anchor="t"/>
          <a:lstStyle/>
          <a:p>
            <a:pPr algn="l" indent="0" marL="0">
              <a:buNone/>
            </a:pPr>
            <a:r>
              <a:rPr lang="ar-AE" altLang="en-US" sz="3200" dirty="0">
                <a:solidFill>
                  <a:schemeClr val="bg1"/>
                </a:solidFill>
                <a:latin typeface="IBM Plex Sans Arabic Light" pitchFamily="34" charset="0"/>
                <a:ea typeface="IBM Plex Sans Arabic Light" pitchFamily="34" charset="-122"/>
                <a:cs typeface="IBM Plex Sans Arabic Light" pitchFamily="34" charset="-120"/>
              </a:rPr>
              <a:t>تواصل معنا</a:t>
            </a:r>
            <a:endParaRPr lang="ar-AE" sz="3200" dirty="0"/>
          </a:p>
        </p:txBody>
      </p:sp>
      <p:sp>
        <p:nvSpPr>
          <p:cNvPr id="5" name="Text 2"/>
          <p:cNvSpPr txBox="1"/>
          <p:nvPr/>
        </p:nvSpPr>
        <p:spPr>
          <a:xfrm>
            <a:off x="640080" y="2926080"/>
            <a:ext cx="4389120" cy="548640"/>
          </a:xfrm>
          <a:prstGeom prst="rect">
            <a:avLst/>
          </a:prstGeom>
          <a:noFill/>
          <a:ln/>
        </p:spPr>
        <p:txBody>
          <a:bodyPr wrap="square" lIns="0" tIns="0" rIns="0" bIns="0" rtlCol="0" anchor="t"/>
          <a:lstStyle/>
          <a:p>
            <a:pPr algn="l" indent="0" marL="0">
              <a:buNone/>
            </a:pPr>
            <a:r>
              <a:rPr lang="en-US" sz="1400" dirty="0">
                <a:solidFill>
                  <a:schemeClr val="accent5"/>
                </a:solidFill>
                <a:latin typeface="IBM Plex Sans Arabic" pitchFamily="34" charset="0"/>
                <a:ea typeface="IBM Plex Sans Arabic" pitchFamily="34" charset="-122"/>
                <a:cs typeface="IBM Plex Sans Arabic" pitchFamily="34" charset="-120"/>
              </a:rPr>
              <a:t>EVCARS — Driving the Electric Vehicle Experience Forward.</a:t>
            </a:r>
            <a:endParaRPr lang="en-US" sz="1400" dirty="0"/>
          </a:p>
        </p:txBody>
      </p:sp>
      <p:sp>
        <p:nvSpPr>
          <p:cNvPr id="6" name="Text 3"/>
          <p:cNvSpPr txBox="1"/>
          <p:nvPr/>
        </p:nvSpPr>
        <p:spPr>
          <a:xfrm>
            <a:off x="640080" y="3520440"/>
            <a:ext cx="4389120" cy="320040"/>
          </a:xfrm>
          <a:prstGeom prst="rect">
            <a:avLst/>
          </a:prstGeom>
          <a:noFill/>
          <a:ln/>
        </p:spPr>
        <p:txBody>
          <a:bodyPr wrap="square" lIns="0" tIns="0" rIns="0" bIns="0" rtlCol="0" anchor="t"/>
          <a:lstStyle/>
          <a:p>
            <a:pPr rtl="1" algn="r" indent="0" marL="0">
              <a:buNone/>
            </a:pPr>
            <a:r>
              <a:rPr lang="ar-AE" altLang="en-US" sz="1400" dirty="0">
                <a:solidFill>
                  <a:schemeClr val="accent5"/>
                </a:solidFill>
                <a:latin typeface="IBM Plex Sans Arabic" pitchFamily="34" charset="0"/>
                <a:ea typeface="IBM Plex Sans Arabic" pitchFamily="34" charset="-122"/>
                <a:cs typeface="IBM Plex Sans Arabic" pitchFamily="34" charset="-120"/>
              </a:rPr>
              <a:t>ندفع تجربة السيارات الكهربائية إلى الأمام.</a:t>
            </a:r>
            <a:endParaRPr lang="ar-AE" sz="1400" dirty="0"/>
          </a:p>
        </p:txBody>
      </p:sp>
      <p:pic>
        <p:nvPicPr>
          <p:cNvPr id="7" name="Closing car" descr="Electric vehicle illustration">    </p:cNvPr>
          <p:cNvPicPr>
            <a:picLocks noChangeAspect="1"/>
          </p:cNvPicPr>
          <p:nvPr/>
        </p:nvPicPr>
        <p:blipFill>
          <a:blip r:embed="rId2"/>
          <a:stretch>
            <a:fillRect/>
          </a:stretch>
        </p:blipFill>
        <p:spPr>
          <a:xfrm>
            <a:off x="91440" y="4160520"/>
            <a:ext cx="5394960" cy="2517648"/>
          </a:xfrm>
          <a:prstGeom prst="rect">
            <a:avLst/>
          </a:prstGeom>
        </p:spPr>
      </p:pic>
      <p:sp>
        <p:nvSpPr>
          <p:cNvPr id="8" name="Contact circle 1"/>
          <p:cNvSpPr/>
          <p:nvPr/>
        </p:nvSpPr>
        <p:spPr>
          <a:xfrm>
            <a:off x="5669280" y="1371600"/>
            <a:ext cx="566928" cy="566928"/>
          </a:xfrm>
          <a:prstGeom prst="ellipse">
            <a:avLst/>
          </a:prstGeom>
          <a:solidFill>
            <a:schemeClr val="bg1">
              <a:alpha val="10000"/>
            </a:schemeClr>
          </a:solidFill>
          <a:ln/>
        </p:spPr>
      </p:sp>
      <p:pic>
        <p:nvPicPr>
          <p:cNvPr id="9" name="Contact icon 1" descr="icon">    </p:cNvPr>
          <p:cNvPicPr>
            <a:picLocks noChangeAspect="1"/>
          </p:cNvPicPr>
          <p:nvPr/>
        </p:nvPicPr>
        <p:blipFill>
          <a:blip r:embed="rId3"/>
          <a:stretch>
            <a:fillRect/>
          </a:stretch>
        </p:blipFill>
        <p:spPr>
          <a:xfrm>
            <a:off x="5806440" y="1508760"/>
            <a:ext cx="292608" cy="292608"/>
          </a:xfrm>
          <a:prstGeom prst="rect">
            <a:avLst/>
          </a:prstGeom>
        </p:spPr>
      </p:pic>
      <p:sp>
        <p:nvSpPr>
          <p:cNvPr id="10" name="Text 5"/>
          <p:cNvSpPr txBox="1"/>
          <p:nvPr/>
        </p:nvSpPr>
        <p:spPr>
          <a:xfrm>
            <a:off x="6446520" y="1353312"/>
            <a:ext cx="3108960" cy="228600"/>
          </a:xfrm>
          <a:prstGeom prst="rect">
            <a:avLst/>
          </a:prstGeom>
          <a:noFill/>
          <a:ln/>
        </p:spPr>
        <p:txBody>
          <a:bodyPr wrap="square" lIns="0" tIns="0" rIns="0" bIns="0" rtlCol="0" anchor="t"/>
          <a:lstStyle/>
          <a:p>
            <a:pPr algn="l" indent="0" marL="0">
              <a:buNone/>
            </a:pPr>
            <a:r>
              <a:rPr lang="en-US" sz="900" b="1" spc="200" kern="0" dirty="0">
                <a:solidFill>
                  <a:schemeClr val="accent2"/>
                </a:solidFill>
                <a:latin typeface="IBM Plex Sans Arabic" pitchFamily="34" charset="0"/>
                <a:ea typeface="IBM Plex Sans Arabic" pitchFamily="34" charset="-122"/>
                <a:cs typeface="IBM Plex Sans Arabic" pitchFamily="34" charset="-120"/>
              </a:rPr>
              <a:t>WEBSITE</a:t>
            </a:r>
            <a:endParaRPr lang="en-US" sz="900" dirty="0"/>
          </a:p>
        </p:txBody>
      </p:sp>
      <p:sp>
        <p:nvSpPr>
          <p:cNvPr id="11" name="Text 6"/>
          <p:cNvSpPr txBox="1"/>
          <p:nvPr/>
        </p:nvSpPr>
        <p:spPr>
          <a:xfrm>
            <a:off x="6446520" y="1591056"/>
            <a:ext cx="3383280" cy="329184"/>
          </a:xfrm>
          <a:prstGeom prst="rect">
            <a:avLst/>
          </a:prstGeom>
          <a:noFill/>
          <a:ln/>
        </p:spPr>
        <p:txBody>
          <a:bodyPr wrap="square" lIns="0" tIns="0" rIns="0" bIns="0" rtlCol="0" anchor="t"/>
          <a:lstStyle/>
          <a:p>
            <a:pPr algn="l" indent="0" marL="0">
              <a:buNone/>
            </a:pPr>
            <a:r>
              <a:rPr lang="en-US" sz="1500" dirty="0">
                <a:solidFill>
                  <a:schemeClr val="bg1"/>
                </a:solidFill>
                <a:latin typeface="IBM Plex Sans Arabic" pitchFamily="34" charset="0"/>
                <a:ea typeface="IBM Plex Sans Arabic" pitchFamily="34" charset="-122"/>
                <a:cs typeface="IBM Plex Sans Arabic" pitchFamily="34" charset="-120"/>
              </a:rPr>
              <a:t>evcarsuae.com</a:t>
            </a:r>
            <a:endParaRPr lang="en-US" sz="1500" dirty="0"/>
          </a:p>
        </p:txBody>
      </p:sp>
      <p:sp>
        <p:nvSpPr>
          <p:cNvPr id="12" name="Contact circle 2"/>
          <p:cNvSpPr/>
          <p:nvPr/>
        </p:nvSpPr>
        <p:spPr>
          <a:xfrm>
            <a:off x="5669280" y="2240280"/>
            <a:ext cx="566928" cy="566928"/>
          </a:xfrm>
          <a:prstGeom prst="ellipse">
            <a:avLst/>
          </a:prstGeom>
          <a:solidFill>
            <a:schemeClr val="bg1">
              <a:alpha val="10000"/>
            </a:schemeClr>
          </a:solidFill>
          <a:ln/>
        </p:spPr>
      </p:sp>
      <p:pic>
        <p:nvPicPr>
          <p:cNvPr id="13" name="Contact icon 2" descr="icon">    </p:cNvPr>
          <p:cNvPicPr>
            <a:picLocks noChangeAspect="1"/>
          </p:cNvPicPr>
          <p:nvPr/>
        </p:nvPicPr>
        <p:blipFill>
          <a:blip r:embed="rId4"/>
          <a:stretch>
            <a:fillRect/>
          </a:stretch>
        </p:blipFill>
        <p:spPr>
          <a:xfrm>
            <a:off x="5806440" y="2377440"/>
            <a:ext cx="292608" cy="292608"/>
          </a:xfrm>
          <a:prstGeom prst="rect">
            <a:avLst/>
          </a:prstGeom>
        </p:spPr>
      </p:pic>
      <p:sp>
        <p:nvSpPr>
          <p:cNvPr id="14" name="Text 8"/>
          <p:cNvSpPr txBox="1"/>
          <p:nvPr/>
        </p:nvSpPr>
        <p:spPr>
          <a:xfrm>
            <a:off x="6446520" y="2221992"/>
            <a:ext cx="3108960" cy="228600"/>
          </a:xfrm>
          <a:prstGeom prst="rect">
            <a:avLst/>
          </a:prstGeom>
          <a:noFill/>
          <a:ln/>
        </p:spPr>
        <p:txBody>
          <a:bodyPr wrap="square" lIns="0" tIns="0" rIns="0" bIns="0" rtlCol="0" anchor="t"/>
          <a:lstStyle/>
          <a:p>
            <a:pPr algn="l" indent="0" marL="0">
              <a:buNone/>
            </a:pPr>
            <a:r>
              <a:rPr lang="en-US" sz="900" b="1" spc="200" kern="0" dirty="0">
                <a:solidFill>
                  <a:schemeClr val="accent2"/>
                </a:solidFill>
                <a:latin typeface="IBM Plex Sans Arabic" pitchFamily="34" charset="0"/>
                <a:ea typeface="IBM Plex Sans Arabic" pitchFamily="34" charset="-122"/>
                <a:cs typeface="IBM Plex Sans Arabic" pitchFamily="34" charset="-120"/>
              </a:rPr>
              <a:t>EMAIL</a:t>
            </a:r>
            <a:endParaRPr lang="en-US" sz="900" dirty="0"/>
          </a:p>
        </p:txBody>
      </p:sp>
      <p:sp>
        <p:nvSpPr>
          <p:cNvPr id="15" name="Text 9"/>
          <p:cNvSpPr txBox="1"/>
          <p:nvPr/>
        </p:nvSpPr>
        <p:spPr>
          <a:xfrm>
            <a:off x="6446520" y="2459736"/>
            <a:ext cx="3383280" cy="329184"/>
          </a:xfrm>
          <a:prstGeom prst="rect">
            <a:avLst/>
          </a:prstGeom>
          <a:noFill/>
          <a:ln/>
        </p:spPr>
        <p:txBody>
          <a:bodyPr wrap="square" lIns="0" tIns="0" rIns="0" bIns="0" rtlCol="0" anchor="t"/>
          <a:lstStyle/>
          <a:p>
            <a:pPr algn="l" indent="0" marL="0">
              <a:buNone/>
            </a:pPr>
            <a:r>
              <a:rPr lang="en-US" sz="1500" dirty="0">
                <a:solidFill>
                  <a:schemeClr val="bg1"/>
                </a:solidFill>
                <a:latin typeface="IBM Plex Sans Arabic" pitchFamily="34" charset="0"/>
                <a:ea typeface="IBM Plex Sans Arabic" pitchFamily="34" charset="-122"/>
                <a:cs typeface="IBM Plex Sans Arabic" pitchFamily="34" charset="-120"/>
              </a:rPr>
              <a:t>info@evcarsuae.com</a:t>
            </a:r>
            <a:endParaRPr lang="en-US" sz="1500" dirty="0"/>
          </a:p>
        </p:txBody>
      </p:sp>
      <p:sp>
        <p:nvSpPr>
          <p:cNvPr id="16" name="Contact circle 3"/>
          <p:cNvSpPr/>
          <p:nvPr/>
        </p:nvSpPr>
        <p:spPr>
          <a:xfrm>
            <a:off x="5669280" y="3108960"/>
            <a:ext cx="566928" cy="566928"/>
          </a:xfrm>
          <a:prstGeom prst="ellipse">
            <a:avLst/>
          </a:prstGeom>
          <a:solidFill>
            <a:schemeClr val="bg1">
              <a:alpha val="10000"/>
            </a:schemeClr>
          </a:solidFill>
          <a:ln/>
        </p:spPr>
      </p:sp>
      <p:pic>
        <p:nvPicPr>
          <p:cNvPr id="17" name="Contact icon 3" descr="icon">    </p:cNvPr>
          <p:cNvPicPr>
            <a:picLocks noChangeAspect="1"/>
          </p:cNvPicPr>
          <p:nvPr/>
        </p:nvPicPr>
        <p:blipFill>
          <a:blip r:embed="rId5"/>
          <a:stretch>
            <a:fillRect/>
          </a:stretch>
        </p:blipFill>
        <p:spPr>
          <a:xfrm>
            <a:off x="5806440" y="3246120"/>
            <a:ext cx="292608" cy="292608"/>
          </a:xfrm>
          <a:prstGeom prst="rect">
            <a:avLst/>
          </a:prstGeom>
        </p:spPr>
      </p:pic>
      <p:sp>
        <p:nvSpPr>
          <p:cNvPr id="18" name="Text 11"/>
          <p:cNvSpPr txBox="1"/>
          <p:nvPr/>
        </p:nvSpPr>
        <p:spPr>
          <a:xfrm>
            <a:off x="6446520" y="3090672"/>
            <a:ext cx="3108960" cy="228600"/>
          </a:xfrm>
          <a:prstGeom prst="rect">
            <a:avLst/>
          </a:prstGeom>
          <a:noFill/>
          <a:ln/>
        </p:spPr>
        <p:txBody>
          <a:bodyPr wrap="square" lIns="0" tIns="0" rIns="0" bIns="0" rtlCol="0" anchor="t"/>
          <a:lstStyle/>
          <a:p>
            <a:pPr algn="l" indent="0" marL="0">
              <a:buNone/>
            </a:pPr>
            <a:r>
              <a:rPr lang="en-US" sz="900" b="1" spc="200" kern="0" dirty="0">
                <a:solidFill>
                  <a:schemeClr val="accent2"/>
                </a:solidFill>
                <a:latin typeface="IBM Plex Sans Arabic" pitchFamily="34" charset="0"/>
                <a:ea typeface="IBM Plex Sans Arabic" pitchFamily="34" charset="-122"/>
                <a:cs typeface="IBM Plex Sans Arabic" pitchFamily="34" charset="-120"/>
              </a:rPr>
              <a:t>CUSTOMER SERVICE &amp; WHATSAPP</a:t>
            </a:r>
            <a:endParaRPr lang="en-US" sz="900" dirty="0"/>
          </a:p>
        </p:txBody>
      </p:sp>
      <p:sp>
        <p:nvSpPr>
          <p:cNvPr id="19" name="Text 12"/>
          <p:cNvSpPr txBox="1"/>
          <p:nvPr/>
        </p:nvSpPr>
        <p:spPr>
          <a:xfrm>
            <a:off x="6446520" y="3328416"/>
            <a:ext cx="3383280" cy="329184"/>
          </a:xfrm>
          <a:prstGeom prst="rect">
            <a:avLst/>
          </a:prstGeom>
          <a:noFill/>
          <a:ln/>
        </p:spPr>
        <p:txBody>
          <a:bodyPr wrap="square" lIns="0" tIns="0" rIns="0" bIns="0" rtlCol="0" anchor="t"/>
          <a:lstStyle/>
          <a:p>
            <a:pPr algn="l" indent="0" marL="0">
              <a:buNone/>
            </a:pPr>
            <a:r>
              <a:rPr lang="en-US" sz="1500" dirty="0">
                <a:solidFill>
                  <a:schemeClr val="bg1"/>
                </a:solidFill>
                <a:latin typeface="IBM Plex Sans Arabic" pitchFamily="34" charset="0"/>
                <a:ea typeface="IBM Plex Sans Arabic" pitchFamily="34" charset="-122"/>
                <a:cs typeface="IBM Plex Sans Arabic" pitchFamily="34" charset="-120"/>
              </a:rPr>
              <a:t>+971 50 777 7134</a:t>
            </a:r>
            <a:endParaRPr lang="en-US" sz="1500" dirty="0"/>
          </a:p>
        </p:txBody>
      </p:sp>
      <p:sp>
        <p:nvSpPr>
          <p:cNvPr id="24" name="Contact circle 5"/>
          <p:cNvSpPr/>
          <p:nvPr/>
        </p:nvSpPr>
        <p:spPr>
          <a:xfrm>
            <a:off x="5669280" y="4846320"/>
            <a:ext cx="566928" cy="566928"/>
          </a:xfrm>
          <a:prstGeom prst="ellipse">
            <a:avLst/>
          </a:prstGeom>
          <a:solidFill>
            <a:schemeClr val="bg1">
              <a:alpha val="10000"/>
            </a:schemeClr>
          </a:solidFill>
          <a:ln/>
        </p:spPr>
      </p:sp>
      <p:pic>
        <p:nvPicPr>
          <p:cNvPr id="25" name="Contact icon 5" descr="icon">    </p:cNvPr>
          <p:cNvPicPr>
            <a:picLocks noChangeAspect="1"/>
          </p:cNvPicPr>
          <p:nvPr/>
        </p:nvPicPr>
        <p:blipFill>
          <a:blip r:embed="rId7"/>
          <a:stretch>
            <a:fillRect/>
          </a:stretch>
        </p:blipFill>
        <p:spPr>
          <a:xfrm>
            <a:off x="5806440" y="4983480"/>
            <a:ext cx="292608" cy="292608"/>
          </a:xfrm>
          <a:prstGeom prst="rect">
            <a:avLst/>
          </a:prstGeom>
        </p:spPr>
      </p:pic>
      <p:sp>
        <p:nvSpPr>
          <p:cNvPr id="26" name="Text 17"/>
          <p:cNvSpPr txBox="1"/>
          <p:nvPr/>
        </p:nvSpPr>
        <p:spPr>
          <a:xfrm>
            <a:off x="6446520" y="4828032"/>
            <a:ext cx="3108960" cy="228600"/>
          </a:xfrm>
          <a:prstGeom prst="rect">
            <a:avLst/>
          </a:prstGeom>
          <a:noFill/>
          <a:ln/>
        </p:spPr>
        <p:txBody>
          <a:bodyPr wrap="square" lIns="0" tIns="0" rIns="0" bIns="0" rtlCol="0" anchor="t"/>
          <a:lstStyle/>
          <a:p>
            <a:pPr algn="l" indent="0" marL="0">
              <a:buNone/>
            </a:pPr>
            <a:r>
              <a:rPr lang="en-US" sz="900" b="1" spc="200" kern="0" dirty="0">
                <a:solidFill>
                  <a:schemeClr val="accent2"/>
                </a:solidFill>
                <a:latin typeface="IBM Plex Sans Arabic" pitchFamily="34" charset="0"/>
                <a:ea typeface="IBM Plex Sans Arabic" pitchFamily="34" charset="-122"/>
                <a:cs typeface="IBM Plex Sans Arabic" pitchFamily="34" charset="-120"/>
              </a:rPr>
              <a:t>LOCATIONS  |  المواقع</a:t>
            </a:r>
            <a:endParaRPr lang="en-US" sz="900" dirty="0"/>
          </a:p>
        </p:txBody>
      </p:sp>
      <p:sp>
        <p:nvSpPr>
          <p:cNvPr id="27" name="Text 18"/>
          <p:cNvSpPr txBox="1"/>
          <p:nvPr/>
        </p:nvSpPr>
        <p:spPr>
          <a:xfrm>
            <a:off x="6446520" y="5065776"/>
            <a:ext cx="3560000" cy="329184"/>
          </a:xfrm>
          <a:prstGeom prst="rect">
            <a:avLst/>
          </a:prstGeom>
          <a:noFill/>
          <a:ln/>
        </p:spPr>
        <p:txBody>
          <a:bodyPr wrap="square" lIns="0" tIns="0" rIns="0" bIns="0" rtlCol="0" anchor="t"/>
          <a:lstStyle/>
          <a:p>
            <a:pPr algn="l" indent="0" marL="0">
              <a:buNone/>
            </a:pPr>
            <a:r>
              <a:rPr lang="en-US" sz="1150" dirty="0">
                <a:solidFill>
                  <a:schemeClr val="bg1"/>
                </a:solidFill>
                <a:latin typeface="IBM Plex Sans Arabic" pitchFamily="34" charset="0"/>
                <a:ea typeface="IBM Plex Sans Arabic" pitchFamily="34" charset="-122"/>
                <a:cs typeface="IBM Plex Sans Arabic" pitchFamily="34" charset="-120"/>
                <a:hlinkClick r:id="rId21" tooltip="Open Dubai on Google Maps">
                  <a:extLst>
                    <a:ext uri="{A12FA001-AC4F-418D-AE19-62706E023703}">
                      <ahyp:hlinkClr xmlns:ahyp="http://schemas.microsoft.com/office/drawing/2018/hyperlinkcolor" val="tx"/>
                    </a:ext>
                  </a:extLst>
                </a:hlinkClick>
              </a:rPr>
              <a:t>Dubai</a:t>
            </a:r>
            <a:r>
              <a:rPr lang="en-US" sz="1150" dirty="0">
                <a:solidFill>
                  <a:schemeClr val="bg1"/>
                </a:solidFill>
                <a:latin typeface="IBM Plex Sans Arabic" pitchFamily="34" charset="0"/>
                <a:ea typeface="IBM Plex Sans Arabic" pitchFamily="34" charset="-122"/>
                <a:cs typeface="IBM Plex Sans Arabic" pitchFamily="34" charset="-120"/>
              </a:rPr>
              <a:t> • </a:t>
            </a:r>
            <a:r>
              <a:rPr lang="en-US" sz="1150" dirty="0">
                <a:solidFill>
                  <a:schemeClr val="bg1"/>
                </a:solidFill>
                <a:latin typeface="IBM Plex Sans Arabic" pitchFamily="34" charset="0"/>
                <a:ea typeface="IBM Plex Sans Arabic" pitchFamily="34" charset="-122"/>
                <a:cs typeface="IBM Plex Sans Arabic" pitchFamily="34" charset="-120"/>
                <a:hlinkClick r:id="rId22" tooltip="Open Sharjah on Google Maps">
                  <a:extLst>
                    <a:ext uri="{A12FA001-AC4F-418D-AE19-62706E023703}">
                      <ahyp:hlinkClr xmlns:ahyp="http://schemas.microsoft.com/office/drawing/2018/hyperlinkcolor" val="tx"/>
                    </a:ext>
                  </a:extLst>
                </a:hlinkClick>
              </a:rPr>
              <a:t>Sharjah</a:t>
            </a:r>
            <a:r>
              <a:rPr lang="en-US" sz="1150" dirty="0">
                <a:solidFill>
                  <a:schemeClr val="bg1"/>
                </a:solidFill>
                <a:latin typeface="IBM Plex Sans Arabic" pitchFamily="34" charset="0"/>
                <a:ea typeface="IBM Plex Sans Arabic" pitchFamily="34" charset="-122"/>
                <a:cs typeface="IBM Plex Sans Arabic" pitchFamily="34" charset="-120"/>
              </a:rPr>
              <a:t> • </a:t>
            </a:r>
            <a:r>
              <a:rPr lang="en-US" sz="1150" dirty="0">
                <a:solidFill>
                  <a:schemeClr val="bg1"/>
                </a:solidFill>
                <a:latin typeface="IBM Plex Sans Arabic" pitchFamily="34" charset="0"/>
                <a:ea typeface="IBM Plex Sans Arabic" pitchFamily="34" charset="-122"/>
                <a:cs typeface="IBM Plex Sans Arabic" pitchFamily="34" charset="-120"/>
                <a:hlinkClick r:id="rId23" tooltip="Open Al Ain on Google Maps">
                  <a:extLst>
                    <a:ext uri="{A12FA001-AC4F-418D-AE19-62706E023703}">
                      <ahyp:hlinkClr xmlns:ahyp="http://schemas.microsoft.com/office/drawing/2018/hyperlinkcolor" val="tx"/>
                    </a:ext>
                  </a:extLst>
                </a:hlinkClick>
              </a:rPr>
              <a:t>Al Ain</a:t>
            </a:r>
            <a:r>
              <a:rPr lang="en-US" sz="1150" dirty="0">
                <a:solidFill>
                  <a:schemeClr val="bg1"/>
                </a:solidFill>
                <a:latin typeface="IBM Plex Sans Arabic" pitchFamily="34" charset="0"/>
                <a:ea typeface="IBM Plex Sans Arabic" pitchFamily="34" charset="-122"/>
                <a:cs typeface="IBM Plex Sans Arabic" pitchFamily="34" charset="-120"/>
              </a:rPr>
              <a:t> • </a:t>
            </a:r>
            <a:r>
              <a:rPr lang="en-US" sz="1150" dirty="0">
                <a:solidFill>
                  <a:schemeClr val="bg1"/>
                </a:solidFill>
                <a:latin typeface="IBM Plex Sans Arabic" pitchFamily="34" charset="0"/>
                <a:ea typeface="IBM Plex Sans Arabic" pitchFamily="34" charset="-122"/>
                <a:cs typeface="IBM Plex Sans Arabic" pitchFamily="34" charset="-120"/>
                <a:hlinkClick r:id="rId24" tooltip="Open Muscat on Google Maps">
                  <a:extLst>
                    <a:ext uri="{A12FA001-AC4F-418D-AE19-62706E023703}">
                      <ahyp:hlinkClr xmlns:ahyp="http://schemas.microsoft.com/office/drawing/2018/hyperlinkcolor" val="tx"/>
                    </a:ext>
                  </a:extLst>
                </a:hlinkClick>
              </a:rPr>
              <a:t>Muscat</a:t>
            </a:r>
            <a:r>
              <a:rPr lang="en-US" sz="1150" dirty="0">
                <a:solidFill>
                  <a:schemeClr val="bg1"/>
                </a:solidFill>
                <a:latin typeface="IBM Plex Sans Arabic" pitchFamily="34" charset="0"/>
                <a:ea typeface="IBM Plex Sans Arabic" pitchFamily="34" charset="-122"/>
                <a:cs typeface="IBM Plex Sans Arabic" pitchFamily="34" charset="-120"/>
              </a:rPr>
              <a:t> • </a:t>
            </a:r>
            <a:r>
              <a:rPr lang="en-US" sz="1150" dirty="0">
                <a:solidFill>
                  <a:schemeClr val="bg1"/>
                </a:solidFill>
                <a:latin typeface="IBM Plex Sans Arabic" pitchFamily="34" charset="0"/>
                <a:ea typeface="IBM Plex Sans Arabic" pitchFamily="34" charset="-122"/>
                <a:cs typeface="IBM Plex Sans Arabic" pitchFamily="34" charset="-120"/>
                <a:hlinkClick r:id="rId25" tooltip="Open Saham on Google Maps">
                  <a:extLst>
                    <a:ext uri="{A12FA001-AC4F-418D-AE19-62706E023703}">
                      <ahyp:hlinkClr xmlns:ahyp="http://schemas.microsoft.com/office/drawing/2018/hyperlinkcolor" val="tx"/>
                    </a:ext>
                  </a:extLst>
                </a:hlinkClick>
              </a:rPr>
              <a:t>Saham</a:t>
            </a:r>
            <a:endParaRPr lang="en-US" sz="1150" dirty="0"/>
          </a:p>
        </p:txBody>
      </p:sp>
      <p:sp>
        <p:nvSpPr>
          <p:cNvPr id="28" name="QR card web"/>
          <p:cNvSpPr/>
          <p:nvPr/>
        </p:nvSpPr>
        <p:spPr>
          <a:xfrm>
            <a:off x="10012680" y="1371600"/>
            <a:ext cx="1554480" cy="1783080"/>
          </a:xfrm>
          <a:prstGeom prst="roundRect">
            <a:avLst>
              <a:gd name="adj" fmla="val 4706"/>
            </a:avLst>
          </a:prstGeom>
          <a:solidFill>
            <a:schemeClr val="bg1"/>
          </a:solidFill>
          <a:ln/>
        </p:spPr>
      </p:sp>
      <p:pic>
        <p:nvPicPr>
          <p:cNvPr id="29" name="QR web" descr="QR code: evcarsuae.com">    </p:cNvPr>
          <p:cNvPicPr>
            <a:picLocks noChangeAspect="1"/>
          </p:cNvPicPr>
          <p:nvPr/>
        </p:nvPicPr>
        <p:blipFill>
          <a:blip r:embed="rId8"/>
          <a:stretch>
            <a:fillRect/>
          </a:stretch>
        </p:blipFill>
        <p:spPr>
          <a:xfrm>
            <a:off x="10104120" y="1463040"/>
            <a:ext cx="1371600" cy="1371600"/>
          </a:xfrm>
          <a:prstGeom prst="rect">
            <a:avLst/>
          </a:prstGeom>
        </p:spPr>
      </p:pic>
      <p:sp>
        <p:nvSpPr>
          <p:cNvPr id="30" name="Text 20"/>
          <p:cNvSpPr txBox="1"/>
          <p:nvPr/>
        </p:nvSpPr>
        <p:spPr>
          <a:xfrm>
            <a:off x="10012680" y="2862072"/>
            <a:ext cx="1554480" cy="228600"/>
          </a:xfrm>
          <a:prstGeom prst="rect">
            <a:avLst/>
          </a:prstGeom>
          <a:noFill/>
          <a:ln/>
        </p:spPr>
        <p:txBody>
          <a:bodyPr wrap="square" lIns="0" tIns="0" rIns="0" bIns="0" rtlCol="0" anchor="t"/>
          <a:lstStyle/>
          <a:p>
            <a:pPr algn="ctr" indent="0" marL="0">
              <a:buNone/>
            </a:pPr>
            <a:r>
              <a:rPr lang="en-US" sz="950" b="1" dirty="0">
                <a:solidFill>
                  <a:schemeClr val="tx1"/>
                </a:solidFill>
                <a:latin typeface="IBM Plex Sans Arabic" pitchFamily="34" charset="0"/>
                <a:ea typeface="IBM Plex Sans Arabic" pitchFamily="34" charset="-122"/>
                <a:cs typeface="IBM Plex Sans Arabic" pitchFamily="34" charset="-120"/>
              </a:rPr>
              <a:t>Online Store</a:t>
            </a:r>
            <a:endParaRPr lang="en-US" sz="950" dirty="0"/>
          </a:p>
        </p:txBody>
      </p:sp>
      <p:sp>
        <p:nvSpPr>
          <p:cNvPr id="31" name="QR card whatsapp"/>
          <p:cNvSpPr/>
          <p:nvPr/>
        </p:nvSpPr>
        <p:spPr>
          <a:xfrm>
            <a:off x="10012680" y="3337560"/>
            <a:ext cx="1554480" cy="1783080"/>
          </a:xfrm>
          <a:prstGeom prst="roundRect">
            <a:avLst>
              <a:gd name="adj" fmla="val 4706"/>
            </a:avLst>
          </a:prstGeom>
          <a:solidFill>
            <a:schemeClr val="bg1"/>
          </a:solidFill>
          <a:ln/>
        </p:spPr>
      </p:sp>
      <p:pic>
        <p:nvPicPr>
          <p:cNvPr id="32" name="QR whatsapp" descr="QR code: WhatsApp">    </p:cNvPr>
          <p:cNvPicPr>
            <a:picLocks noChangeAspect="1"/>
          </p:cNvPicPr>
          <p:nvPr/>
        </p:nvPicPr>
        <p:blipFill>
          <a:blip r:embed="rId9"/>
          <a:stretch>
            <a:fillRect/>
          </a:stretch>
        </p:blipFill>
        <p:spPr>
          <a:xfrm>
            <a:off x="10104120" y="3429000"/>
            <a:ext cx="1371600" cy="1371600"/>
          </a:xfrm>
          <a:prstGeom prst="rect">
            <a:avLst/>
          </a:prstGeom>
        </p:spPr>
      </p:pic>
      <p:sp>
        <p:nvSpPr>
          <p:cNvPr id="33" name="Text 22"/>
          <p:cNvSpPr txBox="1"/>
          <p:nvPr/>
        </p:nvSpPr>
        <p:spPr>
          <a:xfrm>
            <a:off x="10012680" y="4828032"/>
            <a:ext cx="1554480" cy="228600"/>
          </a:xfrm>
          <a:prstGeom prst="rect">
            <a:avLst/>
          </a:prstGeom>
          <a:noFill/>
          <a:ln/>
        </p:spPr>
        <p:txBody>
          <a:bodyPr wrap="square" lIns="0" tIns="0" rIns="0" bIns="0" rtlCol="0" anchor="t"/>
          <a:lstStyle/>
          <a:p>
            <a:pPr algn="ctr" indent="0" marL="0">
              <a:buNone/>
            </a:pPr>
            <a:r>
              <a:rPr lang="en-US" sz="950" b="1" dirty="0">
                <a:solidFill>
                  <a:schemeClr val="tx1"/>
                </a:solidFill>
                <a:latin typeface="IBM Plex Sans Arabic" pitchFamily="34" charset="0"/>
                <a:ea typeface="IBM Plex Sans Arabic" pitchFamily="34" charset="-122"/>
                <a:cs typeface="IBM Plex Sans Arabic" pitchFamily="34" charset="-120"/>
              </a:rPr>
              <a:t>WhatsApp</a:t>
            </a:r>
            <a:endParaRPr lang="en-US" sz="950" dirty="0"/>
          </a:p>
        </p:txBody>
      </p:sp>
      <p:sp>
        <p:nvSpPr>
          <p:cNvPr id="34" name="Text 23"/>
          <p:cNvSpPr txBox="1"/>
          <p:nvPr/>
        </p:nvSpPr>
        <p:spPr>
          <a:xfrm>
            <a:off x="0" y="6327648"/>
            <a:ext cx="12191695" cy="228600"/>
          </a:xfrm>
          <a:prstGeom prst="rect">
            <a:avLst/>
          </a:prstGeom>
          <a:noFill/>
          <a:ln/>
        </p:spPr>
        <p:txBody>
          <a:bodyPr wrap="square" lIns="0" tIns="0" rIns="0" bIns="0" rtlCol="0" anchor="t"/>
          <a:lstStyle/>
          <a:p>
            <a:pPr algn="ctr" indent="0" marL="0">
              <a:buNone/>
            </a:pPr>
            <a:r>
              <a:rPr lang="en-US" sz="1000" spc="400" kern="0" dirty="0">
                <a:solidFill>
                  <a:schemeClr val="accent5"/>
                </a:solidFill>
                <a:latin typeface="IBM Plex Sans Arabic" pitchFamily="34" charset="0"/>
                <a:ea typeface="IBM Plex Sans Arabic" pitchFamily="34" charset="-122"/>
                <a:cs typeface="IBM Plex Sans Arabic" pitchFamily="34" charset="-120"/>
              </a:rPr>
              <a:t>UNITED ARAB EMIRATES   |   SULTANATE OF OMAN</a:t>
            </a:r>
            <a:endParaRPr lang="en-US" sz="1000" dirty="0"/>
          </a:p>
        </p:txBody>
      </p:sp>
      <p:sp>
        <p:nvSpPr>
          <p:cNvPr id="35" name="Open evcarsuae.com" descr="Open evcarsuae.com">
            <a:hlinkClick r:id="rId12" tooltip="Open evcarsuae.com"/>
          </p:cNvPr>
          <p:cNvSpPr/>
          <p:nvPr/>
        </p:nvSpPr>
        <p:spPr>
          <a:xfrm>
            <a:off x="5609280" y="1311600"/>
            <a:ext cx="3837240" cy="668640"/>
          </a:xfrm>
          <a:prstGeom prst="roundRect">
            <a:avLst/>
          </a:prstGeom>
          <a:noFill/>
          <a:ln>
            <a:noFill/>
          </a:ln>
        </p:spPr>
        <p:txBody>
          <a:bodyPr/>
          <a:lstStyle/>
          <a:p>
            <a:endParaRPr lang="en-US"/>
          </a:p>
        </p:txBody>
      </p:sp>
      <p:sp>
        <p:nvSpPr>
          <p:cNvPr id="36" name="Send email" descr="Send email">
            <a:hlinkClick r:id="rId13" tooltip="Send email"/>
          </p:cNvPr>
          <p:cNvSpPr/>
          <p:nvPr/>
        </p:nvSpPr>
        <p:spPr>
          <a:xfrm>
            <a:off x="5609280" y="2180280"/>
            <a:ext cx="3837240" cy="668640"/>
          </a:xfrm>
          <a:prstGeom prst="roundRect">
            <a:avLst/>
          </a:prstGeom>
          <a:noFill/>
          <a:ln>
            <a:noFill/>
          </a:ln>
        </p:spPr>
        <p:txBody>
          <a:bodyPr/>
          <a:lstStyle/>
          <a:p>
            <a:endParaRPr lang="en-US"/>
          </a:p>
        </p:txBody>
      </p:sp>
      <p:sp>
        <p:nvSpPr>
          <p:cNvPr id="37" name="Chat on WhatsApp" descr="Chat on WhatsApp">
            <a:hlinkClick r:id="rId14" tooltip="Chat on WhatsApp"/>
          </p:cNvPr>
          <p:cNvSpPr/>
          <p:nvPr/>
        </p:nvSpPr>
        <p:spPr>
          <a:xfrm>
            <a:off x="5609280" y="3048960"/>
            <a:ext cx="3837240" cy="668640"/>
          </a:xfrm>
          <a:prstGeom prst="roundRect">
            <a:avLst/>
          </a:prstGeom>
          <a:noFill/>
          <a:ln>
            <a:noFill/>
          </a:ln>
        </p:spPr>
        <p:txBody>
          <a:bodyPr/>
          <a:lstStyle/>
          <a:p>
            <a:endParaRPr lang="en-US"/>
          </a:p>
        </p:txBody>
      </p:sp>
      <p:sp>
        <p:nvSpPr>
          <p:cNvPr id="38" name="QR web" descr="Open evcarsuae.com">
            <a:hlinkClick r:id="rId12" tooltip="Open evcarsuae.com"/>
          </p:cNvPr>
          <p:cNvSpPr/>
          <p:nvPr/>
        </p:nvSpPr>
        <p:spPr>
          <a:xfrm>
            <a:off x="10012680" y="1371600"/>
            <a:ext cx="1554480" cy="1783080"/>
          </a:xfrm>
          <a:prstGeom prst="roundRect">
            <a:avLst/>
          </a:prstGeom>
          <a:noFill/>
          <a:ln>
            <a:noFill/>
          </a:ln>
        </p:spPr>
        <p:txBody>
          <a:bodyPr/>
          <a:lstStyle/>
          <a:p>
            <a:endParaRPr lang="en-US"/>
          </a:p>
        </p:txBody>
      </p:sp>
      <p:sp>
        <p:nvSpPr>
          <p:cNvPr id="39" name="QR whatsapp" descr="Chat on WhatsApp">
            <a:hlinkClick r:id="rId14" tooltip="Chat on WhatsApp"/>
          </p:cNvPr>
          <p:cNvSpPr/>
          <p:nvPr/>
        </p:nvSpPr>
        <p:spPr>
          <a:xfrm>
            <a:off x="10012680" y="3337560"/>
            <a:ext cx="1554480" cy="1783080"/>
          </a:xfrm>
          <a:prstGeom prst="roundRect">
            <a:avLst/>
          </a:prstGeom>
          <a:noFill/>
          <a:ln>
            <a:noFill/>
          </a:ln>
        </p:spPr>
        <p:txBody>
          <a:bodyPr/>
          <a:lstStyle/>
          <a:p>
            <a:endParaRPr lang="en-US"/>
          </a:p>
        </p:txBody>
      </p:sp>
      <p:sp>
        <p:nvSpPr>
          <p:cNvPr id="22" name="Text 14"/>
          <p:cNvSpPr txBox="1"/>
          <p:nvPr/>
        </p:nvSpPr>
        <p:spPr>
          <a:xfrm>
            <a:off x="6446520" y="3830000"/>
            <a:ext cx="3108960" cy="228600"/>
          </a:xfrm>
          <a:prstGeom prst="rect">
            <a:avLst/>
          </a:prstGeom>
          <a:noFill/>
          <a:ln/>
        </p:spPr>
        <p:txBody>
          <a:bodyPr wrap="square" lIns="0" tIns="0" rIns="0" bIns="0" rtlCol="0" anchor="t"/>
          <a:lstStyle/>
          <a:p>
            <a:pPr algn="l" indent="0" marL="0">
              <a:buNone/>
            </a:pPr>
            <a:r>
              <a:rPr lang="en-US" sz="900" b="1" spc="200" kern="0" dirty="0">
                <a:solidFill>
                  <a:schemeClr val="accent2"/>
                </a:solidFill>
                <a:latin typeface="IBM Plex Sans Arabic" pitchFamily="34" charset="0"/>
                <a:ea typeface="IBM Plex Sans Arabic" pitchFamily="34" charset="-122"/>
                <a:cs typeface="IBM Plex Sans Arabic" pitchFamily="34" charset="-120"/>
              </a:rPr>
              <a:t>SOCIAL MEDIA</a:t>
            </a:r>
            <a:endParaRPr lang="en-US" sz="900" dirty="0"/>
          </a:p>
        </p:txBody>
      </p:sp>
      <p:sp>
        <p:nvSpPr>
          <p:cNvPr id="40" name="Social circle Instagram"/>
          <p:cNvSpPr/>
          <p:nvPr/>
        </p:nvSpPr>
        <p:spPr>
          <a:xfrm>
            <a:off x="5669280" y="4080000"/>
            <a:ext cx="500000" cy="500000"/>
          </a:xfrm>
          <a:prstGeom prst="ellipse">
            <a:avLst/>
          </a:prstGeom>
          <a:solidFill>
            <a:schemeClr val="bg1">
              <a:alpha val="10000"/>
            </a:schemeClr>
          </a:solidFill>
          <a:ln/>
        </p:spPr>
      </p:sp>
      <p:pic>
        <p:nvPicPr>
          <p:cNvPr id="41" name="Instagram icon" descr="Instagram"/>
          <p:cNvPicPr>
            <a:picLocks noChangeAspect="1"/>
          </p:cNvPicPr>
          <p:nvPr/>
        </p:nvPicPr>
        <p:blipFill>
          <a:blip r:embed="rId15"/>
          <a:stretch>
            <a:fillRect/>
          </a:stretch>
        </p:blipFill>
        <p:spPr>
          <a:xfrm>
            <a:off x="5794280" y="4205000"/>
            <a:ext cx="250000" cy="250000"/>
          </a:xfrm>
          <a:prstGeom prst="rect">
            <a:avLst/>
          </a:prstGeom>
        </p:spPr>
      </p:pic>
      <p:sp>
        <p:nvSpPr>
          <p:cNvPr id="42" name="Link Instagram" descr="Open Instagram">
            <a:hlinkClick r:id="rId16" tooltip="Open Instagram"/>
          </p:cNvPr>
          <p:cNvSpPr/>
          <p:nvPr/>
        </p:nvSpPr>
        <p:spPr>
          <a:xfrm>
            <a:off x="5669280" y="4080000"/>
            <a:ext cx="500000" cy="500000"/>
          </a:xfrm>
          <a:prstGeom prst="ellipse">
            <a:avLst/>
          </a:prstGeom>
          <a:noFill/>
          <a:ln>
            <a:noFill/>
          </a:ln>
        </p:spPr>
        <p:txBody>
          <a:bodyPr/>
          <a:lstStyle/>
          <a:p>
            <a:endParaRPr lang="en-US"/>
          </a:p>
        </p:txBody>
      </p:sp>
      <p:sp>
        <p:nvSpPr>
          <p:cNvPr id="43" name="Social circle TikTok"/>
          <p:cNvSpPr/>
          <p:nvPr/>
        </p:nvSpPr>
        <p:spPr>
          <a:xfrm>
            <a:off x="6339280" y="4080000"/>
            <a:ext cx="500000" cy="500000"/>
          </a:xfrm>
          <a:prstGeom prst="ellipse">
            <a:avLst/>
          </a:prstGeom>
          <a:solidFill>
            <a:schemeClr val="bg1">
              <a:alpha val="10000"/>
            </a:schemeClr>
          </a:solidFill>
          <a:ln/>
        </p:spPr>
      </p:sp>
      <p:pic>
        <p:nvPicPr>
          <p:cNvPr id="44" name="TikTok icon" descr="TikTok"/>
          <p:cNvPicPr>
            <a:picLocks noChangeAspect="1"/>
          </p:cNvPicPr>
          <p:nvPr/>
        </p:nvPicPr>
        <p:blipFill>
          <a:blip r:embed="rId17"/>
          <a:stretch>
            <a:fillRect/>
          </a:stretch>
        </p:blipFill>
        <p:spPr>
          <a:xfrm>
            <a:off x="6464280" y="4205000"/>
            <a:ext cx="250000" cy="250000"/>
          </a:xfrm>
          <a:prstGeom prst="rect">
            <a:avLst/>
          </a:prstGeom>
        </p:spPr>
      </p:pic>
      <p:sp>
        <p:nvSpPr>
          <p:cNvPr id="45" name="Link TikTok" descr="Open TikTok">
            <a:hlinkClick r:id="rId18" tooltip="Open TikTok"/>
          </p:cNvPr>
          <p:cNvSpPr/>
          <p:nvPr/>
        </p:nvSpPr>
        <p:spPr>
          <a:xfrm>
            <a:off x="6339280" y="4080000"/>
            <a:ext cx="500000" cy="500000"/>
          </a:xfrm>
          <a:prstGeom prst="ellipse">
            <a:avLst/>
          </a:prstGeom>
          <a:noFill/>
          <a:ln>
            <a:noFill/>
          </a:ln>
        </p:spPr>
        <p:txBody>
          <a:bodyPr/>
          <a:lstStyle/>
          <a:p>
            <a:endParaRPr lang="en-US"/>
          </a:p>
        </p:txBody>
      </p:sp>
      <p:sp>
        <p:nvSpPr>
          <p:cNvPr id="46" name="Social circle Snapchat"/>
          <p:cNvSpPr/>
          <p:nvPr/>
        </p:nvSpPr>
        <p:spPr>
          <a:xfrm>
            <a:off x="7009280" y="4080000"/>
            <a:ext cx="500000" cy="500000"/>
          </a:xfrm>
          <a:prstGeom prst="ellipse">
            <a:avLst/>
          </a:prstGeom>
          <a:solidFill>
            <a:schemeClr val="bg1">
              <a:alpha val="10000"/>
            </a:schemeClr>
          </a:solidFill>
          <a:ln/>
        </p:spPr>
      </p:sp>
      <p:pic>
        <p:nvPicPr>
          <p:cNvPr id="47" name="Snapchat icon" descr="Snapchat"/>
          <p:cNvPicPr>
            <a:picLocks noChangeAspect="1"/>
          </p:cNvPicPr>
          <p:nvPr/>
        </p:nvPicPr>
        <p:blipFill>
          <a:blip r:embed="rId19"/>
          <a:stretch>
            <a:fillRect/>
          </a:stretch>
        </p:blipFill>
        <p:spPr>
          <a:xfrm>
            <a:off x="7134280" y="4205000"/>
            <a:ext cx="250000" cy="250000"/>
          </a:xfrm>
          <a:prstGeom prst="rect">
            <a:avLst/>
          </a:prstGeom>
        </p:spPr>
      </p:pic>
      <p:sp>
        <p:nvSpPr>
          <p:cNvPr id="48" name="Link Snapchat" descr="Open Snapchat">
            <a:hlinkClick r:id="rId20" tooltip="Open Snapchat"/>
          </p:cNvPr>
          <p:cNvSpPr/>
          <p:nvPr/>
        </p:nvSpPr>
        <p:spPr>
          <a:xfrm>
            <a:off x="7009280" y="4080000"/>
            <a:ext cx="500000" cy="500000"/>
          </a:xfrm>
          <a:prstGeom prst="ellipse">
            <a:avLst/>
          </a:prstGeom>
          <a:noFill/>
          <a:ln>
            <a:noFill/>
          </a:ln>
        </p:spPr>
        <p:txBody>
          <a:bodyPr/>
          <a:lstStyle/>
          <a:p>
            <a:endParaRPr lang="en-US"/>
          </a:p>
        </p:txBody>
      </p:sp>
      <p:sp>
        <p:nvSpPr>
          <p:cNvPr id="49" name="Text 15"/>
          <p:cNvSpPr txBox="1"/>
          <p:nvPr/>
        </p:nvSpPr>
        <p:spPr>
          <a:xfrm>
            <a:off x="7739280" y="4170000"/>
            <a:ext cx="3383280" cy="329184"/>
          </a:xfrm>
          <a:prstGeom prst="rect">
            <a:avLst/>
          </a:prstGeom>
          <a:noFill/>
          <a:ln/>
        </p:spPr>
        <p:txBody>
          <a:bodyPr wrap="square" lIns="0" tIns="0" rIns="0" bIns="0" rtlCol="0" anchor="t"/>
          <a:lstStyle/>
          <a:p>
            <a:pPr algn="l" indent="0" marL="0">
              <a:buNone/>
            </a:pPr>
            <a:r>
              <a:rPr lang="en-US" sz="1500" dirty="0">
                <a:solidFill>
                  <a:schemeClr val="bg1"/>
                </a:solidFill>
                <a:latin typeface="IBM Plex Sans Arabic" pitchFamily="34" charset="0"/>
                <a:ea typeface="IBM Plex Sans Arabic" pitchFamily="34" charset="-122"/>
                <a:cs typeface="IBM Plex Sans Arabic" pitchFamily="34" charset="-120"/>
              </a:rPr>
              <a:t>@evcarsuae</a:t>
            </a:r>
            <a:endParaRPr lang="en-US" sz="1500" dirty="0"/>
          </a:p>
        </p:txBody>
      </p:sp>
      <p:sp>
        <p:nvSpPr>
          <p:cNvPr id="50" name="Back to contents" descr="Back to contents">
            <a:hlinkClick r:id="rId26" action="ppaction://hlinksldjump" tooltip="Back to Contents / العودة إلى المحتويات"/>
          </p:cNvPr>
          <p:cNvSpPr/>
          <p:nvPr/>
        </p:nvSpPr>
        <p:spPr>
          <a:xfrm>
            <a:off x="9716000" y="520000"/>
            <a:ext cx="1850000" cy="300000"/>
          </a:xfrm>
          <a:prstGeom prst="roundRect">
            <a:avLst>
              <a:gd name="adj" fmla="val 50000"/>
            </a:avLst>
          </a:prstGeom>
          <a:noFill/>
          <a:ln w="9525">
            <a:solidFill>
              <a:schemeClr val="accent1"/>
            </a:solidFill>
          </a:ln>
        </p:spPr>
        <p:txBody>
          <a:bodyPr wrap="none" lIns="0" tIns="0" rIns="0" bIns="0" rtlCol="0" anchor="ctr"/>
          <a:lstStyle/>
          <a:p>
            <a:pPr algn="ctr"/>
            <a:r>
              <a:rPr lang="en-US" sz="900" b="1" spc="120" dirty="0">
                <a:solidFill>
                  <a:schemeClr val="accent1"/>
                </a:solidFill>
                <a:latin typeface="IBM Plex Sans Arabic"/>
                <a:cs typeface="IBM Plex Sans Arabic"/>
              </a:rPr>
              <a:t>CONTENTS  ·  </a:t>
            </a:r>
            <a:r>
              <a:rPr lang="ar-AE" sz="900" b="1" dirty="0">
                <a:solidFill>
                  <a:schemeClr val="accent1"/>
                </a:solidFill>
                <a:latin typeface="IBM Plex Sans Arabic"/>
                <a:cs typeface="IBM Plex Sans Arabic"/>
              </a:rPr>
              <a:t>المحتويات</a:t>
            </a:r>
          </a:p>
        </p:txBody>
      </p:sp>
    </p:spTree>
  </p:cSld>
  <p:clrMapOvr>
    <a:masterClrMapping/>
  </p:clrMapOvr>
</p:sld>
</file>

<file path=ppt/theme/theme1.xml><?xml version="1.0" encoding="utf-8"?>
<a:theme xmlns:a="http://schemas.openxmlformats.org/drawingml/2006/main" name="EVCARS Luxury">
  <a:themeElements>
    <a:clrScheme name="EVCARS Luxury">
      <a:dk1>
        <a:srgbClr val="0B0D10"/>
      </a:dk1>
      <a:lt1>
        <a:srgbClr val="FFFFFF"/>
      </a:lt1>
      <a:dk2>
        <a:srgbClr val="151A20"/>
      </a:dk2>
      <a:lt2>
        <a:srgbClr val="F3F5F7"/>
      </a:lt2>
      <a:accent1>
        <a:srgbClr val="3D99C9"/>
      </a:accent1>
      <a:accent2>
        <a:srgbClr val="AFD379"/>
      </a:accent2>
      <a:accent3>
        <a:srgbClr val="5F6A75"/>
      </a:accent3>
      <a:accent4>
        <a:srgbClr val="232C35"/>
      </a:accent4>
      <a:accent5>
        <a:srgbClr val="DDE2E7"/>
      </a:accent5>
      <a:accent6>
        <a:srgbClr val="E4F1F8"/>
      </a:accent6>
      <a:hlink>
        <a:srgbClr val="3D99C9"/>
      </a:hlink>
      <a:folHlink>
        <a:srgbClr val="5F6A75"/>
      </a:folHlink>
    </a:clrScheme>
    <a:fontScheme name="EVCARS Luxury">
      <a:majorFont>
        <a:latin typeface="IBM Plex Sans Arab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rab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EVCARS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EVCARS — Corporate Profile | الملف التعريفي للشركة</dc:title>
  <dc:subject>Bilingual corporate profile (Arabic / English)</dc:subject>
  <dc:creator>EVCARS</dc:creator>
  <cp:lastModifiedBy>EVCARS</cp:lastModifiedBy>
  <cp:revision>1</cp:revision>
  <dcterms:created xsi:type="dcterms:W3CDTF">2026-10-14T19:36:11Z</dcterms:created>
  <dcterms:modified xsi:type="dcterms:W3CDTF">2026-10-14T19:36:11Z</dcterms:modified>
</cp:coreProperties>
</file>